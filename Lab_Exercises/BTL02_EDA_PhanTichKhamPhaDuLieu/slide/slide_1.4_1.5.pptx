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Nyutro Sans Heavy" charset="1" panose="00000000000000000000"/>
      <p:regular r:id="rId27"/>
    </p:embeddedFont>
    <p:embeddedFont>
      <p:font typeface="Nyutro Sans" charset="1" panose="00000000000000000000"/>
      <p:regular r:id="rId28"/>
    </p:embeddedFont>
    <p:embeddedFont>
      <p:font typeface="Nyutro Sans Bold" charset="1" panose="000000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jpeg" Type="http://schemas.openxmlformats.org/officeDocument/2006/relationships/image"/><Relationship Id="rId4" Target="../media/image15.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495A34"/>
        </a:solidFill>
      </p:bgPr>
    </p:bg>
    <p:spTree>
      <p:nvGrpSpPr>
        <p:cNvPr id="1" name=""/>
        <p:cNvGrpSpPr/>
        <p:nvPr/>
      </p:nvGrpSpPr>
      <p:grpSpPr>
        <a:xfrm>
          <a:off x="0" y="0"/>
          <a:ext cx="0" cy="0"/>
          <a:chOff x="0" y="0"/>
          <a:chExt cx="0" cy="0"/>
        </a:xfrm>
      </p:grpSpPr>
      <p:sp>
        <p:nvSpPr>
          <p:cNvPr name="Freeform 2" id="2"/>
          <p:cNvSpPr/>
          <p:nvPr/>
        </p:nvSpPr>
        <p:spPr>
          <a:xfrm flipH="false" flipV="false" rot="0">
            <a:off x="9894617" y="1305508"/>
            <a:ext cx="7364683" cy="4900862"/>
          </a:xfrm>
          <a:custGeom>
            <a:avLst/>
            <a:gdLst/>
            <a:ahLst/>
            <a:cxnLst/>
            <a:rect r="r" b="b" t="t" l="l"/>
            <a:pathLst>
              <a:path h="4900862" w="7364683">
                <a:moveTo>
                  <a:pt x="0" y="0"/>
                </a:moveTo>
                <a:lnTo>
                  <a:pt x="7364683" y="0"/>
                </a:lnTo>
                <a:lnTo>
                  <a:pt x="7364683" y="4900861"/>
                </a:lnTo>
                <a:lnTo>
                  <a:pt x="0" y="4900861"/>
                </a:lnTo>
                <a:lnTo>
                  <a:pt x="0" y="0"/>
                </a:lnTo>
                <a:close/>
              </a:path>
            </a:pathLst>
          </a:custGeom>
          <a:blipFill>
            <a:blip r:embed="rId2"/>
            <a:stretch>
              <a:fillRect l="0" t="0" r="0" b="0"/>
            </a:stretch>
          </a:blipFill>
        </p:spPr>
      </p:sp>
      <p:grpSp>
        <p:nvGrpSpPr>
          <p:cNvPr name="Group 3" id="3"/>
          <p:cNvGrpSpPr/>
          <p:nvPr/>
        </p:nvGrpSpPr>
        <p:grpSpPr>
          <a:xfrm rot="0">
            <a:off x="666750" y="666750"/>
            <a:ext cx="9763125" cy="6725825"/>
            <a:chOff x="0" y="0"/>
            <a:chExt cx="13017500" cy="8967767"/>
          </a:xfrm>
        </p:grpSpPr>
        <p:sp>
          <p:nvSpPr>
            <p:cNvPr name="TextBox 4" id="4"/>
            <p:cNvSpPr txBox="true"/>
            <p:nvPr/>
          </p:nvSpPr>
          <p:spPr>
            <a:xfrm rot="0">
              <a:off x="0" y="-9525"/>
              <a:ext cx="13017500" cy="8137525"/>
            </a:xfrm>
            <a:prstGeom prst="rect">
              <a:avLst/>
            </a:prstGeom>
          </p:spPr>
          <p:txBody>
            <a:bodyPr anchor="t" rtlCol="false" tIns="0" lIns="0" bIns="0" rIns="0">
              <a:spAutoFit/>
            </a:bodyPr>
            <a:lstStyle/>
            <a:p>
              <a:pPr algn="l" marL="0" indent="0" lvl="0">
                <a:lnSpc>
                  <a:spcPts val="15000"/>
                </a:lnSpc>
              </a:pPr>
              <a:r>
                <a:rPr lang="en-US" b="true" sz="15000" spc="-150">
                  <a:solidFill>
                    <a:srgbClr val="FFFFFF"/>
                  </a:solidFill>
                  <a:latin typeface="Nyutro Sans Heavy"/>
                  <a:ea typeface="Nyutro Sans Heavy"/>
                  <a:cs typeface="Nyutro Sans Heavy"/>
                  <a:sym typeface="Nyutro Sans Heavy"/>
                </a:rPr>
                <a:t>Báo cáo phân tích dữ liệu</a:t>
              </a:r>
            </a:p>
          </p:txBody>
        </p:sp>
        <p:sp>
          <p:nvSpPr>
            <p:cNvPr name="TextBox 5" id="5"/>
            <p:cNvSpPr txBox="true"/>
            <p:nvPr/>
          </p:nvSpPr>
          <p:spPr>
            <a:xfrm rot="0">
              <a:off x="0" y="8234342"/>
              <a:ext cx="9182100" cy="733425"/>
            </a:xfrm>
            <a:prstGeom prst="rect">
              <a:avLst/>
            </a:prstGeom>
          </p:spPr>
          <p:txBody>
            <a:bodyPr anchor="t" rtlCol="false" tIns="0" lIns="0" bIns="0" rIns="0">
              <a:spAutoFit/>
            </a:bodyPr>
            <a:lstStyle/>
            <a:p>
              <a:pPr algn="l" marL="0" indent="0" lvl="0">
                <a:lnSpc>
                  <a:spcPts val="4200"/>
                </a:lnSpc>
              </a:pPr>
              <a:r>
                <a:rPr lang="en-US" sz="3000" spc="-60">
                  <a:solidFill>
                    <a:srgbClr val="FFFFFF"/>
                  </a:solidFill>
                  <a:latin typeface="Nyutro Sans"/>
                  <a:ea typeface="Nyutro Sans"/>
                  <a:cs typeface="Nyutro Sans"/>
                  <a:sym typeface="Nyutro Sans"/>
                </a:rPr>
                <a:t>[tên người thuyết trình]</a:t>
              </a:r>
            </a:p>
          </p:txBody>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495A34"/>
        </a:solidFill>
      </p:bgPr>
    </p:bg>
    <p:spTree>
      <p:nvGrpSpPr>
        <p:cNvPr id="1" name=""/>
        <p:cNvGrpSpPr/>
        <p:nvPr/>
      </p:nvGrpSpPr>
      <p:grpSpPr>
        <a:xfrm>
          <a:off x="0" y="0"/>
          <a:ext cx="0" cy="0"/>
          <a:chOff x="0" y="0"/>
          <a:chExt cx="0" cy="0"/>
        </a:xfrm>
      </p:grpSpPr>
      <p:grpSp>
        <p:nvGrpSpPr>
          <p:cNvPr name="Group 2" id="2"/>
          <p:cNvGrpSpPr/>
          <p:nvPr/>
        </p:nvGrpSpPr>
        <p:grpSpPr>
          <a:xfrm rot="0">
            <a:off x="666750" y="1910771"/>
            <a:ext cx="16592550" cy="5450842"/>
            <a:chOff x="0" y="0"/>
            <a:chExt cx="22123400" cy="7267790"/>
          </a:xfrm>
        </p:grpSpPr>
        <p:sp>
          <p:nvSpPr>
            <p:cNvPr name="TextBox 3" id="3"/>
            <p:cNvSpPr txBox="true"/>
            <p:nvPr/>
          </p:nvSpPr>
          <p:spPr>
            <a:xfrm rot="0">
              <a:off x="0" y="123825"/>
              <a:ext cx="22123400" cy="2585163"/>
            </a:xfrm>
            <a:prstGeom prst="rect">
              <a:avLst/>
            </a:prstGeom>
          </p:spPr>
          <p:txBody>
            <a:bodyPr anchor="t" rtlCol="false" tIns="0" lIns="0" bIns="0" rIns="0">
              <a:spAutoFit/>
            </a:bodyPr>
            <a:lstStyle/>
            <a:p>
              <a:pPr algn="l" marL="0" indent="0" lvl="0">
                <a:lnSpc>
                  <a:spcPts val="11998"/>
                </a:lnSpc>
                <a:spcBef>
                  <a:spcPct val="0"/>
                </a:spcBef>
              </a:pPr>
              <a:r>
                <a:rPr lang="en-US" b="true" sz="13331" spc="-133" strike="noStrike" u="none">
                  <a:solidFill>
                    <a:srgbClr val="FFFFFF"/>
                  </a:solidFill>
                  <a:latin typeface="Nyutro Sans Heavy"/>
                  <a:ea typeface="Nyutro Sans Heavy"/>
                  <a:cs typeface="Nyutro Sans Heavy"/>
                  <a:sym typeface="Nyutro Sans Heavy"/>
                </a:rPr>
                <a:t>Giới thiệu và Mục tiêu</a:t>
              </a:r>
            </a:p>
          </p:txBody>
        </p:sp>
        <p:sp>
          <p:nvSpPr>
            <p:cNvPr name="TextBox 4" id="4"/>
            <p:cNvSpPr txBox="true"/>
            <p:nvPr/>
          </p:nvSpPr>
          <p:spPr>
            <a:xfrm rot="0">
              <a:off x="56437" y="2961886"/>
              <a:ext cx="22066963" cy="969909"/>
            </a:xfrm>
            <a:prstGeom prst="rect">
              <a:avLst/>
            </a:prstGeom>
          </p:spPr>
          <p:txBody>
            <a:bodyPr anchor="t" rtlCol="false" tIns="0" lIns="0" bIns="0" rIns="0">
              <a:spAutoFit/>
            </a:bodyPr>
            <a:lstStyle/>
            <a:p>
              <a:pPr algn="l" marL="0" indent="0" lvl="0">
                <a:lnSpc>
                  <a:spcPts val="5332"/>
                </a:lnSpc>
                <a:spcBef>
                  <a:spcPct val="0"/>
                </a:spcBef>
              </a:pPr>
              <a:r>
                <a:rPr lang="en-US" b="true" sz="4443" strike="noStrike" u="none">
                  <a:solidFill>
                    <a:srgbClr val="FFFFFF"/>
                  </a:solidFill>
                  <a:latin typeface="Nyutro Sans Bold"/>
                  <a:ea typeface="Nyutro Sans Bold"/>
                  <a:cs typeface="Nyutro Sans Bold"/>
                  <a:sym typeface="Nyutro Sans Bold"/>
                </a:rPr>
                <a:t>Phân tích dữ liệu USDA và Bầu cử 2012</a:t>
              </a:r>
            </a:p>
          </p:txBody>
        </p:sp>
        <p:sp>
          <p:nvSpPr>
            <p:cNvPr name="TextBox 5" id="5"/>
            <p:cNvSpPr txBox="true"/>
            <p:nvPr/>
          </p:nvSpPr>
          <p:spPr>
            <a:xfrm rot="0">
              <a:off x="56437" y="4654217"/>
              <a:ext cx="16385613" cy="2613572"/>
            </a:xfrm>
            <a:prstGeom prst="rect">
              <a:avLst/>
            </a:prstGeom>
          </p:spPr>
          <p:txBody>
            <a:bodyPr anchor="t" rtlCol="false" tIns="0" lIns="0" bIns="0" rIns="0">
              <a:spAutoFit/>
            </a:bodyPr>
            <a:lstStyle/>
            <a:p>
              <a:pPr algn="l" marL="0" indent="0" lvl="0">
                <a:lnSpc>
                  <a:spcPts val="5184"/>
                </a:lnSpc>
                <a:spcBef>
                  <a:spcPct val="0"/>
                </a:spcBef>
              </a:pPr>
              <a:r>
                <a:rPr lang="en-US" sz="3703" strike="noStrike" u="none">
                  <a:solidFill>
                    <a:srgbClr val="FFFFFF"/>
                  </a:solidFill>
                  <a:latin typeface="Nyutro Sans"/>
                  <a:ea typeface="Nyutro Sans"/>
                  <a:cs typeface="Nyutro Sans"/>
                  <a:sym typeface="Nyutro Sans"/>
                </a:rPr>
                <a:t>Mục tiêu báo cáo là </a:t>
              </a:r>
              <a:r>
                <a:rPr lang="en-US" b="true" sz="3703" strike="noStrike" u="none">
                  <a:solidFill>
                    <a:srgbClr val="FFFFFF"/>
                  </a:solidFill>
                  <a:latin typeface="Nyutro Sans Bold"/>
                  <a:ea typeface="Nyutro Sans Bold"/>
                  <a:cs typeface="Nyutro Sans Bold"/>
                  <a:sym typeface="Nyutro Sans Bold"/>
                </a:rPr>
                <a:t>trình bày quá trình</a:t>
              </a:r>
              <a:r>
                <a:rPr lang="en-US" sz="3703" strike="noStrike" u="none">
                  <a:solidFill>
                    <a:srgbClr val="FFFFFF"/>
                  </a:solidFill>
                  <a:latin typeface="Nyutro Sans"/>
                  <a:ea typeface="Nyutro Sans"/>
                  <a:cs typeface="Nyutro Sans"/>
                  <a:sym typeface="Nyutro Sans"/>
                </a:rPr>
                <a:t> phân tích và kết quả từ hai bộ dữ liệu lớn, nhấn mạnh tầm quan trọng của phân tích dữ liệu trong nghiên cứu dinh dưỡng và chính trị.</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495A34"/>
        </a:solidFill>
      </p:bgPr>
    </p:bg>
    <p:spTree>
      <p:nvGrpSpPr>
        <p:cNvPr id="1" name=""/>
        <p:cNvGrpSpPr/>
        <p:nvPr/>
      </p:nvGrpSpPr>
      <p:grpSpPr>
        <a:xfrm>
          <a:off x="0" y="0"/>
          <a:ext cx="0" cy="0"/>
          <a:chOff x="0" y="0"/>
          <a:chExt cx="0" cy="0"/>
        </a:xfrm>
      </p:grpSpPr>
      <p:sp>
        <p:nvSpPr>
          <p:cNvPr name="Freeform 2" id="2"/>
          <p:cNvSpPr/>
          <p:nvPr/>
        </p:nvSpPr>
        <p:spPr>
          <a:xfrm flipH="false" flipV="false" rot="0">
            <a:off x="11027659" y="254264"/>
            <a:ext cx="6968897" cy="3408464"/>
          </a:xfrm>
          <a:custGeom>
            <a:avLst/>
            <a:gdLst/>
            <a:ahLst/>
            <a:cxnLst/>
            <a:rect r="r" b="b" t="t" l="l"/>
            <a:pathLst>
              <a:path h="3408464" w="6968897">
                <a:moveTo>
                  <a:pt x="0" y="0"/>
                </a:moveTo>
                <a:lnTo>
                  <a:pt x="6968898" y="0"/>
                </a:lnTo>
                <a:lnTo>
                  <a:pt x="6968898" y="3408463"/>
                </a:lnTo>
                <a:lnTo>
                  <a:pt x="0" y="3408463"/>
                </a:lnTo>
                <a:lnTo>
                  <a:pt x="0" y="0"/>
                </a:lnTo>
                <a:close/>
              </a:path>
            </a:pathLst>
          </a:custGeom>
          <a:blipFill>
            <a:blip r:embed="rId2"/>
            <a:stretch>
              <a:fillRect l="0" t="0" r="0" b="0"/>
            </a:stretch>
          </a:blipFill>
        </p:spPr>
      </p:sp>
      <p:sp>
        <p:nvSpPr>
          <p:cNvPr name="Freeform 3" id="3"/>
          <p:cNvSpPr/>
          <p:nvPr/>
        </p:nvSpPr>
        <p:spPr>
          <a:xfrm flipH="false" flipV="false" rot="0">
            <a:off x="10631874" y="4917952"/>
            <a:ext cx="7364683" cy="4900862"/>
          </a:xfrm>
          <a:custGeom>
            <a:avLst/>
            <a:gdLst/>
            <a:ahLst/>
            <a:cxnLst/>
            <a:rect r="r" b="b" t="t" l="l"/>
            <a:pathLst>
              <a:path h="4900862" w="7364683">
                <a:moveTo>
                  <a:pt x="0" y="0"/>
                </a:moveTo>
                <a:lnTo>
                  <a:pt x="7364683" y="0"/>
                </a:lnTo>
                <a:lnTo>
                  <a:pt x="7364683" y="4900862"/>
                </a:lnTo>
                <a:lnTo>
                  <a:pt x="0" y="4900862"/>
                </a:lnTo>
                <a:lnTo>
                  <a:pt x="0" y="0"/>
                </a:lnTo>
                <a:close/>
              </a:path>
            </a:pathLst>
          </a:custGeom>
          <a:blipFill>
            <a:blip r:embed="rId3"/>
            <a:stretch>
              <a:fillRect l="0" t="0" r="0" b="0"/>
            </a:stretch>
          </a:blipFill>
        </p:spPr>
      </p:sp>
      <p:grpSp>
        <p:nvGrpSpPr>
          <p:cNvPr name="Group 4" id="4"/>
          <p:cNvGrpSpPr/>
          <p:nvPr/>
        </p:nvGrpSpPr>
        <p:grpSpPr>
          <a:xfrm rot="0">
            <a:off x="666750" y="666750"/>
            <a:ext cx="10070543" cy="8956715"/>
            <a:chOff x="0" y="0"/>
            <a:chExt cx="13427391" cy="11942286"/>
          </a:xfrm>
        </p:grpSpPr>
        <p:sp>
          <p:nvSpPr>
            <p:cNvPr name="TextBox 5" id="5"/>
            <p:cNvSpPr txBox="true"/>
            <p:nvPr/>
          </p:nvSpPr>
          <p:spPr>
            <a:xfrm rot="0">
              <a:off x="0" y="1320311"/>
              <a:ext cx="13427391" cy="10621976"/>
            </a:xfrm>
            <a:prstGeom prst="rect">
              <a:avLst/>
            </a:prstGeom>
          </p:spPr>
          <p:txBody>
            <a:bodyPr anchor="t" rtlCol="false" tIns="0" lIns="0" bIns="0" rIns="0">
              <a:spAutoFit/>
            </a:bodyPr>
            <a:lstStyle/>
            <a:p>
              <a:pPr algn="l" marL="0" indent="0" lvl="0">
                <a:lnSpc>
                  <a:spcPts val="4233"/>
                </a:lnSpc>
              </a:pPr>
              <a:r>
                <a:rPr lang="en-US" sz="3024">
                  <a:solidFill>
                    <a:srgbClr val="FFFFFF"/>
                  </a:solidFill>
                  <a:latin typeface="Nyutro Sans"/>
                  <a:ea typeface="Nyutro Sans"/>
                  <a:cs typeface="Nyutro Sans"/>
                  <a:sym typeface="Nyutro Sans"/>
                </a:rPr>
                <a:t>Báo cáo này nhằm mục đích:</a:t>
              </a:r>
            </a:p>
            <a:p>
              <a:pPr algn="l" marL="652933" indent="-326467" lvl="1">
                <a:lnSpc>
                  <a:spcPts val="4233"/>
                </a:lnSpc>
                <a:buFont typeface="Arial"/>
                <a:buChar char="•"/>
              </a:pPr>
              <a:r>
                <a:rPr lang="en-US" b="true" sz="3024">
                  <a:solidFill>
                    <a:srgbClr val="FFFFFF"/>
                  </a:solidFill>
                  <a:latin typeface="Nyutro Sans Bold"/>
                  <a:ea typeface="Nyutro Sans Bold"/>
                  <a:cs typeface="Nyutro Sans Bold"/>
                  <a:sym typeface="Nyutro Sans Bold"/>
                </a:rPr>
                <a:t>Trình bày</a:t>
              </a:r>
              <a:r>
                <a:rPr lang="en-US" sz="3024">
                  <a:solidFill>
                    <a:srgbClr val="FFFFFF"/>
                  </a:solidFill>
                  <a:latin typeface="Nyutro Sans"/>
                  <a:ea typeface="Nyutro Sans"/>
                  <a:cs typeface="Nyutro Sans"/>
                  <a:sym typeface="Nyutro Sans"/>
                </a:rPr>
                <a:t> quá trình phân tích dữ liệu từ hai bộ dữ liệu lớn.</a:t>
              </a:r>
            </a:p>
            <a:p>
              <a:pPr algn="l" marL="652933" indent="-326467" lvl="1">
                <a:lnSpc>
                  <a:spcPts val="4233"/>
                </a:lnSpc>
                <a:buFont typeface="Arial"/>
                <a:buChar char="•"/>
              </a:pPr>
              <a:r>
                <a:rPr lang="en-US" b="true" sz="3024">
                  <a:solidFill>
                    <a:srgbClr val="FFFFFF"/>
                  </a:solidFill>
                  <a:latin typeface="Nyutro Sans Bold"/>
                  <a:ea typeface="Nyutro Sans Bold"/>
                  <a:cs typeface="Nyutro Sans Bold"/>
                  <a:sym typeface="Nyutro Sans Bold"/>
                </a:rPr>
                <a:t>Áp dụng</a:t>
              </a:r>
              <a:r>
                <a:rPr lang="en-US" sz="3024">
                  <a:solidFill>
                    <a:srgbClr val="FFFFFF"/>
                  </a:solidFill>
                  <a:latin typeface="Nyutro Sans"/>
                  <a:ea typeface="Nyutro Sans"/>
                  <a:cs typeface="Nyutro Sans"/>
                  <a:sym typeface="Nyutro Sans"/>
                </a:rPr>
                <a:t> Python và các thư viện như pandas, matplotlib để xử lý và phân tích.</a:t>
              </a:r>
            </a:p>
            <a:p>
              <a:pPr algn="l" marL="652933" indent="-326467" lvl="1">
                <a:lnSpc>
                  <a:spcPts val="4233"/>
                </a:lnSpc>
                <a:buFont typeface="Arial"/>
                <a:buChar char="•"/>
              </a:pPr>
              <a:r>
                <a:rPr lang="en-US" sz="3024">
                  <a:solidFill>
                    <a:srgbClr val="FFFFFF"/>
                  </a:solidFill>
                  <a:latin typeface="Nyutro Sans"/>
                  <a:ea typeface="Nyutro Sans"/>
                  <a:cs typeface="Nyutro Sans"/>
                  <a:sym typeface="Nyutro Sans"/>
                </a:rPr>
                <a:t>Phân tích dữ liệu thực phẩm giúp hiểu </a:t>
              </a:r>
              <a:r>
                <a:rPr lang="en-US" b="true" sz="3024">
                  <a:solidFill>
                    <a:srgbClr val="FFFFFF"/>
                  </a:solidFill>
                  <a:latin typeface="Nyutro Sans Bold"/>
                  <a:ea typeface="Nyutro Sans Bold"/>
                  <a:cs typeface="Nyutro Sans Bold"/>
                  <a:sym typeface="Nyutro Sans Bold"/>
                </a:rPr>
                <a:t>thành phần dinh dưỡng</a:t>
              </a:r>
              <a:r>
                <a:rPr lang="en-US" sz="3024">
                  <a:solidFill>
                    <a:srgbClr val="FFFFFF"/>
                  </a:solidFill>
                  <a:latin typeface="Nyutro Sans"/>
                  <a:ea typeface="Nyutro Sans"/>
                  <a:cs typeface="Nyutro Sans"/>
                  <a:sym typeface="Nyutro Sans"/>
                </a:rPr>
                <a:t> và ảnh hưởng đến sức khỏe.</a:t>
              </a:r>
            </a:p>
            <a:p>
              <a:pPr algn="l" marL="652933" indent="-326467" lvl="1">
                <a:lnSpc>
                  <a:spcPts val="4233"/>
                </a:lnSpc>
                <a:buFont typeface="Arial"/>
                <a:buChar char="•"/>
              </a:pPr>
              <a:r>
                <a:rPr lang="en-US" sz="3024">
                  <a:solidFill>
                    <a:srgbClr val="FFFFFF"/>
                  </a:solidFill>
                  <a:latin typeface="Nyutro Sans"/>
                  <a:ea typeface="Nyutro Sans"/>
                  <a:cs typeface="Nyutro Sans"/>
                  <a:sym typeface="Nyutro Sans"/>
                </a:rPr>
                <a:t>Nghiên cứu dữ liệu bầu cử nhằm hiểu </a:t>
              </a:r>
              <a:r>
                <a:rPr lang="en-US" b="true" sz="3024">
                  <a:solidFill>
                    <a:srgbClr val="FFFFFF"/>
                  </a:solidFill>
                  <a:latin typeface="Nyutro Sans Bold"/>
                  <a:ea typeface="Nyutro Sans Bold"/>
                  <a:cs typeface="Nyutro Sans Bold"/>
                  <a:sym typeface="Nyutro Sans Bold"/>
                </a:rPr>
                <a:t>xu hướng đóng góp</a:t>
              </a:r>
              <a:r>
                <a:rPr lang="en-US" sz="3024">
                  <a:solidFill>
                    <a:srgbClr val="FFFFFF"/>
                  </a:solidFill>
                  <a:latin typeface="Nyutro Sans"/>
                  <a:ea typeface="Nyutro Sans"/>
                  <a:cs typeface="Nyutro Sans"/>
                  <a:sym typeface="Nyutro Sans"/>
                </a:rPr>
                <a:t> chính trị và mối quan hệ với các yếu tố xã hội, kinh tế.</a:t>
              </a:r>
            </a:p>
            <a:p>
              <a:pPr algn="l" marL="652933" indent="-326467" lvl="1">
                <a:lnSpc>
                  <a:spcPts val="4233"/>
                </a:lnSpc>
                <a:buFont typeface="Arial"/>
                <a:buChar char="•"/>
              </a:pPr>
              <a:r>
                <a:rPr lang="en-US" b="true" sz="3024">
                  <a:solidFill>
                    <a:srgbClr val="FFFFFF"/>
                  </a:solidFill>
                  <a:latin typeface="Nyutro Sans Bold"/>
                  <a:ea typeface="Nyutro Sans Bold"/>
                  <a:cs typeface="Nyutro Sans Bold"/>
                  <a:sym typeface="Nyutro Sans Bold"/>
                </a:rPr>
                <a:t>Tạo ra một cái nhìn tổng quan</a:t>
              </a:r>
              <a:r>
                <a:rPr lang="en-US" sz="3024">
                  <a:solidFill>
                    <a:srgbClr val="FFFFFF"/>
                  </a:solidFill>
                  <a:latin typeface="Nyutro Sans"/>
                  <a:ea typeface="Nyutro Sans"/>
                  <a:cs typeface="Nyutro Sans"/>
                  <a:sym typeface="Nyutro Sans"/>
                </a:rPr>
                <a:t> về tầm quan trọng của phân tích dữ liệu trong nghiên cứu dinh dưỡng và chính trị.</a:t>
              </a:r>
            </a:p>
            <a:p>
              <a:pPr algn="l" marL="652933" indent="-326467" lvl="1">
                <a:lnSpc>
                  <a:spcPts val="4233"/>
                </a:lnSpc>
                <a:buFont typeface="Arial"/>
                <a:buChar char="•"/>
              </a:pPr>
              <a:r>
                <a:rPr lang="en-US" sz="3024">
                  <a:solidFill>
                    <a:srgbClr val="FFFFFF"/>
                  </a:solidFill>
                  <a:latin typeface="Nyutro Sans"/>
                  <a:ea typeface="Nyutro Sans"/>
                  <a:cs typeface="Nyutro Sans"/>
                  <a:sym typeface="Nyutro Sans"/>
                </a:rPr>
                <a:t>Tóm tắt kết quả sẽ được trình bày rõ ràng, thu hút sự tò mò và định hướng cho người học.</a:t>
              </a:r>
            </a:p>
          </p:txBody>
        </p:sp>
        <p:sp>
          <p:nvSpPr>
            <p:cNvPr name="TextBox 6" id="6"/>
            <p:cNvSpPr txBox="true"/>
            <p:nvPr/>
          </p:nvSpPr>
          <p:spPr>
            <a:xfrm rot="0">
              <a:off x="0" y="-133350"/>
              <a:ext cx="13427391" cy="870781"/>
            </a:xfrm>
            <a:prstGeom prst="rect">
              <a:avLst/>
            </a:prstGeom>
          </p:spPr>
          <p:txBody>
            <a:bodyPr anchor="t" rtlCol="false" tIns="0" lIns="0" bIns="0" rIns="0">
              <a:spAutoFit/>
            </a:bodyPr>
            <a:lstStyle/>
            <a:p>
              <a:pPr algn="l" marL="0" indent="0" lvl="0">
                <a:lnSpc>
                  <a:spcPts val="5080"/>
                </a:lnSpc>
              </a:pPr>
              <a:r>
                <a:rPr lang="en-US" b="true" sz="3629" strike="noStrike" u="none">
                  <a:solidFill>
                    <a:srgbClr val="FFFFFF"/>
                  </a:solidFill>
                  <a:latin typeface="Nyutro Sans Bold"/>
                  <a:ea typeface="Nyutro Sans Bold"/>
                  <a:cs typeface="Nyutro Sans Bold"/>
                  <a:sym typeface="Nyutro Sans Bold"/>
                </a:rPr>
                <a:t>Mục tiêu và tầm quan trọng của báo cáo</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495A34"/>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9763125" cy="1990725"/>
            <a:chOff x="0" y="0"/>
            <a:chExt cx="13017500" cy="2654300"/>
          </a:xfrm>
        </p:grpSpPr>
        <p:sp>
          <p:nvSpPr>
            <p:cNvPr name="TextBox 3" id="3"/>
            <p:cNvSpPr txBox="true"/>
            <p:nvPr/>
          </p:nvSpPr>
          <p:spPr>
            <a:xfrm rot="0">
              <a:off x="0" y="76200"/>
              <a:ext cx="13017500" cy="1752600"/>
            </a:xfrm>
            <a:prstGeom prst="rect">
              <a:avLst/>
            </a:prstGeom>
          </p:spPr>
          <p:txBody>
            <a:bodyPr anchor="t" rtlCol="false" tIns="0" lIns="0" bIns="0" rIns="0">
              <a:spAutoFit/>
            </a:bodyPr>
            <a:lstStyle/>
            <a:p>
              <a:pPr algn="l" marL="0" indent="0" lvl="0">
                <a:lnSpc>
                  <a:spcPts val="8100"/>
                </a:lnSpc>
                <a:spcBef>
                  <a:spcPct val="0"/>
                </a:spcBef>
              </a:pPr>
              <a:r>
                <a:rPr lang="en-US" b="true" sz="9000" spc="-89" strike="noStrike" u="none">
                  <a:solidFill>
                    <a:srgbClr val="FFFFFF"/>
                  </a:solidFill>
                  <a:latin typeface="Nyutro Sans Heavy"/>
                  <a:ea typeface="Nyutro Sans Heavy"/>
                  <a:cs typeface="Nyutro Sans Heavy"/>
                  <a:sym typeface="Nyutro Sans Heavy"/>
                </a:rPr>
                <a:t>Phân tích dữ liệu</a:t>
              </a:r>
            </a:p>
          </p:txBody>
        </p:sp>
        <p:sp>
          <p:nvSpPr>
            <p:cNvPr name="TextBox 4" id="4"/>
            <p:cNvSpPr txBox="true"/>
            <p:nvPr/>
          </p:nvSpPr>
          <p:spPr>
            <a:xfrm rot="0">
              <a:off x="38100" y="2000250"/>
              <a:ext cx="12979400" cy="654050"/>
            </a:xfrm>
            <a:prstGeom prst="rect">
              <a:avLst/>
            </a:prstGeom>
          </p:spPr>
          <p:txBody>
            <a:bodyPr anchor="t" rtlCol="false" tIns="0" lIns="0" bIns="0" rIns="0">
              <a:spAutoFit/>
            </a:bodyPr>
            <a:lstStyle/>
            <a:p>
              <a:pPr algn="l" marL="0" indent="0" lvl="0">
                <a:lnSpc>
                  <a:spcPts val="3599"/>
                </a:lnSpc>
                <a:spcBef>
                  <a:spcPct val="0"/>
                </a:spcBef>
              </a:pPr>
              <a:r>
                <a:rPr lang="en-US" b="true" sz="2999" strike="noStrike" u="none">
                  <a:solidFill>
                    <a:srgbClr val="FFFFFF"/>
                  </a:solidFill>
                  <a:latin typeface="Nyutro Sans Bold"/>
                  <a:ea typeface="Nyutro Sans Bold"/>
                  <a:cs typeface="Nyutro Sans Bold"/>
                  <a:sym typeface="Nyutro Sans Bold"/>
                </a:rPr>
                <a:t>Giới thiệu CSDL Thực phẩm USDA</a:t>
              </a:r>
            </a:p>
          </p:txBody>
        </p:sp>
      </p:grpSp>
      <p:grpSp>
        <p:nvGrpSpPr>
          <p:cNvPr name="Group 5" id="5"/>
          <p:cNvGrpSpPr/>
          <p:nvPr/>
        </p:nvGrpSpPr>
        <p:grpSpPr>
          <a:xfrm rot="0">
            <a:off x="695325" y="6038850"/>
            <a:ext cx="6858000" cy="2574888"/>
            <a:chOff x="0" y="0"/>
            <a:chExt cx="9144000" cy="3433184"/>
          </a:xfrm>
        </p:grpSpPr>
        <p:sp>
          <p:nvSpPr>
            <p:cNvPr name="TextBox 6" id="6"/>
            <p:cNvSpPr txBox="true"/>
            <p:nvPr/>
          </p:nvSpPr>
          <p:spPr>
            <a:xfrm rot="0">
              <a:off x="0" y="1085800"/>
              <a:ext cx="9144000" cy="2347383"/>
            </a:xfrm>
            <a:prstGeom prst="rect">
              <a:avLst/>
            </a:prstGeom>
          </p:spPr>
          <p:txBody>
            <a:bodyPr anchor="t" rtlCol="false" tIns="0" lIns="0" bIns="0" rIns="0">
              <a:spAutoFit/>
            </a:bodyPr>
            <a:lstStyle/>
            <a:p>
              <a:pPr algn="l" marL="0" indent="0" lvl="0">
                <a:lnSpc>
                  <a:spcPts val="3499"/>
                </a:lnSpc>
                <a:spcBef>
                  <a:spcPct val="0"/>
                </a:spcBef>
              </a:pPr>
              <a:r>
                <a:rPr lang="en-US" sz="2499" strike="noStrike" u="none">
                  <a:solidFill>
                    <a:srgbClr val="FFFFFF"/>
                  </a:solidFill>
                  <a:latin typeface="Nyutro Sans"/>
                  <a:ea typeface="Nyutro Sans"/>
                  <a:cs typeface="Nyutro Sans"/>
                  <a:sym typeface="Nyutro Sans"/>
                </a:rPr>
                <a:t>CSDL Thực phẩm USDA là nguồn dữ liệu phong phú, chứa thông tin dinh dưỡng từ hơn </a:t>
              </a:r>
              <a:r>
                <a:rPr lang="en-US" b="true" sz="2499" strike="noStrike" u="none">
                  <a:solidFill>
                    <a:srgbClr val="FFFFFF"/>
                  </a:solidFill>
                  <a:latin typeface="Nyutro Sans Bold"/>
                  <a:ea typeface="Nyutro Sans Bold"/>
                  <a:cs typeface="Nyutro Sans Bold"/>
                  <a:sym typeface="Nyutro Sans Bold"/>
                </a:rPr>
                <a:t>một ngàn loại thực phẩm</a:t>
              </a:r>
              <a:r>
                <a:rPr lang="en-US" sz="2499" strike="noStrike" u="none">
                  <a:solidFill>
                    <a:srgbClr val="FFFFFF"/>
                  </a:solidFill>
                  <a:latin typeface="Nyutro Sans"/>
                  <a:ea typeface="Nyutro Sans"/>
                  <a:cs typeface="Nyutro Sans"/>
                  <a:sym typeface="Nyutro Sans"/>
                </a:rPr>
                <a:t>, giúp nghiên cứu dinh dưỡng hiệu quả hơn.</a:t>
              </a:r>
            </a:p>
          </p:txBody>
        </p:sp>
        <p:sp>
          <p:nvSpPr>
            <p:cNvPr name="TextBox 7" id="7"/>
            <p:cNvSpPr txBox="true"/>
            <p:nvPr/>
          </p:nvSpPr>
          <p:spPr>
            <a:xfrm rot="0">
              <a:off x="0" y="-57150"/>
              <a:ext cx="9144000" cy="654050"/>
            </a:xfrm>
            <a:prstGeom prst="rect">
              <a:avLst/>
            </a:prstGeom>
          </p:spPr>
          <p:txBody>
            <a:bodyPr anchor="t" rtlCol="false" tIns="0" lIns="0" bIns="0" rIns="0">
              <a:spAutoFit/>
            </a:bodyPr>
            <a:lstStyle/>
            <a:p>
              <a:pPr algn="l" marL="0" indent="0" lvl="0">
                <a:lnSpc>
                  <a:spcPts val="3599"/>
                </a:lnSpc>
                <a:spcBef>
                  <a:spcPct val="0"/>
                </a:spcBef>
              </a:pPr>
              <a:r>
                <a:rPr lang="en-US" b="true" sz="2999" strike="noStrike" u="none">
                  <a:solidFill>
                    <a:srgbClr val="FFFFFF"/>
                  </a:solidFill>
                  <a:latin typeface="Nyutro Sans Bold"/>
                  <a:ea typeface="Nyutro Sans Bold"/>
                  <a:cs typeface="Nyutro Sans Bold"/>
                  <a:sym typeface="Nyutro Sans Bold"/>
                </a:rPr>
                <a:t>Giới thiệu CSDL</a:t>
              </a:r>
            </a:p>
          </p:txBody>
        </p:sp>
      </p:grpSp>
      <p:grpSp>
        <p:nvGrpSpPr>
          <p:cNvPr name="Group 8" id="8"/>
          <p:cNvGrpSpPr/>
          <p:nvPr/>
        </p:nvGrpSpPr>
        <p:grpSpPr>
          <a:xfrm rot="0">
            <a:off x="7858125" y="6038850"/>
            <a:ext cx="6858000" cy="2574888"/>
            <a:chOff x="0" y="0"/>
            <a:chExt cx="9144000" cy="3433184"/>
          </a:xfrm>
        </p:grpSpPr>
        <p:sp>
          <p:nvSpPr>
            <p:cNvPr name="TextBox 9" id="9"/>
            <p:cNvSpPr txBox="true"/>
            <p:nvPr/>
          </p:nvSpPr>
          <p:spPr>
            <a:xfrm rot="0">
              <a:off x="0" y="1085800"/>
              <a:ext cx="9144000" cy="2347383"/>
            </a:xfrm>
            <a:prstGeom prst="rect">
              <a:avLst/>
            </a:prstGeom>
          </p:spPr>
          <p:txBody>
            <a:bodyPr anchor="t" rtlCol="false" tIns="0" lIns="0" bIns="0" rIns="0">
              <a:spAutoFit/>
            </a:bodyPr>
            <a:lstStyle/>
            <a:p>
              <a:pPr algn="l" marL="0" indent="0" lvl="0">
                <a:lnSpc>
                  <a:spcPts val="3499"/>
                </a:lnSpc>
                <a:spcBef>
                  <a:spcPct val="0"/>
                </a:spcBef>
              </a:pPr>
              <a:r>
                <a:rPr lang="en-US" sz="2499" strike="noStrike" u="none">
                  <a:solidFill>
                    <a:srgbClr val="FFFFFF"/>
                  </a:solidFill>
                  <a:latin typeface="Nyutro Sans"/>
                  <a:ea typeface="Nyutro Sans"/>
                  <a:cs typeface="Nyutro Sans"/>
                  <a:sym typeface="Nyutro Sans"/>
                </a:rPr>
                <a:t>Chúng tôi sử dụng Python với các thư viện như pandas và matplotlib để </a:t>
              </a:r>
              <a:r>
                <a:rPr lang="en-US" b="true" sz="2499" strike="noStrike" u="none">
                  <a:solidFill>
                    <a:srgbClr val="FFFFFF"/>
                  </a:solidFill>
                  <a:latin typeface="Nyutro Sans Bold"/>
                  <a:ea typeface="Nyutro Sans Bold"/>
                  <a:cs typeface="Nyutro Sans Bold"/>
                  <a:sym typeface="Nyutro Sans Bold"/>
                </a:rPr>
                <a:t>tải, xử lý và phân tích dữ liệu</a:t>
              </a:r>
              <a:r>
                <a:rPr lang="en-US" sz="2499" strike="noStrike" u="none">
                  <a:solidFill>
                    <a:srgbClr val="FFFFFF"/>
                  </a:solidFill>
                  <a:latin typeface="Nyutro Sans"/>
                  <a:ea typeface="Nyutro Sans"/>
                  <a:cs typeface="Nyutro Sans"/>
                  <a:sym typeface="Nyutro Sans"/>
                </a:rPr>
                <a:t>, tạo ra những biểu đồ trực quan và dễ hiểu.</a:t>
              </a:r>
            </a:p>
          </p:txBody>
        </p:sp>
        <p:sp>
          <p:nvSpPr>
            <p:cNvPr name="TextBox 10" id="10"/>
            <p:cNvSpPr txBox="true"/>
            <p:nvPr/>
          </p:nvSpPr>
          <p:spPr>
            <a:xfrm rot="0">
              <a:off x="0" y="-57150"/>
              <a:ext cx="9144000" cy="654050"/>
            </a:xfrm>
            <a:prstGeom prst="rect">
              <a:avLst/>
            </a:prstGeom>
          </p:spPr>
          <p:txBody>
            <a:bodyPr anchor="t" rtlCol="false" tIns="0" lIns="0" bIns="0" rIns="0">
              <a:spAutoFit/>
            </a:bodyPr>
            <a:lstStyle/>
            <a:p>
              <a:pPr algn="l" marL="0" indent="0" lvl="0">
                <a:lnSpc>
                  <a:spcPts val="3599"/>
                </a:lnSpc>
                <a:spcBef>
                  <a:spcPct val="0"/>
                </a:spcBef>
              </a:pPr>
              <a:r>
                <a:rPr lang="en-US" b="true" sz="2999" strike="noStrike" u="none">
                  <a:solidFill>
                    <a:srgbClr val="FFFFFF"/>
                  </a:solidFill>
                  <a:latin typeface="Nyutro Sans Bold"/>
                  <a:ea typeface="Nyutro Sans Bold"/>
                  <a:cs typeface="Nyutro Sans Bold"/>
                  <a:sym typeface="Nyutro Sans Bold"/>
                </a:rPr>
                <a:t>Công cụ sử dụng</a:t>
              </a:r>
            </a:p>
          </p:txBody>
        </p:sp>
      </p:grpSp>
      <p:sp>
        <p:nvSpPr>
          <p:cNvPr name="Freeform 11" id="11"/>
          <p:cNvSpPr/>
          <p:nvPr/>
        </p:nvSpPr>
        <p:spPr>
          <a:xfrm flipH="false" flipV="false" rot="0">
            <a:off x="11287125" y="666750"/>
            <a:ext cx="6513039" cy="4424889"/>
          </a:xfrm>
          <a:custGeom>
            <a:avLst/>
            <a:gdLst/>
            <a:ahLst/>
            <a:cxnLst/>
            <a:rect r="r" b="b" t="t" l="l"/>
            <a:pathLst>
              <a:path h="4424889" w="6513039">
                <a:moveTo>
                  <a:pt x="0" y="0"/>
                </a:moveTo>
                <a:lnTo>
                  <a:pt x="6513039" y="0"/>
                </a:lnTo>
                <a:lnTo>
                  <a:pt x="6513039" y="4424889"/>
                </a:lnTo>
                <a:lnTo>
                  <a:pt x="0" y="4424889"/>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495A34"/>
        </a:solidFill>
      </p:bgPr>
    </p:bg>
    <p:spTree>
      <p:nvGrpSpPr>
        <p:cNvPr id="1" name=""/>
        <p:cNvGrpSpPr/>
        <p:nvPr/>
      </p:nvGrpSpPr>
      <p:grpSpPr>
        <a:xfrm>
          <a:off x="0" y="0"/>
          <a:ext cx="0" cy="0"/>
          <a:chOff x="0" y="0"/>
          <a:chExt cx="0" cy="0"/>
        </a:xfrm>
      </p:grpSpPr>
      <p:grpSp>
        <p:nvGrpSpPr>
          <p:cNvPr name="Group 2" id="2"/>
          <p:cNvGrpSpPr/>
          <p:nvPr/>
        </p:nvGrpSpPr>
        <p:grpSpPr>
          <a:xfrm rot="0">
            <a:off x="9559558" y="666750"/>
            <a:ext cx="8324850" cy="8953500"/>
            <a:chOff x="0" y="0"/>
            <a:chExt cx="2576171" cy="2770710"/>
          </a:xfrm>
        </p:grpSpPr>
        <p:sp>
          <p:nvSpPr>
            <p:cNvPr name="Freeform 3" id="3"/>
            <p:cNvSpPr/>
            <p:nvPr/>
          </p:nvSpPr>
          <p:spPr>
            <a:xfrm flipH="false" flipV="false" rot="0">
              <a:off x="0" y="0"/>
              <a:ext cx="2576172" cy="2770723"/>
            </a:xfrm>
            <a:custGeom>
              <a:avLst/>
              <a:gdLst/>
              <a:ahLst/>
              <a:cxnLst/>
              <a:rect r="r" b="b" t="t" l="l"/>
              <a:pathLst>
                <a:path h="2770723" w="2576172">
                  <a:moveTo>
                    <a:pt x="2088730" y="0"/>
                  </a:moveTo>
                  <a:lnTo>
                    <a:pt x="177673" y="0"/>
                  </a:lnTo>
                  <a:cubicBezTo>
                    <a:pt x="79547" y="0"/>
                    <a:pt x="0" y="79547"/>
                    <a:pt x="0" y="177673"/>
                  </a:cubicBezTo>
                  <a:lnTo>
                    <a:pt x="0" y="2593050"/>
                  </a:lnTo>
                  <a:cubicBezTo>
                    <a:pt x="0" y="2691176"/>
                    <a:pt x="79547" y="2770723"/>
                    <a:pt x="177673" y="2770723"/>
                  </a:cubicBezTo>
                  <a:lnTo>
                    <a:pt x="2398500" y="2770723"/>
                  </a:lnTo>
                  <a:cubicBezTo>
                    <a:pt x="2496626" y="2770723"/>
                    <a:pt x="2576172" y="2691176"/>
                    <a:pt x="2576172" y="2593050"/>
                  </a:cubicBezTo>
                  <a:lnTo>
                    <a:pt x="2576172" y="523958"/>
                  </a:lnTo>
                  <a:cubicBezTo>
                    <a:pt x="2576172" y="480251"/>
                    <a:pt x="2560063" y="438079"/>
                    <a:pt x="2530924" y="405503"/>
                  </a:cubicBezTo>
                  <a:lnTo>
                    <a:pt x="2221146" y="59214"/>
                  </a:lnTo>
                  <a:cubicBezTo>
                    <a:pt x="2187442" y="21536"/>
                    <a:pt x="2139283" y="0"/>
                    <a:pt x="2088730" y="0"/>
                  </a:cubicBezTo>
                  <a:close/>
                </a:path>
              </a:pathLst>
            </a:custGeom>
            <a:blipFill>
              <a:blip r:embed="rId2"/>
              <a:stretch>
                <a:fillRect l="-46028" t="0" r="-46028" b="0"/>
              </a:stretch>
            </a:blipFill>
          </p:spPr>
        </p:sp>
      </p:grpSp>
      <p:sp>
        <p:nvSpPr>
          <p:cNvPr name="Freeform 4" id="4"/>
          <p:cNvSpPr/>
          <p:nvPr/>
        </p:nvSpPr>
        <p:spPr>
          <a:xfrm flipH="false" flipV="false" rot="0">
            <a:off x="41498" y="2038350"/>
            <a:ext cx="9102502" cy="2572698"/>
          </a:xfrm>
          <a:custGeom>
            <a:avLst/>
            <a:gdLst/>
            <a:ahLst/>
            <a:cxnLst/>
            <a:rect r="r" b="b" t="t" l="l"/>
            <a:pathLst>
              <a:path h="2572698" w="9102502">
                <a:moveTo>
                  <a:pt x="0" y="0"/>
                </a:moveTo>
                <a:lnTo>
                  <a:pt x="9102502" y="0"/>
                </a:lnTo>
                <a:lnTo>
                  <a:pt x="9102502" y="2572698"/>
                </a:lnTo>
                <a:lnTo>
                  <a:pt x="0" y="2572698"/>
                </a:lnTo>
                <a:lnTo>
                  <a:pt x="0" y="0"/>
                </a:lnTo>
                <a:close/>
              </a:path>
            </a:pathLst>
          </a:custGeom>
          <a:blipFill>
            <a:blip r:embed="rId3"/>
            <a:stretch>
              <a:fillRect l="0" t="0" r="-13904" b="0"/>
            </a:stretch>
          </a:blipFill>
        </p:spPr>
      </p:sp>
      <p:sp>
        <p:nvSpPr>
          <p:cNvPr name="TextBox 5" id="5"/>
          <p:cNvSpPr txBox="true"/>
          <p:nvPr/>
        </p:nvSpPr>
        <p:spPr>
          <a:xfrm rot="0">
            <a:off x="666750" y="6083300"/>
            <a:ext cx="6886575" cy="3536950"/>
          </a:xfrm>
          <a:prstGeom prst="rect">
            <a:avLst/>
          </a:prstGeom>
        </p:spPr>
        <p:txBody>
          <a:bodyPr anchor="t" rtlCol="false" tIns="0" lIns="0" bIns="0" rIns="0">
            <a:spAutoFit/>
          </a:bodyPr>
          <a:lstStyle/>
          <a:p>
            <a:pPr algn="l" marL="539749" indent="-269875" lvl="1">
              <a:lnSpc>
                <a:spcPts val="3499"/>
              </a:lnSpc>
              <a:buFont typeface="Arial"/>
              <a:buChar char="•"/>
            </a:pPr>
            <a:r>
              <a:rPr lang="en-US" sz="2499" strike="noStrike" u="none">
                <a:solidFill>
                  <a:srgbClr val="FFFFFF"/>
                </a:solidFill>
                <a:latin typeface="Nyutro Sans"/>
                <a:ea typeface="Nyutro Sans"/>
                <a:cs typeface="Nyutro Sans"/>
                <a:sym typeface="Nyutro Sans"/>
              </a:rPr>
              <a:t>Tải và xử lý dữ liệu JSON: Đọc file và kiểm tra cấu trúc.</a:t>
            </a:r>
          </a:p>
          <a:p>
            <a:pPr algn="l" marL="539749" indent="-269875" lvl="1">
              <a:lnSpc>
                <a:spcPts val="3499"/>
              </a:lnSpc>
              <a:buFont typeface="Arial"/>
              <a:buChar char="•"/>
            </a:pPr>
            <a:r>
              <a:rPr lang="en-US" sz="2499" strike="noStrike" u="none">
                <a:solidFill>
                  <a:srgbClr val="FFFFFF"/>
                </a:solidFill>
                <a:latin typeface="Nyutro Sans"/>
                <a:ea typeface="Nyutro Sans"/>
                <a:cs typeface="Nyutro Sans"/>
                <a:sym typeface="Nyutro Sans"/>
              </a:rPr>
              <a:t>Gộp và làm sạch dữ liệu: Kết hợp bảng thực phẩm và bảng dinh dưỡng.</a:t>
            </a:r>
          </a:p>
          <a:p>
            <a:pPr algn="l" marL="539749" indent="-269875" lvl="1">
              <a:lnSpc>
                <a:spcPts val="3499"/>
              </a:lnSpc>
              <a:buFont typeface="Arial"/>
              <a:buChar char="•"/>
            </a:pPr>
            <a:r>
              <a:rPr lang="en-US" sz="2499" strike="noStrike" u="none">
                <a:solidFill>
                  <a:srgbClr val="FFFFFF"/>
                </a:solidFill>
                <a:latin typeface="Nyutro Sans"/>
                <a:ea typeface="Nyutro Sans"/>
                <a:cs typeface="Nyutro Sans"/>
                <a:sym typeface="Nyutro Sans"/>
              </a:rPr>
              <a:t>Phân nhóm thực phẩm theo giá trị dinh dưỡng: Tính trung bình.</a:t>
            </a:r>
          </a:p>
          <a:p>
            <a:pPr algn="l" marL="539749" indent="-269875" lvl="1">
              <a:lnSpc>
                <a:spcPts val="3499"/>
              </a:lnSpc>
              <a:buFont typeface="Arial"/>
              <a:buChar char="•"/>
            </a:pPr>
            <a:r>
              <a:rPr lang="en-US" sz="2499" strike="noStrike" u="none">
                <a:solidFill>
                  <a:srgbClr val="FFFFFF"/>
                </a:solidFill>
                <a:latin typeface="Nyutro Sans"/>
                <a:ea typeface="Nyutro Sans"/>
                <a:cs typeface="Nyutro Sans"/>
                <a:sym typeface="Nyutro Sans"/>
              </a:rPr>
              <a:t>Trực quan hóa dữ liệu: Sử dụng biểu đồ bar và heatmap để minh họa.</a:t>
            </a:r>
          </a:p>
        </p:txBody>
      </p:sp>
      <p:sp>
        <p:nvSpPr>
          <p:cNvPr name="TextBox 6" id="6"/>
          <p:cNvSpPr txBox="true"/>
          <p:nvPr/>
        </p:nvSpPr>
        <p:spPr>
          <a:xfrm rot="0">
            <a:off x="666750" y="742950"/>
            <a:ext cx="6886575" cy="1295400"/>
          </a:xfrm>
          <a:prstGeom prst="rect">
            <a:avLst/>
          </a:prstGeom>
        </p:spPr>
        <p:txBody>
          <a:bodyPr anchor="t" rtlCol="false" tIns="0" lIns="0" bIns="0" rIns="0">
            <a:spAutoFit/>
          </a:bodyPr>
          <a:lstStyle/>
          <a:p>
            <a:pPr algn="l" marL="0" indent="0" lvl="0">
              <a:lnSpc>
                <a:spcPts val="8100"/>
              </a:lnSpc>
              <a:spcBef>
                <a:spcPct val="0"/>
              </a:spcBef>
            </a:pPr>
            <a:r>
              <a:rPr lang="en-US" b="true" sz="9000" spc="-89" strike="noStrike" u="none">
                <a:solidFill>
                  <a:srgbClr val="FFFFFF"/>
                </a:solidFill>
                <a:latin typeface="Nyutro Sans Heavy"/>
                <a:ea typeface="Nyutro Sans Heavy"/>
                <a:cs typeface="Nyutro Sans Heavy"/>
                <a:sym typeface="Nyutro Sans Heavy"/>
              </a:rPr>
              <a:t>Phân tích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495A34"/>
        </a:solidFill>
      </p:bgPr>
    </p:bg>
    <p:spTree>
      <p:nvGrpSpPr>
        <p:cNvPr id="1" name=""/>
        <p:cNvGrpSpPr/>
        <p:nvPr/>
      </p:nvGrpSpPr>
      <p:grpSpPr>
        <a:xfrm>
          <a:off x="0" y="0"/>
          <a:ext cx="0" cy="0"/>
          <a:chOff x="0" y="0"/>
          <a:chExt cx="0" cy="0"/>
        </a:xfrm>
      </p:grpSpPr>
      <p:sp>
        <p:nvSpPr>
          <p:cNvPr name="Freeform 2" id="2"/>
          <p:cNvSpPr/>
          <p:nvPr/>
        </p:nvSpPr>
        <p:spPr>
          <a:xfrm flipH="false" flipV="false" rot="0">
            <a:off x="6419850" y="1650710"/>
            <a:ext cx="11284056" cy="2266473"/>
          </a:xfrm>
          <a:custGeom>
            <a:avLst/>
            <a:gdLst/>
            <a:ahLst/>
            <a:cxnLst/>
            <a:rect r="r" b="b" t="t" l="l"/>
            <a:pathLst>
              <a:path h="2266473" w="11284056">
                <a:moveTo>
                  <a:pt x="0" y="0"/>
                </a:moveTo>
                <a:lnTo>
                  <a:pt x="11284056" y="0"/>
                </a:lnTo>
                <a:lnTo>
                  <a:pt x="11284056" y="2266474"/>
                </a:lnTo>
                <a:lnTo>
                  <a:pt x="0" y="2266474"/>
                </a:lnTo>
                <a:lnTo>
                  <a:pt x="0" y="0"/>
                </a:lnTo>
                <a:close/>
              </a:path>
            </a:pathLst>
          </a:custGeom>
          <a:blipFill>
            <a:blip r:embed="rId2"/>
            <a:stretch>
              <a:fillRect l="0" t="0" r="-56004" b="0"/>
            </a:stretch>
          </a:blipFill>
        </p:spPr>
      </p:sp>
      <p:sp>
        <p:nvSpPr>
          <p:cNvPr name="TextBox 3" id="3"/>
          <p:cNvSpPr txBox="true"/>
          <p:nvPr/>
        </p:nvSpPr>
        <p:spPr>
          <a:xfrm rot="0">
            <a:off x="666750" y="742950"/>
            <a:ext cx="5448300" cy="3352800"/>
          </a:xfrm>
          <a:prstGeom prst="rect">
            <a:avLst/>
          </a:prstGeom>
        </p:spPr>
        <p:txBody>
          <a:bodyPr anchor="t" rtlCol="false" tIns="0" lIns="0" bIns="0" rIns="0">
            <a:spAutoFit/>
          </a:bodyPr>
          <a:lstStyle/>
          <a:p>
            <a:pPr algn="l" marL="0" indent="0" lvl="0">
              <a:lnSpc>
                <a:spcPts val="8100"/>
              </a:lnSpc>
              <a:spcBef>
                <a:spcPct val="0"/>
              </a:spcBef>
            </a:pPr>
            <a:r>
              <a:rPr lang="en-US" b="true" sz="9000" spc="-89" strike="noStrike" u="none">
                <a:solidFill>
                  <a:srgbClr val="FFFFFF"/>
                </a:solidFill>
                <a:latin typeface="Nyutro Sans Heavy"/>
                <a:ea typeface="Nyutro Sans Heavy"/>
                <a:cs typeface="Nyutro Sans Heavy"/>
                <a:sym typeface="Nyutro Sans Heavy"/>
              </a:rPr>
              <a:t>Các bước tải và xử lý dữ liệu</a:t>
            </a:r>
          </a:p>
        </p:txBody>
      </p:sp>
      <p:grpSp>
        <p:nvGrpSpPr>
          <p:cNvPr name="Group 4" id="4"/>
          <p:cNvGrpSpPr/>
          <p:nvPr/>
        </p:nvGrpSpPr>
        <p:grpSpPr>
          <a:xfrm rot="0">
            <a:off x="6724650" y="4237856"/>
            <a:ext cx="5448300" cy="905644"/>
            <a:chOff x="0" y="0"/>
            <a:chExt cx="7264400" cy="1207525"/>
          </a:xfrm>
        </p:grpSpPr>
        <p:sp>
          <p:nvSpPr>
            <p:cNvPr name="TextBox 5" id="5"/>
            <p:cNvSpPr txBox="true"/>
            <p:nvPr/>
          </p:nvSpPr>
          <p:spPr>
            <a:xfrm rot="0">
              <a:off x="0" y="612742"/>
              <a:ext cx="7264400" cy="594783"/>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FFFFFF"/>
                  </a:solidFill>
                  <a:latin typeface="Nyutro Sans"/>
                  <a:ea typeface="Nyutro Sans"/>
                  <a:cs typeface="Nyutro Sans"/>
                  <a:sym typeface="Nyutro Sans"/>
                </a:rPr>
                <a:t>Đọc file JSON và kiểm tra cấu trúc</a:t>
              </a:r>
            </a:p>
          </p:txBody>
        </p:sp>
        <p:sp>
          <p:nvSpPr>
            <p:cNvPr name="TextBox 6" id="6"/>
            <p:cNvSpPr txBox="true"/>
            <p:nvPr/>
          </p:nvSpPr>
          <p:spPr>
            <a:xfrm rot="0">
              <a:off x="0" y="-66675"/>
              <a:ext cx="7264400" cy="676275"/>
            </a:xfrm>
            <a:prstGeom prst="rect">
              <a:avLst/>
            </a:prstGeom>
          </p:spPr>
          <p:txBody>
            <a:bodyPr anchor="t" rtlCol="false" tIns="0" lIns="0" bIns="0" rIns="0">
              <a:spAutoFit/>
            </a:bodyPr>
            <a:lstStyle/>
            <a:p>
              <a:pPr algn="l" marL="0" indent="0" lvl="0">
                <a:lnSpc>
                  <a:spcPts val="3600"/>
                </a:lnSpc>
              </a:pPr>
              <a:r>
                <a:rPr lang="en-US" b="true" sz="3000">
                  <a:solidFill>
                    <a:srgbClr val="FFFFFF"/>
                  </a:solidFill>
                  <a:latin typeface="Nyutro Sans Bold"/>
                  <a:ea typeface="Nyutro Sans Bold"/>
                  <a:cs typeface="Nyutro Sans Bold"/>
                  <a:sym typeface="Nyutro Sans Bold"/>
                </a:rPr>
                <a:t>Tải dữ liệu</a:t>
              </a:r>
            </a:p>
          </p:txBody>
        </p:sp>
      </p:grpSp>
      <p:grpSp>
        <p:nvGrpSpPr>
          <p:cNvPr name="Group 7" id="7"/>
          <p:cNvGrpSpPr/>
          <p:nvPr/>
        </p:nvGrpSpPr>
        <p:grpSpPr>
          <a:xfrm rot="0">
            <a:off x="12555726" y="8967695"/>
            <a:ext cx="5448300" cy="905644"/>
            <a:chOff x="0" y="0"/>
            <a:chExt cx="7264400" cy="1207525"/>
          </a:xfrm>
        </p:grpSpPr>
        <p:sp>
          <p:nvSpPr>
            <p:cNvPr name="TextBox 8" id="8"/>
            <p:cNvSpPr txBox="true"/>
            <p:nvPr/>
          </p:nvSpPr>
          <p:spPr>
            <a:xfrm rot="0">
              <a:off x="0" y="612742"/>
              <a:ext cx="7264400" cy="594783"/>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FFFFFF"/>
                  </a:solidFill>
                  <a:latin typeface="Nyutro Sans"/>
                  <a:ea typeface="Nyutro Sans"/>
                  <a:cs typeface="Nyutro Sans"/>
                  <a:sym typeface="Nyutro Sans"/>
                </a:rPr>
                <a:t>Gộp và loại bỏ dữ liệu trùng lặp</a:t>
              </a:r>
            </a:p>
          </p:txBody>
        </p:sp>
        <p:sp>
          <p:nvSpPr>
            <p:cNvPr name="TextBox 9" id="9"/>
            <p:cNvSpPr txBox="true"/>
            <p:nvPr/>
          </p:nvSpPr>
          <p:spPr>
            <a:xfrm rot="0">
              <a:off x="0" y="-66675"/>
              <a:ext cx="7264400" cy="676275"/>
            </a:xfrm>
            <a:prstGeom prst="rect">
              <a:avLst/>
            </a:prstGeom>
          </p:spPr>
          <p:txBody>
            <a:bodyPr anchor="t" rtlCol="false" tIns="0" lIns="0" bIns="0" rIns="0">
              <a:spAutoFit/>
            </a:bodyPr>
            <a:lstStyle/>
            <a:p>
              <a:pPr algn="l" marL="0" indent="0" lvl="0">
                <a:lnSpc>
                  <a:spcPts val="3600"/>
                </a:lnSpc>
              </a:pPr>
              <a:r>
                <a:rPr lang="en-US" b="true" sz="3000">
                  <a:solidFill>
                    <a:srgbClr val="FFFFFF"/>
                  </a:solidFill>
                  <a:latin typeface="Nyutro Sans Bold"/>
                  <a:ea typeface="Nyutro Sans Bold"/>
                  <a:cs typeface="Nyutro Sans Bold"/>
                  <a:sym typeface="Nyutro Sans Bold"/>
                </a:rPr>
                <a:t>Làm sạch dữ liệu</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495A34"/>
        </a:solidFill>
      </p:bgPr>
    </p:bg>
    <p:spTree>
      <p:nvGrpSpPr>
        <p:cNvPr id="1" name=""/>
        <p:cNvGrpSpPr/>
        <p:nvPr/>
      </p:nvGrpSpPr>
      <p:grpSpPr>
        <a:xfrm>
          <a:off x="0" y="0"/>
          <a:ext cx="0" cy="0"/>
          <a:chOff x="0" y="0"/>
          <a:chExt cx="0" cy="0"/>
        </a:xfrm>
      </p:grpSpPr>
      <p:sp>
        <p:nvSpPr>
          <p:cNvPr name="Freeform 2" id="2"/>
          <p:cNvSpPr/>
          <p:nvPr/>
        </p:nvSpPr>
        <p:spPr>
          <a:xfrm flipH="false" flipV="false" rot="0">
            <a:off x="9363846" y="826296"/>
            <a:ext cx="8631859" cy="4930950"/>
          </a:xfrm>
          <a:custGeom>
            <a:avLst/>
            <a:gdLst/>
            <a:ahLst/>
            <a:cxnLst/>
            <a:rect r="r" b="b" t="t" l="l"/>
            <a:pathLst>
              <a:path h="4930950" w="8631859">
                <a:moveTo>
                  <a:pt x="0" y="0"/>
                </a:moveTo>
                <a:lnTo>
                  <a:pt x="8631860" y="0"/>
                </a:lnTo>
                <a:lnTo>
                  <a:pt x="8631860" y="4930950"/>
                </a:lnTo>
                <a:lnTo>
                  <a:pt x="0" y="4930950"/>
                </a:lnTo>
                <a:lnTo>
                  <a:pt x="0" y="0"/>
                </a:lnTo>
                <a:close/>
              </a:path>
            </a:pathLst>
          </a:custGeom>
          <a:blipFill>
            <a:blip r:embed="rId2"/>
            <a:stretch>
              <a:fillRect l="0" t="0" r="0" b="0"/>
            </a:stretch>
          </a:blipFill>
        </p:spPr>
      </p:sp>
      <p:sp>
        <p:nvSpPr>
          <p:cNvPr name="TextBox 3" id="3"/>
          <p:cNvSpPr txBox="true"/>
          <p:nvPr/>
        </p:nvSpPr>
        <p:spPr>
          <a:xfrm rot="0">
            <a:off x="666750" y="752475"/>
            <a:ext cx="8477250" cy="3154680"/>
          </a:xfrm>
          <a:prstGeom prst="rect">
            <a:avLst/>
          </a:prstGeom>
        </p:spPr>
        <p:txBody>
          <a:bodyPr anchor="t" rtlCol="false" tIns="0" lIns="0" bIns="0" rIns="0">
            <a:spAutoFit/>
          </a:bodyPr>
          <a:lstStyle/>
          <a:p>
            <a:pPr algn="l" marL="0" indent="0" lvl="0">
              <a:lnSpc>
                <a:spcPts val="7695"/>
              </a:lnSpc>
              <a:spcBef>
                <a:spcPct val="0"/>
              </a:spcBef>
            </a:pPr>
            <a:r>
              <a:rPr lang="en-US" b="true" sz="8550" spc="-85" strike="noStrike" u="none">
                <a:solidFill>
                  <a:srgbClr val="FFFFFF"/>
                </a:solidFill>
                <a:latin typeface="Nyutro Sans Heavy"/>
                <a:ea typeface="Nyutro Sans Heavy"/>
                <a:cs typeface="Nyutro Sans Heavy"/>
                <a:sym typeface="Nyutro Sans Heavy"/>
              </a:rPr>
              <a:t>Phân nhóm và trực quan hóa dữ liệu dinh dưỡng</a:t>
            </a:r>
          </a:p>
        </p:txBody>
      </p:sp>
      <p:grpSp>
        <p:nvGrpSpPr>
          <p:cNvPr name="Group 4" id="4"/>
          <p:cNvGrpSpPr/>
          <p:nvPr/>
        </p:nvGrpSpPr>
        <p:grpSpPr>
          <a:xfrm rot="0">
            <a:off x="862986" y="3907155"/>
            <a:ext cx="8500861" cy="2096692"/>
            <a:chOff x="0" y="0"/>
            <a:chExt cx="11334481" cy="2795589"/>
          </a:xfrm>
        </p:grpSpPr>
        <p:sp>
          <p:nvSpPr>
            <p:cNvPr name="TextBox 5" id="5"/>
            <p:cNvSpPr txBox="true"/>
            <p:nvPr/>
          </p:nvSpPr>
          <p:spPr>
            <a:xfrm rot="0">
              <a:off x="0" y="952264"/>
              <a:ext cx="11334481" cy="1843325"/>
            </a:xfrm>
            <a:prstGeom prst="rect">
              <a:avLst/>
            </a:prstGeom>
          </p:spPr>
          <p:txBody>
            <a:bodyPr anchor="t" rtlCol="false" tIns="0" lIns="0" bIns="0" rIns="0">
              <a:spAutoFit/>
            </a:bodyPr>
            <a:lstStyle/>
            <a:p>
              <a:pPr algn="l" marL="0" indent="0" lvl="0">
                <a:lnSpc>
                  <a:spcPts val="5460"/>
                </a:lnSpc>
                <a:spcBef>
                  <a:spcPct val="0"/>
                </a:spcBef>
              </a:pPr>
              <a:r>
                <a:rPr lang="en-US" sz="3900">
                  <a:solidFill>
                    <a:srgbClr val="FFFFFF"/>
                  </a:solidFill>
                  <a:latin typeface="Nyutro Sans"/>
                  <a:ea typeface="Nyutro Sans"/>
                  <a:cs typeface="Nyutro Sans"/>
                  <a:sym typeface="Nyutro Sans"/>
                </a:rPr>
                <a:t>Phân nhóm thực phẩm theo giá trị dinh dưỡng</a:t>
              </a:r>
            </a:p>
          </p:txBody>
        </p:sp>
        <p:sp>
          <p:nvSpPr>
            <p:cNvPr name="TextBox 6" id="6"/>
            <p:cNvSpPr txBox="true"/>
            <p:nvPr/>
          </p:nvSpPr>
          <p:spPr>
            <a:xfrm rot="0">
              <a:off x="0" y="-95250"/>
              <a:ext cx="11334481" cy="1046395"/>
            </a:xfrm>
            <a:prstGeom prst="rect">
              <a:avLst/>
            </a:prstGeom>
          </p:spPr>
          <p:txBody>
            <a:bodyPr anchor="t" rtlCol="false" tIns="0" lIns="0" bIns="0" rIns="0">
              <a:spAutoFit/>
            </a:bodyPr>
            <a:lstStyle/>
            <a:p>
              <a:pPr algn="l" marL="0" indent="0" lvl="0">
                <a:lnSpc>
                  <a:spcPts val="5616"/>
                </a:lnSpc>
              </a:pPr>
              <a:r>
                <a:rPr lang="en-US" b="true" sz="4680">
                  <a:solidFill>
                    <a:srgbClr val="FFFFFF"/>
                  </a:solidFill>
                  <a:latin typeface="Nyutro Sans Bold"/>
                  <a:ea typeface="Nyutro Sans Bold"/>
                  <a:cs typeface="Nyutro Sans Bold"/>
                  <a:sym typeface="Nyutro Sans Bold"/>
                </a:rPr>
                <a:t>Phân nhóm</a:t>
              </a:r>
            </a:p>
          </p:txBody>
        </p:sp>
      </p:grpSp>
      <p:sp>
        <p:nvSpPr>
          <p:cNvPr name="TextBox 7" id="7"/>
          <p:cNvSpPr txBox="true"/>
          <p:nvPr/>
        </p:nvSpPr>
        <p:spPr>
          <a:xfrm rot="0">
            <a:off x="666750" y="6355145"/>
            <a:ext cx="16754792" cy="3060782"/>
          </a:xfrm>
          <a:prstGeom prst="rect">
            <a:avLst/>
          </a:prstGeom>
        </p:spPr>
        <p:txBody>
          <a:bodyPr anchor="t" rtlCol="false" tIns="0" lIns="0" bIns="0" rIns="0">
            <a:spAutoFit/>
          </a:bodyPr>
          <a:lstStyle/>
          <a:p>
            <a:pPr algn="l">
              <a:lnSpc>
                <a:spcPts val="4012"/>
              </a:lnSpc>
              <a:spcBef>
                <a:spcPct val="0"/>
              </a:spcBef>
            </a:pPr>
            <a:r>
              <a:rPr lang="en-US" b="true" sz="3344">
                <a:solidFill>
                  <a:srgbClr val="FFFFFF"/>
                </a:solidFill>
                <a:latin typeface="Nyutro Sans Bold"/>
                <a:ea typeface="Nyutro Sans Bold"/>
                <a:cs typeface="Nyutro Sans Bold"/>
                <a:sym typeface="Nyutro Sans Bold"/>
              </a:rPr>
              <a:t>Tạo bảng thông tin tổng quan (info) về các loại thực phẩm trong cơ sở dữ liệu db.</a:t>
            </a:r>
          </a:p>
          <a:p>
            <a:pPr algn="l">
              <a:lnSpc>
                <a:spcPts val="4012"/>
              </a:lnSpc>
              <a:spcBef>
                <a:spcPct val="0"/>
              </a:spcBef>
            </a:pPr>
            <a:r>
              <a:rPr lang="en-US" b="true" sz="3344">
                <a:solidFill>
                  <a:srgbClr val="FFFFFF"/>
                </a:solidFill>
                <a:latin typeface="Nyutro Sans Bold"/>
                <a:ea typeface="Nyutro Sans Bold"/>
                <a:cs typeface="Nyutro Sans Bold"/>
                <a:sym typeface="Nyutro Sans Bold"/>
              </a:rPr>
              <a:t>Từ toàn bộ dữ liệu JSON (gồm hàng ngàn chi tiết dinh dưỡng), ta chỉ lấy 4 trường chính:</a:t>
            </a:r>
          </a:p>
          <a:p>
            <a:pPr algn="l">
              <a:lnSpc>
                <a:spcPts val="4012"/>
              </a:lnSpc>
              <a:spcBef>
                <a:spcPct val="0"/>
              </a:spcBef>
            </a:pPr>
            <a:r>
              <a:rPr lang="en-US" b="true" sz="3344">
                <a:solidFill>
                  <a:srgbClr val="FFFFFF"/>
                </a:solidFill>
                <a:latin typeface="Nyutro Sans Bold"/>
                <a:ea typeface="Nyutro Sans Bold"/>
                <a:cs typeface="Nyutro Sans Bold"/>
                <a:sym typeface="Nyutro Sans Bold"/>
              </a:rPr>
              <a:t>'description': tên thực phẩm (vd: Cheese, cheddar)</a:t>
            </a:r>
          </a:p>
          <a:p>
            <a:pPr algn="l">
              <a:lnSpc>
                <a:spcPts val="4012"/>
              </a:lnSpc>
              <a:spcBef>
                <a:spcPct val="0"/>
              </a:spcBef>
            </a:pPr>
            <a:r>
              <a:rPr lang="en-US" b="true" sz="3344">
                <a:solidFill>
                  <a:srgbClr val="FFFFFF"/>
                </a:solidFill>
                <a:latin typeface="Nyutro Sans Bold"/>
                <a:ea typeface="Nyutro Sans Bold"/>
                <a:cs typeface="Nyutro Sans Bold"/>
                <a:sym typeface="Nyutro Sans Bold"/>
              </a:rPr>
              <a:t>'group': nhóm thực phẩm (vd: Dairy and Egg Products)</a:t>
            </a:r>
          </a:p>
          <a:p>
            <a:pPr algn="l">
              <a:lnSpc>
                <a:spcPts val="4012"/>
              </a:lnSpc>
              <a:spcBef>
                <a:spcPct val="0"/>
              </a:spcBef>
            </a:pPr>
            <a:r>
              <a:rPr lang="en-US" b="true" sz="3344">
                <a:solidFill>
                  <a:srgbClr val="FFFFFF"/>
                </a:solidFill>
                <a:latin typeface="Nyutro Sans Bold"/>
                <a:ea typeface="Nyutro Sans Bold"/>
                <a:cs typeface="Nyutro Sans Bold"/>
                <a:sym typeface="Nyutro Sans Bold"/>
              </a:rPr>
              <a:t>'id': mã định danh duy nhất cho mỗi loại thực phẩm</a:t>
            </a:r>
          </a:p>
          <a:p>
            <a:pPr algn="l">
              <a:lnSpc>
                <a:spcPts val="4012"/>
              </a:lnSpc>
              <a:spcBef>
                <a:spcPct val="0"/>
              </a:spcBef>
            </a:pPr>
            <a:r>
              <a:rPr lang="en-US" b="true" sz="3344">
                <a:solidFill>
                  <a:srgbClr val="FFFFFF"/>
                </a:solidFill>
                <a:latin typeface="Nyutro Sans Bold"/>
                <a:ea typeface="Nyutro Sans Bold"/>
                <a:cs typeface="Nyutro Sans Bold"/>
                <a:sym typeface="Nyutro Sans Bold"/>
              </a:rPr>
              <a:t>'manufacturer': tên nhà sản xuất (nếu có)</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495A34"/>
        </a:solidFill>
      </p:bgPr>
    </p:bg>
    <p:spTree>
      <p:nvGrpSpPr>
        <p:cNvPr id="1" name=""/>
        <p:cNvGrpSpPr/>
        <p:nvPr/>
      </p:nvGrpSpPr>
      <p:grpSpPr>
        <a:xfrm>
          <a:off x="0" y="0"/>
          <a:ext cx="0" cy="0"/>
          <a:chOff x="0" y="0"/>
          <a:chExt cx="0" cy="0"/>
        </a:xfrm>
      </p:grpSpPr>
      <p:sp>
        <p:nvSpPr>
          <p:cNvPr name="Freeform 2" id="2"/>
          <p:cNvSpPr/>
          <p:nvPr/>
        </p:nvSpPr>
        <p:spPr>
          <a:xfrm flipH="false" flipV="false" rot="0">
            <a:off x="215311" y="4293995"/>
            <a:ext cx="12424245" cy="5697509"/>
          </a:xfrm>
          <a:custGeom>
            <a:avLst/>
            <a:gdLst/>
            <a:ahLst/>
            <a:cxnLst/>
            <a:rect r="r" b="b" t="t" l="l"/>
            <a:pathLst>
              <a:path h="5697509" w="12424245">
                <a:moveTo>
                  <a:pt x="0" y="0"/>
                </a:moveTo>
                <a:lnTo>
                  <a:pt x="12424245" y="0"/>
                </a:lnTo>
                <a:lnTo>
                  <a:pt x="12424245" y="5697509"/>
                </a:lnTo>
                <a:lnTo>
                  <a:pt x="0" y="5697509"/>
                </a:lnTo>
                <a:lnTo>
                  <a:pt x="0" y="0"/>
                </a:lnTo>
                <a:close/>
              </a:path>
            </a:pathLst>
          </a:custGeom>
          <a:blipFill>
            <a:blip r:embed="rId2"/>
            <a:stretch>
              <a:fillRect l="0" t="0" r="0" b="0"/>
            </a:stretch>
          </a:blipFill>
        </p:spPr>
      </p:sp>
      <p:sp>
        <p:nvSpPr>
          <p:cNvPr name="TextBox 3" id="3"/>
          <p:cNvSpPr txBox="true"/>
          <p:nvPr/>
        </p:nvSpPr>
        <p:spPr>
          <a:xfrm rot="0">
            <a:off x="522827" y="627096"/>
            <a:ext cx="16736473" cy="1590849"/>
          </a:xfrm>
          <a:prstGeom prst="rect">
            <a:avLst/>
          </a:prstGeom>
        </p:spPr>
        <p:txBody>
          <a:bodyPr anchor="t" rtlCol="false" tIns="0" lIns="0" bIns="0" rIns="0">
            <a:spAutoFit/>
          </a:bodyPr>
          <a:lstStyle/>
          <a:p>
            <a:pPr algn="l">
              <a:lnSpc>
                <a:spcPts val="4085"/>
              </a:lnSpc>
              <a:spcBef>
                <a:spcPct val="0"/>
              </a:spcBef>
            </a:pPr>
            <a:r>
              <a:rPr lang="en-US" b="true" sz="3404">
                <a:solidFill>
                  <a:srgbClr val="F5F5F5"/>
                </a:solidFill>
                <a:latin typeface="Nyutro Sans Bold"/>
                <a:ea typeface="Nyutro Sans Bold"/>
                <a:cs typeface="Nyutro Sans Bold"/>
                <a:sym typeface="Nyutro Sans Bold"/>
              </a:rPr>
              <a:t>Tạo bảng chứa toàn bộ các giá trị dinh dưỡng của tất cả thực phẩm.</a:t>
            </a:r>
          </a:p>
          <a:p>
            <a:pPr algn="l">
              <a:lnSpc>
                <a:spcPts val="4085"/>
              </a:lnSpc>
              <a:spcBef>
                <a:spcPct val="0"/>
              </a:spcBef>
            </a:pPr>
            <a:r>
              <a:rPr lang="en-US" b="true" sz="3404">
                <a:solidFill>
                  <a:srgbClr val="F5F5F5"/>
                </a:solidFill>
                <a:latin typeface="Nyutro Sans Bold"/>
                <a:ea typeface="Nyutro Sans Bold"/>
                <a:cs typeface="Nyutro Sans Bold"/>
                <a:sym typeface="Nyutro Sans Bold"/>
              </a:rPr>
              <a:t>Trong dữ liệu gốc db, mỗi thực phẩm có danh sách riêng food['nutrients'], chứa nhiều dòng (mỗi dòng là 1 chất dinh dưỡng như Protein, Fat, Energy...).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495A34"/>
        </a:solidFill>
      </p:bgPr>
    </p:bg>
    <p:spTree>
      <p:nvGrpSpPr>
        <p:cNvPr id="1" name=""/>
        <p:cNvGrpSpPr/>
        <p:nvPr/>
      </p:nvGrpSpPr>
      <p:grpSpPr>
        <a:xfrm>
          <a:off x="0" y="0"/>
          <a:ext cx="0" cy="0"/>
          <a:chOff x="0" y="0"/>
          <a:chExt cx="0" cy="0"/>
        </a:xfrm>
      </p:grpSpPr>
      <p:sp>
        <p:nvSpPr>
          <p:cNvPr name="Freeform 2" id="2"/>
          <p:cNvSpPr/>
          <p:nvPr/>
        </p:nvSpPr>
        <p:spPr>
          <a:xfrm flipH="false" flipV="false" rot="0">
            <a:off x="7306076" y="1819222"/>
            <a:ext cx="10751019" cy="4591136"/>
          </a:xfrm>
          <a:custGeom>
            <a:avLst/>
            <a:gdLst/>
            <a:ahLst/>
            <a:cxnLst/>
            <a:rect r="r" b="b" t="t" l="l"/>
            <a:pathLst>
              <a:path h="4591136" w="10751019">
                <a:moveTo>
                  <a:pt x="0" y="0"/>
                </a:moveTo>
                <a:lnTo>
                  <a:pt x="10751020" y="0"/>
                </a:lnTo>
                <a:lnTo>
                  <a:pt x="10751020" y="4591137"/>
                </a:lnTo>
                <a:lnTo>
                  <a:pt x="0" y="4591137"/>
                </a:lnTo>
                <a:lnTo>
                  <a:pt x="0" y="0"/>
                </a:lnTo>
                <a:close/>
              </a:path>
            </a:pathLst>
          </a:custGeom>
          <a:blipFill>
            <a:blip r:embed="rId2"/>
            <a:stretch>
              <a:fillRect l="-3337" t="0" r="-1780" b="0"/>
            </a:stretch>
          </a:blipFill>
        </p:spPr>
      </p:sp>
      <p:grpSp>
        <p:nvGrpSpPr>
          <p:cNvPr name="Group 3" id="3"/>
          <p:cNvGrpSpPr/>
          <p:nvPr/>
        </p:nvGrpSpPr>
        <p:grpSpPr>
          <a:xfrm rot="0">
            <a:off x="666750" y="3135069"/>
            <a:ext cx="5419725" cy="2917751"/>
            <a:chOff x="0" y="0"/>
            <a:chExt cx="7226300" cy="3890334"/>
          </a:xfrm>
        </p:grpSpPr>
        <p:sp>
          <p:nvSpPr>
            <p:cNvPr name="TextBox 4" id="4"/>
            <p:cNvSpPr txBox="true"/>
            <p:nvPr/>
          </p:nvSpPr>
          <p:spPr>
            <a:xfrm rot="0">
              <a:off x="0" y="958751"/>
              <a:ext cx="7226300" cy="2931583"/>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FFFFFF"/>
                  </a:solidFill>
                  <a:latin typeface="Nyutro Sans"/>
                  <a:ea typeface="Nyutro Sans"/>
                  <a:cs typeface="Nyutro Sans"/>
                  <a:sym typeface="Nyutro Sans"/>
                </a:rPr>
                <a:t>Biểu đồ thanh cho thấy sự khác biệt rõ ràng về </a:t>
              </a:r>
              <a:r>
                <a:rPr lang="en-US" b="true" sz="2499">
                  <a:solidFill>
                    <a:srgbClr val="FFFFFF"/>
                  </a:solidFill>
                  <a:latin typeface="Nyutro Sans Bold"/>
                  <a:ea typeface="Nyutro Sans Bold"/>
                  <a:cs typeface="Nyutro Sans Bold"/>
                  <a:sym typeface="Nyutro Sans Bold"/>
                </a:rPr>
                <a:t>hàm lượng protein</a:t>
              </a:r>
              <a:r>
                <a:rPr lang="en-US" sz="2499">
                  <a:solidFill>
                    <a:srgbClr val="FFFFFF"/>
                  </a:solidFill>
                  <a:latin typeface="Nyutro Sans"/>
                  <a:ea typeface="Nyutro Sans"/>
                  <a:cs typeface="Nyutro Sans"/>
                  <a:sym typeface="Nyutro Sans"/>
                </a:rPr>
                <a:t> trung bình giữa các nhóm thực phẩm, giúp dễ dàng nhận diện thực phẩm giàu dinh dưỡng.</a:t>
              </a:r>
            </a:p>
          </p:txBody>
        </p:sp>
        <p:sp>
          <p:nvSpPr>
            <p:cNvPr name="TextBox 5" id="5"/>
            <p:cNvSpPr txBox="true"/>
            <p:nvPr/>
          </p:nvSpPr>
          <p:spPr>
            <a:xfrm rot="0">
              <a:off x="0" y="-57150"/>
              <a:ext cx="7226300" cy="654050"/>
            </a:xfrm>
            <a:prstGeom prst="rect">
              <a:avLst/>
            </a:prstGeom>
          </p:spPr>
          <p:txBody>
            <a:bodyPr anchor="t" rtlCol="false" tIns="0" lIns="0" bIns="0" rIns="0">
              <a:spAutoFit/>
            </a:bodyPr>
            <a:lstStyle/>
            <a:p>
              <a:pPr algn="l" marL="0" indent="0" lvl="0">
                <a:lnSpc>
                  <a:spcPts val="3599"/>
                </a:lnSpc>
                <a:spcBef>
                  <a:spcPct val="0"/>
                </a:spcBef>
              </a:pPr>
              <a:r>
                <a:rPr lang="en-US" b="true" sz="2999" strike="noStrike" u="none">
                  <a:solidFill>
                    <a:srgbClr val="FFFFFF"/>
                  </a:solidFill>
                  <a:latin typeface="Nyutro Sans Bold"/>
                  <a:ea typeface="Nyutro Sans Bold"/>
                  <a:cs typeface="Nyutro Sans Bold"/>
                  <a:sym typeface="Nyutro Sans Bold"/>
                </a:rPr>
                <a:t>So sánh Protein</a:t>
              </a:r>
            </a:p>
          </p:txBody>
        </p:sp>
      </p:grpSp>
      <p:grpSp>
        <p:nvGrpSpPr>
          <p:cNvPr name="Group 6" id="6"/>
          <p:cNvGrpSpPr/>
          <p:nvPr/>
        </p:nvGrpSpPr>
        <p:grpSpPr>
          <a:xfrm rot="0">
            <a:off x="666750" y="666750"/>
            <a:ext cx="9763125" cy="1990725"/>
            <a:chOff x="0" y="0"/>
            <a:chExt cx="13017500" cy="2654300"/>
          </a:xfrm>
        </p:grpSpPr>
        <p:sp>
          <p:nvSpPr>
            <p:cNvPr name="TextBox 7" id="7"/>
            <p:cNvSpPr txBox="true"/>
            <p:nvPr/>
          </p:nvSpPr>
          <p:spPr>
            <a:xfrm rot="0">
              <a:off x="0" y="76200"/>
              <a:ext cx="13017500" cy="1752600"/>
            </a:xfrm>
            <a:prstGeom prst="rect">
              <a:avLst/>
            </a:prstGeom>
          </p:spPr>
          <p:txBody>
            <a:bodyPr anchor="t" rtlCol="false" tIns="0" lIns="0" bIns="0" rIns="0">
              <a:spAutoFit/>
            </a:bodyPr>
            <a:lstStyle/>
            <a:p>
              <a:pPr algn="l" marL="0" indent="0" lvl="0">
                <a:lnSpc>
                  <a:spcPts val="8100"/>
                </a:lnSpc>
                <a:spcBef>
                  <a:spcPct val="0"/>
                </a:spcBef>
              </a:pPr>
              <a:r>
                <a:rPr lang="en-US" b="true" sz="9000" spc="-89" strike="noStrike" u="none">
                  <a:solidFill>
                    <a:srgbClr val="FFFFFF"/>
                  </a:solidFill>
                  <a:latin typeface="Nyutro Sans Heavy"/>
                  <a:ea typeface="Nyutro Sans Heavy"/>
                  <a:cs typeface="Nyutro Sans Heavy"/>
                  <a:sym typeface="Nyutro Sans Heavy"/>
                </a:rPr>
                <a:t>Kết quả phân tích</a:t>
              </a:r>
            </a:p>
          </p:txBody>
        </p:sp>
        <p:sp>
          <p:nvSpPr>
            <p:cNvPr name="TextBox 8" id="8"/>
            <p:cNvSpPr txBox="true"/>
            <p:nvPr/>
          </p:nvSpPr>
          <p:spPr>
            <a:xfrm rot="0">
              <a:off x="38100" y="2000250"/>
              <a:ext cx="12979400" cy="654050"/>
            </a:xfrm>
            <a:prstGeom prst="rect">
              <a:avLst/>
            </a:prstGeom>
          </p:spPr>
          <p:txBody>
            <a:bodyPr anchor="t" rtlCol="false" tIns="0" lIns="0" bIns="0" rIns="0">
              <a:spAutoFit/>
            </a:bodyPr>
            <a:lstStyle/>
            <a:p>
              <a:pPr algn="l" marL="0" indent="0" lvl="0">
                <a:lnSpc>
                  <a:spcPts val="3599"/>
                </a:lnSpc>
                <a:spcBef>
                  <a:spcPct val="0"/>
                </a:spcBef>
              </a:pPr>
              <a:r>
                <a:rPr lang="en-US" b="true" sz="2999" strike="noStrike" u="none">
                  <a:solidFill>
                    <a:srgbClr val="FFFFFF"/>
                  </a:solidFill>
                  <a:latin typeface="Nyutro Sans Bold"/>
                  <a:ea typeface="Nyutro Sans Bold"/>
                  <a:cs typeface="Nyutro Sans Bold"/>
                  <a:sym typeface="Nyutro Sans Bold"/>
                </a:rPr>
                <a:t>Hàm lượng Protein và Top thực phẩm</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495A34"/>
        </a:solidFill>
      </p:bgPr>
    </p:bg>
    <p:spTree>
      <p:nvGrpSpPr>
        <p:cNvPr id="1" name=""/>
        <p:cNvGrpSpPr/>
        <p:nvPr/>
      </p:nvGrpSpPr>
      <p:grpSpPr>
        <a:xfrm>
          <a:off x="0" y="0"/>
          <a:ext cx="0" cy="0"/>
          <a:chOff x="0" y="0"/>
          <a:chExt cx="0" cy="0"/>
        </a:xfrm>
      </p:grpSpPr>
      <p:sp>
        <p:nvSpPr>
          <p:cNvPr name="Freeform 2" id="2"/>
          <p:cNvSpPr/>
          <p:nvPr/>
        </p:nvSpPr>
        <p:spPr>
          <a:xfrm flipH="false" flipV="false" rot="0">
            <a:off x="7747731" y="0"/>
            <a:ext cx="10540269" cy="6337337"/>
          </a:xfrm>
          <a:custGeom>
            <a:avLst/>
            <a:gdLst/>
            <a:ahLst/>
            <a:cxnLst/>
            <a:rect r="r" b="b" t="t" l="l"/>
            <a:pathLst>
              <a:path h="6337337" w="10540269">
                <a:moveTo>
                  <a:pt x="0" y="0"/>
                </a:moveTo>
                <a:lnTo>
                  <a:pt x="10540269" y="0"/>
                </a:lnTo>
                <a:lnTo>
                  <a:pt x="10540269" y="6337337"/>
                </a:lnTo>
                <a:lnTo>
                  <a:pt x="0" y="6337337"/>
                </a:lnTo>
                <a:lnTo>
                  <a:pt x="0" y="0"/>
                </a:lnTo>
                <a:close/>
              </a:path>
            </a:pathLst>
          </a:custGeom>
          <a:blipFill>
            <a:blip r:embed="rId2"/>
            <a:stretch>
              <a:fillRect l="0" t="0" r="0" b="0"/>
            </a:stretch>
          </a:blipFill>
        </p:spPr>
      </p:sp>
      <p:grpSp>
        <p:nvGrpSpPr>
          <p:cNvPr name="Group 3" id="3"/>
          <p:cNvGrpSpPr/>
          <p:nvPr/>
        </p:nvGrpSpPr>
        <p:grpSpPr>
          <a:xfrm rot="0">
            <a:off x="761948" y="4929232"/>
            <a:ext cx="10600049" cy="4849672"/>
            <a:chOff x="0" y="0"/>
            <a:chExt cx="14133399" cy="6466230"/>
          </a:xfrm>
        </p:grpSpPr>
        <p:sp>
          <p:nvSpPr>
            <p:cNvPr name="TextBox 4" id="4"/>
            <p:cNvSpPr txBox="true"/>
            <p:nvPr/>
          </p:nvSpPr>
          <p:spPr>
            <a:xfrm rot="0">
              <a:off x="0" y="1870944"/>
              <a:ext cx="14133399" cy="4595285"/>
            </a:xfrm>
            <a:prstGeom prst="rect">
              <a:avLst/>
            </a:prstGeom>
          </p:spPr>
          <p:txBody>
            <a:bodyPr anchor="t" rtlCol="false" tIns="0" lIns="0" bIns="0" rIns="0">
              <a:spAutoFit/>
            </a:bodyPr>
            <a:lstStyle/>
            <a:p>
              <a:pPr algn="l" marL="0" indent="0" lvl="0">
                <a:lnSpc>
                  <a:spcPts val="6845"/>
                </a:lnSpc>
                <a:spcBef>
                  <a:spcPct val="0"/>
                </a:spcBef>
              </a:pPr>
              <a:r>
                <a:rPr lang="en-US" sz="4889" strike="noStrike" u="none">
                  <a:solidFill>
                    <a:srgbClr val="FFFFFF"/>
                  </a:solidFill>
                  <a:latin typeface="Nyutro Sans"/>
                  <a:ea typeface="Nyutro Sans"/>
                  <a:cs typeface="Nyutro Sans"/>
                  <a:sym typeface="Nyutro Sans"/>
                </a:rPr>
                <a:t>Danh sách 10 thực phẩm giàu protein nhất bao gồm các loại như thịt, cá, và đậu, hỗ trợ việc lựa chọn thực phẩm cho chế độ ăn uống cân bằng hơn.</a:t>
              </a:r>
            </a:p>
          </p:txBody>
        </p:sp>
        <p:sp>
          <p:nvSpPr>
            <p:cNvPr name="TextBox 5" id="5"/>
            <p:cNvSpPr txBox="true"/>
            <p:nvPr/>
          </p:nvSpPr>
          <p:spPr>
            <a:xfrm rot="0">
              <a:off x="0" y="-114300"/>
              <a:ext cx="14133399" cy="1281734"/>
            </a:xfrm>
            <a:prstGeom prst="rect">
              <a:avLst/>
            </a:prstGeom>
          </p:spPr>
          <p:txBody>
            <a:bodyPr anchor="t" rtlCol="false" tIns="0" lIns="0" bIns="0" rIns="0">
              <a:spAutoFit/>
            </a:bodyPr>
            <a:lstStyle/>
            <a:p>
              <a:pPr algn="l" marL="0" indent="0" lvl="0">
                <a:lnSpc>
                  <a:spcPts val="7040"/>
                </a:lnSpc>
                <a:spcBef>
                  <a:spcPct val="0"/>
                </a:spcBef>
              </a:pPr>
              <a:r>
                <a:rPr lang="en-US" b="true" sz="5867" strike="noStrike" u="none">
                  <a:solidFill>
                    <a:srgbClr val="FFFFFF"/>
                  </a:solidFill>
                  <a:latin typeface="Nyutro Sans Bold"/>
                  <a:ea typeface="Nyutro Sans Bold"/>
                  <a:cs typeface="Nyutro Sans Bold"/>
                  <a:sym typeface="Nyutro Sans Bold"/>
                </a:rPr>
                <a:t>Top 10 thực phẩm</a:t>
              </a:r>
            </a:p>
          </p:txBody>
        </p:sp>
      </p:grpSp>
      <p:grpSp>
        <p:nvGrpSpPr>
          <p:cNvPr name="Group 6" id="6"/>
          <p:cNvGrpSpPr/>
          <p:nvPr/>
        </p:nvGrpSpPr>
        <p:grpSpPr>
          <a:xfrm rot="0">
            <a:off x="761948" y="430804"/>
            <a:ext cx="6805117" cy="3663587"/>
            <a:chOff x="0" y="0"/>
            <a:chExt cx="9073490" cy="4884783"/>
          </a:xfrm>
        </p:grpSpPr>
        <p:sp>
          <p:nvSpPr>
            <p:cNvPr name="TextBox 7" id="7"/>
            <p:cNvSpPr txBox="true"/>
            <p:nvPr/>
          </p:nvSpPr>
          <p:spPr>
            <a:xfrm rot="0">
              <a:off x="0" y="1199600"/>
              <a:ext cx="9073490" cy="3685183"/>
            </a:xfrm>
            <a:prstGeom prst="rect">
              <a:avLst/>
            </a:prstGeom>
          </p:spPr>
          <p:txBody>
            <a:bodyPr anchor="t" rtlCol="false" tIns="0" lIns="0" bIns="0" rIns="0">
              <a:spAutoFit/>
            </a:bodyPr>
            <a:lstStyle/>
            <a:p>
              <a:pPr algn="l" marL="0" indent="0" lvl="0">
                <a:lnSpc>
                  <a:spcPts val="4394"/>
                </a:lnSpc>
                <a:spcBef>
                  <a:spcPct val="0"/>
                </a:spcBef>
              </a:pPr>
              <a:r>
                <a:rPr lang="en-US" sz="3139" strike="noStrike" u="none">
                  <a:solidFill>
                    <a:srgbClr val="FFFFFF"/>
                  </a:solidFill>
                  <a:latin typeface="Nyutro Sans"/>
                  <a:ea typeface="Nyutro Sans"/>
                  <a:cs typeface="Nyutro Sans"/>
                  <a:sym typeface="Nyutro Sans"/>
                </a:rPr>
                <a:t>Hiểu rõ về hàm lượng protein giúp người tiêu dùng </a:t>
              </a:r>
              <a:r>
                <a:rPr lang="en-US" b="true" sz="3139" strike="noStrike" u="none">
                  <a:solidFill>
                    <a:srgbClr val="FFFFFF"/>
                  </a:solidFill>
                  <a:latin typeface="Nyutro Sans Bold"/>
                  <a:ea typeface="Nyutro Sans Bold"/>
                  <a:cs typeface="Nyutro Sans Bold"/>
                  <a:sym typeface="Nyutro Sans Bold"/>
                </a:rPr>
                <a:t>quyết định đúng đắn</a:t>
              </a:r>
              <a:r>
                <a:rPr lang="en-US" sz="3139" strike="noStrike" u="none">
                  <a:solidFill>
                    <a:srgbClr val="FFFFFF"/>
                  </a:solidFill>
                  <a:latin typeface="Nyutro Sans"/>
                  <a:ea typeface="Nyutro Sans"/>
                  <a:cs typeface="Nyutro Sans"/>
                  <a:sym typeface="Nyutro Sans"/>
                </a:rPr>
                <a:t> hơn trong việc xây dựng chế độ ăn dinh dưỡng phù hợp với nhu cầu sức khỏe.</a:t>
              </a:r>
            </a:p>
          </p:txBody>
        </p:sp>
        <p:sp>
          <p:nvSpPr>
            <p:cNvPr name="TextBox 8" id="8"/>
            <p:cNvSpPr txBox="true"/>
            <p:nvPr/>
          </p:nvSpPr>
          <p:spPr>
            <a:xfrm rot="0">
              <a:off x="0" y="-76200"/>
              <a:ext cx="9073490" cy="825680"/>
            </a:xfrm>
            <a:prstGeom prst="rect">
              <a:avLst/>
            </a:prstGeom>
          </p:spPr>
          <p:txBody>
            <a:bodyPr anchor="t" rtlCol="false" tIns="0" lIns="0" bIns="0" rIns="0">
              <a:spAutoFit/>
            </a:bodyPr>
            <a:lstStyle/>
            <a:p>
              <a:pPr algn="l" marL="0" indent="0" lvl="0">
                <a:lnSpc>
                  <a:spcPts val="4520"/>
                </a:lnSpc>
                <a:spcBef>
                  <a:spcPct val="0"/>
                </a:spcBef>
              </a:pPr>
              <a:r>
                <a:rPr lang="en-US" b="true" sz="3766" strike="noStrike" u="none">
                  <a:solidFill>
                    <a:srgbClr val="FFFFFF"/>
                  </a:solidFill>
                  <a:latin typeface="Nyutro Sans Bold"/>
                  <a:ea typeface="Nyutro Sans Bold"/>
                  <a:cs typeface="Nyutro Sans Bold"/>
                  <a:sym typeface="Nyutro Sans Bold"/>
                </a:rPr>
                <a:t>Ý nghĩa dinh dưỡng</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495A34"/>
        </a:solidFill>
      </p:bgPr>
    </p:bg>
    <p:spTree>
      <p:nvGrpSpPr>
        <p:cNvPr id="1" name=""/>
        <p:cNvGrpSpPr/>
        <p:nvPr/>
      </p:nvGrpSpPr>
      <p:grpSpPr>
        <a:xfrm>
          <a:off x="0" y="0"/>
          <a:ext cx="0" cy="0"/>
          <a:chOff x="0" y="0"/>
          <a:chExt cx="0" cy="0"/>
        </a:xfrm>
      </p:grpSpPr>
      <p:sp>
        <p:nvSpPr>
          <p:cNvPr name="Freeform 2" id="2"/>
          <p:cNvSpPr/>
          <p:nvPr/>
        </p:nvSpPr>
        <p:spPr>
          <a:xfrm flipH="false" flipV="false" rot="0">
            <a:off x="9996556" y="377935"/>
            <a:ext cx="8076142" cy="6736622"/>
          </a:xfrm>
          <a:custGeom>
            <a:avLst/>
            <a:gdLst/>
            <a:ahLst/>
            <a:cxnLst/>
            <a:rect r="r" b="b" t="t" l="l"/>
            <a:pathLst>
              <a:path h="6736622" w="8076142">
                <a:moveTo>
                  <a:pt x="0" y="0"/>
                </a:moveTo>
                <a:lnTo>
                  <a:pt x="8076142" y="0"/>
                </a:lnTo>
                <a:lnTo>
                  <a:pt x="8076142" y="6736622"/>
                </a:lnTo>
                <a:lnTo>
                  <a:pt x="0" y="6736622"/>
                </a:lnTo>
                <a:lnTo>
                  <a:pt x="0" y="0"/>
                </a:lnTo>
                <a:close/>
              </a:path>
            </a:pathLst>
          </a:custGeom>
          <a:blipFill>
            <a:blip r:embed="rId2"/>
            <a:stretch>
              <a:fillRect l="-4430" t="0" r="0" b="0"/>
            </a:stretch>
          </a:blipFill>
        </p:spPr>
      </p:sp>
      <p:sp>
        <p:nvSpPr>
          <p:cNvPr name="TextBox 3" id="3"/>
          <p:cNvSpPr txBox="true"/>
          <p:nvPr/>
        </p:nvSpPr>
        <p:spPr>
          <a:xfrm rot="0">
            <a:off x="105695" y="1258576"/>
            <a:ext cx="9747320" cy="7646023"/>
          </a:xfrm>
          <a:prstGeom prst="rect">
            <a:avLst/>
          </a:prstGeom>
        </p:spPr>
        <p:txBody>
          <a:bodyPr anchor="t" rtlCol="false" tIns="0" lIns="0" bIns="0" rIns="0">
            <a:spAutoFit/>
          </a:bodyPr>
          <a:lstStyle/>
          <a:p>
            <a:pPr algn="l">
              <a:lnSpc>
                <a:spcPts val="4340"/>
              </a:lnSpc>
              <a:spcBef>
                <a:spcPct val="0"/>
              </a:spcBef>
            </a:pPr>
            <a:r>
              <a:rPr lang="en-US" b="true" sz="3100" spc="-31">
                <a:solidFill>
                  <a:srgbClr val="FFFFFF"/>
                </a:solidFill>
                <a:latin typeface="Nyutro Sans Heavy"/>
                <a:ea typeface="Nyutro Sans Heavy"/>
                <a:cs typeface="Nyutro Sans Heavy"/>
                <a:sym typeface="Nyutro Sans Heavy"/>
              </a:rPr>
              <a:t>Tương quan dương mạnh</a:t>
            </a:r>
          </a:p>
          <a:p>
            <a:pPr algn="l">
              <a:lnSpc>
                <a:spcPts val="4340"/>
              </a:lnSpc>
              <a:spcBef>
                <a:spcPct val="0"/>
              </a:spcBef>
            </a:pPr>
            <a:r>
              <a:rPr lang="en-US" b="true" sz="3100" spc="-31">
                <a:solidFill>
                  <a:srgbClr val="FFFFFF"/>
                </a:solidFill>
                <a:latin typeface="Nyutro Sans Heavy"/>
                <a:ea typeface="Nyutro Sans Heavy"/>
                <a:cs typeface="Nyutro Sans Heavy"/>
                <a:sym typeface="Nyutro Sans Heavy"/>
              </a:rPr>
              <a:t>Các chất thuộc nhóm Protein và Amino Acid (như Valine, Methionine, Phenylalanine, Glutamic acid...) có tương quan cao với nhau.</a:t>
            </a:r>
          </a:p>
          <a:p>
            <a:pPr algn="l">
              <a:lnSpc>
                <a:spcPts val="4340"/>
              </a:lnSpc>
              <a:spcBef>
                <a:spcPct val="0"/>
              </a:spcBef>
            </a:pPr>
            <a:r>
              <a:rPr lang="en-US" b="true" sz="3100" spc="-31">
                <a:solidFill>
                  <a:srgbClr val="FFFFFF"/>
                </a:solidFill>
                <a:latin typeface="Nyutro Sans Heavy"/>
                <a:ea typeface="Nyutro Sans Heavy"/>
                <a:cs typeface="Nyutro Sans Heavy"/>
                <a:sym typeface="Nyutro Sans Heavy"/>
              </a:rPr>
              <a:t> → 💬 Điều này hợp lý vì thực phẩm giàu protein thường chứa đầy đủ nhiều loại axit amin.</a:t>
            </a:r>
          </a:p>
          <a:p>
            <a:pPr algn="l">
              <a:lnSpc>
                <a:spcPts val="4340"/>
              </a:lnSpc>
              <a:spcBef>
                <a:spcPct val="0"/>
              </a:spcBef>
            </a:pPr>
            <a:r>
              <a:rPr lang="en-US" b="true" sz="3100" spc="-31">
                <a:solidFill>
                  <a:srgbClr val="FFFFFF"/>
                </a:solidFill>
                <a:latin typeface="Nyutro Sans Heavy"/>
                <a:ea typeface="Nyutro Sans Heavy"/>
                <a:cs typeface="Nyutro Sans Heavy"/>
                <a:sym typeface="Nyutro Sans Heavy"/>
              </a:rPr>
              <a:t>Các chất thuộc nhóm chất béo (như Total lipid (fat), Fatty acids, total saturated, Fatty acids, monounsaturated...) cũng có tương quan dương mạnh.</a:t>
            </a:r>
          </a:p>
          <a:p>
            <a:pPr algn="l">
              <a:lnSpc>
                <a:spcPts val="4340"/>
              </a:lnSpc>
              <a:spcBef>
                <a:spcPct val="0"/>
              </a:spcBef>
            </a:pPr>
            <a:r>
              <a:rPr lang="en-US" b="true" sz="3100" spc="-31">
                <a:solidFill>
                  <a:srgbClr val="FFFFFF"/>
                </a:solidFill>
                <a:latin typeface="Nyutro Sans Heavy"/>
                <a:ea typeface="Nyutro Sans Heavy"/>
                <a:cs typeface="Nyutro Sans Heavy"/>
                <a:sym typeface="Nyutro Sans Heavy"/>
              </a:rPr>
              <a:t> → 💬 Nghĩa là thực phẩm nhiều chất béo bão hòa cũng thường có nhiều chất béo tổng và các loại acid béo khác.</a:t>
            </a:r>
          </a:p>
          <a:p>
            <a:pPr algn="l">
              <a:lnSpc>
                <a:spcPts val="4340"/>
              </a:lnSpc>
              <a:spcBef>
                <a:spcPct val="0"/>
              </a:spcBef>
            </a:pPr>
            <a:r>
              <a:rPr lang="en-US" b="true" sz="3100" spc="-31">
                <a:solidFill>
                  <a:srgbClr val="FFFFFF"/>
                </a:solidFill>
                <a:latin typeface="Nyutro Sans Heavy"/>
                <a:ea typeface="Nyutro Sans Heavy"/>
                <a:cs typeface="Nyutro Sans Heavy"/>
                <a:sym typeface="Nyutro Sans Heavy"/>
              </a:rPr>
              <a:t>Một số vitamin tan trong chất béo (như Vitamin A, D, E) có tương quan nhẹ với nhóm lipid → hợp lý vì các vitamin này tan trong dầu.</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495A34"/>
        </a:solidFill>
      </p:bgPr>
    </p:bg>
    <p:spTree>
      <p:nvGrpSpPr>
        <p:cNvPr id="1" name=""/>
        <p:cNvGrpSpPr/>
        <p:nvPr/>
      </p:nvGrpSpPr>
      <p:grpSpPr>
        <a:xfrm>
          <a:off x="0" y="0"/>
          <a:ext cx="0" cy="0"/>
          <a:chOff x="0" y="0"/>
          <a:chExt cx="0" cy="0"/>
        </a:xfrm>
      </p:grpSpPr>
      <p:grpSp>
        <p:nvGrpSpPr>
          <p:cNvPr name="Group 2" id="2"/>
          <p:cNvGrpSpPr/>
          <p:nvPr/>
        </p:nvGrpSpPr>
        <p:grpSpPr>
          <a:xfrm rot="0">
            <a:off x="9296400" y="666750"/>
            <a:ext cx="8324850" cy="8953500"/>
            <a:chOff x="0" y="0"/>
            <a:chExt cx="2576171" cy="2770710"/>
          </a:xfrm>
        </p:grpSpPr>
        <p:sp>
          <p:nvSpPr>
            <p:cNvPr name="Freeform 3" id="3"/>
            <p:cNvSpPr/>
            <p:nvPr/>
          </p:nvSpPr>
          <p:spPr>
            <a:xfrm flipH="false" flipV="false" rot="0">
              <a:off x="0" y="0"/>
              <a:ext cx="2576172" cy="2770723"/>
            </a:xfrm>
            <a:custGeom>
              <a:avLst/>
              <a:gdLst/>
              <a:ahLst/>
              <a:cxnLst/>
              <a:rect r="r" b="b" t="t" l="l"/>
              <a:pathLst>
                <a:path h="2770723" w="2576172">
                  <a:moveTo>
                    <a:pt x="2088730" y="0"/>
                  </a:moveTo>
                  <a:lnTo>
                    <a:pt x="177673" y="0"/>
                  </a:lnTo>
                  <a:cubicBezTo>
                    <a:pt x="79547" y="0"/>
                    <a:pt x="0" y="79547"/>
                    <a:pt x="0" y="177673"/>
                  </a:cubicBezTo>
                  <a:lnTo>
                    <a:pt x="0" y="2593050"/>
                  </a:lnTo>
                  <a:cubicBezTo>
                    <a:pt x="0" y="2691176"/>
                    <a:pt x="79547" y="2770723"/>
                    <a:pt x="177673" y="2770723"/>
                  </a:cubicBezTo>
                  <a:lnTo>
                    <a:pt x="2398500" y="2770723"/>
                  </a:lnTo>
                  <a:cubicBezTo>
                    <a:pt x="2496626" y="2770723"/>
                    <a:pt x="2576172" y="2691176"/>
                    <a:pt x="2576172" y="2593050"/>
                  </a:cubicBezTo>
                  <a:lnTo>
                    <a:pt x="2576172" y="523958"/>
                  </a:lnTo>
                  <a:cubicBezTo>
                    <a:pt x="2576172" y="480251"/>
                    <a:pt x="2560063" y="438079"/>
                    <a:pt x="2530924" y="405503"/>
                  </a:cubicBezTo>
                  <a:lnTo>
                    <a:pt x="2221146" y="59214"/>
                  </a:lnTo>
                  <a:cubicBezTo>
                    <a:pt x="2187442" y="21536"/>
                    <a:pt x="2139283" y="0"/>
                    <a:pt x="2088730" y="0"/>
                  </a:cubicBezTo>
                  <a:close/>
                </a:path>
              </a:pathLst>
            </a:custGeom>
            <a:blipFill>
              <a:blip r:embed="rId2"/>
              <a:stretch>
                <a:fillRect l="-59949" t="0" r="-59949" b="0"/>
              </a:stretch>
            </a:blipFill>
          </p:spPr>
        </p:sp>
      </p:grpSp>
      <p:sp>
        <p:nvSpPr>
          <p:cNvPr name="TextBox 4" id="4"/>
          <p:cNvSpPr txBox="true"/>
          <p:nvPr/>
        </p:nvSpPr>
        <p:spPr>
          <a:xfrm rot="0">
            <a:off x="666750" y="6521450"/>
            <a:ext cx="6886575" cy="3098800"/>
          </a:xfrm>
          <a:prstGeom prst="rect">
            <a:avLst/>
          </a:prstGeom>
        </p:spPr>
        <p:txBody>
          <a:bodyPr anchor="t" rtlCol="false" tIns="0" lIns="0" bIns="0" rIns="0">
            <a:spAutoFit/>
          </a:bodyPr>
          <a:lstStyle/>
          <a:p>
            <a:pPr algn="l" marL="539749" indent="-269875" lvl="1">
              <a:lnSpc>
                <a:spcPts val="3499"/>
              </a:lnSpc>
              <a:buFont typeface="Arial"/>
              <a:buChar char="•"/>
            </a:pPr>
            <a:r>
              <a:rPr lang="en-US" sz="2499" strike="noStrike" u="none">
                <a:solidFill>
                  <a:srgbClr val="FFFFFF"/>
                </a:solidFill>
                <a:latin typeface="Nyutro Sans"/>
                <a:ea typeface="Nyutro Sans"/>
                <a:cs typeface="Nyutro Sans"/>
                <a:sym typeface="Nyutro Sans"/>
              </a:rPr>
              <a:t>Phân tích mối tương quan giữa các chất dinh dưỡng</a:t>
            </a:r>
          </a:p>
          <a:p>
            <a:pPr algn="l" marL="539749" indent="-269875" lvl="1">
              <a:lnSpc>
                <a:spcPts val="3499"/>
              </a:lnSpc>
              <a:buFont typeface="Arial"/>
              <a:buChar char="•"/>
            </a:pPr>
            <a:r>
              <a:rPr lang="en-US" sz="2499" strike="noStrike" u="none">
                <a:solidFill>
                  <a:srgbClr val="FFFFFF"/>
                </a:solidFill>
                <a:latin typeface="Nyutro Sans"/>
                <a:ea typeface="Nyutro Sans"/>
                <a:cs typeface="Nyutro Sans"/>
                <a:sym typeface="Nyutro Sans"/>
              </a:rPr>
              <a:t>Heatmap thể hiện liên hệ giữa chất béo và năng lượng</a:t>
            </a:r>
          </a:p>
          <a:p>
            <a:pPr algn="l" marL="539749" indent="-269875" lvl="1">
              <a:lnSpc>
                <a:spcPts val="3499"/>
              </a:lnSpc>
              <a:buFont typeface="Arial"/>
              <a:buChar char="•"/>
            </a:pPr>
            <a:r>
              <a:rPr lang="en-US" sz="2499" strike="noStrike" u="none">
                <a:solidFill>
                  <a:srgbClr val="FFFFFF"/>
                </a:solidFill>
                <a:latin typeface="Nyutro Sans"/>
                <a:ea typeface="Nyutro Sans"/>
                <a:cs typeface="Nyutro Sans"/>
                <a:sym typeface="Nyutro Sans"/>
              </a:rPr>
              <a:t>Ý nghĩa thành phần dinh dưỡng trong nghiên cứu sức khỏe</a:t>
            </a:r>
          </a:p>
          <a:p>
            <a:pPr algn="l" marL="539749" indent="-269875" lvl="1">
              <a:lnSpc>
                <a:spcPts val="3499"/>
              </a:lnSpc>
              <a:buFont typeface="Arial"/>
              <a:buChar char="•"/>
            </a:pPr>
            <a:r>
              <a:rPr lang="en-US" sz="2499" strike="noStrike" u="none">
                <a:solidFill>
                  <a:srgbClr val="FFFFFF"/>
                </a:solidFill>
                <a:latin typeface="Nyutro Sans"/>
                <a:ea typeface="Nyutro Sans"/>
                <a:cs typeface="Nyutro Sans"/>
                <a:sym typeface="Nyutro Sans"/>
              </a:rPr>
              <a:t>Hỗ trợ chế độ ăn uống hợp lý</a:t>
            </a:r>
          </a:p>
        </p:txBody>
      </p:sp>
      <p:sp>
        <p:nvSpPr>
          <p:cNvPr name="TextBox 5" id="5"/>
          <p:cNvSpPr txBox="true"/>
          <p:nvPr/>
        </p:nvSpPr>
        <p:spPr>
          <a:xfrm rot="0">
            <a:off x="666750" y="742950"/>
            <a:ext cx="6886575" cy="1295400"/>
          </a:xfrm>
          <a:prstGeom prst="rect">
            <a:avLst/>
          </a:prstGeom>
        </p:spPr>
        <p:txBody>
          <a:bodyPr anchor="t" rtlCol="false" tIns="0" lIns="0" bIns="0" rIns="0">
            <a:spAutoFit/>
          </a:bodyPr>
          <a:lstStyle/>
          <a:p>
            <a:pPr algn="l" marL="0" indent="0" lvl="0">
              <a:lnSpc>
                <a:spcPts val="8100"/>
              </a:lnSpc>
              <a:spcBef>
                <a:spcPct val="0"/>
              </a:spcBef>
            </a:pPr>
            <a:r>
              <a:rPr lang="en-US" b="true" sz="9000" spc="-89" strike="noStrike" u="none">
                <a:solidFill>
                  <a:srgbClr val="FFFFFF"/>
                </a:solidFill>
                <a:latin typeface="Nyutro Sans Heavy"/>
                <a:ea typeface="Nyutro Sans Heavy"/>
                <a:cs typeface="Nyutro Sans Heavy"/>
                <a:sym typeface="Nyutro Sans Heavy"/>
              </a:rPr>
              <a:t>Kết quả</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495A34"/>
        </a:solidFill>
      </p:bgPr>
    </p:bg>
    <p:spTree>
      <p:nvGrpSpPr>
        <p:cNvPr id="1" name=""/>
        <p:cNvGrpSpPr/>
        <p:nvPr/>
      </p:nvGrpSpPr>
      <p:grpSpPr>
        <a:xfrm>
          <a:off x="0" y="0"/>
          <a:ext cx="0" cy="0"/>
          <a:chOff x="0" y="0"/>
          <a:chExt cx="0" cy="0"/>
        </a:xfrm>
      </p:grpSpPr>
      <p:grpSp>
        <p:nvGrpSpPr>
          <p:cNvPr name="Group 2" id="2"/>
          <p:cNvGrpSpPr/>
          <p:nvPr/>
        </p:nvGrpSpPr>
        <p:grpSpPr>
          <a:xfrm rot="0">
            <a:off x="666750" y="4248150"/>
            <a:ext cx="5448300" cy="3194207"/>
            <a:chOff x="0" y="0"/>
            <a:chExt cx="844084" cy="494866"/>
          </a:xfrm>
        </p:grpSpPr>
        <p:sp>
          <p:nvSpPr>
            <p:cNvPr name="Freeform 3" id="3"/>
            <p:cNvSpPr/>
            <p:nvPr/>
          </p:nvSpPr>
          <p:spPr>
            <a:xfrm flipH="false" flipV="false" rot="0">
              <a:off x="0" y="0"/>
              <a:ext cx="844084" cy="494866"/>
            </a:xfrm>
            <a:custGeom>
              <a:avLst/>
              <a:gdLst/>
              <a:ahLst/>
              <a:cxnLst/>
              <a:rect r="r" b="b" t="t" l="l"/>
              <a:pathLst>
                <a:path h="494866" w="844084">
                  <a:moveTo>
                    <a:pt x="35524" y="0"/>
                  </a:moveTo>
                  <a:lnTo>
                    <a:pt x="808560" y="0"/>
                  </a:lnTo>
                  <a:cubicBezTo>
                    <a:pt x="828179" y="0"/>
                    <a:pt x="844084" y="15905"/>
                    <a:pt x="844084" y="35524"/>
                  </a:cubicBezTo>
                  <a:lnTo>
                    <a:pt x="844084" y="459342"/>
                  </a:lnTo>
                  <a:cubicBezTo>
                    <a:pt x="844084" y="478961"/>
                    <a:pt x="828179" y="494866"/>
                    <a:pt x="808560" y="494866"/>
                  </a:cubicBezTo>
                  <a:lnTo>
                    <a:pt x="35524" y="494866"/>
                  </a:lnTo>
                  <a:cubicBezTo>
                    <a:pt x="15905" y="494866"/>
                    <a:pt x="0" y="478961"/>
                    <a:pt x="0" y="459342"/>
                  </a:cubicBezTo>
                  <a:lnTo>
                    <a:pt x="0" y="35524"/>
                  </a:lnTo>
                  <a:cubicBezTo>
                    <a:pt x="0" y="15905"/>
                    <a:pt x="15905" y="0"/>
                    <a:pt x="35524" y="0"/>
                  </a:cubicBezTo>
                  <a:close/>
                </a:path>
              </a:pathLst>
            </a:custGeom>
            <a:blipFill>
              <a:blip r:embed="rId2"/>
              <a:stretch>
                <a:fillRect l="0" t="-19809" r="0" b="-19809"/>
              </a:stretch>
            </a:blipFill>
          </p:spPr>
        </p:sp>
      </p:grpSp>
      <p:grpSp>
        <p:nvGrpSpPr>
          <p:cNvPr name="Group 4" id="4"/>
          <p:cNvGrpSpPr/>
          <p:nvPr/>
        </p:nvGrpSpPr>
        <p:grpSpPr>
          <a:xfrm rot="0">
            <a:off x="6419850" y="4248150"/>
            <a:ext cx="5448300" cy="3194207"/>
            <a:chOff x="0" y="0"/>
            <a:chExt cx="844084" cy="494866"/>
          </a:xfrm>
        </p:grpSpPr>
        <p:sp>
          <p:nvSpPr>
            <p:cNvPr name="Freeform 5" id="5"/>
            <p:cNvSpPr/>
            <p:nvPr/>
          </p:nvSpPr>
          <p:spPr>
            <a:xfrm flipH="false" flipV="false" rot="0">
              <a:off x="0" y="0"/>
              <a:ext cx="844084" cy="494866"/>
            </a:xfrm>
            <a:custGeom>
              <a:avLst/>
              <a:gdLst/>
              <a:ahLst/>
              <a:cxnLst/>
              <a:rect r="r" b="b" t="t" l="l"/>
              <a:pathLst>
                <a:path h="494866" w="844084">
                  <a:moveTo>
                    <a:pt x="35524" y="0"/>
                  </a:moveTo>
                  <a:lnTo>
                    <a:pt x="808560" y="0"/>
                  </a:lnTo>
                  <a:cubicBezTo>
                    <a:pt x="828179" y="0"/>
                    <a:pt x="844084" y="15905"/>
                    <a:pt x="844084" y="35524"/>
                  </a:cubicBezTo>
                  <a:lnTo>
                    <a:pt x="844084" y="459342"/>
                  </a:lnTo>
                  <a:cubicBezTo>
                    <a:pt x="844084" y="478961"/>
                    <a:pt x="828179" y="494866"/>
                    <a:pt x="808560" y="494866"/>
                  </a:cubicBezTo>
                  <a:lnTo>
                    <a:pt x="35524" y="494866"/>
                  </a:lnTo>
                  <a:cubicBezTo>
                    <a:pt x="15905" y="494866"/>
                    <a:pt x="0" y="478961"/>
                    <a:pt x="0" y="459342"/>
                  </a:cubicBezTo>
                  <a:lnTo>
                    <a:pt x="0" y="35524"/>
                  </a:lnTo>
                  <a:cubicBezTo>
                    <a:pt x="0" y="15905"/>
                    <a:pt x="15905" y="0"/>
                    <a:pt x="35524" y="0"/>
                  </a:cubicBezTo>
                  <a:close/>
                </a:path>
              </a:pathLst>
            </a:custGeom>
            <a:blipFill>
              <a:blip r:embed="rId3"/>
              <a:stretch>
                <a:fillRect l="0" t="-31932" r="0" b="-31932"/>
              </a:stretch>
            </a:blipFill>
          </p:spPr>
        </p:sp>
      </p:grpSp>
      <p:grpSp>
        <p:nvGrpSpPr>
          <p:cNvPr name="Group 6" id="6"/>
          <p:cNvGrpSpPr/>
          <p:nvPr/>
        </p:nvGrpSpPr>
        <p:grpSpPr>
          <a:xfrm rot="0">
            <a:off x="12172950" y="4248150"/>
            <a:ext cx="5448300" cy="3194207"/>
            <a:chOff x="0" y="0"/>
            <a:chExt cx="844084" cy="494866"/>
          </a:xfrm>
        </p:grpSpPr>
        <p:sp>
          <p:nvSpPr>
            <p:cNvPr name="Freeform 7" id="7"/>
            <p:cNvSpPr/>
            <p:nvPr/>
          </p:nvSpPr>
          <p:spPr>
            <a:xfrm flipH="false" flipV="false" rot="0">
              <a:off x="0" y="0"/>
              <a:ext cx="844084" cy="494866"/>
            </a:xfrm>
            <a:custGeom>
              <a:avLst/>
              <a:gdLst/>
              <a:ahLst/>
              <a:cxnLst/>
              <a:rect r="r" b="b" t="t" l="l"/>
              <a:pathLst>
                <a:path h="494866" w="844084">
                  <a:moveTo>
                    <a:pt x="35524" y="0"/>
                  </a:moveTo>
                  <a:lnTo>
                    <a:pt x="808560" y="0"/>
                  </a:lnTo>
                  <a:cubicBezTo>
                    <a:pt x="828179" y="0"/>
                    <a:pt x="844084" y="15905"/>
                    <a:pt x="844084" y="35524"/>
                  </a:cubicBezTo>
                  <a:lnTo>
                    <a:pt x="844084" y="459342"/>
                  </a:lnTo>
                  <a:cubicBezTo>
                    <a:pt x="844084" y="478961"/>
                    <a:pt x="828179" y="494866"/>
                    <a:pt x="808560" y="494866"/>
                  </a:cubicBezTo>
                  <a:lnTo>
                    <a:pt x="35524" y="494866"/>
                  </a:lnTo>
                  <a:cubicBezTo>
                    <a:pt x="15905" y="494866"/>
                    <a:pt x="0" y="478961"/>
                    <a:pt x="0" y="459342"/>
                  </a:cubicBezTo>
                  <a:lnTo>
                    <a:pt x="0" y="35524"/>
                  </a:lnTo>
                  <a:cubicBezTo>
                    <a:pt x="0" y="15905"/>
                    <a:pt x="15905" y="0"/>
                    <a:pt x="35524" y="0"/>
                  </a:cubicBezTo>
                  <a:close/>
                </a:path>
              </a:pathLst>
            </a:custGeom>
            <a:blipFill>
              <a:blip r:embed="rId4"/>
              <a:stretch>
                <a:fillRect l="0" t="-21708" r="0" b="-21708"/>
              </a:stretch>
            </a:blipFill>
          </p:spPr>
        </p:sp>
      </p:grpSp>
      <p:sp>
        <p:nvSpPr>
          <p:cNvPr name="TextBox 8" id="8"/>
          <p:cNvSpPr txBox="true"/>
          <p:nvPr/>
        </p:nvSpPr>
        <p:spPr>
          <a:xfrm rot="0">
            <a:off x="666750" y="742950"/>
            <a:ext cx="15516225" cy="2324100"/>
          </a:xfrm>
          <a:prstGeom prst="rect">
            <a:avLst/>
          </a:prstGeom>
        </p:spPr>
        <p:txBody>
          <a:bodyPr anchor="t" rtlCol="false" tIns="0" lIns="0" bIns="0" rIns="0">
            <a:spAutoFit/>
          </a:bodyPr>
          <a:lstStyle/>
          <a:p>
            <a:pPr algn="l" marL="0" indent="0" lvl="0">
              <a:lnSpc>
                <a:spcPts val="8100"/>
              </a:lnSpc>
              <a:spcBef>
                <a:spcPct val="0"/>
              </a:spcBef>
            </a:pPr>
            <a:r>
              <a:rPr lang="en-US" b="true" sz="9000" spc="-89" strike="noStrike" u="none">
                <a:solidFill>
                  <a:srgbClr val="FFFFFF"/>
                </a:solidFill>
                <a:latin typeface="Nyutro Sans Heavy"/>
                <a:ea typeface="Nyutro Sans Heavy"/>
                <a:cs typeface="Nyutro Sans Heavy"/>
                <a:sym typeface="Nyutro Sans Heavy"/>
              </a:rPr>
              <a:t>Ý nghĩa của việc phân tích dinh dưỡng</a:t>
            </a:r>
          </a:p>
        </p:txBody>
      </p:sp>
      <p:grpSp>
        <p:nvGrpSpPr>
          <p:cNvPr name="Group 9" id="9"/>
          <p:cNvGrpSpPr/>
          <p:nvPr/>
        </p:nvGrpSpPr>
        <p:grpSpPr>
          <a:xfrm rot="0">
            <a:off x="666750" y="7829550"/>
            <a:ext cx="5448300" cy="1343794"/>
            <a:chOff x="0" y="0"/>
            <a:chExt cx="7264400" cy="1791725"/>
          </a:xfrm>
        </p:grpSpPr>
        <p:sp>
          <p:nvSpPr>
            <p:cNvPr name="TextBox 10" id="10"/>
            <p:cNvSpPr txBox="true"/>
            <p:nvPr/>
          </p:nvSpPr>
          <p:spPr>
            <a:xfrm rot="0">
              <a:off x="0" y="612742"/>
              <a:ext cx="7264400" cy="1178983"/>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FFFFFF"/>
                  </a:solidFill>
                  <a:latin typeface="Nyutro Sans"/>
                  <a:ea typeface="Nyutro Sans"/>
                  <a:cs typeface="Nyutro Sans"/>
                  <a:sym typeface="Nyutro Sans"/>
                </a:rPr>
                <a:t>Hiểu thành phần dinh dưỡng trong thực phẩm</a:t>
              </a:r>
            </a:p>
          </p:txBody>
        </p:sp>
        <p:sp>
          <p:nvSpPr>
            <p:cNvPr name="TextBox 11" id="11"/>
            <p:cNvSpPr txBox="true"/>
            <p:nvPr/>
          </p:nvSpPr>
          <p:spPr>
            <a:xfrm rot="0">
              <a:off x="0" y="-66675"/>
              <a:ext cx="7264400" cy="676275"/>
            </a:xfrm>
            <a:prstGeom prst="rect">
              <a:avLst/>
            </a:prstGeom>
          </p:spPr>
          <p:txBody>
            <a:bodyPr anchor="t" rtlCol="false" tIns="0" lIns="0" bIns="0" rIns="0">
              <a:spAutoFit/>
            </a:bodyPr>
            <a:lstStyle/>
            <a:p>
              <a:pPr algn="l" marL="0" indent="0" lvl="0">
                <a:lnSpc>
                  <a:spcPts val="3600"/>
                </a:lnSpc>
              </a:pPr>
              <a:r>
                <a:rPr lang="en-US" b="true" sz="3000">
                  <a:solidFill>
                    <a:srgbClr val="FFFFFF"/>
                  </a:solidFill>
                  <a:latin typeface="Nyutro Sans Bold"/>
                  <a:ea typeface="Nyutro Sans Bold"/>
                  <a:cs typeface="Nyutro Sans Bold"/>
                  <a:sym typeface="Nyutro Sans Bold"/>
                </a:rPr>
                <a:t>Nghiên cứu</a:t>
              </a:r>
            </a:p>
          </p:txBody>
        </p:sp>
      </p:grpSp>
      <p:grpSp>
        <p:nvGrpSpPr>
          <p:cNvPr name="Group 12" id="12"/>
          <p:cNvGrpSpPr/>
          <p:nvPr/>
        </p:nvGrpSpPr>
        <p:grpSpPr>
          <a:xfrm rot="0">
            <a:off x="6419850" y="7829550"/>
            <a:ext cx="5448300" cy="905644"/>
            <a:chOff x="0" y="0"/>
            <a:chExt cx="7264400" cy="1207525"/>
          </a:xfrm>
        </p:grpSpPr>
        <p:sp>
          <p:nvSpPr>
            <p:cNvPr name="TextBox 13" id="13"/>
            <p:cNvSpPr txBox="true"/>
            <p:nvPr/>
          </p:nvSpPr>
          <p:spPr>
            <a:xfrm rot="0">
              <a:off x="0" y="612742"/>
              <a:ext cx="7264400" cy="594783"/>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FFFFFF"/>
                  </a:solidFill>
                  <a:latin typeface="Nyutro Sans"/>
                  <a:ea typeface="Nyutro Sans"/>
                  <a:cs typeface="Nyutro Sans"/>
                  <a:sym typeface="Nyutro Sans"/>
                </a:rPr>
                <a:t>Hỗ trợ chế độ ăn uống hợp lý</a:t>
              </a:r>
            </a:p>
          </p:txBody>
        </p:sp>
        <p:sp>
          <p:nvSpPr>
            <p:cNvPr name="TextBox 14" id="14"/>
            <p:cNvSpPr txBox="true"/>
            <p:nvPr/>
          </p:nvSpPr>
          <p:spPr>
            <a:xfrm rot="0">
              <a:off x="0" y="-66675"/>
              <a:ext cx="7264400" cy="676275"/>
            </a:xfrm>
            <a:prstGeom prst="rect">
              <a:avLst/>
            </a:prstGeom>
          </p:spPr>
          <p:txBody>
            <a:bodyPr anchor="t" rtlCol="false" tIns="0" lIns="0" bIns="0" rIns="0">
              <a:spAutoFit/>
            </a:bodyPr>
            <a:lstStyle/>
            <a:p>
              <a:pPr algn="l" marL="0" indent="0" lvl="0">
                <a:lnSpc>
                  <a:spcPts val="3600"/>
                </a:lnSpc>
              </a:pPr>
              <a:r>
                <a:rPr lang="en-US" b="true" sz="3000">
                  <a:solidFill>
                    <a:srgbClr val="FFFFFF"/>
                  </a:solidFill>
                  <a:latin typeface="Nyutro Sans Bold"/>
                  <a:ea typeface="Nyutro Sans Bold"/>
                  <a:cs typeface="Nyutro Sans Bold"/>
                  <a:sym typeface="Nyutro Sans Bold"/>
                </a:rPr>
                <a:t>Ứng dụng</a:t>
              </a:r>
            </a:p>
          </p:txBody>
        </p:sp>
      </p:grpSp>
      <p:grpSp>
        <p:nvGrpSpPr>
          <p:cNvPr name="Group 15" id="15"/>
          <p:cNvGrpSpPr/>
          <p:nvPr/>
        </p:nvGrpSpPr>
        <p:grpSpPr>
          <a:xfrm rot="0">
            <a:off x="12172950" y="7829550"/>
            <a:ext cx="5448300" cy="1343794"/>
            <a:chOff x="0" y="0"/>
            <a:chExt cx="7264400" cy="1791725"/>
          </a:xfrm>
        </p:grpSpPr>
        <p:sp>
          <p:nvSpPr>
            <p:cNvPr name="TextBox 16" id="16"/>
            <p:cNvSpPr txBox="true"/>
            <p:nvPr/>
          </p:nvSpPr>
          <p:spPr>
            <a:xfrm rot="0">
              <a:off x="0" y="612742"/>
              <a:ext cx="7264400" cy="1178983"/>
            </a:xfrm>
            <a:prstGeom prst="rect">
              <a:avLst/>
            </a:prstGeom>
          </p:spPr>
          <p:txBody>
            <a:bodyPr anchor="t" rtlCol="false" tIns="0" lIns="0" bIns="0" rIns="0">
              <a:spAutoFit/>
            </a:bodyPr>
            <a:lstStyle/>
            <a:p>
              <a:pPr algn="l" marL="0" indent="0" lvl="0">
                <a:lnSpc>
                  <a:spcPts val="3499"/>
                </a:lnSpc>
                <a:spcBef>
                  <a:spcPct val="0"/>
                </a:spcBef>
              </a:pPr>
              <a:r>
                <a:rPr lang="en-US" sz="2499" strike="noStrike" u="none">
                  <a:solidFill>
                    <a:srgbClr val="FFFFFF"/>
                  </a:solidFill>
                  <a:latin typeface="Nyutro Sans"/>
                  <a:ea typeface="Nyutro Sans"/>
                  <a:cs typeface="Nyutro Sans"/>
                  <a:sym typeface="Nyutro Sans"/>
                </a:rPr>
                <a:t>Phân tích dữ liệu trong nghiên cứu dinh dưỡng</a:t>
              </a:r>
            </a:p>
          </p:txBody>
        </p:sp>
        <p:sp>
          <p:nvSpPr>
            <p:cNvPr name="TextBox 17" id="17"/>
            <p:cNvSpPr txBox="true"/>
            <p:nvPr/>
          </p:nvSpPr>
          <p:spPr>
            <a:xfrm rot="0">
              <a:off x="0" y="-66675"/>
              <a:ext cx="7264400" cy="676275"/>
            </a:xfrm>
            <a:prstGeom prst="rect">
              <a:avLst/>
            </a:prstGeom>
          </p:spPr>
          <p:txBody>
            <a:bodyPr anchor="t" rtlCol="false" tIns="0" lIns="0" bIns="0" rIns="0">
              <a:spAutoFit/>
            </a:bodyPr>
            <a:lstStyle/>
            <a:p>
              <a:pPr algn="l" marL="0" indent="0" lvl="0">
                <a:lnSpc>
                  <a:spcPts val="3600"/>
                </a:lnSpc>
              </a:pPr>
              <a:r>
                <a:rPr lang="en-US" b="true" sz="3000">
                  <a:solidFill>
                    <a:srgbClr val="FFFFFF"/>
                  </a:solidFill>
                  <a:latin typeface="Nyutro Sans Bold"/>
                  <a:ea typeface="Nyutro Sans Bold"/>
                  <a:cs typeface="Nyutro Sans Bold"/>
                  <a:sym typeface="Nyutro Sans Bold"/>
                </a:rPr>
                <a:t>Phân tích</a:t>
              </a:r>
            </a:p>
          </p:txBody>
        </p:sp>
      </p:grpSp>
    </p:spTree>
  </p:cSld>
  <p:clrMapOvr>
    <a:masterClrMapping/>
  </p:clrMapOvr>
</p:sld>
</file>

<file path=ppt/slides/slide14.xml><?xml version="1.0" encoding="utf-8"?>
<p:sld xmlns:p="http://schemas.openxmlformats.org/presentationml/2006/main" xmlns:a="http://schemas.openxmlformats.org/drawingml/2006/main">
  <p:cSld>
    <p:bg>
      <p:bgPr>
        <a:solidFill>
          <a:srgbClr val="495A34"/>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9763125" cy="3019425"/>
            <a:chOff x="0" y="0"/>
            <a:chExt cx="13017500" cy="4025900"/>
          </a:xfrm>
        </p:grpSpPr>
        <p:sp>
          <p:nvSpPr>
            <p:cNvPr name="TextBox 3" id="3"/>
            <p:cNvSpPr txBox="true"/>
            <p:nvPr/>
          </p:nvSpPr>
          <p:spPr>
            <a:xfrm rot="0">
              <a:off x="0" y="76200"/>
              <a:ext cx="13017500" cy="3124200"/>
            </a:xfrm>
            <a:prstGeom prst="rect">
              <a:avLst/>
            </a:prstGeom>
          </p:spPr>
          <p:txBody>
            <a:bodyPr anchor="t" rtlCol="false" tIns="0" lIns="0" bIns="0" rIns="0">
              <a:spAutoFit/>
            </a:bodyPr>
            <a:lstStyle/>
            <a:p>
              <a:pPr algn="l" marL="0" indent="0" lvl="0">
                <a:lnSpc>
                  <a:spcPts val="8100"/>
                </a:lnSpc>
                <a:spcBef>
                  <a:spcPct val="0"/>
                </a:spcBef>
              </a:pPr>
              <a:r>
                <a:rPr lang="en-US" b="true" sz="9000" spc="-89" strike="noStrike" u="none">
                  <a:solidFill>
                    <a:srgbClr val="FFFFFF"/>
                  </a:solidFill>
                  <a:latin typeface="Nyutro Sans Heavy"/>
                  <a:ea typeface="Nyutro Sans Heavy"/>
                  <a:cs typeface="Nyutro Sans Heavy"/>
                  <a:sym typeface="Nyutro Sans Heavy"/>
                </a:rPr>
                <a:t>Phân tích bầu cử 2012</a:t>
              </a:r>
            </a:p>
          </p:txBody>
        </p:sp>
        <p:sp>
          <p:nvSpPr>
            <p:cNvPr name="TextBox 4" id="4"/>
            <p:cNvSpPr txBox="true"/>
            <p:nvPr/>
          </p:nvSpPr>
          <p:spPr>
            <a:xfrm rot="0">
              <a:off x="38100" y="3371850"/>
              <a:ext cx="12979400" cy="654050"/>
            </a:xfrm>
            <a:prstGeom prst="rect">
              <a:avLst/>
            </a:prstGeom>
          </p:spPr>
          <p:txBody>
            <a:bodyPr anchor="t" rtlCol="false" tIns="0" lIns="0" bIns="0" rIns="0">
              <a:spAutoFit/>
            </a:bodyPr>
            <a:lstStyle/>
            <a:p>
              <a:pPr algn="l" marL="0" indent="0" lvl="0">
                <a:lnSpc>
                  <a:spcPts val="3599"/>
                </a:lnSpc>
                <a:spcBef>
                  <a:spcPct val="0"/>
                </a:spcBef>
              </a:pPr>
              <a:r>
                <a:rPr lang="en-US" b="true" sz="2999" strike="noStrike" u="none">
                  <a:solidFill>
                    <a:srgbClr val="FFFFFF"/>
                  </a:solidFill>
                  <a:latin typeface="Nyutro Sans Bold"/>
                  <a:ea typeface="Nyutro Sans Bold"/>
                  <a:cs typeface="Nyutro Sans Bold"/>
                  <a:sym typeface="Nyutro Sans Bold"/>
                </a:rPr>
                <a:t>Giới thiệu dữ liệu và quy trình phân tích</a:t>
              </a:r>
            </a:p>
          </p:txBody>
        </p:sp>
      </p:grpSp>
      <p:grpSp>
        <p:nvGrpSpPr>
          <p:cNvPr name="Group 5" id="5"/>
          <p:cNvGrpSpPr/>
          <p:nvPr/>
        </p:nvGrpSpPr>
        <p:grpSpPr>
          <a:xfrm rot="0">
            <a:off x="695325" y="6038850"/>
            <a:ext cx="6858000" cy="2136738"/>
            <a:chOff x="0" y="0"/>
            <a:chExt cx="9144000" cy="2848984"/>
          </a:xfrm>
        </p:grpSpPr>
        <p:sp>
          <p:nvSpPr>
            <p:cNvPr name="TextBox 6" id="6"/>
            <p:cNvSpPr txBox="true"/>
            <p:nvPr/>
          </p:nvSpPr>
          <p:spPr>
            <a:xfrm rot="0">
              <a:off x="0" y="1085800"/>
              <a:ext cx="9144000" cy="1763183"/>
            </a:xfrm>
            <a:prstGeom prst="rect">
              <a:avLst/>
            </a:prstGeom>
          </p:spPr>
          <p:txBody>
            <a:bodyPr anchor="t" rtlCol="false" tIns="0" lIns="0" bIns="0" rIns="0">
              <a:spAutoFit/>
            </a:bodyPr>
            <a:lstStyle/>
            <a:p>
              <a:pPr algn="l" marL="0" indent="0" lvl="0">
                <a:lnSpc>
                  <a:spcPts val="3499"/>
                </a:lnSpc>
                <a:spcBef>
                  <a:spcPct val="0"/>
                </a:spcBef>
              </a:pPr>
              <a:r>
                <a:rPr lang="en-US" sz="2499" strike="noStrike" u="none">
                  <a:solidFill>
                    <a:srgbClr val="FFFFFF"/>
                  </a:solidFill>
                  <a:latin typeface="Nyutro Sans"/>
                  <a:ea typeface="Nyutro Sans"/>
                  <a:cs typeface="Nyutro Sans"/>
                  <a:sym typeface="Nyutro Sans"/>
                </a:rPr>
                <a:t>Dữ liệu bầu cử từ FEC năm 2012 bao gồm </a:t>
              </a:r>
              <a:r>
                <a:rPr lang="en-US" b="true" sz="2499" strike="noStrike" u="none">
                  <a:solidFill>
                    <a:srgbClr val="FFFFFF"/>
                  </a:solidFill>
                  <a:latin typeface="Nyutro Sans Bold"/>
                  <a:ea typeface="Nyutro Sans Bold"/>
                  <a:cs typeface="Nyutro Sans Bold"/>
                  <a:sym typeface="Nyutro Sans Bold"/>
                </a:rPr>
                <a:t>số lượng bản ghi lớn</a:t>
              </a:r>
              <a:r>
                <a:rPr lang="en-US" sz="2499" strike="noStrike" u="none">
                  <a:solidFill>
                    <a:srgbClr val="FFFFFF"/>
                  </a:solidFill>
                  <a:latin typeface="Nyutro Sans"/>
                  <a:ea typeface="Nyutro Sans"/>
                  <a:cs typeface="Nyutro Sans"/>
                  <a:sym typeface="Nyutro Sans"/>
                </a:rPr>
                <a:t> và thông tin đa dạng về ứng viên, người đóng góp, nghề nghiệp và tiểu bang.</a:t>
              </a:r>
            </a:p>
          </p:txBody>
        </p:sp>
        <p:sp>
          <p:nvSpPr>
            <p:cNvPr name="TextBox 7" id="7"/>
            <p:cNvSpPr txBox="true"/>
            <p:nvPr/>
          </p:nvSpPr>
          <p:spPr>
            <a:xfrm rot="0">
              <a:off x="0" y="-57150"/>
              <a:ext cx="9144000" cy="654050"/>
            </a:xfrm>
            <a:prstGeom prst="rect">
              <a:avLst/>
            </a:prstGeom>
          </p:spPr>
          <p:txBody>
            <a:bodyPr anchor="t" rtlCol="false" tIns="0" lIns="0" bIns="0" rIns="0">
              <a:spAutoFit/>
            </a:bodyPr>
            <a:lstStyle/>
            <a:p>
              <a:pPr algn="l" marL="0" indent="0" lvl="0">
                <a:lnSpc>
                  <a:spcPts val="3599"/>
                </a:lnSpc>
                <a:spcBef>
                  <a:spcPct val="0"/>
                </a:spcBef>
              </a:pPr>
              <a:r>
                <a:rPr lang="en-US" b="true" sz="2999" strike="noStrike" u="none">
                  <a:solidFill>
                    <a:srgbClr val="FFFFFF"/>
                  </a:solidFill>
                  <a:latin typeface="Nyutro Sans Bold"/>
                  <a:ea typeface="Nyutro Sans Bold"/>
                  <a:cs typeface="Nyutro Sans Bold"/>
                  <a:sym typeface="Nyutro Sans Bold"/>
                </a:rPr>
                <a:t>Dữ liệu từ FEC</a:t>
              </a:r>
            </a:p>
          </p:txBody>
        </p:sp>
      </p:grpSp>
      <p:grpSp>
        <p:nvGrpSpPr>
          <p:cNvPr name="Group 8" id="8"/>
          <p:cNvGrpSpPr/>
          <p:nvPr/>
        </p:nvGrpSpPr>
        <p:grpSpPr>
          <a:xfrm rot="0">
            <a:off x="7858125" y="6038850"/>
            <a:ext cx="6858000" cy="2136738"/>
            <a:chOff x="0" y="0"/>
            <a:chExt cx="9144000" cy="2848984"/>
          </a:xfrm>
        </p:grpSpPr>
        <p:sp>
          <p:nvSpPr>
            <p:cNvPr name="TextBox 9" id="9"/>
            <p:cNvSpPr txBox="true"/>
            <p:nvPr/>
          </p:nvSpPr>
          <p:spPr>
            <a:xfrm rot="0">
              <a:off x="0" y="1085800"/>
              <a:ext cx="9144000" cy="1763183"/>
            </a:xfrm>
            <a:prstGeom prst="rect">
              <a:avLst/>
            </a:prstGeom>
          </p:spPr>
          <p:txBody>
            <a:bodyPr anchor="t" rtlCol="false" tIns="0" lIns="0" bIns="0" rIns="0">
              <a:spAutoFit/>
            </a:bodyPr>
            <a:lstStyle/>
            <a:p>
              <a:pPr algn="l" marL="0" indent="0" lvl="0">
                <a:lnSpc>
                  <a:spcPts val="3499"/>
                </a:lnSpc>
                <a:spcBef>
                  <a:spcPct val="0"/>
                </a:spcBef>
              </a:pPr>
              <a:r>
                <a:rPr lang="en-US" sz="2499" strike="noStrike" u="none">
                  <a:solidFill>
                    <a:srgbClr val="FFFFFF"/>
                  </a:solidFill>
                  <a:latin typeface="Nyutro Sans"/>
                  <a:ea typeface="Nyutro Sans"/>
                  <a:cs typeface="Nyutro Sans"/>
                  <a:sym typeface="Nyutro Sans"/>
                </a:rPr>
                <a:t>Sử dụng Python và các thư viện dữ liệu, quy trình được thiết lập để </a:t>
              </a:r>
              <a:r>
                <a:rPr lang="en-US" b="true" sz="2499" strike="noStrike" u="none">
                  <a:solidFill>
                    <a:srgbClr val="FFFFFF"/>
                  </a:solidFill>
                  <a:latin typeface="Nyutro Sans Bold"/>
                  <a:ea typeface="Nyutro Sans Bold"/>
                  <a:cs typeface="Nyutro Sans Bold"/>
                  <a:sym typeface="Nyutro Sans Bold"/>
                </a:rPr>
                <a:t>xử lý và phân tích</a:t>
              </a:r>
              <a:r>
                <a:rPr lang="en-US" sz="2499" strike="noStrike" u="none">
                  <a:solidFill>
                    <a:srgbClr val="FFFFFF"/>
                  </a:solidFill>
                  <a:latin typeface="Nyutro Sans"/>
                  <a:ea typeface="Nyutro Sans"/>
                  <a:cs typeface="Nyutro Sans"/>
                  <a:sym typeface="Nyutro Sans"/>
                </a:rPr>
                <a:t> dữ liệu bầu cử một cách hiệu quả và chính xác.</a:t>
              </a:r>
            </a:p>
          </p:txBody>
        </p:sp>
        <p:sp>
          <p:nvSpPr>
            <p:cNvPr name="TextBox 10" id="10"/>
            <p:cNvSpPr txBox="true"/>
            <p:nvPr/>
          </p:nvSpPr>
          <p:spPr>
            <a:xfrm rot="0">
              <a:off x="0" y="-57150"/>
              <a:ext cx="9144000" cy="654050"/>
            </a:xfrm>
            <a:prstGeom prst="rect">
              <a:avLst/>
            </a:prstGeom>
          </p:spPr>
          <p:txBody>
            <a:bodyPr anchor="t" rtlCol="false" tIns="0" lIns="0" bIns="0" rIns="0">
              <a:spAutoFit/>
            </a:bodyPr>
            <a:lstStyle/>
            <a:p>
              <a:pPr algn="l" marL="0" indent="0" lvl="0">
                <a:lnSpc>
                  <a:spcPts val="3599"/>
                </a:lnSpc>
                <a:spcBef>
                  <a:spcPct val="0"/>
                </a:spcBef>
              </a:pPr>
              <a:r>
                <a:rPr lang="en-US" b="true" sz="2999" strike="noStrike" u="none">
                  <a:solidFill>
                    <a:srgbClr val="FFFFFF"/>
                  </a:solidFill>
                  <a:latin typeface="Nyutro Sans Bold"/>
                  <a:ea typeface="Nyutro Sans Bold"/>
                  <a:cs typeface="Nyutro Sans Bold"/>
                  <a:sym typeface="Nyutro Sans Bold"/>
                </a:rPr>
                <a:t>Công cụ phân tích</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495A34"/>
        </a:solidFill>
      </p:bgPr>
    </p:bg>
    <p:spTree>
      <p:nvGrpSpPr>
        <p:cNvPr id="1" name=""/>
        <p:cNvGrpSpPr/>
        <p:nvPr/>
      </p:nvGrpSpPr>
      <p:grpSpPr>
        <a:xfrm>
          <a:off x="0" y="0"/>
          <a:ext cx="0" cy="0"/>
          <a:chOff x="0" y="0"/>
          <a:chExt cx="0" cy="0"/>
        </a:xfrm>
      </p:grpSpPr>
      <p:sp>
        <p:nvSpPr>
          <p:cNvPr name="Freeform 2" id="2"/>
          <p:cNvSpPr/>
          <p:nvPr/>
        </p:nvSpPr>
        <p:spPr>
          <a:xfrm flipH="false" flipV="false" rot="0">
            <a:off x="4959039" y="1352550"/>
            <a:ext cx="12985688" cy="3383816"/>
          </a:xfrm>
          <a:custGeom>
            <a:avLst/>
            <a:gdLst/>
            <a:ahLst/>
            <a:cxnLst/>
            <a:rect r="r" b="b" t="t" l="l"/>
            <a:pathLst>
              <a:path h="3383816" w="12985688">
                <a:moveTo>
                  <a:pt x="0" y="0"/>
                </a:moveTo>
                <a:lnTo>
                  <a:pt x="12985688" y="0"/>
                </a:lnTo>
                <a:lnTo>
                  <a:pt x="12985688" y="3383816"/>
                </a:lnTo>
                <a:lnTo>
                  <a:pt x="0" y="3383816"/>
                </a:lnTo>
                <a:lnTo>
                  <a:pt x="0" y="0"/>
                </a:lnTo>
                <a:close/>
              </a:path>
            </a:pathLst>
          </a:custGeom>
          <a:blipFill>
            <a:blip r:embed="rId2"/>
            <a:stretch>
              <a:fillRect l="0" t="0" r="-2188" b="0"/>
            </a:stretch>
          </a:blipFill>
        </p:spPr>
      </p:sp>
      <p:sp>
        <p:nvSpPr>
          <p:cNvPr name="TextBox 3" id="3"/>
          <p:cNvSpPr txBox="true"/>
          <p:nvPr/>
        </p:nvSpPr>
        <p:spPr>
          <a:xfrm rot="0">
            <a:off x="666750" y="742950"/>
            <a:ext cx="6886575" cy="1295400"/>
          </a:xfrm>
          <a:prstGeom prst="rect">
            <a:avLst/>
          </a:prstGeom>
        </p:spPr>
        <p:txBody>
          <a:bodyPr anchor="t" rtlCol="false" tIns="0" lIns="0" bIns="0" rIns="0">
            <a:spAutoFit/>
          </a:bodyPr>
          <a:lstStyle/>
          <a:p>
            <a:pPr algn="l" marL="0" indent="0" lvl="0">
              <a:lnSpc>
                <a:spcPts val="8100"/>
              </a:lnSpc>
              <a:spcBef>
                <a:spcPct val="0"/>
              </a:spcBef>
            </a:pPr>
            <a:r>
              <a:rPr lang="en-US" b="true" sz="9000" spc="-89" strike="noStrike" u="none">
                <a:solidFill>
                  <a:srgbClr val="FFFFFF"/>
                </a:solidFill>
                <a:latin typeface="Nyutro Sans Heavy"/>
                <a:ea typeface="Nyutro Sans Heavy"/>
                <a:cs typeface="Nyutro Sans Heavy"/>
                <a:sym typeface="Nyutro Sans Heavy"/>
              </a:rPr>
              <a:t>Xử lý</a:t>
            </a:r>
          </a:p>
        </p:txBody>
      </p:sp>
      <p:sp>
        <p:nvSpPr>
          <p:cNvPr name="TextBox 4" id="4"/>
          <p:cNvSpPr txBox="true"/>
          <p:nvPr/>
        </p:nvSpPr>
        <p:spPr>
          <a:xfrm rot="0">
            <a:off x="451439" y="5513811"/>
            <a:ext cx="11922010" cy="4533900"/>
          </a:xfrm>
          <a:prstGeom prst="rect">
            <a:avLst/>
          </a:prstGeom>
        </p:spPr>
        <p:txBody>
          <a:bodyPr anchor="t" rtlCol="false" tIns="0" lIns="0" bIns="0" rIns="0">
            <a:spAutoFit/>
          </a:bodyPr>
          <a:lstStyle/>
          <a:p>
            <a:pPr algn="l">
              <a:lnSpc>
                <a:spcPts val="3599"/>
              </a:lnSpc>
              <a:spcBef>
                <a:spcPct val="0"/>
              </a:spcBef>
            </a:pPr>
            <a:r>
              <a:rPr lang="en-US" b="true" sz="2999">
                <a:solidFill>
                  <a:srgbClr val="FFFFFF"/>
                </a:solidFill>
                <a:latin typeface="Nyutro Sans Bold"/>
                <a:ea typeface="Nyutro Sans Bold"/>
                <a:cs typeface="Nyutro Sans Bold"/>
                <a:sym typeface="Nyutro Sans Bold"/>
              </a:rPr>
              <a:t>Tổng số bản ghi: 536,041</a:t>
            </a:r>
          </a:p>
          <a:p>
            <a:pPr algn="l">
              <a:lnSpc>
                <a:spcPts val="3599"/>
              </a:lnSpc>
              <a:spcBef>
                <a:spcPct val="0"/>
              </a:spcBef>
            </a:pPr>
            <a:r>
              <a:rPr lang="en-US" b="true" sz="2999">
                <a:solidFill>
                  <a:srgbClr val="FFFFFF"/>
                </a:solidFill>
                <a:latin typeface="Nyutro Sans Bold"/>
                <a:ea typeface="Nyutro Sans Bold"/>
                <a:cs typeface="Nyutro Sans Bold"/>
                <a:sym typeface="Nyutro Sans Bold"/>
              </a:rPr>
              <a:t> → Tức là có hơn nửa triệu lượt đóng góp cá nhân được ghi nhận.</a:t>
            </a:r>
          </a:p>
          <a:p>
            <a:pPr algn="l">
              <a:lnSpc>
                <a:spcPts val="3599"/>
              </a:lnSpc>
              <a:spcBef>
                <a:spcPct val="0"/>
              </a:spcBef>
            </a:pPr>
            <a:r>
              <a:rPr lang="en-US" b="true" sz="2999">
                <a:solidFill>
                  <a:srgbClr val="FFFFFF"/>
                </a:solidFill>
                <a:latin typeface="Nyutro Sans Bold"/>
                <a:ea typeface="Nyutro Sans Bold"/>
                <a:cs typeface="Nyutro Sans Bold"/>
                <a:sym typeface="Nyutro Sans Bold"/>
              </a:rPr>
              <a:t>Tổng số cột: 16</a:t>
            </a:r>
          </a:p>
          <a:p>
            <a:pPr algn="l">
              <a:lnSpc>
                <a:spcPts val="3599"/>
              </a:lnSpc>
              <a:spcBef>
                <a:spcPct val="0"/>
              </a:spcBef>
            </a:pPr>
            <a:r>
              <a:rPr lang="en-US" b="true" sz="2999">
                <a:solidFill>
                  <a:srgbClr val="FFFFFF"/>
                </a:solidFill>
                <a:latin typeface="Nyutro Sans Bold"/>
                <a:ea typeface="Nyutro Sans Bold"/>
                <a:cs typeface="Nyutro Sans Bold"/>
                <a:sym typeface="Nyutro Sans Bold"/>
              </a:rPr>
              <a:t> → Mỗi bản ghi chứa 16 thuộc tính như:</a:t>
            </a:r>
          </a:p>
          <a:p>
            <a:pPr algn="l">
              <a:lnSpc>
                <a:spcPts val="3599"/>
              </a:lnSpc>
              <a:spcBef>
                <a:spcPct val="0"/>
              </a:spcBef>
            </a:pPr>
            <a:r>
              <a:rPr lang="en-US" b="true" sz="2999">
                <a:solidFill>
                  <a:srgbClr val="FFFFFF"/>
                </a:solidFill>
                <a:latin typeface="Nyutro Sans Bold"/>
                <a:ea typeface="Nyutro Sans Bold"/>
                <a:cs typeface="Nyutro Sans Bold"/>
                <a:sym typeface="Nyutro Sans Bold"/>
              </a:rPr>
              <a:t>cand_nm: tên ứng viên</a:t>
            </a:r>
          </a:p>
          <a:p>
            <a:pPr algn="l">
              <a:lnSpc>
                <a:spcPts val="3599"/>
              </a:lnSpc>
              <a:spcBef>
                <a:spcPct val="0"/>
              </a:spcBef>
            </a:pPr>
            <a:r>
              <a:rPr lang="en-US" b="true" sz="2999">
                <a:solidFill>
                  <a:srgbClr val="FFFFFF"/>
                </a:solidFill>
                <a:latin typeface="Nyutro Sans Bold"/>
                <a:ea typeface="Nyutro Sans Bold"/>
                <a:cs typeface="Nyutro Sans Bold"/>
                <a:sym typeface="Nyutro Sans Bold"/>
              </a:rPr>
              <a:t>contbr_nm: người đóng góp</a:t>
            </a:r>
          </a:p>
          <a:p>
            <a:pPr algn="l">
              <a:lnSpc>
                <a:spcPts val="3599"/>
              </a:lnSpc>
              <a:spcBef>
                <a:spcPct val="0"/>
              </a:spcBef>
            </a:pPr>
            <a:r>
              <a:rPr lang="en-US" b="true" sz="2999">
                <a:solidFill>
                  <a:srgbClr val="FFFFFF"/>
                </a:solidFill>
                <a:latin typeface="Nyutro Sans Bold"/>
                <a:ea typeface="Nyutro Sans Bold"/>
                <a:cs typeface="Nyutro Sans Bold"/>
                <a:sym typeface="Nyutro Sans Bold"/>
              </a:rPr>
              <a:t>contbr_st: bang</a:t>
            </a:r>
          </a:p>
          <a:p>
            <a:pPr algn="l">
              <a:lnSpc>
                <a:spcPts val="3599"/>
              </a:lnSpc>
              <a:spcBef>
                <a:spcPct val="0"/>
              </a:spcBef>
            </a:pPr>
            <a:r>
              <a:rPr lang="en-US" b="true" sz="2999">
                <a:solidFill>
                  <a:srgbClr val="FFFFFF"/>
                </a:solidFill>
                <a:latin typeface="Nyutro Sans Bold"/>
                <a:ea typeface="Nyutro Sans Bold"/>
                <a:cs typeface="Nyutro Sans Bold"/>
                <a:sym typeface="Nyutro Sans Bold"/>
              </a:rPr>
              <a:t>contbr_employer: nơi làm việc</a:t>
            </a:r>
          </a:p>
          <a:p>
            <a:pPr algn="l">
              <a:lnSpc>
                <a:spcPts val="3599"/>
              </a:lnSpc>
              <a:spcBef>
                <a:spcPct val="0"/>
              </a:spcBef>
            </a:pPr>
            <a:r>
              <a:rPr lang="en-US" b="true" sz="2999">
                <a:solidFill>
                  <a:srgbClr val="FFFFFF"/>
                </a:solidFill>
                <a:latin typeface="Nyutro Sans Bold"/>
                <a:ea typeface="Nyutro Sans Bold"/>
                <a:cs typeface="Nyutro Sans Bold"/>
                <a:sym typeface="Nyutro Sans Bold"/>
              </a:rPr>
              <a:t>contbr_occupation: nghề nghiệp</a:t>
            </a:r>
          </a:p>
          <a:p>
            <a:pPr algn="l">
              <a:lnSpc>
                <a:spcPts val="3599"/>
              </a:lnSpc>
              <a:spcBef>
                <a:spcPct val="0"/>
              </a:spcBef>
            </a:pPr>
            <a:r>
              <a:rPr lang="en-US" b="true" sz="2999">
                <a:solidFill>
                  <a:srgbClr val="FFFFFF"/>
                </a:solidFill>
                <a:latin typeface="Nyutro Sans Bold"/>
                <a:ea typeface="Nyutro Sans Bold"/>
                <a:cs typeface="Nyutro Sans Bold"/>
                <a:sym typeface="Nyutro Sans Bold"/>
              </a:rPr>
              <a:t>contb_receipt_amt: số tiền đóng góp</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495A34"/>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2211593"/>
            <a:ext cx="8788410" cy="7046707"/>
          </a:xfrm>
          <a:custGeom>
            <a:avLst/>
            <a:gdLst/>
            <a:ahLst/>
            <a:cxnLst/>
            <a:rect r="r" b="b" t="t" l="l"/>
            <a:pathLst>
              <a:path h="7046707" w="8788410">
                <a:moveTo>
                  <a:pt x="0" y="0"/>
                </a:moveTo>
                <a:lnTo>
                  <a:pt x="8788410" y="0"/>
                </a:lnTo>
                <a:lnTo>
                  <a:pt x="8788410" y="7046707"/>
                </a:lnTo>
                <a:lnTo>
                  <a:pt x="0" y="7046707"/>
                </a:lnTo>
                <a:lnTo>
                  <a:pt x="0" y="0"/>
                </a:lnTo>
                <a:close/>
              </a:path>
            </a:pathLst>
          </a:custGeom>
          <a:blipFill>
            <a:blip r:embed="rId2"/>
            <a:stretch>
              <a:fillRect l="0" t="0" r="0" b="0"/>
            </a:stretch>
          </a:blipFill>
        </p:spPr>
      </p:sp>
      <p:grpSp>
        <p:nvGrpSpPr>
          <p:cNvPr name="Group 3" id="3"/>
          <p:cNvGrpSpPr/>
          <p:nvPr/>
        </p:nvGrpSpPr>
        <p:grpSpPr>
          <a:xfrm rot="0">
            <a:off x="695325" y="6052820"/>
            <a:ext cx="5419725" cy="2479601"/>
            <a:chOff x="0" y="0"/>
            <a:chExt cx="7226300" cy="3306134"/>
          </a:xfrm>
        </p:grpSpPr>
        <p:sp>
          <p:nvSpPr>
            <p:cNvPr name="TextBox 4" id="4"/>
            <p:cNvSpPr txBox="true"/>
            <p:nvPr/>
          </p:nvSpPr>
          <p:spPr>
            <a:xfrm rot="0">
              <a:off x="0" y="958751"/>
              <a:ext cx="7226300" cy="2347383"/>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FFFFFF"/>
                  </a:solidFill>
                  <a:latin typeface="Nyutro Sans"/>
                  <a:ea typeface="Nyutro Sans"/>
                  <a:cs typeface="Nyutro Sans"/>
                  <a:sym typeface="Nyutro Sans"/>
                </a:rPr>
                <a:t>Đảng Dân chủ nhận </a:t>
              </a:r>
              <a:r>
                <a:rPr lang="en-US" b="true" sz="2499">
                  <a:solidFill>
                    <a:srgbClr val="FFFFFF"/>
                  </a:solidFill>
                  <a:latin typeface="Nyutro Sans Bold"/>
                  <a:ea typeface="Nyutro Sans Bold"/>
                  <a:cs typeface="Nyutro Sans Bold"/>
                  <a:sym typeface="Nyutro Sans Bold"/>
                </a:rPr>
                <a:t>nhiều đóng góp hơn</a:t>
              </a:r>
              <a:r>
                <a:rPr lang="en-US" sz="2499">
                  <a:solidFill>
                    <a:srgbClr val="FFFFFF"/>
                  </a:solidFill>
                  <a:latin typeface="Nyutro Sans"/>
                  <a:ea typeface="Nyutro Sans"/>
                  <a:cs typeface="Nyutro Sans"/>
                  <a:sym typeface="Nyutro Sans"/>
                </a:rPr>
                <a:t> so với Đảng Cộng hòa. Số liệu cho thấy sự hỗ trợ mạnh mẽ từ các cử tri trong nhiều lĩnh vực khác nhau.</a:t>
              </a:r>
            </a:p>
          </p:txBody>
        </p:sp>
        <p:sp>
          <p:nvSpPr>
            <p:cNvPr name="TextBox 5" id="5"/>
            <p:cNvSpPr txBox="true"/>
            <p:nvPr/>
          </p:nvSpPr>
          <p:spPr>
            <a:xfrm rot="0">
              <a:off x="0" y="-57150"/>
              <a:ext cx="7226300" cy="654050"/>
            </a:xfrm>
            <a:prstGeom prst="rect">
              <a:avLst/>
            </a:prstGeom>
          </p:spPr>
          <p:txBody>
            <a:bodyPr anchor="t" rtlCol="false" tIns="0" lIns="0" bIns="0" rIns="0">
              <a:spAutoFit/>
            </a:bodyPr>
            <a:lstStyle/>
            <a:p>
              <a:pPr algn="l" marL="0" indent="0" lvl="0">
                <a:lnSpc>
                  <a:spcPts val="3599"/>
                </a:lnSpc>
                <a:spcBef>
                  <a:spcPct val="0"/>
                </a:spcBef>
              </a:pPr>
              <a:r>
                <a:rPr lang="en-US" b="true" sz="2999" strike="noStrike" u="none">
                  <a:solidFill>
                    <a:srgbClr val="FFFFFF"/>
                  </a:solidFill>
                  <a:latin typeface="Nyutro Sans Bold"/>
                  <a:ea typeface="Nyutro Sans Bold"/>
                  <a:cs typeface="Nyutro Sans Bold"/>
                  <a:sym typeface="Nyutro Sans Bold"/>
                </a:rPr>
                <a:t>Tổng đóng góp</a:t>
              </a:r>
            </a:p>
          </p:txBody>
        </p:sp>
      </p:grpSp>
      <p:grpSp>
        <p:nvGrpSpPr>
          <p:cNvPr name="Group 6" id="6"/>
          <p:cNvGrpSpPr/>
          <p:nvPr/>
        </p:nvGrpSpPr>
        <p:grpSpPr>
          <a:xfrm rot="0">
            <a:off x="666750" y="666750"/>
            <a:ext cx="9763125" cy="3019425"/>
            <a:chOff x="0" y="0"/>
            <a:chExt cx="13017500" cy="4025900"/>
          </a:xfrm>
        </p:grpSpPr>
        <p:sp>
          <p:nvSpPr>
            <p:cNvPr name="TextBox 7" id="7"/>
            <p:cNvSpPr txBox="true"/>
            <p:nvPr/>
          </p:nvSpPr>
          <p:spPr>
            <a:xfrm rot="0">
              <a:off x="0" y="76200"/>
              <a:ext cx="13017500" cy="3124200"/>
            </a:xfrm>
            <a:prstGeom prst="rect">
              <a:avLst/>
            </a:prstGeom>
          </p:spPr>
          <p:txBody>
            <a:bodyPr anchor="t" rtlCol="false" tIns="0" lIns="0" bIns="0" rIns="0">
              <a:spAutoFit/>
            </a:bodyPr>
            <a:lstStyle/>
            <a:p>
              <a:pPr algn="l" marL="0" indent="0" lvl="0">
                <a:lnSpc>
                  <a:spcPts val="8100"/>
                </a:lnSpc>
                <a:spcBef>
                  <a:spcPct val="0"/>
                </a:spcBef>
              </a:pPr>
              <a:r>
                <a:rPr lang="en-US" b="true" sz="9000" spc="-89" strike="noStrike" u="none">
                  <a:solidFill>
                    <a:srgbClr val="FFFFFF"/>
                  </a:solidFill>
                  <a:latin typeface="Nyutro Sans Heavy"/>
                  <a:ea typeface="Nyutro Sans Heavy"/>
                  <a:cs typeface="Nyutro Sans Heavy"/>
                  <a:sym typeface="Nyutro Sans Heavy"/>
                </a:rPr>
                <a:t>Kết quả phân tích bầu cử</a:t>
              </a:r>
            </a:p>
          </p:txBody>
        </p:sp>
        <p:sp>
          <p:nvSpPr>
            <p:cNvPr name="TextBox 8" id="8"/>
            <p:cNvSpPr txBox="true"/>
            <p:nvPr/>
          </p:nvSpPr>
          <p:spPr>
            <a:xfrm rot="0">
              <a:off x="38100" y="3371850"/>
              <a:ext cx="12979400" cy="654050"/>
            </a:xfrm>
            <a:prstGeom prst="rect">
              <a:avLst/>
            </a:prstGeom>
          </p:spPr>
          <p:txBody>
            <a:bodyPr anchor="t" rtlCol="false" tIns="0" lIns="0" bIns="0" rIns="0">
              <a:spAutoFit/>
            </a:bodyPr>
            <a:lstStyle/>
            <a:p>
              <a:pPr algn="l" marL="0" indent="0" lvl="0">
                <a:lnSpc>
                  <a:spcPts val="3599"/>
                </a:lnSpc>
                <a:spcBef>
                  <a:spcPct val="0"/>
                </a:spcBef>
              </a:pPr>
              <a:r>
                <a:rPr lang="en-US" b="true" sz="2999" strike="noStrike" u="none">
                  <a:solidFill>
                    <a:srgbClr val="FFFFFF"/>
                  </a:solidFill>
                  <a:latin typeface="Nyutro Sans Bold"/>
                  <a:ea typeface="Nyutro Sans Bold"/>
                  <a:cs typeface="Nyutro Sans Bold"/>
                  <a:sym typeface="Nyutro Sans Bold"/>
                </a:rPr>
                <a:t>Tổng đóng góp và phân tích nghề nghiệp</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495A34"/>
        </a:solidFill>
      </p:bgPr>
    </p:bg>
    <p:spTree>
      <p:nvGrpSpPr>
        <p:cNvPr id="1" name=""/>
        <p:cNvGrpSpPr/>
        <p:nvPr/>
      </p:nvGrpSpPr>
      <p:grpSpPr>
        <a:xfrm>
          <a:off x="0" y="0"/>
          <a:ext cx="0" cy="0"/>
          <a:chOff x="0" y="0"/>
          <a:chExt cx="0" cy="0"/>
        </a:xfrm>
      </p:grpSpPr>
      <p:sp>
        <p:nvSpPr>
          <p:cNvPr name="Freeform 2" id="2"/>
          <p:cNvSpPr/>
          <p:nvPr/>
        </p:nvSpPr>
        <p:spPr>
          <a:xfrm flipH="false" flipV="false" rot="0">
            <a:off x="7471769" y="3760142"/>
            <a:ext cx="10421445" cy="6124729"/>
          </a:xfrm>
          <a:custGeom>
            <a:avLst/>
            <a:gdLst/>
            <a:ahLst/>
            <a:cxnLst/>
            <a:rect r="r" b="b" t="t" l="l"/>
            <a:pathLst>
              <a:path h="6124729" w="10421445">
                <a:moveTo>
                  <a:pt x="0" y="0"/>
                </a:moveTo>
                <a:lnTo>
                  <a:pt x="10421445" y="0"/>
                </a:lnTo>
                <a:lnTo>
                  <a:pt x="10421445" y="6124729"/>
                </a:lnTo>
                <a:lnTo>
                  <a:pt x="0" y="6124729"/>
                </a:lnTo>
                <a:lnTo>
                  <a:pt x="0" y="0"/>
                </a:lnTo>
                <a:close/>
              </a:path>
            </a:pathLst>
          </a:custGeom>
          <a:blipFill>
            <a:blip r:embed="rId2"/>
            <a:stretch>
              <a:fillRect l="0" t="-390" r="0" b="0"/>
            </a:stretch>
          </a:blipFill>
        </p:spPr>
      </p:sp>
      <p:grpSp>
        <p:nvGrpSpPr>
          <p:cNvPr name="Group 3" id="3"/>
          <p:cNvGrpSpPr/>
          <p:nvPr/>
        </p:nvGrpSpPr>
        <p:grpSpPr>
          <a:xfrm rot="0">
            <a:off x="1028700" y="1315972"/>
            <a:ext cx="6443069" cy="3468676"/>
            <a:chOff x="0" y="0"/>
            <a:chExt cx="8590758" cy="4624901"/>
          </a:xfrm>
        </p:grpSpPr>
        <p:sp>
          <p:nvSpPr>
            <p:cNvPr name="TextBox 4" id="4"/>
            <p:cNvSpPr txBox="true"/>
            <p:nvPr/>
          </p:nvSpPr>
          <p:spPr>
            <a:xfrm rot="0">
              <a:off x="0" y="1138716"/>
              <a:ext cx="8590758" cy="3486185"/>
            </a:xfrm>
            <a:prstGeom prst="rect">
              <a:avLst/>
            </a:prstGeom>
          </p:spPr>
          <p:txBody>
            <a:bodyPr anchor="t" rtlCol="false" tIns="0" lIns="0" bIns="0" rIns="0">
              <a:spAutoFit/>
            </a:bodyPr>
            <a:lstStyle/>
            <a:p>
              <a:pPr algn="l" marL="0" indent="0" lvl="0">
                <a:lnSpc>
                  <a:spcPts val="4160"/>
                </a:lnSpc>
                <a:spcBef>
                  <a:spcPct val="0"/>
                </a:spcBef>
              </a:pPr>
              <a:r>
                <a:rPr lang="en-US" sz="2972" strike="noStrike" u="none">
                  <a:solidFill>
                    <a:srgbClr val="FFFFFF"/>
                  </a:solidFill>
                  <a:latin typeface="Nyutro Sans"/>
                  <a:ea typeface="Nyutro Sans"/>
                  <a:cs typeface="Nyutro Sans"/>
                  <a:sym typeface="Nyutro Sans"/>
                </a:rPr>
                <a:t>Nhóm nghề nghiệp như </a:t>
              </a:r>
              <a:r>
                <a:rPr lang="en-US" b="true" sz="2972" strike="noStrike" u="none">
                  <a:solidFill>
                    <a:srgbClr val="FFFFFF"/>
                  </a:solidFill>
                  <a:latin typeface="Nyutro Sans Bold"/>
                  <a:ea typeface="Nyutro Sans Bold"/>
                  <a:cs typeface="Nyutro Sans Bold"/>
                  <a:sym typeface="Nyutro Sans Bold"/>
                </a:rPr>
                <a:t>luật sư, giáo viên và bác sĩ</a:t>
              </a:r>
              <a:r>
                <a:rPr lang="en-US" sz="2972" strike="noStrike" u="none">
                  <a:solidFill>
                    <a:srgbClr val="FFFFFF"/>
                  </a:solidFill>
                  <a:latin typeface="Nyutro Sans"/>
                  <a:ea typeface="Nyutro Sans"/>
                  <a:cs typeface="Nyutro Sans"/>
                  <a:sym typeface="Nyutro Sans"/>
                </a:rPr>
                <a:t> đóng góp nhiều nhất vào chiến dịch. Người nghỉ hưu chủ yếu ủng hộ Đảng Dân chủ trong cuộc bầu cử này.</a:t>
              </a:r>
            </a:p>
          </p:txBody>
        </p:sp>
        <p:sp>
          <p:nvSpPr>
            <p:cNvPr name="TextBox 5" id="5"/>
            <p:cNvSpPr txBox="true"/>
            <p:nvPr/>
          </p:nvSpPr>
          <p:spPr>
            <a:xfrm rot="0">
              <a:off x="0" y="-76200"/>
              <a:ext cx="8590758" cy="785806"/>
            </a:xfrm>
            <a:prstGeom prst="rect">
              <a:avLst/>
            </a:prstGeom>
          </p:spPr>
          <p:txBody>
            <a:bodyPr anchor="t" rtlCol="false" tIns="0" lIns="0" bIns="0" rIns="0">
              <a:spAutoFit/>
            </a:bodyPr>
            <a:lstStyle/>
            <a:p>
              <a:pPr algn="l" marL="0" indent="0" lvl="0">
                <a:lnSpc>
                  <a:spcPts val="4279"/>
                </a:lnSpc>
                <a:spcBef>
                  <a:spcPct val="0"/>
                </a:spcBef>
              </a:pPr>
              <a:r>
                <a:rPr lang="en-US" b="true" sz="3566" strike="noStrike" u="none">
                  <a:solidFill>
                    <a:srgbClr val="FFFFFF"/>
                  </a:solidFill>
                  <a:latin typeface="Nyutro Sans Bold"/>
                  <a:ea typeface="Nyutro Sans Bold"/>
                  <a:cs typeface="Nyutro Sans Bold"/>
                  <a:sym typeface="Nyutro Sans Bold"/>
                </a:rPr>
                <a:t>Phân tích nghề nghiệp</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495A34"/>
        </a:solidFill>
      </p:bgPr>
    </p:bg>
    <p:spTree>
      <p:nvGrpSpPr>
        <p:cNvPr id="1" name=""/>
        <p:cNvGrpSpPr/>
        <p:nvPr/>
      </p:nvGrpSpPr>
      <p:grpSpPr>
        <a:xfrm>
          <a:off x="0" y="0"/>
          <a:ext cx="0" cy="0"/>
          <a:chOff x="0" y="0"/>
          <a:chExt cx="0" cy="0"/>
        </a:xfrm>
      </p:grpSpPr>
      <p:grpSp>
        <p:nvGrpSpPr>
          <p:cNvPr name="Group 2" id="2"/>
          <p:cNvGrpSpPr/>
          <p:nvPr/>
        </p:nvGrpSpPr>
        <p:grpSpPr>
          <a:xfrm rot="0">
            <a:off x="11408952" y="5143500"/>
            <a:ext cx="6658008" cy="3584390"/>
            <a:chOff x="0" y="0"/>
            <a:chExt cx="8877344" cy="4779186"/>
          </a:xfrm>
        </p:grpSpPr>
        <p:sp>
          <p:nvSpPr>
            <p:cNvPr name="TextBox 3" id="3"/>
            <p:cNvSpPr txBox="true"/>
            <p:nvPr/>
          </p:nvSpPr>
          <p:spPr>
            <a:xfrm rot="0">
              <a:off x="0" y="1180516"/>
              <a:ext cx="8877344" cy="3598671"/>
            </a:xfrm>
            <a:prstGeom prst="rect">
              <a:avLst/>
            </a:prstGeom>
          </p:spPr>
          <p:txBody>
            <a:bodyPr anchor="t" rtlCol="false" tIns="0" lIns="0" bIns="0" rIns="0">
              <a:spAutoFit/>
            </a:bodyPr>
            <a:lstStyle/>
            <a:p>
              <a:pPr algn="l" marL="0" indent="0" lvl="0">
                <a:lnSpc>
                  <a:spcPts val="4299"/>
                </a:lnSpc>
                <a:spcBef>
                  <a:spcPct val="0"/>
                </a:spcBef>
              </a:pPr>
              <a:r>
                <a:rPr lang="en-US" sz="3071" strike="noStrike" u="none">
                  <a:solidFill>
                    <a:srgbClr val="FFFFFF"/>
                  </a:solidFill>
                  <a:latin typeface="Nyutro Sans"/>
                  <a:ea typeface="Nyutro Sans"/>
                  <a:cs typeface="Nyutro Sans"/>
                  <a:sym typeface="Nyutro Sans"/>
                </a:rPr>
                <a:t>Các tiểu bang như </a:t>
              </a:r>
              <a:r>
                <a:rPr lang="en-US" b="true" sz="3071" strike="noStrike" u="none">
                  <a:solidFill>
                    <a:srgbClr val="FFFFFF"/>
                  </a:solidFill>
                  <a:latin typeface="Nyutro Sans Bold"/>
                  <a:ea typeface="Nyutro Sans Bold"/>
                  <a:cs typeface="Nyutro Sans Bold"/>
                  <a:sym typeface="Nyutro Sans Bold"/>
                </a:rPr>
                <a:t>California, New York và Illinois</a:t>
              </a:r>
              <a:r>
                <a:rPr lang="en-US" sz="3071" strike="noStrike" u="none">
                  <a:solidFill>
                    <a:srgbClr val="FFFFFF"/>
                  </a:solidFill>
                  <a:latin typeface="Nyutro Sans"/>
                  <a:ea typeface="Nyutro Sans"/>
                  <a:cs typeface="Nyutro Sans"/>
                  <a:sym typeface="Nyutro Sans"/>
                </a:rPr>
                <a:t> đã có tổng đóng góp cao nhất. California đặc biệt nổi bật với sự ủng hộ cho Đảng Dân chủ trong chiến dịch bầu cử 2012.</a:t>
              </a:r>
            </a:p>
          </p:txBody>
        </p:sp>
        <p:sp>
          <p:nvSpPr>
            <p:cNvPr name="TextBox 4" id="4"/>
            <p:cNvSpPr txBox="true"/>
            <p:nvPr/>
          </p:nvSpPr>
          <p:spPr>
            <a:xfrm rot="0">
              <a:off x="0" y="-76200"/>
              <a:ext cx="8877344" cy="809478"/>
            </a:xfrm>
            <a:prstGeom prst="rect">
              <a:avLst/>
            </a:prstGeom>
          </p:spPr>
          <p:txBody>
            <a:bodyPr anchor="t" rtlCol="false" tIns="0" lIns="0" bIns="0" rIns="0">
              <a:spAutoFit/>
            </a:bodyPr>
            <a:lstStyle/>
            <a:p>
              <a:pPr algn="l" marL="0" indent="0" lvl="0">
                <a:lnSpc>
                  <a:spcPts val="4422"/>
                </a:lnSpc>
                <a:spcBef>
                  <a:spcPct val="0"/>
                </a:spcBef>
              </a:pPr>
              <a:r>
                <a:rPr lang="en-US" b="true" sz="3685" strike="noStrike" u="none">
                  <a:solidFill>
                    <a:srgbClr val="FFFFFF"/>
                  </a:solidFill>
                  <a:latin typeface="Nyutro Sans Bold"/>
                  <a:ea typeface="Nyutro Sans Bold"/>
                  <a:cs typeface="Nyutro Sans Bold"/>
                  <a:sym typeface="Nyutro Sans Bold"/>
                </a:rPr>
                <a:t>Phân tích tiểu bang</a:t>
              </a:r>
            </a:p>
          </p:txBody>
        </p:sp>
      </p:grpSp>
      <p:sp>
        <p:nvSpPr>
          <p:cNvPr name="Freeform 5" id="5"/>
          <p:cNvSpPr/>
          <p:nvPr/>
        </p:nvSpPr>
        <p:spPr>
          <a:xfrm flipH="false" flipV="false" rot="0">
            <a:off x="155540" y="310996"/>
            <a:ext cx="11109871" cy="5311592"/>
          </a:xfrm>
          <a:custGeom>
            <a:avLst/>
            <a:gdLst/>
            <a:ahLst/>
            <a:cxnLst/>
            <a:rect r="r" b="b" t="t" l="l"/>
            <a:pathLst>
              <a:path h="5311592" w="11109871">
                <a:moveTo>
                  <a:pt x="0" y="0"/>
                </a:moveTo>
                <a:lnTo>
                  <a:pt x="11109872" y="0"/>
                </a:lnTo>
                <a:lnTo>
                  <a:pt x="11109872" y="5311592"/>
                </a:lnTo>
                <a:lnTo>
                  <a:pt x="0" y="5311592"/>
                </a:lnTo>
                <a:lnTo>
                  <a:pt x="0" y="0"/>
                </a:lnTo>
                <a:close/>
              </a:path>
            </a:pathLst>
          </a:custGeom>
          <a:blipFill>
            <a:blip r:embed="rId2"/>
            <a:stretch>
              <a:fillRect l="-1722"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495A34"/>
        </a:solidFill>
      </p:bgPr>
    </p:bg>
    <p:spTree>
      <p:nvGrpSpPr>
        <p:cNvPr id="1" name=""/>
        <p:cNvGrpSpPr/>
        <p:nvPr/>
      </p:nvGrpSpPr>
      <p:grpSpPr>
        <a:xfrm>
          <a:off x="0" y="0"/>
          <a:ext cx="0" cy="0"/>
          <a:chOff x="0" y="0"/>
          <a:chExt cx="0" cy="0"/>
        </a:xfrm>
      </p:grpSpPr>
      <p:sp>
        <p:nvSpPr>
          <p:cNvPr name="Freeform 2" id="2"/>
          <p:cNvSpPr/>
          <p:nvPr/>
        </p:nvSpPr>
        <p:spPr>
          <a:xfrm flipH="false" flipV="false" rot="0">
            <a:off x="9533280" y="4385717"/>
            <a:ext cx="8120972" cy="4872583"/>
          </a:xfrm>
          <a:custGeom>
            <a:avLst/>
            <a:gdLst/>
            <a:ahLst/>
            <a:cxnLst/>
            <a:rect r="r" b="b" t="t" l="l"/>
            <a:pathLst>
              <a:path h="4872583" w="8120972">
                <a:moveTo>
                  <a:pt x="0" y="0"/>
                </a:moveTo>
                <a:lnTo>
                  <a:pt x="8120972" y="0"/>
                </a:lnTo>
                <a:lnTo>
                  <a:pt x="8120972" y="4872583"/>
                </a:lnTo>
                <a:lnTo>
                  <a:pt x="0" y="4872583"/>
                </a:lnTo>
                <a:lnTo>
                  <a:pt x="0" y="0"/>
                </a:lnTo>
                <a:close/>
              </a:path>
            </a:pathLst>
          </a:custGeom>
          <a:blipFill>
            <a:blip r:embed="rId2"/>
            <a:stretch>
              <a:fillRect l="0" t="0" r="0" b="0"/>
            </a:stretch>
          </a:blipFill>
        </p:spPr>
      </p:sp>
      <p:sp>
        <p:nvSpPr>
          <p:cNvPr name="TextBox 3" id="3"/>
          <p:cNvSpPr txBox="true"/>
          <p:nvPr/>
        </p:nvSpPr>
        <p:spPr>
          <a:xfrm rot="0">
            <a:off x="331821" y="2378038"/>
            <a:ext cx="8542429" cy="3849569"/>
          </a:xfrm>
          <a:prstGeom prst="rect">
            <a:avLst/>
          </a:prstGeom>
        </p:spPr>
        <p:txBody>
          <a:bodyPr anchor="t" rtlCol="false" tIns="0" lIns="0" bIns="0" rIns="0">
            <a:spAutoFit/>
          </a:bodyPr>
          <a:lstStyle/>
          <a:p>
            <a:pPr algn="l" marL="669530" indent="-334765" lvl="1">
              <a:lnSpc>
                <a:spcPts val="4341"/>
              </a:lnSpc>
              <a:buFont typeface="Arial"/>
              <a:buChar char="•"/>
            </a:pPr>
            <a:r>
              <a:rPr lang="en-US" sz="3101" strike="noStrike" u="none">
                <a:solidFill>
                  <a:srgbClr val="FFFFFF"/>
                </a:solidFill>
                <a:latin typeface="Nyutro Sans"/>
                <a:ea typeface="Nyutro Sans"/>
                <a:cs typeface="Nyutro Sans"/>
                <a:sym typeface="Nyutro Sans"/>
              </a:rPr>
              <a:t>California: Đóng góp cao nhất, chủ yếu cho Đảng Dân chủ.</a:t>
            </a:r>
          </a:p>
          <a:p>
            <a:pPr algn="l" marL="669530" indent="-334765" lvl="1">
              <a:lnSpc>
                <a:spcPts val="4341"/>
              </a:lnSpc>
              <a:buFont typeface="Arial"/>
              <a:buChar char="•"/>
            </a:pPr>
            <a:r>
              <a:rPr lang="en-US" sz="3101" strike="noStrike" u="none">
                <a:solidFill>
                  <a:srgbClr val="FFFFFF"/>
                </a:solidFill>
                <a:latin typeface="Nyutro Sans"/>
                <a:ea typeface="Nyutro Sans"/>
                <a:cs typeface="Nyutro Sans"/>
                <a:sym typeface="Nyutro Sans"/>
              </a:rPr>
              <a:t>New York: Nguồn lực mạnh mẽ cho cả hai đảng.</a:t>
            </a:r>
          </a:p>
          <a:p>
            <a:pPr algn="l" marL="669530" indent="-334765" lvl="1">
              <a:lnSpc>
                <a:spcPts val="4341"/>
              </a:lnSpc>
              <a:buFont typeface="Arial"/>
              <a:buChar char="•"/>
            </a:pPr>
            <a:r>
              <a:rPr lang="en-US" sz="3101" strike="noStrike" u="none">
                <a:solidFill>
                  <a:srgbClr val="FFFFFF"/>
                </a:solidFill>
                <a:latin typeface="Nyutro Sans"/>
                <a:ea typeface="Nyutro Sans"/>
                <a:cs typeface="Nyutro Sans"/>
                <a:sym typeface="Nyutro Sans"/>
              </a:rPr>
              <a:t>Illinois: Đóng góp lớn từ các thành phố lớn.</a:t>
            </a:r>
          </a:p>
          <a:p>
            <a:pPr algn="l" marL="669530" indent="-334765" lvl="1">
              <a:lnSpc>
                <a:spcPts val="4341"/>
              </a:lnSpc>
              <a:buFont typeface="Arial"/>
              <a:buChar char="•"/>
            </a:pPr>
            <a:r>
              <a:rPr lang="en-US" sz="3101" strike="noStrike" u="none">
                <a:solidFill>
                  <a:srgbClr val="FFFFFF"/>
                </a:solidFill>
                <a:latin typeface="Nyutro Sans"/>
                <a:ea typeface="Nyutro Sans"/>
                <a:cs typeface="Nyutro Sans"/>
                <a:sym typeface="Nyutro Sans"/>
              </a:rPr>
              <a:t>Ảnh hưởng của nghề nghiệp và địa lý đến xu hướng đóng góp chính trị rất rõ ràng.</a:t>
            </a:r>
          </a:p>
        </p:txBody>
      </p:sp>
      <p:sp>
        <p:nvSpPr>
          <p:cNvPr name="TextBox 4" id="4"/>
          <p:cNvSpPr txBox="true"/>
          <p:nvPr/>
        </p:nvSpPr>
        <p:spPr>
          <a:xfrm rot="0">
            <a:off x="666750" y="742950"/>
            <a:ext cx="6886575" cy="1295400"/>
          </a:xfrm>
          <a:prstGeom prst="rect">
            <a:avLst/>
          </a:prstGeom>
        </p:spPr>
        <p:txBody>
          <a:bodyPr anchor="t" rtlCol="false" tIns="0" lIns="0" bIns="0" rIns="0">
            <a:spAutoFit/>
          </a:bodyPr>
          <a:lstStyle/>
          <a:p>
            <a:pPr algn="l" marL="0" indent="0" lvl="0">
              <a:lnSpc>
                <a:spcPts val="8100"/>
              </a:lnSpc>
              <a:spcBef>
                <a:spcPct val="0"/>
              </a:spcBef>
            </a:pPr>
            <a:r>
              <a:rPr lang="en-US" b="true" sz="9000" spc="-89" strike="noStrike" u="none">
                <a:solidFill>
                  <a:srgbClr val="FFFFFF"/>
                </a:solidFill>
                <a:latin typeface="Nyutro Sans Heavy"/>
                <a:ea typeface="Nyutro Sans Heavy"/>
                <a:cs typeface="Nyutro Sans Heavy"/>
                <a:sym typeface="Nyutro Sans Heavy"/>
              </a:rPr>
              <a:t>Tiểu bang</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495A34"/>
        </a:solidFill>
      </p:bgPr>
    </p:bg>
    <p:spTree>
      <p:nvGrpSpPr>
        <p:cNvPr id="1" name=""/>
        <p:cNvGrpSpPr/>
        <p:nvPr/>
      </p:nvGrpSpPr>
      <p:grpSpPr>
        <a:xfrm>
          <a:off x="0" y="0"/>
          <a:ext cx="0" cy="0"/>
          <a:chOff x="0" y="0"/>
          <a:chExt cx="0" cy="0"/>
        </a:xfrm>
      </p:grpSpPr>
      <p:grpSp>
        <p:nvGrpSpPr>
          <p:cNvPr name="Group 2" id="2"/>
          <p:cNvGrpSpPr/>
          <p:nvPr/>
        </p:nvGrpSpPr>
        <p:grpSpPr>
          <a:xfrm rot="0">
            <a:off x="695325" y="6052820"/>
            <a:ext cx="5419725" cy="2479601"/>
            <a:chOff x="0" y="0"/>
            <a:chExt cx="7226300" cy="3306134"/>
          </a:xfrm>
        </p:grpSpPr>
        <p:sp>
          <p:nvSpPr>
            <p:cNvPr name="TextBox 3" id="3"/>
            <p:cNvSpPr txBox="true"/>
            <p:nvPr/>
          </p:nvSpPr>
          <p:spPr>
            <a:xfrm rot="0">
              <a:off x="0" y="958751"/>
              <a:ext cx="7226300" cy="2347383"/>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FFFFFF"/>
                  </a:solidFill>
                  <a:latin typeface="Nyutro Sans"/>
                  <a:ea typeface="Nyutro Sans"/>
                  <a:cs typeface="Nyutro Sans"/>
                  <a:sym typeface="Nyutro Sans"/>
                </a:rPr>
                <a:t>Phân tích dữ liệu USDA giúp hiểu rõ hơn về thành phần dinh dưỡng, từ đó hỗ trợ xây dựng chế độ ăn uống hợp lý và nâng cao sức khỏe cộng đồng.</a:t>
              </a:r>
            </a:p>
          </p:txBody>
        </p:sp>
        <p:sp>
          <p:nvSpPr>
            <p:cNvPr name="TextBox 4" id="4"/>
            <p:cNvSpPr txBox="true"/>
            <p:nvPr/>
          </p:nvSpPr>
          <p:spPr>
            <a:xfrm rot="0">
              <a:off x="0" y="-57150"/>
              <a:ext cx="7226300" cy="654050"/>
            </a:xfrm>
            <a:prstGeom prst="rect">
              <a:avLst/>
            </a:prstGeom>
          </p:spPr>
          <p:txBody>
            <a:bodyPr anchor="t" rtlCol="false" tIns="0" lIns="0" bIns="0" rIns="0">
              <a:spAutoFit/>
            </a:bodyPr>
            <a:lstStyle/>
            <a:p>
              <a:pPr algn="l" marL="0" indent="0" lvl="0">
                <a:lnSpc>
                  <a:spcPts val="3599"/>
                </a:lnSpc>
                <a:spcBef>
                  <a:spcPct val="0"/>
                </a:spcBef>
              </a:pPr>
              <a:r>
                <a:rPr lang="en-US" b="true" sz="2999" strike="noStrike" u="none">
                  <a:solidFill>
                    <a:srgbClr val="FFFFFF"/>
                  </a:solidFill>
                  <a:latin typeface="Nyutro Sans Bold"/>
                  <a:ea typeface="Nyutro Sans Bold"/>
                  <a:cs typeface="Nyutro Sans Bold"/>
                  <a:sym typeface="Nyutro Sans Bold"/>
                </a:rPr>
                <a:t>Thành phần dinh dưỡng</a:t>
              </a:r>
            </a:p>
          </p:txBody>
        </p:sp>
      </p:grpSp>
      <p:grpSp>
        <p:nvGrpSpPr>
          <p:cNvPr name="Group 5" id="5"/>
          <p:cNvGrpSpPr/>
          <p:nvPr/>
        </p:nvGrpSpPr>
        <p:grpSpPr>
          <a:xfrm rot="0">
            <a:off x="6448425" y="6052820"/>
            <a:ext cx="5419725" cy="2917751"/>
            <a:chOff x="0" y="0"/>
            <a:chExt cx="7226300" cy="3890334"/>
          </a:xfrm>
        </p:grpSpPr>
        <p:sp>
          <p:nvSpPr>
            <p:cNvPr name="TextBox 6" id="6"/>
            <p:cNvSpPr txBox="true"/>
            <p:nvPr/>
          </p:nvSpPr>
          <p:spPr>
            <a:xfrm rot="0">
              <a:off x="0" y="958751"/>
              <a:ext cx="7226300" cy="2931583"/>
            </a:xfrm>
            <a:prstGeom prst="rect">
              <a:avLst/>
            </a:prstGeom>
          </p:spPr>
          <p:txBody>
            <a:bodyPr anchor="t" rtlCol="false" tIns="0" lIns="0" bIns="0" rIns="0">
              <a:spAutoFit/>
            </a:bodyPr>
            <a:lstStyle/>
            <a:p>
              <a:pPr algn="l" marL="0" indent="0" lvl="0">
                <a:lnSpc>
                  <a:spcPts val="3499"/>
                </a:lnSpc>
                <a:spcBef>
                  <a:spcPct val="0"/>
                </a:spcBef>
              </a:pPr>
              <a:r>
                <a:rPr lang="en-US" sz="2499" strike="noStrike" u="none">
                  <a:solidFill>
                    <a:srgbClr val="FFFFFF"/>
                  </a:solidFill>
                  <a:latin typeface="Nyutro Sans"/>
                  <a:ea typeface="Nyutro Sans"/>
                  <a:cs typeface="Nyutro Sans"/>
                  <a:sym typeface="Nyutro Sans"/>
                </a:rPr>
                <a:t>Dữ liệu bầu cử 2012 cho thấy rằng các yếu tố kinh tế-xã hội ảnh hưởng mạnh mẽ đến hành vi đóng góp chính trị của công dân, đặc biệt là theo nghề nghiệp và địa lý.</a:t>
              </a:r>
            </a:p>
          </p:txBody>
        </p:sp>
        <p:sp>
          <p:nvSpPr>
            <p:cNvPr name="TextBox 7" id="7"/>
            <p:cNvSpPr txBox="true"/>
            <p:nvPr/>
          </p:nvSpPr>
          <p:spPr>
            <a:xfrm rot="0">
              <a:off x="0" y="-57150"/>
              <a:ext cx="7226300" cy="654050"/>
            </a:xfrm>
            <a:prstGeom prst="rect">
              <a:avLst/>
            </a:prstGeom>
          </p:spPr>
          <p:txBody>
            <a:bodyPr anchor="t" rtlCol="false" tIns="0" lIns="0" bIns="0" rIns="0">
              <a:spAutoFit/>
            </a:bodyPr>
            <a:lstStyle/>
            <a:p>
              <a:pPr algn="l" marL="0" indent="0" lvl="0">
                <a:lnSpc>
                  <a:spcPts val="3599"/>
                </a:lnSpc>
                <a:spcBef>
                  <a:spcPct val="0"/>
                </a:spcBef>
              </a:pPr>
              <a:r>
                <a:rPr lang="en-US" b="true" sz="2999" strike="noStrike" u="none">
                  <a:solidFill>
                    <a:srgbClr val="FFFFFF"/>
                  </a:solidFill>
                  <a:latin typeface="Nyutro Sans Bold"/>
                  <a:ea typeface="Nyutro Sans Bold"/>
                  <a:cs typeface="Nyutro Sans Bold"/>
                  <a:sym typeface="Nyutro Sans Bold"/>
                </a:rPr>
                <a:t>Hành vi đóng góp</a:t>
              </a:r>
            </a:p>
          </p:txBody>
        </p:sp>
      </p:grpSp>
      <p:grpSp>
        <p:nvGrpSpPr>
          <p:cNvPr name="Group 8" id="8"/>
          <p:cNvGrpSpPr/>
          <p:nvPr/>
        </p:nvGrpSpPr>
        <p:grpSpPr>
          <a:xfrm rot="0">
            <a:off x="12201525" y="6052820"/>
            <a:ext cx="5419725" cy="2917751"/>
            <a:chOff x="0" y="0"/>
            <a:chExt cx="7226300" cy="3890334"/>
          </a:xfrm>
        </p:grpSpPr>
        <p:sp>
          <p:nvSpPr>
            <p:cNvPr name="TextBox 9" id="9"/>
            <p:cNvSpPr txBox="true"/>
            <p:nvPr/>
          </p:nvSpPr>
          <p:spPr>
            <a:xfrm rot="0">
              <a:off x="0" y="958751"/>
              <a:ext cx="7226300" cy="2931583"/>
            </a:xfrm>
            <a:prstGeom prst="rect">
              <a:avLst/>
            </a:prstGeom>
          </p:spPr>
          <p:txBody>
            <a:bodyPr anchor="t" rtlCol="false" tIns="0" lIns="0" bIns="0" rIns="0">
              <a:spAutoFit/>
            </a:bodyPr>
            <a:lstStyle/>
            <a:p>
              <a:pPr algn="l" marL="0" indent="0" lvl="0">
                <a:lnSpc>
                  <a:spcPts val="3499"/>
                </a:lnSpc>
                <a:spcBef>
                  <a:spcPct val="0"/>
                </a:spcBef>
              </a:pPr>
              <a:r>
                <a:rPr lang="en-US" sz="2499" strike="noStrike" u="none">
                  <a:solidFill>
                    <a:srgbClr val="FFFFFF"/>
                  </a:solidFill>
                  <a:latin typeface="Nyutro Sans"/>
                  <a:ea typeface="Nyutro Sans"/>
                  <a:cs typeface="Nyutro Sans"/>
                  <a:sym typeface="Nyutro Sans"/>
                </a:rPr>
                <a:t>Việc ứng dụng phân tích dữ liệu trong các nghiên cứu không chỉ giúp hiểu biết sâu sắc hơn mà còn nâng cao nhận thức về sự quan trọng của dữ liệu trong xã hội hiện đại.</a:t>
              </a:r>
            </a:p>
          </p:txBody>
        </p:sp>
        <p:sp>
          <p:nvSpPr>
            <p:cNvPr name="TextBox 10" id="10"/>
            <p:cNvSpPr txBox="true"/>
            <p:nvPr/>
          </p:nvSpPr>
          <p:spPr>
            <a:xfrm rot="0">
              <a:off x="0" y="-57150"/>
              <a:ext cx="7226300" cy="654050"/>
            </a:xfrm>
            <a:prstGeom prst="rect">
              <a:avLst/>
            </a:prstGeom>
          </p:spPr>
          <p:txBody>
            <a:bodyPr anchor="t" rtlCol="false" tIns="0" lIns="0" bIns="0" rIns="0">
              <a:spAutoFit/>
            </a:bodyPr>
            <a:lstStyle/>
            <a:p>
              <a:pPr algn="l" marL="0" indent="0" lvl="0">
                <a:lnSpc>
                  <a:spcPts val="3599"/>
                </a:lnSpc>
                <a:spcBef>
                  <a:spcPct val="0"/>
                </a:spcBef>
              </a:pPr>
              <a:r>
                <a:rPr lang="en-US" b="true" sz="2999" strike="noStrike" u="none">
                  <a:solidFill>
                    <a:srgbClr val="FFFFFF"/>
                  </a:solidFill>
                  <a:latin typeface="Nyutro Sans Bold"/>
                  <a:ea typeface="Nyutro Sans Bold"/>
                  <a:cs typeface="Nyutro Sans Bold"/>
                  <a:sym typeface="Nyutro Sans Bold"/>
                </a:rPr>
                <a:t>Ứng dụng thực tiễn</a:t>
              </a:r>
            </a:p>
          </p:txBody>
        </p:sp>
      </p:grpSp>
      <p:grpSp>
        <p:nvGrpSpPr>
          <p:cNvPr name="Group 11" id="11"/>
          <p:cNvGrpSpPr/>
          <p:nvPr/>
        </p:nvGrpSpPr>
        <p:grpSpPr>
          <a:xfrm rot="0">
            <a:off x="666750" y="666750"/>
            <a:ext cx="9763125" cy="1990725"/>
            <a:chOff x="0" y="0"/>
            <a:chExt cx="13017500" cy="2654300"/>
          </a:xfrm>
        </p:grpSpPr>
        <p:sp>
          <p:nvSpPr>
            <p:cNvPr name="TextBox 12" id="12"/>
            <p:cNvSpPr txBox="true"/>
            <p:nvPr/>
          </p:nvSpPr>
          <p:spPr>
            <a:xfrm rot="0">
              <a:off x="0" y="76200"/>
              <a:ext cx="13017500" cy="1752600"/>
            </a:xfrm>
            <a:prstGeom prst="rect">
              <a:avLst/>
            </a:prstGeom>
          </p:spPr>
          <p:txBody>
            <a:bodyPr anchor="t" rtlCol="false" tIns="0" lIns="0" bIns="0" rIns="0">
              <a:spAutoFit/>
            </a:bodyPr>
            <a:lstStyle/>
            <a:p>
              <a:pPr algn="l" marL="0" indent="0" lvl="0">
                <a:lnSpc>
                  <a:spcPts val="8100"/>
                </a:lnSpc>
                <a:spcBef>
                  <a:spcPct val="0"/>
                </a:spcBef>
              </a:pPr>
              <a:r>
                <a:rPr lang="en-US" b="true" sz="9000" spc="-89" strike="noStrike" u="none">
                  <a:solidFill>
                    <a:srgbClr val="FFFFFF"/>
                  </a:solidFill>
                  <a:latin typeface="Nyutro Sans Heavy"/>
                  <a:ea typeface="Nyutro Sans Heavy"/>
                  <a:cs typeface="Nyutro Sans Heavy"/>
                  <a:sym typeface="Nyutro Sans Heavy"/>
                </a:rPr>
                <a:t>Kết luận và Ý nghĩa</a:t>
              </a:r>
            </a:p>
          </p:txBody>
        </p:sp>
        <p:sp>
          <p:nvSpPr>
            <p:cNvPr name="TextBox 13" id="13"/>
            <p:cNvSpPr txBox="true"/>
            <p:nvPr/>
          </p:nvSpPr>
          <p:spPr>
            <a:xfrm rot="0">
              <a:off x="38100" y="2000250"/>
              <a:ext cx="12979400" cy="654050"/>
            </a:xfrm>
            <a:prstGeom prst="rect">
              <a:avLst/>
            </a:prstGeom>
          </p:spPr>
          <p:txBody>
            <a:bodyPr anchor="t" rtlCol="false" tIns="0" lIns="0" bIns="0" rIns="0">
              <a:spAutoFit/>
            </a:bodyPr>
            <a:lstStyle/>
            <a:p>
              <a:pPr algn="l" marL="0" indent="0" lvl="0">
                <a:lnSpc>
                  <a:spcPts val="3599"/>
                </a:lnSpc>
                <a:spcBef>
                  <a:spcPct val="0"/>
                </a:spcBef>
              </a:pPr>
              <a:r>
                <a:rPr lang="en-US" b="true" sz="2999" strike="noStrike" u="none">
                  <a:solidFill>
                    <a:srgbClr val="FFFFFF"/>
                  </a:solidFill>
                  <a:latin typeface="Nyutro Sans Bold"/>
                  <a:ea typeface="Nyutro Sans Bold"/>
                  <a:cs typeface="Nyutro Sans Bold"/>
                  <a:sym typeface="Nyutro Sans Bold"/>
                </a:rPr>
                <a:t>Tầm quan trọng của phân tích dữ liệu</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495A34"/>
        </a:solidFill>
      </p:bgPr>
    </p:bg>
    <p:spTree>
      <p:nvGrpSpPr>
        <p:cNvPr id="1" name=""/>
        <p:cNvGrpSpPr/>
        <p:nvPr/>
      </p:nvGrpSpPr>
      <p:grpSpPr>
        <a:xfrm>
          <a:off x="0" y="0"/>
          <a:ext cx="0" cy="0"/>
          <a:chOff x="0" y="0"/>
          <a:chExt cx="0" cy="0"/>
        </a:xfrm>
      </p:grpSpPr>
      <p:sp>
        <p:nvSpPr>
          <p:cNvPr name="Freeform 2" id="2"/>
          <p:cNvSpPr/>
          <p:nvPr/>
        </p:nvSpPr>
        <p:spPr>
          <a:xfrm flipH="false" flipV="false" rot="0">
            <a:off x="9535765" y="1418232"/>
            <a:ext cx="8209406" cy="5462987"/>
          </a:xfrm>
          <a:custGeom>
            <a:avLst/>
            <a:gdLst/>
            <a:ahLst/>
            <a:cxnLst/>
            <a:rect r="r" b="b" t="t" l="l"/>
            <a:pathLst>
              <a:path h="5462987" w="8209406">
                <a:moveTo>
                  <a:pt x="0" y="0"/>
                </a:moveTo>
                <a:lnTo>
                  <a:pt x="8209406" y="0"/>
                </a:lnTo>
                <a:lnTo>
                  <a:pt x="8209406" y="5462986"/>
                </a:lnTo>
                <a:lnTo>
                  <a:pt x="0" y="5462986"/>
                </a:lnTo>
                <a:lnTo>
                  <a:pt x="0" y="0"/>
                </a:lnTo>
                <a:close/>
              </a:path>
            </a:pathLst>
          </a:custGeom>
          <a:blipFill>
            <a:blip r:embed="rId2"/>
            <a:stretch>
              <a:fillRect l="0" t="0" r="0" b="0"/>
            </a:stretch>
          </a:blipFill>
        </p:spPr>
      </p:sp>
      <p:grpSp>
        <p:nvGrpSpPr>
          <p:cNvPr name="Group 3" id="3"/>
          <p:cNvGrpSpPr/>
          <p:nvPr/>
        </p:nvGrpSpPr>
        <p:grpSpPr>
          <a:xfrm rot="0">
            <a:off x="666750" y="666750"/>
            <a:ext cx="8324850" cy="6965950"/>
            <a:chOff x="0" y="0"/>
            <a:chExt cx="11099800" cy="9287933"/>
          </a:xfrm>
        </p:grpSpPr>
        <p:sp>
          <p:nvSpPr>
            <p:cNvPr name="TextBox 4" id="4"/>
            <p:cNvSpPr txBox="true"/>
            <p:nvPr/>
          </p:nvSpPr>
          <p:spPr>
            <a:xfrm rot="0">
              <a:off x="0" y="1098550"/>
              <a:ext cx="11099800" cy="8189383"/>
            </a:xfrm>
            <a:prstGeom prst="rect">
              <a:avLst/>
            </a:prstGeom>
          </p:spPr>
          <p:txBody>
            <a:bodyPr anchor="t" rtlCol="false" tIns="0" lIns="0" bIns="0" rIns="0">
              <a:spAutoFit/>
            </a:bodyPr>
            <a:lstStyle/>
            <a:p>
              <a:pPr algn="l" marL="0" indent="0" lvl="0">
                <a:lnSpc>
                  <a:spcPts val="3499"/>
                </a:lnSpc>
              </a:pPr>
              <a:r>
                <a:rPr lang="en-US" sz="2499">
                  <a:solidFill>
                    <a:srgbClr val="FFFFFF"/>
                  </a:solidFill>
                  <a:latin typeface="Nyutro Sans"/>
                  <a:ea typeface="Nyutro Sans"/>
                  <a:cs typeface="Nyutro Sans"/>
                  <a:sym typeface="Nyutro Sans"/>
                </a:rPr>
                <a:t>Phân tích dữ liệu có </a:t>
              </a:r>
              <a:r>
                <a:rPr lang="en-US" b="true" sz="2499">
                  <a:solidFill>
                    <a:srgbClr val="FFFFFF"/>
                  </a:solidFill>
                  <a:latin typeface="Nyutro Sans Bold"/>
                  <a:ea typeface="Nyutro Sans Bold"/>
                  <a:cs typeface="Nyutro Sans Bold"/>
                  <a:sym typeface="Nyutro Sans Bold"/>
                </a:rPr>
                <a:t>vai trò quan trọng</a:t>
              </a:r>
              <a:r>
                <a:rPr lang="en-US" sz="2499">
                  <a:solidFill>
                    <a:srgbClr val="FFFFFF"/>
                  </a:solidFill>
                  <a:latin typeface="Nyutro Sans"/>
                  <a:ea typeface="Nyutro Sans"/>
                  <a:cs typeface="Nyutro Sans"/>
                  <a:sym typeface="Nyutro Sans"/>
                </a:rPr>
                <a:t> trong việc hiểu biết sâu sắc hơn về các lĩnh vực khác nhau.</a:t>
              </a:r>
            </a:p>
            <a:p>
              <a:pPr algn="l" marL="539749" indent="-269875" lvl="1">
                <a:lnSpc>
                  <a:spcPts val="3499"/>
                </a:lnSpc>
                <a:buFont typeface="Arial"/>
                <a:buChar char="•"/>
              </a:pPr>
              <a:r>
                <a:rPr lang="en-US" sz="2499">
                  <a:solidFill>
                    <a:srgbClr val="FFFFFF"/>
                  </a:solidFill>
                  <a:latin typeface="Nyutro Sans"/>
                  <a:ea typeface="Nyutro Sans"/>
                  <a:cs typeface="Nyutro Sans"/>
                  <a:sym typeface="Nyutro Sans"/>
                </a:rPr>
                <a:t>Hỗ trợ các nhà nghiên cứu trong việc đưa ra </a:t>
              </a:r>
              <a:r>
                <a:rPr lang="en-US" b="true" sz="2499">
                  <a:solidFill>
                    <a:srgbClr val="FFFFFF"/>
                  </a:solidFill>
                  <a:latin typeface="Nyutro Sans Bold"/>
                  <a:ea typeface="Nyutro Sans Bold"/>
                  <a:cs typeface="Nyutro Sans Bold"/>
                  <a:sym typeface="Nyutro Sans Bold"/>
                </a:rPr>
                <a:t>quyết định dựa trên số liệu</a:t>
              </a:r>
              <a:r>
                <a:rPr lang="en-US" sz="2499">
                  <a:solidFill>
                    <a:srgbClr val="FFFFFF"/>
                  </a:solidFill>
                  <a:latin typeface="Nyutro Sans"/>
                  <a:ea typeface="Nyutro Sans"/>
                  <a:cs typeface="Nyutro Sans"/>
                  <a:sym typeface="Nyutro Sans"/>
                </a:rPr>
                <a:t> chính xác.</a:t>
              </a:r>
            </a:p>
            <a:p>
              <a:pPr algn="l" marL="539749" indent="-269875" lvl="1">
                <a:lnSpc>
                  <a:spcPts val="3499"/>
                </a:lnSpc>
                <a:buFont typeface="Arial"/>
                <a:buChar char="•"/>
              </a:pPr>
              <a:r>
                <a:rPr lang="en-US" sz="2499">
                  <a:solidFill>
                    <a:srgbClr val="FFFFFF"/>
                  </a:solidFill>
                  <a:latin typeface="Nyutro Sans"/>
                  <a:ea typeface="Nyutro Sans"/>
                  <a:cs typeface="Nyutro Sans"/>
                  <a:sym typeface="Nyutro Sans"/>
                </a:rPr>
                <a:t>Giúp học sinh sinh viên nắm bắt kiến thức và kỹ năng phân tích, từ đó </a:t>
              </a:r>
              <a:r>
                <a:rPr lang="en-US" b="true" sz="2499">
                  <a:solidFill>
                    <a:srgbClr val="FFFFFF"/>
                  </a:solidFill>
                  <a:latin typeface="Nyutro Sans Bold"/>
                  <a:ea typeface="Nyutro Sans Bold"/>
                  <a:cs typeface="Nyutro Sans Bold"/>
                  <a:sym typeface="Nyutro Sans Bold"/>
                </a:rPr>
                <a:t>ứng dụng trong thực tiễn</a:t>
              </a:r>
              <a:r>
                <a:rPr lang="en-US" sz="2499">
                  <a:solidFill>
                    <a:srgbClr val="FFFFFF"/>
                  </a:solidFill>
                  <a:latin typeface="Nyutro Sans"/>
                  <a:ea typeface="Nyutro Sans"/>
                  <a:cs typeface="Nyutro Sans"/>
                  <a:sym typeface="Nyutro Sans"/>
                </a:rPr>
                <a:t>.</a:t>
              </a:r>
            </a:p>
            <a:p>
              <a:pPr algn="l" marL="539749" indent="-269875" lvl="1">
                <a:lnSpc>
                  <a:spcPts val="3499"/>
                </a:lnSpc>
                <a:buFont typeface="Arial"/>
                <a:buChar char="•"/>
              </a:pPr>
              <a:r>
                <a:rPr lang="en-US" sz="2499">
                  <a:solidFill>
                    <a:srgbClr val="FFFFFF"/>
                  </a:solidFill>
                  <a:latin typeface="Nyutro Sans"/>
                  <a:ea typeface="Nyutro Sans"/>
                  <a:cs typeface="Nyutro Sans"/>
                  <a:sym typeface="Nyutro Sans"/>
                </a:rPr>
                <a:t>Tăng cường nhận thức về tầm quan trọng của dữ liệu trong xã hội hiện đại, nhất là trong các lĩnh vực như y tế, kinh tế và chính trị.</a:t>
              </a:r>
            </a:p>
            <a:p>
              <a:pPr algn="l" marL="539749" indent="-269875" lvl="1">
                <a:lnSpc>
                  <a:spcPts val="3499"/>
                </a:lnSpc>
                <a:buFont typeface="Arial"/>
                <a:buChar char="•"/>
              </a:pPr>
              <a:r>
                <a:rPr lang="en-US" sz="2499">
                  <a:solidFill>
                    <a:srgbClr val="FFFFFF"/>
                  </a:solidFill>
                  <a:latin typeface="Nyutro Sans"/>
                  <a:ea typeface="Nyutro Sans"/>
                  <a:cs typeface="Nyutro Sans"/>
                  <a:sym typeface="Nyutro Sans"/>
                </a:rPr>
                <a:t>Khuyến khích việc </a:t>
              </a:r>
              <a:r>
                <a:rPr lang="en-US" b="true" sz="2499">
                  <a:solidFill>
                    <a:srgbClr val="FFFFFF"/>
                  </a:solidFill>
                  <a:latin typeface="Nyutro Sans Bold"/>
                  <a:ea typeface="Nyutro Sans Bold"/>
                  <a:cs typeface="Nyutro Sans Bold"/>
                  <a:sym typeface="Nyutro Sans Bold"/>
                </a:rPr>
                <a:t>khám phá và sáng tạo</a:t>
              </a:r>
              <a:r>
                <a:rPr lang="en-US" sz="2499">
                  <a:solidFill>
                    <a:srgbClr val="FFFFFF"/>
                  </a:solidFill>
                  <a:latin typeface="Nyutro Sans"/>
                  <a:ea typeface="Nyutro Sans"/>
                  <a:cs typeface="Nyutro Sans"/>
                  <a:sym typeface="Nyutro Sans"/>
                </a:rPr>
                <a:t>, từ đó thúc đẩy phát triển các giải pháp mới cho các vấn đề xã hội.</a:t>
              </a:r>
            </a:p>
            <a:p>
              <a:pPr algn="l" marL="539749" indent="-269875" lvl="1">
                <a:lnSpc>
                  <a:spcPts val="3499"/>
                </a:lnSpc>
                <a:buFont typeface="Arial"/>
                <a:buChar char="•"/>
              </a:pPr>
              <a:r>
                <a:rPr lang="en-US" sz="2499">
                  <a:solidFill>
                    <a:srgbClr val="FFFFFF"/>
                  </a:solidFill>
                  <a:latin typeface="Nyutro Sans"/>
                  <a:ea typeface="Nyutro Sans"/>
                  <a:cs typeface="Nyutro Sans"/>
                  <a:sym typeface="Nyutro Sans"/>
                </a:rPr>
                <a:t>Việc hiểu và ứng dụng phân tích dữ liệu không chỉ là một kỹ năng cần thiết mà còn là </a:t>
              </a:r>
              <a:r>
                <a:rPr lang="en-US" b="true" sz="2499">
                  <a:solidFill>
                    <a:srgbClr val="FFFFFF"/>
                  </a:solidFill>
                  <a:latin typeface="Nyutro Sans Bold"/>
                  <a:ea typeface="Nyutro Sans Bold"/>
                  <a:cs typeface="Nyutro Sans Bold"/>
                  <a:sym typeface="Nyutro Sans Bold"/>
                </a:rPr>
                <a:t>một chìa khóa</a:t>
              </a:r>
              <a:r>
                <a:rPr lang="en-US" sz="2499">
                  <a:solidFill>
                    <a:srgbClr val="FFFFFF"/>
                  </a:solidFill>
                  <a:latin typeface="Nyutro Sans"/>
                  <a:ea typeface="Nyutro Sans"/>
                  <a:cs typeface="Nyutro Sans"/>
                  <a:sym typeface="Nyutro Sans"/>
                </a:rPr>
                <a:t> để mở ra cánh cửa thành công trong tương lai.</a:t>
              </a:r>
            </a:p>
          </p:txBody>
        </p:sp>
        <p:sp>
          <p:nvSpPr>
            <p:cNvPr name="TextBox 5" id="5"/>
            <p:cNvSpPr txBox="true"/>
            <p:nvPr/>
          </p:nvSpPr>
          <p:spPr>
            <a:xfrm rot="0">
              <a:off x="0" y="-123825"/>
              <a:ext cx="11099800" cy="733425"/>
            </a:xfrm>
            <a:prstGeom prst="rect">
              <a:avLst/>
            </a:prstGeom>
          </p:spPr>
          <p:txBody>
            <a:bodyPr anchor="t" rtlCol="false" tIns="0" lIns="0" bIns="0" rIns="0">
              <a:spAutoFit/>
            </a:bodyPr>
            <a:lstStyle/>
            <a:p>
              <a:pPr algn="l" marL="0" indent="0" lvl="0">
                <a:lnSpc>
                  <a:spcPts val="4200"/>
                </a:lnSpc>
              </a:pPr>
              <a:r>
                <a:rPr lang="en-US" b="true" sz="3000" strike="noStrike" u="none">
                  <a:solidFill>
                    <a:srgbClr val="FFFFFF"/>
                  </a:solidFill>
                  <a:latin typeface="Nyutro Sans Bold"/>
                  <a:ea typeface="Nyutro Sans Bold"/>
                  <a:cs typeface="Nyutro Sans Bold"/>
                  <a:sym typeface="Nyutro Sans Bold"/>
                </a:rPr>
                <a:t>Ý nghĩa thực tiễn trong nghiên cứu dữ liệu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Báo cáo phân tích dữ liệu</dc:description>
  <dc:identifier>DAG19uiKK6U</dc:identifier>
  <dcterms:modified xsi:type="dcterms:W3CDTF">2011-08-01T06:04:30Z</dcterms:modified>
  <cp:revision>1</cp:revision>
  <dc:title>Presentation - Báo cáo phân tích dữ liệu</dc:title>
</cp:coreProperties>
</file>