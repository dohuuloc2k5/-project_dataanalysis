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32322F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3232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32322F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32322F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9A898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028699" y="541825"/>
            <a:ext cx="974090" cy="974090"/>
          </a:xfrm>
          <a:custGeom>
            <a:avLst/>
            <a:gdLst/>
            <a:ahLst/>
            <a:cxnLst/>
            <a:rect l="l" t="t" r="r" b="b"/>
            <a:pathLst>
              <a:path w="974089" h="974090">
                <a:moveTo>
                  <a:pt x="486874" y="973749"/>
                </a:moveTo>
                <a:lnTo>
                  <a:pt x="439985" y="971520"/>
                </a:lnTo>
                <a:lnTo>
                  <a:pt x="394357" y="964970"/>
                </a:lnTo>
                <a:lnTo>
                  <a:pt x="350194" y="954302"/>
                </a:lnTo>
                <a:lnTo>
                  <a:pt x="307699" y="939721"/>
                </a:lnTo>
                <a:lnTo>
                  <a:pt x="267078" y="921430"/>
                </a:lnTo>
                <a:lnTo>
                  <a:pt x="228535" y="899634"/>
                </a:lnTo>
                <a:lnTo>
                  <a:pt x="192272" y="874537"/>
                </a:lnTo>
                <a:lnTo>
                  <a:pt x="158495" y="846342"/>
                </a:lnTo>
                <a:lnTo>
                  <a:pt x="127407" y="815254"/>
                </a:lnTo>
                <a:lnTo>
                  <a:pt x="99212" y="781476"/>
                </a:lnTo>
                <a:lnTo>
                  <a:pt x="74114" y="745214"/>
                </a:lnTo>
                <a:lnTo>
                  <a:pt x="52318" y="706670"/>
                </a:lnTo>
                <a:lnTo>
                  <a:pt x="34028" y="666049"/>
                </a:lnTo>
                <a:lnTo>
                  <a:pt x="19446" y="623555"/>
                </a:lnTo>
                <a:lnTo>
                  <a:pt x="8779" y="579392"/>
                </a:lnTo>
                <a:lnTo>
                  <a:pt x="2228" y="533764"/>
                </a:lnTo>
                <a:lnTo>
                  <a:pt x="0" y="486874"/>
                </a:lnTo>
                <a:lnTo>
                  <a:pt x="2228" y="439985"/>
                </a:lnTo>
                <a:lnTo>
                  <a:pt x="8779" y="394357"/>
                </a:lnTo>
                <a:lnTo>
                  <a:pt x="19446" y="350194"/>
                </a:lnTo>
                <a:lnTo>
                  <a:pt x="34028" y="307699"/>
                </a:lnTo>
                <a:lnTo>
                  <a:pt x="52318" y="267078"/>
                </a:lnTo>
                <a:lnTo>
                  <a:pt x="74114" y="228535"/>
                </a:lnTo>
                <a:lnTo>
                  <a:pt x="99212" y="192272"/>
                </a:lnTo>
                <a:lnTo>
                  <a:pt x="127407" y="158495"/>
                </a:lnTo>
                <a:lnTo>
                  <a:pt x="158495" y="127407"/>
                </a:lnTo>
                <a:lnTo>
                  <a:pt x="192272" y="99212"/>
                </a:lnTo>
                <a:lnTo>
                  <a:pt x="228535" y="74114"/>
                </a:lnTo>
                <a:lnTo>
                  <a:pt x="267078" y="52318"/>
                </a:lnTo>
                <a:lnTo>
                  <a:pt x="307699" y="34028"/>
                </a:lnTo>
                <a:lnTo>
                  <a:pt x="350194" y="19446"/>
                </a:lnTo>
                <a:lnTo>
                  <a:pt x="394357" y="8779"/>
                </a:lnTo>
                <a:lnTo>
                  <a:pt x="439985" y="2228"/>
                </a:lnTo>
                <a:lnTo>
                  <a:pt x="486874" y="0"/>
                </a:lnTo>
                <a:lnTo>
                  <a:pt x="533764" y="2228"/>
                </a:lnTo>
                <a:lnTo>
                  <a:pt x="579392" y="8779"/>
                </a:lnTo>
                <a:lnTo>
                  <a:pt x="623555" y="19446"/>
                </a:lnTo>
                <a:lnTo>
                  <a:pt x="666049" y="34028"/>
                </a:lnTo>
                <a:lnTo>
                  <a:pt x="706670" y="52318"/>
                </a:lnTo>
                <a:lnTo>
                  <a:pt x="745214" y="74114"/>
                </a:lnTo>
                <a:lnTo>
                  <a:pt x="781476" y="99212"/>
                </a:lnTo>
                <a:lnTo>
                  <a:pt x="815254" y="127407"/>
                </a:lnTo>
                <a:lnTo>
                  <a:pt x="846342" y="158495"/>
                </a:lnTo>
                <a:lnTo>
                  <a:pt x="874537" y="192272"/>
                </a:lnTo>
                <a:lnTo>
                  <a:pt x="899634" y="228535"/>
                </a:lnTo>
                <a:lnTo>
                  <a:pt x="921430" y="267078"/>
                </a:lnTo>
                <a:lnTo>
                  <a:pt x="939721" y="307699"/>
                </a:lnTo>
                <a:lnTo>
                  <a:pt x="954302" y="350194"/>
                </a:lnTo>
                <a:lnTo>
                  <a:pt x="964970" y="394357"/>
                </a:lnTo>
                <a:lnTo>
                  <a:pt x="971520" y="439985"/>
                </a:lnTo>
                <a:lnTo>
                  <a:pt x="973749" y="486874"/>
                </a:lnTo>
                <a:lnTo>
                  <a:pt x="971520" y="533764"/>
                </a:lnTo>
                <a:lnTo>
                  <a:pt x="964970" y="579392"/>
                </a:lnTo>
                <a:lnTo>
                  <a:pt x="954302" y="623555"/>
                </a:lnTo>
                <a:lnTo>
                  <a:pt x="939721" y="666049"/>
                </a:lnTo>
                <a:lnTo>
                  <a:pt x="921430" y="706670"/>
                </a:lnTo>
                <a:lnTo>
                  <a:pt x="899634" y="745214"/>
                </a:lnTo>
                <a:lnTo>
                  <a:pt x="874537" y="781476"/>
                </a:lnTo>
                <a:lnTo>
                  <a:pt x="846342" y="815254"/>
                </a:lnTo>
                <a:lnTo>
                  <a:pt x="815254" y="846342"/>
                </a:lnTo>
                <a:lnTo>
                  <a:pt x="781476" y="874537"/>
                </a:lnTo>
                <a:lnTo>
                  <a:pt x="745214" y="899634"/>
                </a:lnTo>
                <a:lnTo>
                  <a:pt x="706670" y="921430"/>
                </a:lnTo>
                <a:lnTo>
                  <a:pt x="666049" y="939721"/>
                </a:lnTo>
                <a:lnTo>
                  <a:pt x="623555" y="954302"/>
                </a:lnTo>
                <a:lnTo>
                  <a:pt x="579392" y="964970"/>
                </a:lnTo>
                <a:lnTo>
                  <a:pt x="533764" y="971520"/>
                </a:lnTo>
                <a:lnTo>
                  <a:pt x="486874" y="973749"/>
                </a:lnTo>
                <a:close/>
              </a:path>
            </a:pathLst>
          </a:custGeom>
          <a:solidFill>
            <a:srgbClr val="32322F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119558" y="632682"/>
            <a:ext cx="792480" cy="792480"/>
          </a:xfrm>
          <a:custGeom>
            <a:avLst/>
            <a:gdLst/>
            <a:ahLst/>
            <a:cxnLst/>
            <a:rect l="l" t="t" r="r" b="b"/>
            <a:pathLst>
              <a:path w="792480" h="792480">
                <a:moveTo>
                  <a:pt x="396016" y="792033"/>
                </a:moveTo>
                <a:lnTo>
                  <a:pt x="349832" y="789369"/>
                </a:lnTo>
                <a:lnTo>
                  <a:pt x="305213" y="781574"/>
                </a:lnTo>
                <a:lnTo>
                  <a:pt x="262456" y="768946"/>
                </a:lnTo>
                <a:lnTo>
                  <a:pt x="221858" y="751781"/>
                </a:lnTo>
                <a:lnTo>
                  <a:pt x="183716" y="730378"/>
                </a:lnTo>
                <a:lnTo>
                  <a:pt x="148328" y="705033"/>
                </a:lnTo>
                <a:lnTo>
                  <a:pt x="115990" y="676042"/>
                </a:lnTo>
                <a:lnTo>
                  <a:pt x="87000" y="643705"/>
                </a:lnTo>
                <a:lnTo>
                  <a:pt x="61655" y="608316"/>
                </a:lnTo>
                <a:lnTo>
                  <a:pt x="40251" y="570174"/>
                </a:lnTo>
                <a:lnTo>
                  <a:pt x="23087" y="529576"/>
                </a:lnTo>
                <a:lnTo>
                  <a:pt x="10459" y="486819"/>
                </a:lnTo>
                <a:lnTo>
                  <a:pt x="2664" y="442200"/>
                </a:lnTo>
                <a:lnTo>
                  <a:pt x="0" y="396016"/>
                </a:lnTo>
                <a:lnTo>
                  <a:pt x="2664" y="349832"/>
                </a:lnTo>
                <a:lnTo>
                  <a:pt x="10459" y="305213"/>
                </a:lnTo>
                <a:lnTo>
                  <a:pt x="23087" y="262456"/>
                </a:lnTo>
                <a:lnTo>
                  <a:pt x="40251" y="221858"/>
                </a:lnTo>
                <a:lnTo>
                  <a:pt x="61655" y="183716"/>
                </a:lnTo>
                <a:lnTo>
                  <a:pt x="87000" y="148328"/>
                </a:lnTo>
                <a:lnTo>
                  <a:pt x="115990" y="115990"/>
                </a:lnTo>
                <a:lnTo>
                  <a:pt x="148328" y="87000"/>
                </a:lnTo>
                <a:lnTo>
                  <a:pt x="183716" y="61655"/>
                </a:lnTo>
                <a:lnTo>
                  <a:pt x="221858" y="40251"/>
                </a:lnTo>
                <a:lnTo>
                  <a:pt x="262456" y="23087"/>
                </a:lnTo>
                <a:lnTo>
                  <a:pt x="305213" y="10459"/>
                </a:lnTo>
                <a:lnTo>
                  <a:pt x="349832" y="2664"/>
                </a:lnTo>
                <a:lnTo>
                  <a:pt x="396016" y="0"/>
                </a:lnTo>
                <a:lnTo>
                  <a:pt x="442200" y="2664"/>
                </a:lnTo>
                <a:lnTo>
                  <a:pt x="486819" y="10459"/>
                </a:lnTo>
                <a:lnTo>
                  <a:pt x="529577" y="23087"/>
                </a:lnTo>
                <a:lnTo>
                  <a:pt x="570175" y="40251"/>
                </a:lnTo>
                <a:lnTo>
                  <a:pt x="608316" y="61655"/>
                </a:lnTo>
                <a:lnTo>
                  <a:pt x="643705" y="87000"/>
                </a:lnTo>
                <a:lnTo>
                  <a:pt x="676043" y="115990"/>
                </a:lnTo>
                <a:lnTo>
                  <a:pt x="705033" y="148328"/>
                </a:lnTo>
                <a:lnTo>
                  <a:pt x="730378" y="183716"/>
                </a:lnTo>
                <a:lnTo>
                  <a:pt x="751782" y="221858"/>
                </a:lnTo>
                <a:lnTo>
                  <a:pt x="768946" y="262456"/>
                </a:lnTo>
                <a:lnTo>
                  <a:pt x="781574" y="305213"/>
                </a:lnTo>
                <a:lnTo>
                  <a:pt x="789369" y="349832"/>
                </a:lnTo>
                <a:lnTo>
                  <a:pt x="792033" y="396016"/>
                </a:lnTo>
                <a:lnTo>
                  <a:pt x="789369" y="442200"/>
                </a:lnTo>
                <a:lnTo>
                  <a:pt x="781574" y="486819"/>
                </a:lnTo>
                <a:lnTo>
                  <a:pt x="768946" y="529576"/>
                </a:lnTo>
                <a:lnTo>
                  <a:pt x="751782" y="570174"/>
                </a:lnTo>
                <a:lnTo>
                  <a:pt x="730378" y="608316"/>
                </a:lnTo>
                <a:lnTo>
                  <a:pt x="705033" y="643705"/>
                </a:lnTo>
                <a:lnTo>
                  <a:pt x="676043" y="676042"/>
                </a:lnTo>
                <a:lnTo>
                  <a:pt x="643705" y="705033"/>
                </a:lnTo>
                <a:lnTo>
                  <a:pt x="608316" y="730378"/>
                </a:lnTo>
                <a:lnTo>
                  <a:pt x="570175" y="751781"/>
                </a:lnTo>
                <a:lnTo>
                  <a:pt x="529577" y="768946"/>
                </a:lnTo>
                <a:lnTo>
                  <a:pt x="486819" y="781574"/>
                </a:lnTo>
                <a:lnTo>
                  <a:pt x="442200" y="789369"/>
                </a:lnTo>
                <a:lnTo>
                  <a:pt x="396016" y="792033"/>
                </a:lnTo>
                <a:close/>
              </a:path>
            </a:pathLst>
          </a:custGeom>
          <a:solidFill>
            <a:srgbClr val="3232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32322F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9A898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97987" y="692889"/>
            <a:ext cx="13782040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32322F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21320" y="2909156"/>
            <a:ext cx="13524865" cy="6026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ocs.google.com/document/d/1egWmztPlWPiyykFX4Quhvc4zDK6lb4UUJHPw4J99l6g/edit?tab=t.0&amp;heading=h.v1ue877nncjl" TargetMode="External"/><Relationship Id="rId3" Type="http://schemas.openxmlformats.org/officeDocument/2006/relationships/hyperlink" Target="https://docs.google.com/document/d/1egWmztPlWPiyykFX4Quhvc4zDK6lb4UUJHPw4J99l6g/edit?tab=t.0&amp;heading=h.wwxrnvdnp8y9" TargetMode="External"/><Relationship Id="rId4" Type="http://schemas.openxmlformats.org/officeDocument/2006/relationships/hyperlink" Target="https://docs.google.com/document/d/1egWmztPlWPiyykFX4Quhvc4zDK6lb4UUJHPw4J99l6g/edit?tab=t.0&amp;heading=h.sqly1jggs2" TargetMode="External"/><Relationship Id="rId5" Type="http://schemas.openxmlformats.org/officeDocument/2006/relationships/hyperlink" Target="https://docs.google.com/document/d/1egWmztPlWPiyykFX4Quhvc4zDK6lb4UUJHPw4J99l6g/edit?tab=t.0&amp;heading=h.m9us7mmon6wv" TargetMode="External"/><Relationship Id="rId6" Type="http://schemas.openxmlformats.org/officeDocument/2006/relationships/hyperlink" Target="https://docs.google.com/document/d/1egWmztPlWPiyykFX4Quhvc4zDK6lb4UUJHPw4J99l6g/edit?tab=t.0&amp;heading=h.p6ptvz3ogrkv" TargetMode="External"/><Relationship Id="rId7" Type="http://schemas.openxmlformats.org/officeDocument/2006/relationships/hyperlink" Target="https://docs.google.com/document/d/1egWmztPlWPiyykFX4Quhvc4zDK6lb4UUJHPw4J99l6g/edit?tab=t.0&amp;heading=h.gh5c23emwq2w" TargetMode="External"/><Relationship Id="rId8" Type="http://schemas.openxmlformats.org/officeDocument/2006/relationships/hyperlink" Target="https://docs.google.com/document/d/1egWmztPlWPiyykFX4Quhvc4zDK6lb4UUJHPw4J99l6g/edit?tab=t.0&amp;heading=h.6av9827hlblg" TargetMode="External"/><Relationship Id="rId9" Type="http://schemas.openxmlformats.org/officeDocument/2006/relationships/hyperlink" Target="https://docs.google.com/document/d/1egWmztPlWPiyykFX4Quhvc4zDK6lb4UUJHPw4J99l6g/edit?tab=t.0&amp;heading=h.5jb9am39hh6o" TargetMode="External"/><Relationship Id="rId10" Type="http://schemas.openxmlformats.org/officeDocument/2006/relationships/hyperlink" Target="https://docs.google.com/document/d/1egWmztPlWPiyykFX4Quhvc4zDK6lb4UUJHPw4J99l6g/edit?tab=t.0&amp;heading=h.h1anp7g6by" TargetMode="Externa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8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Relationship Id="rId3" Type="http://schemas.openxmlformats.org/officeDocument/2006/relationships/image" Target="../media/image9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10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2.jp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jpg"/><Relationship Id="rId3" Type="http://schemas.openxmlformats.org/officeDocument/2006/relationships/image" Target="../media/image24.jp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2.jp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2.jp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2.jp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2.jp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jpg"/><Relationship Id="rId3" Type="http://schemas.openxmlformats.org/officeDocument/2006/relationships/image" Target="../media/image21.pn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jpg"/><Relationship Id="rId3" Type="http://schemas.openxmlformats.org/officeDocument/2006/relationships/image" Target="../media/image21.pn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jpg"/><Relationship Id="rId3" Type="http://schemas.openxmlformats.org/officeDocument/2006/relationships/image" Target="../media/image32.pn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jpg"/><Relationship Id="rId3" Type="http://schemas.openxmlformats.org/officeDocument/2006/relationships/image" Target="../media/image32.pn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jpg"/><Relationship Id="rId3" Type="http://schemas.openxmlformats.org/officeDocument/2006/relationships/image" Target="../media/image32.pn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jpg"/><Relationship Id="rId3" Type="http://schemas.openxmlformats.org/officeDocument/2006/relationships/image" Target="../media/image32.pn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6.jp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32322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8421323" y="0"/>
            <a:ext cx="9867265" cy="10287000"/>
            <a:chOff x="8421323" y="0"/>
            <a:chExt cx="9867265" cy="1028700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02814" y="0"/>
              <a:ext cx="7885185" cy="10286999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21323" y="1038605"/>
              <a:ext cx="3962983" cy="56514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16000" y="3039616"/>
            <a:ext cx="7038975" cy="3591560"/>
          </a:xfrm>
          <a:prstGeom prst="rect"/>
        </p:spPr>
        <p:txBody>
          <a:bodyPr wrap="square" lIns="0" tIns="162560" rIns="0" bIns="0" rtlCol="0" vert="horz">
            <a:spAutoFit/>
          </a:bodyPr>
          <a:lstStyle/>
          <a:p>
            <a:pPr marL="12700" marR="5080" indent="284480">
              <a:lnSpc>
                <a:spcPts val="9000"/>
              </a:lnSpc>
              <a:spcBef>
                <a:spcPts val="1280"/>
              </a:spcBef>
            </a:pPr>
            <a:r>
              <a:rPr dirty="0" sz="8400" spc="285">
                <a:solidFill>
                  <a:srgbClr val="FFFFFF"/>
                </a:solidFill>
              </a:rPr>
              <a:t>Ph</a:t>
            </a:r>
            <a:r>
              <a:rPr dirty="0" sz="8400" spc="285">
                <a:solidFill>
                  <a:srgbClr val="FFFFFF"/>
                </a:solidFill>
                <a:latin typeface="Arial"/>
                <a:cs typeface="Arial"/>
              </a:rPr>
              <a:t>ụ</a:t>
            </a:r>
            <a:r>
              <a:rPr dirty="0" sz="8400" spc="-1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400" spc="305">
                <a:solidFill>
                  <a:srgbClr val="FFFFFF"/>
                </a:solidFill>
              </a:rPr>
              <a:t>l</a:t>
            </a:r>
            <a:r>
              <a:rPr dirty="0" sz="8400" spc="305">
                <a:solidFill>
                  <a:srgbClr val="FFFFFF"/>
                </a:solidFill>
                <a:latin typeface="Arial"/>
                <a:cs typeface="Arial"/>
              </a:rPr>
              <a:t>ụ</a:t>
            </a:r>
            <a:r>
              <a:rPr dirty="0" sz="8400" spc="305">
                <a:solidFill>
                  <a:srgbClr val="FFFFFF"/>
                </a:solidFill>
              </a:rPr>
              <a:t>c</a:t>
            </a:r>
            <a:r>
              <a:rPr dirty="0" sz="8400" spc="-470">
                <a:solidFill>
                  <a:srgbClr val="FFFFFF"/>
                </a:solidFill>
              </a:rPr>
              <a:t> </a:t>
            </a:r>
            <a:r>
              <a:rPr dirty="0" sz="8400">
                <a:solidFill>
                  <a:srgbClr val="FFFFFF"/>
                </a:solidFill>
              </a:rPr>
              <a:t>A</a:t>
            </a:r>
            <a:r>
              <a:rPr dirty="0" sz="8400" spc="-470">
                <a:solidFill>
                  <a:srgbClr val="FFFFFF"/>
                </a:solidFill>
              </a:rPr>
              <a:t> </a:t>
            </a:r>
            <a:r>
              <a:rPr dirty="0" sz="8400" spc="-930">
                <a:solidFill>
                  <a:srgbClr val="FFFFFF"/>
                </a:solidFill>
              </a:rPr>
              <a:t>: </a:t>
            </a:r>
            <a:r>
              <a:rPr dirty="0" sz="8400" spc="260">
                <a:solidFill>
                  <a:srgbClr val="FFFFFF"/>
                </a:solidFill>
              </a:rPr>
              <a:t>Numpy</a:t>
            </a:r>
            <a:r>
              <a:rPr dirty="0" sz="8400" spc="-409">
                <a:solidFill>
                  <a:srgbClr val="FFFFFF"/>
                </a:solidFill>
              </a:rPr>
              <a:t> </a:t>
            </a:r>
            <a:r>
              <a:rPr dirty="0" sz="8400" spc="300">
                <a:solidFill>
                  <a:srgbClr val="FFFFFF"/>
                </a:solidFill>
              </a:rPr>
              <a:t>Nâng </a:t>
            </a:r>
            <a:r>
              <a:rPr dirty="0" sz="8400" spc="640">
                <a:solidFill>
                  <a:srgbClr val="FFFFFF"/>
                </a:solidFill>
              </a:rPr>
              <a:t>cao</a:t>
            </a:r>
            <a:endParaRPr sz="8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77807" y="2991118"/>
            <a:ext cx="16800195" cy="4368800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dirty="0" sz="3100" spc="-434">
                <a:latin typeface="Lucida Sans Unicode"/>
                <a:cs typeface="Lucida Sans Unicode"/>
                <a:hlinkClick r:id="rId2"/>
              </a:rPr>
              <a:t>A.1.</a:t>
            </a:r>
            <a:r>
              <a:rPr dirty="0" sz="3100" spc="-130">
                <a:latin typeface="Lucida Sans Unicode"/>
                <a:cs typeface="Lucida Sans Unicode"/>
                <a:hlinkClick r:id="rId2"/>
              </a:rPr>
              <a:t> </a:t>
            </a:r>
            <a:r>
              <a:rPr dirty="0" sz="3100" spc="85">
                <a:latin typeface="Lucida Sans Unicode"/>
                <a:cs typeface="Lucida Sans Unicode"/>
                <a:hlinkClick r:id="rId2"/>
              </a:rPr>
              <a:t>C</a:t>
            </a:r>
            <a:r>
              <a:rPr dirty="0" sz="3100" spc="85">
                <a:latin typeface="Arial"/>
                <a:cs typeface="Arial"/>
                <a:hlinkClick r:id="rId2"/>
              </a:rPr>
              <a:t>ấ</a:t>
            </a:r>
            <a:r>
              <a:rPr dirty="0" sz="3100" spc="85">
                <a:latin typeface="Lucida Sans Unicode"/>
                <a:cs typeface="Lucida Sans Unicode"/>
                <a:hlinkClick r:id="rId2"/>
              </a:rPr>
              <a:t>u</a:t>
            </a:r>
            <a:r>
              <a:rPr dirty="0" sz="3100" spc="-130">
                <a:latin typeface="Lucida Sans Unicode"/>
                <a:cs typeface="Lucida Sans Unicode"/>
                <a:hlinkClick r:id="rId2"/>
              </a:rPr>
              <a:t> </a:t>
            </a:r>
            <a:r>
              <a:rPr dirty="0" sz="3100">
                <a:latin typeface="Lucida Sans Unicode"/>
                <a:cs typeface="Lucida Sans Unicode"/>
                <a:hlinkClick r:id="rId2"/>
              </a:rPr>
              <a:t>trúc</a:t>
            </a:r>
            <a:r>
              <a:rPr dirty="0" sz="3100" spc="-130">
                <a:latin typeface="Lucida Sans Unicode"/>
                <a:cs typeface="Lucida Sans Unicode"/>
                <a:hlinkClick r:id="rId2"/>
              </a:rPr>
              <a:t> </a:t>
            </a:r>
            <a:r>
              <a:rPr dirty="0" sz="3100">
                <a:latin typeface="Lucida Sans Unicode"/>
                <a:cs typeface="Lucida Sans Unicode"/>
                <a:hlinkClick r:id="rId2"/>
              </a:rPr>
              <a:t>n</a:t>
            </a:r>
            <a:r>
              <a:rPr dirty="0" sz="3100">
                <a:latin typeface="Arial"/>
                <a:cs typeface="Arial"/>
                <a:hlinkClick r:id="rId2"/>
              </a:rPr>
              <a:t>ộ</a:t>
            </a:r>
            <a:r>
              <a:rPr dirty="0" sz="3100">
                <a:latin typeface="Lucida Sans Unicode"/>
                <a:cs typeface="Lucida Sans Unicode"/>
                <a:hlinkClick r:id="rId2"/>
              </a:rPr>
              <a:t>i</a:t>
            </a:r>
            <a:r>
              <a:rPr dirty="0" sz="3100" spc="-125">
                <a:latin typeface="Lucida Sans Unicode"/>
                <a:cs typeface="Lucida Sans Unicode"/>
                <a:hlinkClick r:id="rId2"/>
              </a:rPr>
              <a:t> </a:t>
            </a:r>
            <a:r>
              <a:rPr dirty="0" sz="3100" spc="-65">
                <a:latin typeface="Lucida Sans Unicode"/>
                <a:cs typeface="Lucida Sans Unicode"/>
                <a:hlinkClick r:id="rId2"/>
              </a:rPr>
              <a:t>t</a:t>
            </a:r>
            <a:r>
              <a:rPr dirty="0" sz="3100" spc="-65">
                <a:latin typeface="Arial"/>
                <a:cs typeface="Arial"/>
                <a:hlinkClick r:id="rId2"/>
              </a:rPr>
              <a:t>ạ</a:t>
            </a:r>
            <a:r>
              <a:rPr dirty="0" sz="3100" spc="-65">
                <a:latin typeface="Lucida Sans Unicode"/>
                <a:cs typeface="Lucida Sans Unicode"/>
                <a:hlinkClick r:id="rId2"/>
              </a:rPr>
              <a:t>i</a:t>
            </a:r>
            <a:r>
              <a:rPr dirty="0" sz="3100" spc="-125">
                <a:latin typeface="Lucida Sans Unicode"/>
                <a:cs typeface="Lucida Sans Unicode"/>
                <a:hlinkClick r:id="rId2"/>
              </a:rPr>
              <a:t> </a:t>
            </a:r>
            <a:r>
              <a:rPr dirty="0" sz="3100" spc="275">
                <a:latin typeface="Lucida Sans Unicode"/>
                <a:cs typeface="Lucida Sans Unicode"/>
                <a:hlinkClick r:id="rId2"/>
              </a:rPr>
              <a:t>c</a:t>
            </a:r>
            <a:r>
              <a:rPr dirty="0" sz="3100" spc="275">
                <a:latin typeface="Arial"/>
                <a:cs typeface="Arial"/>
                <a:hlinkClick r:id="rId2"/>
              </a:rPr>
              <a:t>ủ</a:t>
            </a:r>
            <a:r>
              <a:rPr dirty="0" sz="3100" spc="275">
                <a:latin typeface="Lucida Sans Unicode"/>
                <a:cs typeface="Lucida Sans Unicode"/>
                <a:hlinkClick r:id="rId2"/>
              </a:rPr>
              <a:t>a</a:t>
            </a:r>
            <a:r>
              <a:rPr dirty="0" sz="3100" spc="-135">
                <a:latin typeface="Lucida Sans Unicode"/>
                <a:cs typeface="Lucida Sans Unicode"/>
                <a:hlinkClick r:id="rId2"/>
              </a:rPr>
              <a:t> </a:t>
            </a:r>
            <a:r>
              <a:rPr dirty="0" sz="3100">
                <a:latin typeface="Lucida Sans Unicode"/>
                <a:cs typeface="Lucida Sans Unicode"/>
                <a:hlinkClick r:id="rId2"/>
              </a:rPr>
              <a:t>đ</a:t>
            </a:r>
            <a:r>
              <a:rPr dirty="0" sz="3100">
                <a:latin typeface="Arial"/>
                <a:cs typeface="Arial"/>
                <a:hlinkClick r:id="rId2"/>
              </a:rPr>
              <a:t>ố</a:t>
            </a:r>
            <a:r>
              <a:rPr dirty="0" sz="3100">
                <a:latin typeface="Lucida Sans Unicode"/>
                <a:cs typeface="Lucida Sans Unicode"/>
                <a:hlinkClick r:id="rId2"/>
              </a:rPr>
              <a:t>i</a:t>
            </a:r>
            <a:r>
              <a:rPr dirty="0" sz="3100" spc="-125">
                <a:latin typeface="Lucida Sans Unicode"/>
                <a:cs typeface="Lucida Sans Unicode"/>
                <a:hlinkClick r:id="rId2"/>
              </a:rPr>
              <a:t> </a:t>
            </a:r>
            <a:r>
              <a:rPr dirty="0" sz="3100">
                <a:latin typeface="Lucida Sans Unicode"/>
                <a:cs typeface="Lucida Sans Unicode"/>
                <a:hlinkClick r:id="rId2"/>
              </a:rPr>
              <a:t>t</a:t>
            </a:r>
            <a:r>
              <a:rPr dirty="0" sz="3100">
                <a:latin typeface="Arial"/>
                <a:cs typeface="Arial"/>
                <a:hlinkClick r:id="rId2"/>
              </a:rPr>
              <a:t>ượ</a:t>
            </a:r>
            <a:r>
              <a:rPr dirty="0" sz="3100">
                <a:latin typeface="Lucida Sans Unicode"/>
                <a:cs typeface="Lucida Sans Unicode"/>
                <a:hlinkClick r:id="rId2"/>
              </a:rPr>
              <a:t>ng</a:t>
            </a:r>
            <a:r>
              <a:rPr dirty="0" sz="3100" spc="-130">
                <a:latin typeface="Lucida Sans Unicode"/>
                <a:cs typeface="Lucida Sans Unicode"/>
                <a:hlinkClick r:id="rId2"/>
              </a:rPr>
              <a:t> </a:t>
            </a:r>
            <a:r>
              <a:rPr dirty="0" sz="3100" spc="110">
                <a:latin typeface="Lucida Sans Unicode"/>
                <a:cs typeface="Lucida Sans Unicode"/>
                <a:hlinkClick r:id="rId2"/>
              </a:rPr>
              <a:t>ndarray</a:t>
            </a:r>
            <a:r>
              <a:rPr dirty="0" sz="3100" spc="-130">
                <a:latin typeface="Lucida Sans Unicode"/>
                <a:cs typeface="Lucida Sans Unicode"/>
                <a:hlinkClick r:id="rId2"/>
              </a:rPr>
              <a:t> </a:t>
            </a:r>
            <a:r>
              <a:rPr dirty="0" sz="3100" spc="145">
                <a:latin typeface="Lucida Sans Unicode"/>
                <a:cs typeface="Lucida Sans Unicode"/>
                <a:hlinkClick r:id="rId2"/>
              </a:rPr>
              <a:t>(ndarray</a:t>
            </a:r>
            <a:r>
              <a:rPr dirty="0" sz="3100" spc="-130">
                <a:latin typeface="Lucida Sans Unicode"/>
                <a:cs typeface="Lucida Sans Unicode"/>
                <a:hlinkClick r:id="rId2"/>
              </a:rPr>
              <a:t> </a:t>
            </a:r>
            <a:r>
              <a:rPr dirty="0" sz="3100" spc="60">
                <a:latin typeface="Lucida Sans Unicode"/>
                <a:cs typeface="Lucida Sans Unicode"/>
                <a:hlinkClick r:id="rId2"/>
              </a:rPr>
              <a:t>Object</a:t>
            </a:r>
            <a:r>
              <a:rPr dirty="0" sz="3100" spc="-130">
                <a:latin typeface="Lucida Sans Unicode"/>
                <a:cs typeface="Lucida Sans Unicode"/>
                <a:hlinkClick r:id="rId2"/>
              </a:rPr>
              <a:t> </a:t>
            </a:r>
            <a:r>
              <a:rPr dirty="0" sz="3100" spc="-10">
                <a:latin typeface="Lucida Sans Unicode"/>
                <a:cs typeface="Lucida Sans Unicode"/>
                <a:hlinkClick r:id="rId2"/>
              </a:rPr>
              <a:t>Internals</a:t>
            </a:r>
            <a:endParaRPr sz="3100">
              <a:latin typeface="Lucida Sans Unicode"/>
              <a:cs typeface="Lucida Sans Unicode"/>
            </a:endParaRPr>
          </a:p>
          <a:p>
            <a:pPr lvl="1" marL="776605" indent="-768350">
              <a:lnSpc>
                <a:spcPct val="100000"/>
              </a:lnSpc>
              <a:spcBef>
                <a:spcPts val="555"/>
              </a:spcBef>
              <a:buSzPct val="96774"/>
              <a:buAutoNum type="arabicPeriod" startAt="3"/>
              <a:tabLst>
                <a:tab pos="776605" algn="l"/>
              </a:tabLst>
            </a:pPr>
            <a:r>
              <a:rPr dirty="0" sz="3100" spc="90">
                <a:latin typeface="Lucida Sans Unicode"/>
                <a:cs typeface="Lucida Sans Unicode"/>
                <a:hlinkClick r:id="rId3"/>
              </a:rPr>
              <a:t>Broadcasting</a:t>
            </a:r>
            <a:endParaRPr sz="3100">
              <a:latin typeface="Lucida Sans Unicode"/>
              <a:cs typeface="Lucida Sans Unicode"/>
            </a:endParaRPr>
          </a:p>
          <a:p>
            <a:pPr lvl="1" marL="791845" indent="-779145">
              <a:lnSpc>
                <a:spcPct val="100000"/>
              </a:lnSpc>
              <a:spcBef>
                <a:spcPts val="555"/>
              </a:spcBef>
              <a:buSzPct val="96774"/>
              <a:buAutoNum type="arabicPeriod" startAt="3"/>
              <a:tabLst>
                <a:tab pos="791845" algn="l"/>
              </a:tabLst>
            </a:pPr>
            <a:r>
              <a:rPr dirty="0" sz="3100" spc="60">
                <a:latin typeface="Lucida Sans Unicode"/>
                <a:cs typeface="Lucida Sans Unicode"/>
                <a:hlinkClick r:id="rId4"/>
              </a:rPr>
              <a:t>S</a:t>
            </a:r>
            <a:r>
              <a:rPr dirty="0" sz="3100" spc="60">
                <a:latin typeface="Arial"/>
                <a:cs typeface="Arial"/>
                <a:hlinkClick r:id="rId4"/>
              </a:rPr>
              <a:t>ử</a:t>
            </a:r>
            <a:r>
              <a:rPr dirty="0" sz="3100" spc="-30">
                <a:latin typeface="Arial"/>
                <a:cs typeface="Arial"/>
                <a:hlinkClick r:id="rId4"/>
              </a:rPr>
              <a:t> </a:t>
            </a:r>
            <a:r>
              <a:rPr dirty="0" sz="3100" spc="120">
                <a:latin typeface="Lucida Sans Unicode"/>
                <a:cs typeface="Lucida Sans Unicode"/>
                <a:hlinkClick r:id="rId4"/>
              </a:rPr>
              <a:t>d</a:t>
            </a:r>
            <a:r>
              <a:rPr dirty="0" sz="3100" spc="120">
                <a:latin typeface="Arial"/>
                <a:cs typeface="Arial"/>
                <a:hlinkClick r:id="rId4"/>
              </a:rPr>
              <a:t>ụ</a:t>
            </a:r>
            <a:r>
              <a:rPr dirty="0" sz="3100" spc="120">
                <a:latin typeface="Lucida Sans Unicode"/>
                <a:cs typeface="Lucida Sans Unicode"/>
                <a:hlinkClick r:id="rId4"/>
              </a:rPr>
              <a:t>ng</a:t>
            </a:r>
            <a:r>
              <a:rPr dirty="0" sz="3100" spc="-150">
                <a:latin typeface="Lucida Sans Unicode"/>
                <a:cs typeface="Lucida Sans Unicode"/>
                <a:hlinkClick r:id="rId4"/>
              </a:rPr>
              <a:t> </a:t>
            </a:r>
            <a:r>
              <a:rPr dirty="0" sz="3100" spc="50">
                <a:latin typeface="Lucida Sans Unicode"/>
                <a:cs typeface="Lucida Sans Unicode"/>
                <a:hlinkClick r:id="rId4"/>
              </a:rPr>
              <a:t>ufunc</a:t>
            </a:r>
            <a:r>
              <a:rPr dirty="0" sz="3100" spc="-150">
                <a:latin typeface="Lucida Sans Unicode"/>
                <a:cs typeface="Lucida Sans Unicode"/>
                <a:hlinkClick r:id="rId4"/>
              </a:rPr>
              <a:t> </a:t>
            </a:r>
            <a:r>
              <a:rPr dirty="0" sz="3100" spc="110">
                <a:latin typeface="Lucida Sans Unicode"/>
                <a:cs typeface="Lucida Sans Unicode"/>
                <a:hlinkClick r:id="rId4"/>
              </a:rPr>
              <a:t>Nâng</a:t>
            </a:r>
            <a:r>
              <a:rPr dirty="0" sz="3100" spc="-145">
                <a:latin typeface="Lucida Sans Unicode"/>
                <a:cs typeface="Lucida Sans Unicode"/>
                <a:hlinkClick r:id="rId4"/>
              </a:rPr>
              <a:t> </a:t>
            </a:r>
            <a:r>
              <a:rPr dirty="0" sz="3100" spc="240">
                <a:latin typeface="Lucida Sans Unicode"/>
                <a:cs typeface="Lucida Sans Unicode"/>
                <a:hlinkClick r:id="rId4"/>
              </a:rPr>
              <a:t>cao</a:t>
            </a:r>
            <a:r>
              <a:rPr dirty="0" sz="3100" spc="-150">
                <a:latin typeface="Lucida Sans Unicode"/>
                <a:cs typeface="Lucida Sans Unicode"/>
                <a:hlinkClick r:id="rId4"/>
              </a:rPr>
              <a:t> </a:t>
            </a:r>
            <a:r>
              <a:rPr dirty="0" sz="3100" spc="170">
                <a:latin typeface="Lucida Sans Unicode"/>
                <a:cs typeface="Lucida Sans Unicode"/>
                <a:hlinkClick r:id="rId4"/>
              </a:rPr>
              <a:t>(Advanced</a:t>
            </a:r>
            <a:r>
              <a:rPr dirty="0" sz="3100" spc="-150">
                <a:latin typeface="Lucida Sans Unicode"/>
                <a:cs typeface="Lucida Sans Unicode"/>
                <a:hlinkClick r:id="rId4"/>
              </a:rPr>
              <a:t> </a:t>
            </a:r>
            <a:r>
              <a:rPr dirty="0" sz="3100" spc="50">
                <a:latin typeface="Lucida Sans Unicode"/>
                <a:cs typeface="Lucida Sans Unicode"/>
                <a:hlinkClick r:id="rId4"/>
              </a:rPr>
              <a:t>ufunc</a:t>
            </a:r>
            <a:r>
              <a:rPr dirty="0" sz="3100" spc="-145">
                <a:latin typeface="Lucida Sans Unicode"/>
                <a:cs typeface="Lucida Sans Unicode"/>
                <a:hlinkClick r:id="rId4"/>
              </a:rPr>
              <a:t> </a:t>
            </a:r>
            <a:r>
              <a:rPr dirty="0" sz="3100" spc="160">
                <a:latin typeface="Lucida Sans Unicode"/>
                <a:cs typeface="Lucida Sans Unicode"/>
                <a:hlinkClick r:id="rId4"/>
              </a:rPr>
              <a:t>Usage)</a:t>
            </a:r>
            <a:endParaRPr sz="3100">
              <a:latin typeface="Lucida Sans Unicode"/>
              <a:cs typeface="Lucida Sans Unicode"/>
            </a:endParaRPr>
          </a:p>
          <a:p>
            <a:pPr lvl="1" marL="791845" indent="-779145">
              <a:lnSpc>
                <a:spcPct val="100000"/>
              </a:lnSpc>
              <a:spcBef>
                <a:spcPts val="555"/>
              </a:spcBef>
              <a:buSzPct val="96774"/>
              <a:buAutoNum type="arabicPeriod" startAt="3"/>
              <a:tabLst>
                <a:tab pos="791845" algn="l"/>
              </a:tabLst>
            </a:pPr>
            <a:r>
              <a:rPr dirty="0" sz="3100">
                <a:latin typeface="Lucida Sans Unicode"/>
                <a:cs typeface="Lucida Sans Unicode"/>
                <a:hlinkClick r:id="rId5"/>
              </a:rPr>
              <a:t>M</a:t>
            </a:r>
            <a:r>
              <a:rPr dirty="0" sz="3100">
                <a:latin typeface="Arial"/>
                <a:cs typeface="Arial"/>
                <a:hlinkClick r:id="rId5"/>
              </a:rPr>
              <a:t>ả</a:t>
            </a:r>
            <a:r>
              <a:rPr dirty="0" sz="3100">
                <a:latin typeface="Lucida Sans Unicode"/>
                <a:cs typeface="Lucida Sans Unicode"/>
                <a:hlinkClick r:id="rId5"/>
              </a:rPr>
              <a:t>ng</a:t>
            </a:r>
            <a:r>
              <a:rPr dirty="0" sz="3100" spc="-114">
                <a:latin typeface="Lucida Sans Unicode"/>
                <a:cs typeface="Lucida Sans Unicode"/>
                <a:hlinkClick r:id="rId5"/>
              </a:rPr>
              <a:t> </a:t>
            </a:r>
            <a:r>
              <a:rPr dirty="0" sz="3100" spc="175">
                <a:latin typeface="Lucida Sans Unicode"/>
                <a:cs typeface="Lucida Sans Unicode"/>
                <a:hlinkClick r:id="rId5"/>
              </a:rPr>
              <a:t>có</a:t>
            </a:r>
            <a:r>
              <a:rPr dirty="0" sz="3100" spc="-110">
                <a:latin typeface="Lucida Sans Unicode"/>
                <a:cs typeface="Lucida Sans Unicode"/>
                <a:hlinkClick r:id="rId5"/>
              </a:rPr>
              <a:t> </a:t>
            </a:r>
            <a:r>
              <a:rPr dirty="0" sz="3100" spc="100">
                <a:latin typeface="Lucida Sans Unicode"/>
                <a:cs typeface="Lucida Sans Unicode"/>
                <a:hlinkClick r:id="rId5"/>
              </a:rPr>
              <a:t>c</a:t>
            </a:r>
            <a:r>
              <a:rPr dirty="0" sz="3100" spc="100">
                <a:latin typeface="Arial"/>
                <a:cs typeface="Arial"/>
                <a:hlinkClick r:id="rId5"/>
              </a:rPr>
              <a:t>ấ</a:t>
            </a:r>
            <a:r>
              <a:rPr dirty="0" sz="3100" spc="100">
                <a:latin typeface="Lucida Sans Unicode"/>
                <a:cs typeface="Lucida Sans Unicode"/>
                <a:hlinkClick r:id="rId5"/>
              </a:rPr>
              <a:t>u</a:t>
            </a:r>
            <a:r>
              <a:rPr dirty="0" sz="3100" spc="-110">
                <a:latin typeface="Lucida Sans Unicode"/>
                <a:cs typeface="Lucida Sans Unicode"/>
                <a:hlinkClick r:id="rId5"/>
              </a:rPr>
              <a:t> </a:t>
            </a:r>
            <a:r>
              <a:rPr dirty="0" sz="3100">
                <a:latin typeface="Lucida Sans Unicode"/>
                <a:cs typeface="Lucida Sans Unicode"/>
                <a:hlinkClick r:id="rId5"/>
              </a:rPr>
              <a:t>trúc</a:t>
            </a:r>
            <a:r>
              <a:rPr dirty="0" sz="3100" spc="-110">
                <a:latin typeface="Lucida Sans Unicode"/>
                <a:cs typeface="Lucida Sans Unicode"/>
                <a:hlinkClick r:id="rId5"/>
              </a:rPr>
              <a:t> </a:t>
            </a:r>
            <a:r>
              <a:rPr dirty="0" sz="3100" spc="245">
                <a:latin typeface="Lucida Sans Unicode"/>
                <a:cs typeface="Lucida Sans Unicode"/>
                <a:hlinkClick r:id="rId5"/>
              </a:rPr>
              <a:t>và</a:t>
            </a:r>
            <a:r>
              <a:rPr dirty="0" sz="3100" spc="-114">
                <a:latin typeface="Lucida Sans Unicode"/>
                <a:cs typeface="Lucida Sans Unicode"/>
                <a:hlinkClick r:id="rId5"/>
              </a:rPr>
              <a:t> </a:t>
            </a:r>
            <a:r>
              <a:rPr dirty="0" sz="3100">
                <a:latin typeface="Lucida Sans Unicode"/>
                <a:cs typeface="Lucida Sans Unicode"/>
                <a:hlinkClick r:id="rId5"/>
              </a:rPr>
              <a:t>M</a:t>
            </a:r>
            <a:r>
              <a:rPr dirty="0" sz="3100">
                <a:latin typeface="Arial"/>
                <a:cs typeface="Arial"/>
                <a:hlinkClick r:id="rId5"/>
              </a:rPr>
              <a:t>ả</a:t>
            </a:r>
            <a:r>
              <a:rPr dirty="0" sz="3100">
                <a:latin typeface="Lucida Sans Unicode"/>
                <a:cs typeface="Lucida Sans Unicode"/>
                <a:hlinkClick r:id="rId5"/>
              </a:rPr>
              <a:t>ng</a:t>
            </a:r>
            <a:r>
              <a:rPr dirty="0" sz="3100" spc="-110">
                <a:latin typeface="Lucida Sans Unicode"/>
                <a:cs typeface="Lucida Sans Unicode"/>
                <a:hlinkClick r:id="rId5"/>
              </a:rPr>
              <a:t> </a:t>
            </a:r>
            <a:r>
              <a:rPr dirty="0" sz="3100" spc="55">
                <a:latin typeface="Lucida Sans Unicode"/>
                <a:cs typeface="Lucida Sans Unicode"/>
                <a:hlinkClick r:id="rId5"/>
              </a:rPr>
              <a:t>b</a:t>
            </a:r>
            <a:r>
              <a:rPr dirty="0" sz="3100" spc="55">
                <a:latin typeface="Arial"/>
                <a:cs typeface="Arial"/>
                <a:hlinkClick r:id="rId5"/>
              </a:rPr>
              <a:t>ả</a:t>
            </a:r>
            <a:r>
              <a:rPr dirty="0" sz="3100" spc="55">
                <a:latin typeface="Lucida Sans Unicode"/>
                <a:cs typeface="Lucida Sans Unicode"/>
                <a:hlinkClick r:id="rId5"/>
              </a:rPr>
              <a:t>n</a:t>
            </a:r>
            <a:r>
              <a:rPr dirty="0" sz="3100" spc="-110">
                <a:latin typeface="Lucida Sans Unicode"/>
                <a:cs typeface="Lucida Sans Unicode"/>
                <a:hlinkClick r:id="rId5"/>
              </a:rPr>
              <a:t> </a:t>
            </a:r>
            <a:r>
              <a:rPr dirty="0" sz="3100">
                <a:latin typeface="Lucida Sans Unicode"/>
                <a:cs typeface="Lucida Sans Unicode"/>
                <a:hlinkClick r:id="rId5"/>
              </a:rPr>
              <a:t>ghi</a:t>
            </a:r>
            <a:r>
              <a:rPr dirty="0" sz="3100" spc="-105">
                <a:latin typeface="Lucida Sans Unicode"/>
                <a:cs typeface="Lucida Sans Unicode"/>
                <a:hlinkClick r:id="rId5"/>
              </a:rPr>
              <a:t> </a:t>
            </a:r>
            <a:r>
              <a:rPr dirty="0" sz="3100" spc="75">
                <a:latin typeface="Lucida Sans Unicode"/>
                <a:cs typeface="Lucida Sans Unicode"/>
                <a:hlinkClick r:id="rId5"/>
              </a:rPr>
              <a:t>(Structured</a:t>
            </a:r>
            <a:r>
              <a:rPr dirty="0" sz="3100" spc="-110">
                <a:latin typeface="Lucida Sans Unicode"/>
                <a:cs typeface="Lucida Sans Unicode"/>
                <a:hlinkClick r:id="rId5"/>
              </a:rPr>
              <a:t> </a:t>
            </a:r>
            <a:r>
              <a:rPr dirty="0" sz="3100" spc="180">
                <a:latin typeface="Lucida Sans Unicode"/>
                <a:cs typeface="Lucida Sans Unicode"/>
                <a:hlinkClick r:id="rId5"/>
              </a:rPr>
              <a:t>and</a:t>
            </a:r>
            <a:r>
              <a:rPr dirty="0" sz="3100" spc="-114">
                <a:latin typeface="Lucida Sans Unicode"/>
                <a:cs typeface="Lucida Sans Unicode"/>
                <a:hlinkClick r:id="rId5"/>
              </a:rPr>
              <a:t> </a:t>
            </a:r>
            <a:r>
              <a:rPr dirty="0" sz="3100" spc="75">
                <a:latin typeface="Lucida Sans Unicode"/>
                <a:cs typeface="Lucida Sans Unicode"/>
                <a:hlinkClick r:id="rId5"/>
              </a:rPr>
              <a:t>Record</a:t>
            </a:r>
            <a:r>
              <a:rPr dirty="0" sz="3100" spc="-110">
                <a:latin typeface="Lucida Sans Unicode"/>
                <a:cs typeface="Lucida Sans Unicode"/>
                <a:hlinkClick r:id="rId5"/>
              </a:rPr>
              <a:t> </a:t>
            </a:r>
            <a:r>
              <a:rPr dirty="0" sz="3100" spc="-10">
                <a:latin typeface="Lucida Sans Unicode"/>
                <a:cs typeface="Lucida Sans Unicode"/>
                <a:hlinkClick r:id="rId5"/>
              </a:rPr>
              <a:t>Arrays</a:t>
            </a:r>
            <a:endParaRPr sz="3100">
              <a:latin typeface="Lucida Sans Unicode"/>
              <a:cs typeface="Lucida Sans Unicode"/>
            </a:endParaRPr>
          </a:p>
          <a:p>
            <a:pPr lvl="1" marL="794385" indent="-781685">
              <a:lnSpc>
                <a:spcPct val="100000"/>
              </a:lnSpc>
              <a:spcBef>
                <a:spcPts val="555"/>
              </a:spcBef>
              <a:buSzPct val="96774"/>
              <a:buAutoNum type="arabicPeriod" startAt="3"/>
              <a:tabLst>
                <a:tab pos="794385" algn="l"/>
              </a:tabLst>
            </a:pPr>
            <a:r>
              <a:rPr dirty="0" sz="3100" spc="85">
                <a:latin typeface="Lucida Sans Unicode"/>
                <a:cs typeface="Lucida Sans Unicode"/>
                <a:hlinkClick r:id="rId6"/>
              </a:rPr>
              <a:t>S</a:t>
            </a:r>
            <a:r>
              <a:rPr dirty="0" sz="3100" spc="85">
                <a:latin typeface="Arial"/>
                <a:cs typeface="Arial"/>
                <a:hlinkClick r:id="rId6"/>
              </a:rPr>
              <a:t>ắ</a:t>
            </a:r>
            <a:r>
              <a:rPr dirty="0" sz="3100" spc="85">
                <a:latin typeface="Lucida Sans Unicode"/>
                <a:cs typeface="Lucida Sans Unicode"/>
                <a:hlinkClick r:id="rId6"/>
              </a:rPr>
              <a:t>p</a:t>
            </a:r>
            <a:r>
              <a:rPr dirty="0" sz="3100" spc="-120">
                <a:latin typeface="Lucida Sans Unicode"/>
                <a:cs typeface="Lucida Sans Unicode"/>
                <a:hlinkClick r:id="rId6"/>
              </a:rPr>
              <a:t> </a:t>
            </a:r>
            <a:r>
              <a:rPr dirty="0" sz="3100" spc="-100">
                <a:latin typeface="Lucida Sans Unicode"/>
                <a:cs typeface="Lucida Sans Unicode"/>
                <a:hlinkClick r:id="rId6"/>
              </a:rPr>
              <a:t>x</a:t>
            </a:r>
            <a:r>
              <a:rPr dirty="0" sz="3100" spc="-100">
                <a:latin typeface="Arial"/>
                <a:cs typeface="Arial"/>
                <a:hlinkClick r:id="rId6"/>
              </a:rPr>
              <a:t>ế</a:t>
            </a:r>
            <a:r>
              <a:rPr dirty="0" sz="3100" spc="-100">
                <a:latin typeface="Lucida Sans Unicode"/>
                <a:cs typeface="Lucida Sans Unicode"/>
                <a:hlinkClick r:id="rId6"/>
              </a:rPr>
              <a:t>p</a:t>
            </a:r>
            <a:r>
              <a:rPr dirty="0" sz="3100" spc="-120">
                <a:latin typeface="Lucida Sans Unicode"/>
                <a:cs typeface="Lucida Sans Unicode"/>
                <a:hlinkClick r:id="rId6"/>
              </a:rPr>
              <a:t> </a:t>
            </a:r>
            <a:r>
              <a:rPr dirty="0" sz="3100" spc="95">
                <a:latin typeface="Lucida Sans Unicode"/>
                <a:cs typeface="Lucida Sans Unicode"/>
                <a:hlinkClick r:id="rId6"/>
              </a:rPr>
              <a:t>(More</a:t>
            </a:r>
            <a:r>
              <a:rPr dirty="0" sz="3100" spc="-120">
                <a:latin typeface="Lucida Sans Unicode"/>
                <a:cs typeface="Lucida Sans Unicode"/>
                <a:hlinkClick r:id="rId6"/>
              </a:rPr>
              <a:t> </a:t>
            </a:r>
            <a:r>
              <a:rPr dirty="0" sz="3100">
                <a:latin typeface="Lucida Sans Unicode"/>
                <a:cs typeface="Lucida Sans Unicode"/>
                <a:hlinkClick r:id="rId6"/>
              </a:rPr>
              <a:t>About</a:t>
            </a:r>
            <a:r>
              <a:rPr dirty="0" sz="3100" spc="-110">
                <a:latin typeface="Lucida Sans Unicode"/>
                <a:cs typeface="Lucida Sans Unicode"/>
                <a:hlinkClick r:id="rId6"/>
              </a:rPr>
              <a:t> </a:t>
            </a:r>
            <a:r>
              <a:rPr dirty="0" sz="3100" spc="-10">
                <a:latin typeface="Lucida Sans Unicode"/>
                <a:cs typeface="Lucida Sans Unicode"/>
                <a:hlinkClick r:id="rId6"/>
              </a:rPr>
              <a:t>Sorting</a:t>
            </a:r>
            <a:endParaRPr sz="3100">
              <a:latin typeface="Lucida Sans Unicode"/>
              <a:cs typeface="Lucida Sans Unicode"/>
            </a:endParaRPr>
          </a:p>
          <a:p>
            <a:pPr lvl="1" marL="759460" indent="-758825">
              <a:lnSpc>
                <a:spcPct val="100000"/>
              </a:lnSpc>
              <a:spcBef>
                <a:spcPts val="555"/>
              </a:spcBef>
              <a:buSzPct val="96774"/>
              <a:buAutoNum type="arabicPeriod" startAt="3"/>
              <a:tabLst>
                <a:tab pos="759460" algn="l"/>
              </a:tabLst>
            </a:pPr>
            <a:r>
              <a:rPr dirty="0" sz="3100" spc="-20">
                <a:latin typeface="Lucida Sans Unicode"/>
                <a:cs typeface="Lucida Sans Unicode"/>
                <a:hlinkClick r:id="rId7"/>
              </a:rPr>
              <a:t>Vi</a:t>
            </a:r>
            <a:r>
              <a:rPr dirty="0" sz="3100" spc="-20">
                <a:latin typeface="Arial"/>
                <a:cs typeface="Arial"/>
                <a:hlinkClick r:id="rId7"/>
              </a:rPr>
              <a:t>ế</a:t>
            </a:r>
            <a:r>
              <a:rPr dirty="0" sz="3100" spc="-20">
                <a:latin typeface="Lucida Sans Unicode"/>
                <a:cs typeface="Lucida Sans Unicode"/>
                <a:hlinkClick r:id="rId7"/>
              </a:rPr>
              <a:t>t</a:t>
            </a:r>
            <a:r>
              <a:rPr dirty="0" sz="3100" spc="-140">
                <a:latin typeface="Lucida Sans Unicode"/>
                <a:cs typeface="Lucida Sans Unicode"/>
                <a:hlinkClick r:id="rId7"/>
              </a:rPr>
              <a:t> </a:t>
            </a:r>
            <a:r>
              <a:rPr dirty="0" sz="3100" spc="220">
                <a:latin typeface="Lucida Sans Unicode"/>
                <a:cs typeface="Lucida Sans Unicode"/>
                <a:hlinkClick r:id="rId7"/>
              </a:rPr>
              <a:t>hàm</a:t>
            </a:r>
            <a:r>
              <a:rPr dirty="0" sz="3100" spc="-140">
                <a:latin typeface="Lucida Sans Unicode"/>
                <a:cs typeface="Lucida Sans Unicode"/>
                <a:hlinkClick r:id="rId7"/>
              </a:rPr>
              <a:t> </a:t>
            </a:r>
            <a:r>
              <a:rPr dirty="0" sz="3100" spc="65">
                <a:latin typeface="Lucida Sans Unicode"/>
                <a:cs typeface="Lucida Sans Unicode"/>
                <a:hlinkClick r:id="rId7"/>
              </a:rPr>
              <a:t>NumPy</a:t>
            </a:r>
            <a:r>
              <a:rPr dirty="0" sz="3100" spc="-140">
                <a:latin typeface="Lucida Sans Unicode"/>
                <a:cs typeface="Lucida Sans Unicode"/>
                <a:hlinkClick r:id="rId7"/>
              </a:rPr>
              <a:t> </a:t>
            </a:r>
            <a:r>
              <a:rPr dirty="0" sz="3100" spc="100">
                <a:latin typeface="Lucida Sans Unicode"/>
                <a:cs typeface="Lucida Sans Unicode"/>
                <a:hlinkClick r:id="rId7"/>
              </a:rPr>
              <a:t>nhanh</a:t>
            </a:r>
            <a:r>
              <a:rPr dirty="0" sz="3100" spc="-140">
                <a:latin typeface="Lucida Sans Unicode"/>
                <a:cs typeface="Lucida Sans Unicode"/>
                <a:hlinkClick r:id="rId7"/>
              </a:rPr>
              <a:t> </a:t>
            </a:r>
            <a:r>
              <a:rPr dirty="0" sz="3100" spc="75">
                <a:latin typeface="Lucida Sans Unicode"/>
                <a:cs typeface="Lucida Sans Unicode"/>
                <a:hlinkClick r:id="rId7"/>
              </a:rPr>
              <a:t>b</a:t>
            </a:r>
            <a:r>
              <a:rPr dirty="0" sz="3100" spc="75">
                <a:latin typeface="Arial"/>
                <a:cs typeface="Arial"/>
                <a:hlinkClick r:id="rId7"/>
              </a:rPr>
              <a:t>ằ</a:t>
            </a:r>
            <a:r>
              <a:rPr dirty="0" sz="3100" spc="75">
                <a:latin typeface="Lucida Sans Unicode"/>
                <a:cs typeface="Lucida Sans Unicode"/>
                <a:hlinkClick r:id="rId7"/>
              </a:rPr>
              <a:t>ng</a:t>
            </a:r>
            <a:r>
              <a:rPr dirty="0" sz="3100" spc="-145">
                <a:latin typeface="Lucida Sans Unicode"/>
                <a:cs typeface="Lucida Sans Unicode"/>
                <a:hlinkClick r:id="rId7"/>
              </a:rPr>
              <a:t> </a:t>
            </a:r>
            <a:r>
              <a:rPr dirty="0" sz="3100" spc="135">
                <a:latin typeface="Lucida Sans Unicode"/>
                <a:cs typeface="Lucida Sans Unicode"/>
                <a:hlinkClick r:id="rId7"/>
              </a:rPr>
              <a:t>Numba</a:t>
            </a:r>
            <a:r>
              <a:rPr dirty="0" sz="3100" spc="-140">
                <a:latin typeface="Lucida Sans Unicode"/>
                <a:cs typeface="Lucida Sans Unicode"/>
                <a:hlinkClick r:id="rId7"/>
              </a:rPr>
              <a:t> </a:t>
            </a:r>
            <a:r>
              <a:rPr dirty="0" sz="3100" spc="55">
                <a:latin typeface="Lucida Sans Unicode"/>
                <a:cs typeface="Lucida Sans Unicode"/>
                <a:hlinkClick r:id="rId7"/>
              </a:rPr>
              <a:t>(Writing</a:t>
            </a:r>
            <a:r>
              <a:rPr dirty="0" sz="3100" spc="-140">
                <a:latin typeface="Lucida Sans Unicode"/>
                <a:cs typeface="Lucida Sans Unicode"/>
                <a:hlinkClick r:id="rId7"/>
              </a:rPr>
              <a:t> </a:t>
            </a:r>
            <a:r>
              <a:rPr dirty="0" sz="3100" spc="55">
                <a:latin typeface="Lucida Sans Unicode"/>
                <a:cs typeface="Lucida Sans Unicode"/>
                <a:hlinkClick r:id="rId7"/>
              </a:rPr>
              <a:t>Fast</a:t>
            </a:r>
            <a:r>
              <a:rPr dirty="0" sz="3100" spc="-135">
                <a:latin typeface="Lucida Sans Unicode"/>
                <a:cs typeface="Lucida Sans Unicode"/>
                <a:hlinkClick r:id="rId7"/>
              </a:rPr>
              <a:t> </a:t>
            </a:r>
            <a:r>
              <a:rPr dirty="0" sz="3100" spc="65">
                <a:latin typeface="Lucida Sans Unicode"/>
                <a:cs typeface="Lucida Sans Unicode"/>
                <a:hlinkClick r:id="rId7"/>
              </a:rPr>
              <a:t>NumPy</a:t>
            </a:r>
            <a:r>
              <a:rPr dirty="0" sz="3100" spc="-145">
                <a:latin typeface="Lucida Sans Unicode"/>
                <a:cs typeface="Lucida Sans Unicode"/>
                <a:hlinkClick r:id="rId7"/>
              </a:rPr>
              <a:t> </a:t>
            </a:r>
            <a:r>
              <a:rPr dirty="0" sz="3100">
                <a:latin typeface="Lucida Sans Unicode"/>
                <a:cs typeface="Lucida Sans Unicode"/>
                <a:hlinkClick r:id="rId7"/>
              </a:rPr>
              <a:t>Functions</a:t>
            </a:r>
            <a:r>
              <a:rPr dirty="0" sz="3100" spc="-140">
                <a:latin typeface="Lucida Sans Unicode"/>
                <a:cs typeface="Lucida Sans Unicode"/>
                <a:hlinkClick r:id="rId7"/>
              </a:rPr>
              <a:t> </a:t>
            </a:r>
            <a:r>
              <a:rPr dirty="0" sz="3100">
                <a:latin typeface="Lucida Sans Unicode"/>
                <a:cs typeface="Lucida Sans Unicode"/>
                <a:hlinkClick r:id="rId7"/>
              </a:rPr>
              <a:t>with</a:t>
            </a:r>
            <a:r>
              <a:rPr dirty="0" sz="3100" spc="-140">
                <a:latin typeface="Lucida Sans Unicode"/>
                <a:cs typeface="Lucida Sans Unicode"/>
                <a:hlinkClick r:id="rId7"/>
              </a:rPr>
              <a:t> </a:t>
            </a:r>
            <a:r>
              <a:rPr dirty="0" sz="3100" spc="165">
                <a:latin typeface="Lucida Sans Unicode"/>
                <a:cs typeface="Lucida Sans Unicode"/>
                <a:hlinkClick r:id="rId7"/>
              </a:rPr>
              <a:t>Numba)</a:t>
            </a:r>
            <a:endParaRPr sz="3100">
              <a:latin typeface="Lucida Sans Unicode"/>
              <a:cs typeface="Lucida Sans Unicode"/>
            </a:endParaRPr>
          </a:p>
          <a:p>
            <a:pPr lvl="1" marL="793115" indent="-780415">
              <a:lnSpc>
                <a:spcPct val="100000"/>
              </a:lnSpc>
              <a:spcBef>
                <a:spcPts val="555"/>
              </a:spcBef>
              <a:buSzPct val="96774"/>
              <a:buAutoNum type="arabicPeriod" startAt="3"/>
              <a:tabLst>
                <a:tab pos="793115" algn="l"/>
              </a:tabLst>
            </a:pPr>
            <a:r>
              <a:rPr dirty="0" sz="3100">
                <a:latin typeface="Lucida Sans Unicode"/>
                <a:cs typeface="Lucida Sans Unicode"/>
                <a:hlinkClick r:id="rId8"/>
              </a:rPr>
              <a:t>Thao</a:t>
            </a:r>
            <a:r>
              <a:rPr dirty="0" sz="3100" spc="-105">
                <a:latin typeface="Lucida Sans Unicode"/>
                <a:cs typeface="Lucida Sans Unicode"/>
                <a:hlinkClick r:id="rId8"/>
              </a:rPr>
              <a:t> </a:t>
            </a:r>
            <a:r>
              <a:rPr dirty="0" sz="3100" spc="200">
                <a:latin typeface="Lucida Sans Unicode"/>
                <a:cs typeface="Lucida Sans Unicode"/>
                <a:hlinkClick r:id="rId8"/>
              </a:rPr>
              <a:t>tác</a:t>
            </a:r>
            <a:r>
              <a:rPr dirty="0" sz="3100" spc="-100">
                <a:latin typeface="Lucida Sans Unicode"/>
                <a:cs typeface="Lucida Sans Unicode"/>
                <a:hlinkClick r:id="rId8"/>
              </a:rPr>
              <a:t> </a:t>
            </a:r>
            <a:r>
              <a:rPr dirty="0" sz="3100" spc="-105">
                <a:latin typeface="Lucida Sans Unicode"/>
                <a:cs typeface="Lucida Sans Unicode"/>
                <a:hlinkClick r:id="rId8"/>
              </a:rPr>
              <a:t>I/O</a:t>
            </a:r>
            <a:r>
              <a:rPr dirty="0" sz="3100" spc="-100">
                <a:latin typeface="Lucida Sans Unicode"/>
                <a:cs typeface="Lucida Sans Unicode"/>
                <a:hlinkClick r:id="rId8"/>
              </a:rPr>
              <a:t> </a:t>
            </a:r>
            <a:r>
              <a:rPr dirty="0" sz="3100" spc="110">
                <a:latin typeface="Lucida Sans Unicode"/>
                <a:cs typeface="Lucida Sans Unicode"/>
                <a:hlinkClick r:id="rId8"/>
              </a:rPr>
              <a:t>Nâng</a:t>
            </a:r>
            <a:r>
              <a:rPr dirty="0" sz="3100" spc="-100">
                <a:latin typeface="Lucida Sans Unicode"/>
                <a:cs typeface="Lucida Sans Unicode"/>
                <a:hlinkClick r:id="rId8"/>
              </a:rPr>
              <a:t> </a:t>
            </a:r>
            <a:r>
              <a:rPr dirty="0" sz="3100" spc="240">
                <a:latin typeface="Lucida Sans Unicode"/>
                <a:cs typeface="Lucida Sans Unicode"/>
                <a:hlinkClick r:id="rId8"/>
              </a:rPr>
              <a:t>cao</a:t>
            </a:r>
            <a:r>
              <a:rPr dirty="0" sz="3100" spc="-105">
                <a:latin typeface="Lucida Sans Unicode"/>
                <a:cs typeface="Lucida Sans Unicode"/>
                <a:hlinkClick r:id="rId8"/>
              </a:rPr>
              <a:t> </a:t>
            </a:r>
            <a:r>
              <a:rPr dirty="0" sz="3100">
                <a:latin typeface="Lucida Sans Unicode"/>
                <a:cs typeface="Lucida Sans Unicode"/>
                <a:hlinkClick r:id="rId8"/>
              </a:rPr>
              <a:t>trên</a:t>
            </a:r>
            <a:r>
              <a:rPr dirty="0" sz="3100" spc="-100">
                <a:latin typeface="Lucida Sans Unicode"/>
                <a:cs typeface="Lucida Sans Unicode"/>
                <a:hlinkClick r:id="rId8"/>
              </a:rPr>
              <a:t> </a:t>
            </a:r>
            <a:r>
              <a:rPr dirty="0" sz="3100">
                <a:latin typeface="Lucida Sans Unicode"/>
                <a:cs typeface="Lucida Sans Unicode"/>
                <a:hlinkClick r:id="rId8"/>
              </a:rPr>
              <a:t>M</a:t>
            </a:r>
            <a:r>
              <a:rPr dirty="0" sz="3100">
                <a:latin typeface="Arial"/>
                <a:cs typeface="Arial"/>
                <a:hlinkClick r:id="rId8"/>
              </a:rPr>
              <a:t>ả</a:t>
            </a:r>
            <a:r>
              <a:rPr dirty="0" sz="3100">
                <a:latin typeface="Lucida Sans Unicode"/>
                <a:cs typeface="Lucida Sans Unicode"/>
                <a:hlinkClick r:id="rId8"/>
              </a:rPr>
              <a:t>ng</a:t>
            </a:r>
            <a:r>
              <a:rPr dirty="0" sz="3100" spc="-100">
                <a:latin typeface="Lucida Sans Unicode"/>
                <a:cs typeface="Lucida Sans Unicode"/>
                <a:hlinkClick r:id="rId8"/>
              </a:rPr>
              <a:t> </a:t>
            </a:r>
            <a:r>
              <a:rPr dirty="0" sz="3100" spc="170">
                <a:latin typeface="Lucida Sans Unicode"/>
                <a:cs typeface="Lucida Sans Unicode"/>
                <a:hlinkClick r:id="rId8"/>
              </a:rPr>
              <a:t>(Advanced</a:t>
            </a:r>
            <a:r>
              <a:rPr dirty="0" sz="3100" spc="-100">
                <a:latin typeface="Lucida Sans Unicode"/>
                <a:cs typeface="Lucida Sans Unicode"/>
                <a:hlinkClick r:id="rId8"/>
              </a:rPr>
              <a:t> </a:t>
            </a:r>
            <a:r>
              <a:rPr dirty="0" sz="3100">
                <a:latin typeface="Lucida Sans Unicode"/>
                <a:cs typeface="Lucida Sans Unicode"/>
                <a:hlinkClick r:id="rId8"/>
              </a:rPr>
              <a:t>Array</a:t>
            </a:r>
            <a:r>
              <a:rPr dirty="0" sz="3100" spc="-100">
                <a:latin typeface="Lucida Sans Unicode"/>
                <a:cs typeface="Lucida Sans Unicode"/>
                <a:hlinkClick r:id="rId8"/>
              </a:rPr>
              <a:t> </a:t>
            </a:r>
            <a:r>
              <a:rPr dirty="0" sz="3100">
                <a:latin typeface="Lucida Sans Unicode"/>
                <a:cs typeface="Lucida Sans Unicode"/>
                <a:hlinkClick r:id="rId8"/>
              </a:rPr>
              <a:t>Input</a:t>
            </a:r>
            <a:r>
              <a:rPr dirty="0" sz="3100" spc="-100">
                <a:latin typeface="Lucida Sans Unicode"/>
                <a:cs typeface="Lucida Sans Unicode"/>
                <a:hlinkClick r:id="rId8"/>
              </a:rPr>
              <a:t> </a:t>
            </a:r>
            <a:r>
              <a:rPr dirty="0" sz="3100" spc="180">
                <a:latin typeface="Lucida Sans Unicode"/>
                <a:cs typeface="Lucida Sans Unicode"/>
                <a:hlinkClick r:id="rId8"/>
              </a:rPr>
              <a:t>and</a:t>
            </a:r>
            <a:r>
              <a:rPr dirty="0" sz="3100" spc="-100">
                <a:latin typeface="Lucida Sans Unicode"/>
                <a:cs typeface="Lucida Sans Unicode"/>
                <a:hlinkClick r:id="rId8"/>
              </a:rPr>
              <a:t> </a:t>
            </a:r>
            <a:r>
              <a:rPr dirty="0" sz="3100" spc="-10">
                <a:latin typeface="Lucida Sans Unicode"/>
                <a:cs typeface="Lucida Sans Unicode"/>
                <a:hlinkClick r:id="rId8"/>
              </a:rPr>
              <a:t>Output</a:t>
            </a:r>
            <a:endParaRPr sz="3100">
              <a:latin typeface="Lucida Sans Unicode"/>
              <a:cs typeface="Lucida Sans Unicode"/>
            </a:endParaRPr>
          </a:p>
          <a:p>
            <a:pPr lvl="1" marL="792480" indent="-779780">
              <a:lnSpc>
                <a:spcPct val="100000"/>
              </a:lnSpc>
              <a:spcBef>
                <a:spcPts val="555"/>
              </a:spcBef>
              <a:buSzPct val="96774"/>
              <a:buAutoNum type="arabicPeriod" startAt="3"/>
              <a:tabLst>
                <a:tab pos="792480" algn="l"/>
              </a:tabLst>
            </a:pPr>
            <a:r>
              <a:rPr dirty="0" sz="3100">
                <a:latin typeface="Lucida Sans Unicode"/>
                <a:cs typeface="Lucida Sans Unicode"/>
                <a:hlinkClick r:id="rId9"/>
              </a:rPr>
              <a:t>M</a:t>
            </a:r>
            <a:r>
              <a:rPr dirty="0" sz="3100">
                <a:latin typeface="Arial"/>
                <a:cs typeface="Arial"/>
                <a:hlinkClick r:id="rId9"/>
              </a:rPr>
              <a:t>ẹ</a:t>
            </a:r>
            <a:r>
              <a:rPr dirty="0" sz="3100">
                <a:latin typeface="Lucida Sans Unicode"/>
                <a:cs typeface="Lucida Sans Unicode"/>
                <a:hlinkClick r:id="rId9"/>
              </a:rPr>
              <a:t>o</a:t>
            </a:r>
            <a:r>
              <a:rPr dirty="0" sz="3100" spc="-150">
                <a:latin typeface="Lucida Sans Unicode"/>
                <a:cs typeface="Lucida Sans Unicode"/>
                <a:hlinkClick r:id="rId9"/>
              </a:rPr>
              <a:t> </a:t>
            </a:r>
            <a:r>
              <a:rPr dirty="0" sz="3100" spc="70">
                <a:latin typeface="Lucida Sans Unicode"/>
                <a:cs typeface="Lucida Sans Unicode"/>
                <a:hlinkClick r:id="rId9"/>
              </a:rPr>
              <a:t>v</a:t>
            </a:r>
            <a:r>
              <a:rPr dirty="0" sz="3100" spc="70">
                <a:latin typeface="Arial"/>
                <a:cs typeface="Arial"/>
                <a:hlinkClick r:id="rId9"/>
              </a:rPr>
              <a:t>ề</a:t>
            </a:r>
            <a:r>
              <a:rPr dirty="0" sz="3100" spc="-25">
                <a:latin typeface="Arial"/>
                <a:cs typeface="Arial"/>
                <a:hlinkClick r:id="rId9"/>
              </a:rPr>
              <a:t> </a:t>
            </a:r>
            <a:r>
              <a:rPr dirty="0" sz="3100" spc="-55">
                <a:latin typeface="Lucida Sans Unicode"/>
                <a:cs typeface="Lucida Sans Unicode"/>
                <a:hlinkClick r:id="rId9"/>
              </a:rPr>
              <a:t>Hi</a:t>
            </a:r>
            <a:r>
              <a:rPr dirty="0" sz="3100" spc="-55">
                <a:latin typeface="Arial"/>
                <a:cs typeface="Arial"/>
                <a:hlinkClick r:id="rId9"/>
              </a:rPr>
              <a:t>ệ</a:t>
            </a:r>
            <a:r>
              <a:rPr dirty="0" sz="3100" spc="-55">
                <a:latin typeface="Lucida Sans Unicode"/>
                <a:cs typeface="Lucida Sans Unicode"/>
                <a:hlinkClick r:id="rId9"/>
              </a:rPr>
              <a:t>u</a:t>
            </a:r>
            <a:r>
              <a:rPr dirty="0" sz="3100" spc="-145">
                <a:latin typeface="Lucida Sans Unicode"/>
                <a:cs typeface="Lucida Sans Unicode"/>
                <a:hlinkClick r:id="rId9"/>
              </a:rPr>
              <a:t> </a:t>
            </a:r>
            <a:r>
              <a:rPr dirty="0" sz="3100">
                <a:latin typeface="Lucida Sans Unicode"/>
                <a:cs typeface="Lucida Sans Unicode"/>
                <a:hlinkClick r:id="rId9"/>
              </a:rPr>
              <a:t>su</a:t>
            </a:r>
            <a:r>
              <a:rPr dirty="0" sz="3100">
                <a:latin typeface="Arial"/>
                <a:cs typeface="Arial"/>
                <a:hlinkClick r:id="rId9"/>
              </a:rPr>
              <a:t>ấ</a:t>
            </a:r>
            <a:r>
              <a:rPr dirty="0" sz="3100">
                <a:latin typeface="Lucida Sans Unicode"/>
                <a:cs typeface="Lucida Sans Unicode"/>
                <a:hlinkClick r:id="rId9"/>
              </a:rPr>
              <a:t>t</a:t>
            </a:r>
            <a:r>
              <a:rPr dirty="0" sz="3100" spc="-140">
                <a:latin typeface="Lucida Sans Unicode"/>
                <a:cs typeface="Lucida Sans Unicode"/>
                <a:hlinkClick r:id="rId9"/>
              </a:rPr>
              <a:t> </a:t>
            </a:r>
            <a:r>
              <a:rPr dirty="0" sz="3100" spc="120">
                <a:latin typeface="Lucida Sans Unicode"/>
                <a:cs typeface="Lucida Sans Unicode"/>
                <a:hlinkClick r:id="rId9"/>
              </a:rPr>
              <a:t>(Performance</a:t>
            </a:r>
            <a:r>
              <a:rPr dirty="0" sz="3100" spc="-150">
                <a:latin typeface="Lucida Sans Unicode"/>
                <a:cs typeface="Lucida Sans Unicode"/>
                <a:hlinkClick r:id="rId9"/>
              </a:rPr>
              <a:t> </a:t>
            </a:r>
            <a:r>
              <a:rPr dirty="0" sz="3100" spc="-10">
                <a:latin typeface="Lucida Sans Unicode"/>
                <a:cs typeface="Lucida Sans Unicode"/>
                <a:hlinkClick r:id="rId9"/>
              </a:rPr>
              <a:t>Tips)</a:t>
            </a:r>
            <a:endParaRPr sz="3100">
              <a:latin typeface="Lucida Sans Unicode"/>
              <a:cs typeface="Lucida Sans Unicode"/>
            </a:endParaRPr>
          </a:p>
        </p:txBody>
      </p:sp>
      <p:sp>
        <p:nvSpPr>
          <p:cNvPr id="3" name="object 3" descr="">
            <a:hlinkClick r:id="rId10"/>
          </p:cNvPr>
          <p:cNvSpPr/>
          <p:nvPr/>
        </p:nvSpPr>
        <p:spPr>
          <a:xfrm>
            <a:off x="600339" y="1547812"/>
            <a:ext cx="1672589" cy="114300"/>
          </a:xfrm>
          <a:custGeom>
            <a:avLst/>
            <a:gdLst/>
            <a:ahLst/>
            <a:cxnLst/>
            <a:rect l="l" t="t" r="r" b="b"/>
            <a:pathLst>
              <a:path w="1672589" h="114300">
                <a:moveTo>
                  <a:pt x="1672129" y="114299"/>
                </a:moveTo>
                <a:lnTo>
                  <a:pt x="0" y="114299"/>
                </a:lnTo>
                <a:lnTo>
                  <a:pt x="0" y="0"/>
                </a:lnTo>
                <a:lnTo>
                  <a:pt x="1672129" y="0"/>
                </a:lnTo>
                <a:lnTo>
                  <a:pt x="1672129" y="1142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>
            <a:hlinkClick r:id="rId10"/>
          </p:cNvPr>
          <p:cNvSpPr/>
          <p:nvPr/>
        </p:nvSpPr>
        <p:spPr>
          <a:xfrm>
            <a:off x="2695547" y="1547812"/>
            <a:ext cx="1005205" cy="114300"/>
          </a:xfrm>
          <a:custGeom>
            <a:avLst/>
            <a:gdLst/>
            <a:ahLst/>
            <a:cxnLst/>
            <a:rect l="l" t="t" r="r" b="b"/>
            <a:pathLst>
              <a:path w="1005204" h="114300">
                <a:moveTo>
                  <a:pt x="1004781" y="114299"/>
                </a:moveTo>
                <a:lnTo>
                  <a:pt x="0" y="114299"/>
                </a:lnTo>
                <a:lnTo>
                  <a:pt x="0" y="0"/>
                </a:lnTo>
                <a:lnTo>
                  <a:pt x="1004781" y="0"/>
                </a:lnTo>
                <a:lnTo>
                  <a:pt x="1004781" y="1142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>
            <a:hlinkClick r:id="rId10"/>
          </p:cNvPr>
          <p:cNvSpPr/>
          <p:nvPr/>
        </p:nvSpPr>
        <p:spPr>
          <a:xfrm>
            <a:off x="4123407" y="1547812"/>
            <a:ext cx="5664200" cy="114300"/>
          </a:xfrm>
          <a:custGeom>
            <a:avLst/>
            <a:gdLst/>
            <a:ahLst/>
            <a:cxnLst/>
            <a:rect l="l" t="t" r="r" b="b"/>
            <a:pathLst>
              <a:path w="5664200" h="114300">
                <a:moveTo>
                  <a:pt x="5663715" y="114299"/>
                </a:moveTo>
                <a:lnTo>
                  <a:pt x="0" y="114299"/>
                </a:lnTo>
                <a:lnTo>
                  <a:pt x="0" y="0"/>
                </a:lnTo>
                <a:lnTo>
                  <a:pt x="5663715" y="0"/>
                </a:lnTo>
                <a:lnTo>
                  <a:pt x="5663715" y="1142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>
            <a:hlinkClick r:id="rId10"/>
          </p:cNvPr>
          <p:cNvSpPr/>
          <p:nvPr/>
        </p:nvSpPr>
        <p:spPr>
          <a:xfrm>
            <a:off x="10194798" y="1547812"/>
            <a:ext cx="269240" cy="114300"/>
          </a:xfrm>
          <a:custGeom>
            <a:avLst/>
            <a:gdLst/>
            <a:ahLst/>
            <a:cxnLst/>
            <a:rect l="l" t="t" r="r" b="b"/>
            <a:pathLst>
              <a:path w="269240" h="114300">
                <a:moveTo>
                  <a:pt x="268887" y="114299"/>
                </a:moveTo>
                <a:lnTo>
                  <a:pt x="0" y="114299"/>
                </a:lnTo>
                <a:lnTo>
                  <a:pt x="0" y="0"/>
                </a:lnTo>
                <a:lnTo>
                  <a:pt x="268887" y="0"/>
                </a:lnTo>
                <a:lnTo>
                  <a:pt x="268887" y="1142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>
            <a:hlinkClick r:id="rId10"/>
          </p:cNvPr>
          <p:cNvSpPr/>
          <p:nvPr/>
        </p:nvSpPr>
        <p:spPr>
          <a:xfrm>
            <a:off x="11056006" y="1547812"/>
            <a:ext cx="2850515" cy="114300"/>
          </a:xfrm>
          <a:custGeom>
            <a:avLst/>
            <a:gdLst/>
            <a:ahLst/>
            <a:cxnLst/>
            <a:rect l="l" t="t" r="r" b="b"/>
            <a:pathLst>
              <a:path w="2850515" h="114300">
                <a:moveTo>
                  <a:pt x="2850403" y="114299"/>
                </a:moveTo>
                <a:lnTo>
                  <a:pt x="0" y="114299"/>
                </a:lnTo>
                <a:lnTo>
                  <a:pt x="0" y="0"/>
                </a:lnTo>
                <a:lnTo>
                  <a:pt x="2850403" y="0"/>
                </a:lnTo>
                <a:lnTo>
                  <a:pt x="2850403" y="1142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>
            <a:hlinkClick r:id="rId10"/>
          </p:cNvPr>
          <p:cNvSpPr/>
          <p:nvPr/>
        </p:nvSpPr>
        <p:spPr>
          <a:xfrm>
            <a:off x="14697448" y="1547812"/>
            <a:ext cx="2307590" cy="114300"/>
          </a:xfrm>
          <a:custGeom>
            <a:avLst/>
            <a:gdLst/>
            <a:ahLst/>
            <a:cxnLst/>
            <a:rect l="l" t="t" r="r" b="b"/>
            <a:pathLst>
              <a:path w="2307590" h="114300">
                <a:moveTo>
                  <a:pt x="2307023" y="114299"/>
                </a:moveTo>
                <a:lnTo>
                  <a:pt x="0" y="114299"/>
                </a:lnTo>
                <a:lnTo>
                  <a:pt x="0" y="0"/>
                </a:lnTo>
                <a:lnTo>
                  <a:pt x="2307023" y="0"/>
                </a:lnTo>
                <a:lnTo>
                  <a:pt x="2307023" y="1142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587639" y="300101"/>
            <a:ext cx="16429990" cy="1427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200" b="1">
                <a:solidFill>
                  <a:srgbClr val="000000"/>
                </a:solidFill>
                <a:latin typeface="Tahoma"/>
                <a:cs typeface="Tahoma"/>
                <a:hlinkClick r:id="rId10"/>
              </a:rPr>
              <a:t>Phụ</a:t>
            </a:r>
            <a:r>
              <a:rPr dirty="0" sz="9200" spc="-330" b="1">
                <a:solidFill>
                  <a:srgbClr val="000000"/>
                </a:solidFill>
                <a:latin typeface="Tahoma"/>
                <a:cs typeface="Tahoma"/>
                <a:hlinkClick r:id="rId10"/>
              </a:rPr>
              <a:t> </a:t>
            </a:r>
            <a:r>
              <a:rPr dirty="0" sz="9200" b="1">
                <a:solidFill>
                  <a:srgbClr val="000000"/>
                </a:solidFill>
                <a:latin typeface="Tahoma"/>
                <a:cs typeface="Tahoma"/>
                <a:hlinkClick r:id="rId10"/>
              </a:rPr>
              <a:t>lục</a:t>
            </a:r>
            <a:r>
              <a:rPr dirty="0" sz="9200" spc="-320" b="1">
                <a:solidFill>
                  <a:srgbClr val="000000"/>
                </a:solidFill>
                <a:latin typeface="Tahoma"/>
                <a:cs typeface="Tahoma"/>
                <a:hlinkClick r:id="rId10"/>
              </a:rPr>
              <a:t> </a:t>
            </a:r>
            <a:r>
              <a:rPr dirty="0" sz="9200" b="1">
                <a:solidFill>
                  <a:srgbClr val="000000"/>
                </a:solidFill>
                <a:latin typeface="Tahoma"/>
                <a:cs typeface="Tahoma"/>
                <a:hlinkClick r:id="rId10"/>
              </a:rPr>
              <a:t>A</a:t>
            </a:r>
            <a:r>
              <a:rPr dirty="0" sz="9200" spc="-320" b="1">
                <a:solidFill>
                  <a:srgbClr val="000000"/>
                </a:solidFill>
                <a:latin typeface="Tahoma"/>
                <a:cs typeface="Tahoma"/>
                <a:hlinkClick r:id="rId10"/>
              </a:rPr>
              <a:t> </a:t>
            </a:r>
            <a:r>
              <a:rPr dirty="0" sz="9200" spc="-735" b="1">
                <a:solidFill>
                  <a:srgbClr val="000000"/>
                </a:solidFill>
                <a:latin typeface="Tahoma"/>
                <a:cs typeface="Tahoma"/>
                <a:hlinkClick r:id="rId10"/>
              </a:rPr>
              <a:t>:</a:t>
            </a:r>
            <a:r>
              <a:rPr dirty="0" sz="9200" spc="-310" b="1">
                <a:solidFill>
                  <a:srgbClr val="000000"/>
                </a:solidFill>
                <a:latin typeface="Tahoma"/>
                <a:cs typeface="Tahoma"/>
                <a:hlinkClick r:id="rId10"/>
              </a:rPr>
              <a:t> </a:t>
            </a:r>
            <a:r>
              <a:rPr dirty="0" sz="9200" spc="85" b="1">
                <a:solidFill>
                  <a:srgbClr val="000000"/>
                </a:solidFill>
                <a:latin typeface="Tahoma"/>
                <a:cs typeface="Tahoma"/>
                <a:hlinkClick r:id="rId10"/>
              </a:rPr>
              <a:t>Numpy</a:t>
            </a:r>
            <a:r>
              <a:rPr dirty="0" sz="9200" spc="-320" b="1">
                <a:solidFill>
                  <a:srgbClr val="000000"/>
                </a:solidFill>
                <a:latin typeface="Tahoma"/>
                <a:cs typeface="Tahoma"/>
                <a:hlinkClick r:id="rId10"/>
              </a:rPr>
              <a:t> </a:t>
            </a:r>
            <a:r>
              <a:rPr dirty="0" sz="9200" spc="110" b="1">
                <a:solidFill>
                  <a:srgbClr val="000000"/>
                </a:solidFill>
                <a:latin typeface="Tahoma"/>
                <a:cs typeface="Tahoma"/>
                <a:hlinkClick r:id="rId10"/>
              </a:rPr>
              <a:t>Nâng</a:t>
            </a:r>
            <a:r>
              <a:rPr dirty="0" sz="9200" spc="-320" b="1">
                <a:solidFill>
                  <a:srgbClr val="000000"/>
                </a:solidFill>
                <a:latin typeface="Tahoma"/>
                <a:cs typeface="Tahoma"/>
                <a:hlinkClick r:id="rId10"/>
              </a:rPr>
              <a:t> </a:t>
            </a:r>
            <a:r>
              <a:rPr dirty="0" sz="9200" spc="-25" b="1">
                <a:solidFill>
                  <a:srgbClr val="000000"/>
                </a:solidFill>
                <a:latin typeface="Tahoma"/>
                <a:cs typeface="Tahoma"/>
                <a:hlinkClick r:id="rId10"/>
              </a:rPr>
              <a:t>cao</a:t>
            </a:r>
            <a:endParaRPr sz="9200">
              <a:latin typeface="Tahoma"/>
              <a:cs typeface="Tahoma"/>
            </a:endParaRPr>
          </a:p>
        </p:txBody>
      </p:sp>
      <p:sp>
        <p:nvSpPr>
          <p:cNvPr id="10" name="object 10" descr="">
            <a:hlinkClick r:id="rId10"/>
          </p:cNvPr>
          <p:cNvSpPr/>
          <p:nvPr/>
        </p:nvSpPr>
        <p:spPr>
          <a:xfrm>
            <a:off x="17004472" y="1547812"/>
            <a:ext cx="304165" cy="114300"/>
          </a:xfrm>
          <a:custGeom>
            <a:avLst/>
            <a:gdLst/>
            <a:ahLst/>
            <a:cxnLst/>
            <a:rect l="l" t="t" r="r" b="b"/>
            <a:pathLst>
              <a:path w="304165" h="114300">
                <a:moveTo>
                  <a:pt x="303609" y="114299"/>
                </a:moveTo>
                <a:lnTo>
                  <a:pt x="0" y="114299"/>
                </a:lnTo>
                <a:lnTo>
                  <a:pt x="0" y="0"/>
                </a:lnTo>
                <a:lnTo>
                  <a:pt x="303609" y="0"/>
                </a:lnTo>
                <a:lnTo>
                  <a:pt x="303609" y="1142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D8B4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351902" y="2151491"/>
            <a:ext cx="14919325" cy="44767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12799"/>
              </a:lnSpc>
              <a:spcBef>
                <a:spcPts val="95"/>
              </a:spcBef>
            </a:pPr>
            <a:r>
              <a:rPr dirty="0" sz="3700" b="1">
                <a:solidFill>
                  <a:srgbClr val="32322F"/>
                </a:solidFill>
                <a:latin typeface="Tahoma"/>
                <a:cs typeface="Tahoma"/>
              </a:rPr>
              <a:t>Phụ</a:t>
            </a:r>
            <a:r>
              <a:rPr dirty="0" sz="3700" spc="140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spc="95" b="1">
                <a:solidFill>
                  <a:srgbClr val="32322F"/>
                </a:solidFill>
                <a:latin typeface="Tahoma"/>
                <a:cs typeface="Tahoma"/>
              </a:rPr>
              <a:t>lục</a:t>
            </a:r>
            <a:r>
              <a:rPr dirty="0" sz="3700" spc="145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spc="200" b="1">
                <a:solidFill>
                  <a:srgbClr val="32322F"/>
                </a:solidFill>
                <a:latin typeface="Tahoma"/>
                <a:cs typeface="Tahoma"/>
              </a:rPr>
              <a:t>này</a:t>
            </a:r>
            <a:r>
              <a:rPr dirty="0" sz="3700" spc="140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spc="105" b="1">
                <a:solidFill>
                  <a:srgbClr val="32322F"/>
                </a:solidFill>
                <a:latin typeface="Tahoma"/>
                <a:cs typeface="Tahoma"/>
              </a:rPr>
              <a:t>sẽ</a:t>
            </a:r>
            <a:r>
              <a:rPr dirty="0" sz="3700" spc="145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spc="100" b="1">
                <a:solidFill>
                  <a:srgbClr val="32322F"/>
                </a:solidFill>
                <a:latin typeface="Tahoma"/>
                <a:cs typeface="Tahoma"/>
              </a:rPr>
              <a:t>đi</a:t>
            </a:r>
            <a:r>
              <a:rPr dirty="0" sz="3700" spc="145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spc="180" b="1">
                <a:solidFill>
                  <a:srgbClr val="32322F"/>
                </a:solidFill>
                <a:latin typeface="Tahoma"/>
                <a:cs typeface="Tahoma"/>
              </a:rPr>
              <a:t>sâu</a:t>
            </a:r>
            <a:r>
              <a:rPr dirty="0" sz="3700" spc="140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spc="135" b="1">
                <a:solidFill>
                  <a:srgbClr val="32322F"/>
                </a:solidFill>
                <a:latin typeface="Tahoma"/>
                <a:cs typeface="Tahoma"/>
              </a:rPr>
              <a:t>hơn</a:t>
            </a:r>
            <a:r>
              <a:rPr dirty="0" sz="3700" spc="145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spc="170" b="1">
                <a:solidFill>
                  <a:srgbClr val="32322F"/>
                </a:solidFill>
                <a:latin typeface="Tahoma"/>
                <a:cs typeface="Tahoma"/>
              </a:rPr>
              <a:t>vào</a:t>
            </a:r>
            <a:r>
              <a:rPr dirty="0" sz="3700" spc="145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spc="70" b="1">
                <a:solidFill>
                  <a:srgbClr val="32322F"/>
                </a:solidFill>
                <a:latin typeface="Tahoma"/>
                <a:cs typeface="Tahoma"/>
              </a:rPr>
              <a:t>thư</a:t>
            </a:r>
            <a:r>
              <a:rPr dirty="0" sz="3700" spc="140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spc="55" b="1">
                <a:solidFill>
                  <a:srgbClr val="32322F"/>
                </a:solidFill>
                <a:latin typeface="Tahoma"/>
                <a:cs typeface="Tahoma"/>
              </a:rPr>
              <a:t>viện</a:t>
            </a:r>
            <a:r>
              <a:rPr dirty="0" sz="3700" spc="145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spc="90" b="1">
                <a:solidFill>
                  <a:srgbClr val="32322F"/>
                </a:solidFill>
                <a:latin typeface="Tahoma"/>
                <a:cs typeface="Tahoma"/>
              </a:rPr>
              <a:t>NumPy</a:t>
            </a:r>
            <a:r>
              <a:rPr dirty="0" sz="3700" spc="140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spc="145" b="1">
                <a:solidFill>
                  <a:srgbClr val="32322F"/>
                </a:solidFill>
                <a:latin typeface="Tahoma"/>
                <a:cs typeface="Tahoma"/>
              </a:rPr>
              <a:t>cho </a:t>
            </a:r>
            <a:r>
              <a:rPr dirty="0" sz="3700" spc="95" b="1">
                <a:solidFill>
                  <a:srgbClr val="32322F"/>
                </a:solidFill>
                <a:latin typeface="Tahoma"/>
                <a:cs typeface="Tahoma"/>
              </a:rPr>
              <a:t>việc</a:t>
            </a:r>
            <a:r>
              <a:rPr dirty="0" sz="3700" spc="145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spc="40" b="1">
                <a:solidFill>
                  <a:srgbClr val="32322F"/>
                </a:solidFill>
                <a:latin typeface="Tahoma"/>
                <a:cs typeface="Tahoma"/>
              </a:rPr>
              <a:t>tính </a:t>
            </a:r>
            <a:r>
              <a:rPr dirty="0" sz="3700" spc="100" b="1">
                <a:solidFill>
                  <a:srgbClr val="32322F"/>
                </a:solidFill>
                <a:latin typeface="Tahoma"/>
                <a:cs typeface="Tahoma"/>
              </a:rPr>
              <a:t>toán</a:t>
            </a:r>
            <a:r>
              <a:rPr dirty="0" sz="3700" spc="225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spc="110" b="1">
                <a:solidFill>
                  <a:srgbClr val="32322F"/>
                </a:solidFill>
                <a:latin typeface="Tahoma"/>
                <a:cs typeface="Tahoma"/>
              </a:rPr>
              <a:t>mảng.</a:t>
            </a:r>
            <a:r>
              <a:rPr dirty="0" sz="3700" spc="229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b="1">
                <a:solidFill>
                  <a:srgbClr val="32322F"/>
                </a:solidFill>
                <a:latin typeface="Tahoma"/>
                <a:cs typeface="Tahoma"/>
              </a:rPr>
              <a:t>Nội</a:t>
            </a:r>
            <a:r>
              <a:rPr dirty="0" sz="3700" spc="225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spc="145" b="1">
                <a:solidFill>
                  <a:srgbClr val="32322F"/>
                </a:solidFill>
                <a:latin typeface="Tahoma"/>
                <a:cs typeface="Tahoma"/>
              </a:rPr>
              <a:t>dung</a:t>
            </a:r>
            <a:r>
              <a:rPr dirty="0" sz="3700" spc="229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spc="105" b="1">
                <a:solidFill>
                  <a:srgbClr val="32322F"/>
                </a:solidFill>
                <a:latin typeface="Tahoma"/>
                <a:cs typeface="Tahoma"/>
              </a:rPr>
              <a:t>sẽ</a:t>
            </a:r>
            <a:r>
              <a:rPr dirty="0" sz="3700" spc="229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spc="170" b="1">
                <a:solidFill>
                  <a:srgbClr val="32322F"/>
                </a:solidFill>
                <a:latin typeface="Tahoma"/>
                <a:cs typeface="Tahoma"/>
              </a:rPr>
              <a:t>bao</a:t>
            </a:r>
            <a:r>
              <a:rPr dirty="0" sz="3700" spc="225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spc="185" b="1">
                <a:solidFill>
                  <a:srgbClr val="32322F"/>
                </a:solidFill>
                <a:latin typeface="Tahoma"/>
                <a:cs typeface="Tahoma"/>
              </a:rPr>
              <a:t>gồm</a:t>
            </a:r>
            <a:r>
              <a:rPr dirty="0" sz="3700" spc="229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spc="270" b="1">
                <a:solidFill>
                  <a:srgbClr val="32322F"/>
                </a:solidFill>
                <a:latin typeface="Tahoma"/>
                <a:cs typeface="Tahoma"/>
              </a:rPr>
              <a:t>các</a:t>
            </a:r>
            <a:r>
              <a:rPr dirty="0" sz="3700" spc="229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spc="114" b="1">
                <a:solidFill>
                  <a:srgbClr val="32322F"/>
                </a:solidFill>
                <a:latin typeface="Tahoma"/>
                <a:cs typeface="Tahoma"/>
              </a:rPr>
              <a:t>chi</a:t>
            </a:r>
            <a:r>
              <a:rPr dirty="0" sz="3700" spc="225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b="1">
                <a:solidFill>
                  <a:srgbClr val="32322F"/>
                </a:solidFill>
                <a:latin typeface="Tahoma"/>
                <a:cs typeface="Tahoma"/>
              </a:rPr>
              <a:t>tiết</a:t>
            </a:r>
            <a:r>
              <a:rPr dirty="0" sz="3700" spc="229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b="1">
                <a:solidFill>
                  <a:srgbClr val="32322F"/>
                </a:solidFill>
                <a:latin typeface="Tahoma"/>
                <a:cs typeface="Tahoma"/>
              </a:rPr>
              <a:t>nội</a:t>
            </a:r>
            <a:r>
              <a:rPr dirty="0" sz="3700" spc="225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b="1">
                <a:solidFill>
                  <a:srgbClr val="32322F"/>
                </a:solidFill>
                <a:latin typeface="Tahoma"/>
                <a:cs typeface="Tahoma"/>
              </a:rPr>
              <a:t>tại</a:t>
            </a:r>
            <a:r>
              <a:rPr dirty="0" sz="3700" spc="229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spc="70" b="1">
                <a:solidFill>
                  <a:srgbClr val="32322F"/>
                </a:solidFill>
                <a:latin typeface="Tahoma"/>
                <a:cs typeface="Tahoma"/>
              </a:rPr>
              <a:t>về</a:t>
            </a:r>
            <a:r>
              <a:rPr dirty="0" sz="3700" spc="229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spc="-20" b="1">
                <a:solidFill>
                  <a:srgbClr val="32322F"/>
                </a:solidFill>
                <a:latin typeface="Tahoma"/>
                <a:cs typeface="Tahoma"/>
              </a:rPr>
              <a:t>kiểu </a:t>
            </a:r>
            <a:r>
              <a:rPr dirty="0" sz="3700" spc="140" b="1">
                <a:solidFill>
                  <a:srgbClr val="32322F"/>
                </a:solidFill>
                <a:latin typeface="Tahoma"/>
                <a:cs typeface="Tahoma"/>
              </a:rPr>
              <a:t>ndarray</a:t>
            </a:r>
            <a:r>
              <a:rPr dirty="0" sz="3700" spc="-95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spc="225" b="1">
                <a:solidFill>
                  <a:srgbClr val="32322F"/>
                </a:solidFill>
                <a:latin typeface="Tahoma"/>
                <a:cs typeface="Tahoma"/>
              </a:rPr>
              <a:t>và</a:t>
            </a:r>
            <a:r>
              <a:rPr dirty="0" sz="3700" spc="-95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spc="270" b="1">
                <a:solidFill>
                  <a:srgbClr val="32322F"/>
                </a:solidFill>
                <a:latin typeface="Tahoma"/>
                <a:cs typeface="Tahoma"/>
              </a:rPr>
              <a:t>các</a:t>
            </a:r>
            <a:r>
              <a:rPr dirty="0" sz="3700" spc="-95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spc="100" b="1">
                <a:solidFill>
                  <a:srgbClr val="32322F"/>
                </a:solidFill>
                <a:latin typeface="Tahoma"/>
                <a:cs typeface="Tahoma"/>
              </a:rPr>
              <a:t>thao</a:t>
            </a:r>
            <a:r>
              <a:rPr dirty="0" sz="3700" spc="-95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spc="95" b="1">
                <a:solidFill>
                  <a:srgbClr val="32322F"/>
                </a:solidFill>
                <a:latin typeface="Tahoma"/>
                <a:cs typeface="Tahoma"/>
              </a:rPr>
              <a:t>tác,</a:t>
            </a:r>
            <a:r>
              <a:rPr dirty="0" sz="3700" spc="-95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b="1">
                <a:solidFill>
                  <a:srgbClr val="32322F"/>
                </a:solidFill>
                <a:latin typeface="Tahoma"/>
                <a:cs typeface="Tahoma"/>
              </a:rPr>
              <a:t>thuật</a:t>
            </a:r>
            <a:r>
              <a:rPr dirty="0" sz="3700" spc="-95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spc="100" b="1">
                <a:solidFill>
                  <a:srgbClr val="32322F"/>
                </a:solidFill>
                <a:latin typeface="Tahoma"/>
                <a:cs typeface="Tahoma"/>
              </a:rPr>
              <a:t>toán</a:t>
            </a:r>
            <a:r>
              <a:rPr dirty="0" sz="3700" spc="-95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spc="170" b="1">
                <a:solidFill>
                  <a:srgbClr val="32322F"/>
                </a:solidFill>
                <a:latin typeface="Tahoma"/>
                <a:cs typeface="Tahoma"/>
              </a:rPr>
              <a:t>mảng</a:t>
            </a:r>
            <a:r>
              <a:rPr dirty="0" sz="3700" spc="-95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spc="170" b="1">
                <a:solidFill>
                  <a:srgbClr val="32322F"/>
                </a:solidFill>
                <a:latin typeface="Tahoma"/>
                <a:cs typeface="Tahoma"/>
              </a:rPr>
              <a:t>nâng</a:t>
            </a:r>
            <a:r>
              <a:rPr dirty="0" sz="3700" spc="-95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spc="204" b="1">
                <a:solidFill>
                  <a:srgbClr val="32322F"/>
                </a:solidFill>
                <a:latin typeface="Tahoma"/>
                <a:cs typeface="Tahoma"/>
              </a:rPr>
              <a:t>cao</a:t>
            </a:r>
            <a:r>
              <a:rPr dirty="0" sz="3700" spc="-95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spc="65" b="1">
                <a:solidFill>
                  <a:srgbClr val="32322F"/>
                </a:solidFill>
                <a:latin typeface="Tahoma"/>
                <a:cs typeface="Tahoma"/>
              </a:rPr>
              <a:t>hơn.</a:t>
            </a:r>
            <a:r>
              <a:rPr dirty="0" sz="3700" spc="-90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spc="-25" b="1">
                <a:solidFill>
                  <a:srgbClr val="32322F"/>
                </a:solidFill>
                <a:latin typeface="Tahoma"/>
                <a:cs typeface="Tahoma"/>
              </a:rPr>
              <a:t>Phụ </a:t>
            </a:r>
            <a:r>
              <a:rPr dirty="0" sz="3700" spc="85" b="1">
                <a:solidFill>
                  <a:srgbClr val="32322F"/>
                </a:solidFill>
                <a:latin typeface="Tahoma"/>
                <a:cs typeface="Tahoma"/>
              </a:rPr>
              <a:t>lục</a:t>
            </a:r>
            <a:r>
              <a:rPr dirty="0" sz="3700" spc="-245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spc="200" b="1">
                <a:solidFill>
                  <a:srgbClr val="32322F"/>
                </a:solidFill>
                <a:latin typeface="Tahoma"/>
                <a:cs typeface="Tahoma"/>
              </a:rPr>
              <a:t>này</a:t>
            </a:r>
            <a:r>
              <a:rPr dirty="0" sz="3700" spc="-245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spc="195" b="1">
                <a:solidFill>
                  <a:srgbClr val="32322F"/>
                </a:solidFill>
                <a:latin typeface="Tahoma"/>
                <a:cs typeface="Tahoma"/>
              </a:rPr>
              <a:t>chứa</a:t>
            </a:r>
            <a:r>
              <a:rPr dirty="0" sz="3700" spc="-240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spc="270" b="1">
                <a:solidFill>
                  <a:srgbClr val="32322F"/>
                </a:solidFill>
                <a:latin typeface="Tahoma"/>
                <a:cs typeface="Tahoma"/>
              </a:rPr>
              <a:t>các</a:t>
            </a:r>
            <a:r>
              <a:rPr dirty="0" sz="3700" spc="-245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spc="140" b="1">
                <a:solidFill>
                  <a:srgbClr val="32322F"/>
                </a:solidFill>
                <a:latin typeface="Tahoma"/>
                <a:cs typeface="Tahoma"/>
              </a:rPr>
              <a:t>chủ</a:t>
            </a:r>
            <a:r>
              <a:rPr dirty="0" sz="3700" spc="-240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spc="100" b="1">
                <a:solidFill>
                  <a:srgbClr val="32322F"/>
                </a:solidFill>
                <a:latin typeface="Tahoma"/>
                <a:cs typeface="Tahoma"/>
              </a:rPr>
              <a:t>đề</a:t>
            </a:r>
            <a:r>
              <a:rPr dirty="0" sz="3700" spc="-245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spc="254" b="1">
                <a:solidFill>
                  <a:srgbClr val="32322F"/>
                </a:solidFill>
                <a:latin typeface="Tahoma"/>
                <a:cs typeface="Tahoma"/>
              </a:rPr>
              <a:t>đa</a:t>
            </a:r>
            <a:r>
              <a:rPr dirty="0" sz="3700" spc="-245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spc="120" b="1">
                <a:solidFill>
                  <a:srgbClr val="32322F"/>
                </a:solidFill>
                <a:latin typeface="Tahoma"/>
                <a:cs typeface="Tahoma"/>
              </a:rPr>
              <a:t>dạng</a:t>
            </a:r>
            <a:r>
              <a:rPr dirty="0" sz="3700" spc="-240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spc="225" b="1">
                <a:solidFill>
                  <a:srgbClr val="32322F"/>
                </a:solidFill>
                <a:latin typeface="Tahoma"/>
                <a:cs typeface="Tahoma"/>
              </a:rPr>
              <a:t>và</a:t>
            </a:r>
            <a:r>
              <a:rPr dirty="0" sz="3700" spc="-245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spc="100" b="1">
                <a:solidFill>
                  <a:srgbClr val="32322F"/>
                </a:solidFill>
                <a:latin typeface="Tahoma"/>
                <a:cs typeface="Tahoma"/>
              </a:rPr>
              <a:t>không</a:t>
            </a:r>
            <a:r>
              <a:rPr dirty="0" sz="3700" spc="-240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b="1">
                <a:solidFill>
                  <a:srgbClr val="32322F"/>
                </a:solidFill>
                <a:latin typeface="Tahoma"/>
                <a:cs typeface="Tahoma"/>
              </a:rPr>
              <a:t>nhất</a:t>
            </a:r>
            <a:r>
              <a:rPr dirty="0" sz="3700" spc="-245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spc="-20" b="1">
                <a:solidFill>
                  <a:srgbClr val="32322F"/>
                </a:solidFill>
                <a:latin typeface="Tahoma"/>
                <a:cs typeface="Tahoma"/>
              </a:rPr>
              <a:t>thiết</a:t>
            </a:r>
            <a:r>
              <a:rPr dirty="0" sz="3700" spc="-240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spc="70" b="1">
                <a:solidFill>
                  <a:srgbClr val="32322F"/>
                </a:solidFill>
                <a:latin typeface="Tahoma"/>
                <a:cs typeface="Tahoma"/>
              </a:rPr>
              <a:t>phải</a:t>
            </a:r>
            <a:r>
              <a:rPr dirty="0" sz="3700" spc="-245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spc="135" b="1">
                <a:solidFill>
                  <a:srgbClr val="32322F"/>
                </a:solidFill>
                <a:latin typeface="Tahoma"/>
                <a:cs typeface="Tahoma"/>
              </a:rPr>
              <a:t>đọc </a:t>
            </a:r>
            <a:r>
              <a:rPr dirty="0" sz="3700" b="1">
                <a:solidFill>
                  <a:srgbClr val="32322F"/>
                </a:solidFill>
                <a:latin typeface="Tahoma"/>
                <a:cs typeface="Tahoma"/>
              </a:rPr>
              <a:t>theo</a:t>
            </a:r>
            <a:r>
              <a:rPr dirty="0" sz="3700" spc="-170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b="1">
                <a:solidFill>
                  <a:srgbClr val="32322F"/>
                </a:solidFill>
                <a:latin typeface="Tahoma"/>
                <a:cs typeface="Tahoma"/>
              </a:rPr>
              <a:t>trình</a:t>
            </a:r>
            <a:r>
              <a:rPr dirty="0" sz="3700" spc="-170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b="1">
                <a:solidFill>
                  <a:srgbClr val="32322F"/>
                </a:solidFill>
                <a:latin typeface="Tahoma"/>
                <a:cs typeface="Tahoma"/>
              </a:rPr>
              <a:t>tự.</a:t>
            </a:r>
            <a:r>
              <a:rPr dirty="0" sz="3700" spc="-165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spc="114" b="1">
                <a:solidFill>
                  <a:srgbClr val="32322F"/>
                </a:solidFill>
                <a:latin typeface="Tahoma"/>
                <a:cs typeface="Tahoma"/>
              </a:rPr>
              <a:t>Xuyên</a:t>
            </a:r>
            <a:r>
              <a:rPr dirty="0" sz="3700" spc="-170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spc="50" b="1">
                <a:solidFill>
                  <a:srgbClr val="32322F"/>
                </a:solidFill>
                <a:latin typeface="Tahoma"/>
                <a:cs typeface="Tahoma"/>
              </a:rPr>
              <a:t>suốt</a:t>
            </a:r>
            <a:r>
              <a:rPr dirty="0" sz="3700" spc="-170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spc="270" b="1">
                <a:solidFill>
                  <a:srgbClr val="32322F"/>
                </a:solidFill>
                <a:latin typeface="Tahoma"/>
                <a:cs typeface="Tahoma"/>
              </a:rPr>
              <a:t>các</a:t>
            </a:r>
            <a:r>
              <a:rPr dirty="0" sz="3700" spc="-165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spc="125" b="1">
                <a:solidFill>
                  <a:srgbClr val="32322F"/>
                </a:solidFill>
                <a:latin typeface="Tahoma"/>
                <a:cs typeface="Tahoma"/>
              </a:rPr>
              <a:t>chương,</a:t>
            </a:r>
            <a:r>
              <a:rPr dirty="0" sz="3700" spc="-170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spc="155" b="1">
                <a:solidFill>
                  <a:srgbClr val="32322F"/>
                </a:solidFill>
                <a:latin typeface="Tahoma"/>
                <a:cs typeface="Tahoma"/>
              </a:rPr>
              <a:t>chúng</a:t>
            </a:r>
            <a:r>
              <a:rPr dirty="0" sz="3700" spc="-170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b="1">
                <a:solidFill>
                  <a:srgbClr val="32322F"/>
                </a:solidFill>
                <a:latin typeface="Tahoma"/>
                <a:cs typeface="Tahoma"/>
              </a:rPr>
              <a:t>tôi</a:t>
            </a:r>
            <a:r>
              <a:rPr dirty="0" sz="3700" spc="-165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spc="105" b="1">
                <a:solidFill>
                  <a:srgbClr val="32322F"/>
                </a:solidFill>
                <a:latin typeface="Tahoma"/>
                <a:cs typeface="Tahoma"/>
              </a:rPr>
              <a:t>sẽ</a:t>
            </a:r>
            <a:r>
              <a:rPr dirty="0" sz="3700" spc="-170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b="1">
                <a:solidFill>
                  <a:srgbClr val="32322F"/>
                </a:solidFill>
                <a:latin typeface="Tahoma"/>
                <a:cs typeface="Tahoma"/>
              </a:rPr>
              <a:t>tạo</a:t>
            </a:r>
            <a:r>
              <a:rPr dirty="0" sz="3700" spc="-170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spc="165" b="1">
                <a:solidFill>
                  <a:srgbClr val="32322F"/>
                </a:solidFill>
                <a:latin typeface="Tahoma"/>
                <a:cs typeface="Tahoma"/>
              </a:rPr>
              <a:t>dữ</a:t>
            </a:r>
            <a:r>
              <a:rPr dirty="0" sz="3700" spc="-165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spc="-20" b="1">
                <a:solidFill>
                  <a:srgbClr val="32322F"/>
                </a:solidFill>
                <a:latin typeface="Tahoma"/>
                <a:cs typeface="Tahoma"/>
              </a:rPr>
              <a:t>liệu </a:t>
            </a:r>
            <a:r>
              <a:rPr dirty="0" sz="3700" spc="105" b="1">
                <a:solidFill>
                  <a:srgbClr val="32322F"/>
                </a:solidFill>
                <a:latin typeface="Tahoma"/>
                <a:cs typeface="Tahoma"/>
              </a:rPr>
              <a:t>ngẫu</a:t>
            </a:r>
            <a:r>
              <a:rPr dirty="0" sz="3700" spc="325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spc="75" b="1">
                <a:solidFill>
                  <a:srgbClr val="32322F"/>
                </a:solidFill>
                <a:latin typeface="Tahoma"/>
                <a:cs typeface="Tahoma"/>
              </a:rPr>
              <a:t>nhiên</a:t>
            </a:r>
            <a:r>
              <a:rPr dirty="0" sz="3700" spc="330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spc="145" b="1">
                <a:solidFill>
                  <a:srgbClr val="32322F"/>
                </a:solidFill>
                <a:latin typeface="Tahoma"/>
                <a:cs typeface="Tahoma"/>
              </a:rPr>
              <a:t>cho</a:t>
            </a:r>
            <a:r>
              <a:rPr dirty="0" sz="3700" spc="325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spc="55" b="1">
                <a:solidFill>
                  <a:srgbClr val="32322F"/>
                </a:solidFill>
                <a:latin typeface="Tahoma"/>
                <a:cs typeface="Tahoma"/>
              </a:rPr>
              <a:t>nhiều</a:t>
            </a:r>
            <a:r>
              <a:rPr dirty="0" sz="3700" spc="330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spc="114" b="1">
                <a:solidFill>
                  <a:srgbClr val="32322F"/>
                </a:solidFill>
                <a:latin typeface="Tahoma"/>
                <a:cs typeface="Tahoma"/>
              </a:rPr>
              <a:t>ví</a:t>
            </a:r>
            <a:r>
              <a:rPr dirty="0" sz="3700" spc="325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spc="110" b="1">
                <a:solidFill>
                  <a:srgbClr val="32322F"/>
                </a:solidFill>
                <a:latin typeface="Tahoma"/>
                <a:cs typeface="Tahoma"/>
              </a:rPr>
              <a:t>dụ</a:t>
            </a:r>
            <a:r>
              <a:rPr dirty="0" sz="3700" spc="330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spc="114" b="1">
                <a:solidFill>
                  <a:srgbClr val="32322F"/>
                </a:solidFill>
                <a:latin typeface="Tahoma"/>
                <a:cs typeface="Tahoma"/>
              </a:rPr>
              <a:t>bằng</a:t>
            </a:r>
            <a:r>
              <a:rPr dirty="0" sz="3700" spc="325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spc="229" b="1">
                <a:solidFill>
                  <a:srgbClr val="32322F"/>
                </a:solidFill>
                <a:latin typeface="Tahoma"/>
                <a:cs typeface="Tahoma"/>
              </a:rPr>
              <a:t>cách</a:t>
            </a:r>
            <a:r>
              <a:rPr dirty="0" sz="3700" spc="330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spc="150" b="1">
                <a:solidFill>
                  <a:srgbClr val="32322F"/>
                </a:solidFill>
                <a:latin typeface="Tahoma"/>
                <a:cs typeface="Tahoma"/>
              </a:rPr>
              <a:t>sử</a:t>
            </a:r>
            <a:r>
              <a:rPr dirty="0" sz="3700" spc="325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spc="130" b="1">
                <a:solidFill>
                  <a:srgbClr val="32322F"/>
                </a:solidFill>
                <a:latin typeface="Tahoma"/>
                <a:cs typeface="Tahoma"/>
              </a:rPr>
              <a:t>dụng</a:t>
            </a:r>
            <a:r>
              <a:rPr dirty="0" sz="3700" spc="330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b="1">
                <a:solidFill>
                  <a:srgbClr val="32322F"/>
                </a:solidFill>
                <a:latin typeface="Tahoma"/>
                <a:cs typeface="Tahoma"/>
              </a:rPr>
              <a:t>trình</a:t>
            </a:r>
            <a:r>
              <a:rPr dirty="0" sz="3700" spc="325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b="1">
                <a:solidFill>
                  <a:srgbClr val="32322F"/>
                </a:solidFill>
                <a:latin typeface="Tahoma"/>
                <a:cs typeface="Tahoma"/>
              </a:rPr>
              <a:t>tạo</a:t>
            </a:r>
            <a:r>
              <a:rPr dirty="0" sz="3700" spc="330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spc="45" b="1">
                <a:solidFill>
                  <a:srgbClr val="32322F"/>
                </a:solidFill>
                <a:latin typeface="Tahoma"/>
                <a:cs typeface="Tahoma"/>
              </a:rPr>
              <a:t>số </a:t>
            </a:r>
            <a:r>
              <a:rPr dirty="0" sz="3700" spc="105" b="1">
                <a:solidFill>
                  <a:srgbClr val="32322F"/>
                </a:solidFill>
                <a:latin typeface="Tahoma"/>
                <a:cs typeface="Tahoma"/>
              </a:rPr>
              <a:t>ngẫu</a:t>
            </a:r>
            <a:r>
              <a:rPr dirty="0" sz="3700" spc="-295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spc="75" b="1">
                <a:solidFill>
                  <a:srgbClr val="32322F"/>
                </a:solidFill>
                <a:latin typeface="Tahoma"/>
                <a:cs typeface="Tahoma"/>
              </a:rPr>
              <a:t>nhiên</a:t>
            </a:r>
            <a:r>
              <a:rPr dirty="0" sz="3700" spc="-290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spc="220" b="1">
                <a:solidFill>
                  <a:srgbClr val="32322F"/>
                </a:solidFill>
                <a:latin typeface="Tahoma"/>
                <a:cs typeface="Tahoma"/>
              </a:rPr>
              <a:t>mặc</a:t>
            </a:r>
            <a:r>
              <a:rPr dirty="0" sz="3700" spc="-290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spc="114" b="1">
                <a:solidFill>
                  <a:srgbClr val="32322F"/>
                </a:solidFill>
                <a:latin typeface="Tahoma"/>
                <a:cs typeface="Tahoma"/>
              </a:rPr>
              <a:t>định</a:t>
            </a:r>
            <a:r>
              <a:rPr dirty="0" sz="3700" spc="-290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spc="50" b="1">
                <a:solidFill>
                  <a:srgbClr val="32322F"/>
                </a:solidFill>
                <a:latin typeface="Tahoma"/>
                <a:cs typeface="Tahoma"/>
              </a:rPr>
              <a:t>trong</a:t>
            </a:r>
            <a:r>
              <a:rPr dirty="0" sz="3700" spc="-295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spc="125" b="1">
                <a:solidFill>
                  <a:srgbClr val="32322F"/>
                </a:solidFill>
                <a:latin typeface="Tahoma"/>
                <a:cs typeface="Tahoma"/>
              </a:rPr>
              <a:t>module</a:t>
            </a:r>
            <a:r>
              <a:rPr dirty="0" sz="3700" spc="-290" b="1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700" spc="120" b="1">
                <a:solidFill>
                  <a:srgbClr val="32322F"/>
                </a:solidFill>
                <a:latin typeface="Tahoma"/>
                <a:cs typeface="Tahoma"/>
              </a:rPr>
              <a:t>numpy.random.</a:t>
            </a:r>
            <a:endParaRPr sz="37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49801" y="6947877"/>
            <a:ext cx="9991724" cy="206692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3468" y="-112236"/>
            <a:ext cx="7982584" cy="2098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600" spc="-305"/>
              <a:t>Gi</a:t>
            </a:r>
            <a:r>
              <a:rPr dirty="0" sz="13600" spc="-305">
                <a:latin typeface="Arial"/>
                <a:cs typeface="Arial"/>
              </a:rPr>
              <a:t>ớ</a:t>
            </a:r>
            <a:r>
              <a:rPr dirty="0" sz="13600" spc="-305"/>
              <a:t>i</a:t>
            </a:r>
            <a:r>
              <a:rPr dirty="0" sz="13600" spc="-665"/>
              <a:t> </a:t>
            </a:r>
            <a:r>
              <a:rPr dirty="0" sz="13600" spc="-10"/>
              <a:t>thi</a:t>
            </a:r>
            <a:r>
              <a:rPr dirty="0" sz="13600" spc="-10">
                <a:latin typeface="Arial"/>
                <a:cs typeface="Arial"/>
              </a:rPr>
              <a:t>ệ</a:t>
            </a:r>
            <a:r>
              <a:rPr dirty="0" sz="13600" spc="-10"/>
              <a:t>u</a:t>
            </a:r>
            <a:endParaRPr sz="1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50"/>
              <a:t>A.1.</a:t>
            </a:r>
            <a:r>
              <a:rPr dirty="0" spc="-135"/>
              <a:t> </a:t>
            </a:r>
            <a:r>
              <a:rPr dirty="0" spc="100"/>
              <a:t>C</a:t>
            </a:r>
            <a:r>
              <a:rPr dirty="0" spc="100">
                <a:latin typeface="Arial"/>
                <a:cs typeface="Arial"/>
              </a:rPr>
              <a:t>ấ</a:t>
            </a:r>
            <a:r>
              <a:rPr dirty="0" spc="100"/>
              <a:t>u</a:t>
            </a:r>
            <a:r>
              <a:rPr dirty="0" spc="-135"/>
              <a:t> </a:t>
            </a:r>
            <a:r>
              <a:rPr dirty="0"/>
              <a:t>trúc</a:t>
            </a:r>
            <a:r>
              <a:rPr dirty="0" spc="-130"/>
              <a:t> </a:t>
            </a:r>
            <a:r>
              <a:rPr dirty="0"/>
              <a:t>n</a:t>
            </a:r>
            <a:r>
              <a:rPr dirty="0">
                <a:latin typeface="Arial"/>
                <a:cs typeface="Arial"/>
              </a:rPr>
              <a:t>ộ</a:t>
            </a:r>
            <a:r>
              <a:rPr dirty="0"/>
              <a:t>i</a:t>
            </a:r>
            <a:r>
              <a:rPr dirty="0" spc="-135"/>
              <a:t> </a:t>
            </a:r>
            <a:r>
              <a:rPr dirty="0" spc="-40"/>
              <a:t>t</a:t>
            </a:r>
            <a:r>
              <a:rPr dirty="0" spc="-40">
                <a:latin typeface="Arial"/>
                <a:cs typeface="Arial"/>
              </a:rPr>
              <a:t>ạ</a:t>
            </a:r>
            <a:r>
              <a:rPr dirty="0" spc="-40"/>
              <a:t>i</a:t>
            </a:r>
            <a:r>
              <a:rPr dirty="0" spc="-130"/>
              <a:t> </a:t>
            </a:r>
            <a:r>
              <a:rPr dirty="0" spc="285"/>
              <a:t>c</a:t>
            </a:r>
            <a:r>
              <a:rPr dirty="0" spc="285">
                <a:latin typeface="Arial"/>
                <a:cs typeface="Arial"/>
              </a:rPr>
              <a:t>ủ</a:t>
            </a:r>
            <a:r>
              <a:rPr dirty="0" spc="285"/>
              <a:t>a</a:t>
            </a:r>
            <a:r>
              <a:rPr dirty="0" spc="-135"/>
              <a:t> </a:t>
            </a:r>
            <a:r>
              <a:rPr dirty="0" spc="50"/>
              <a:t>đ</a:t>
            </a:r>
            <a:r>
              <a:rPr dirty="0" spc="50">
                <a:latin typeface="Arial"/>
                <a:cs typeface="Arial"/>
              </a:rPr>
              <a:t>ố</a:t>
            </a:r>
            <a:r>
              <a:rPr dirty="0" spc="50"/>
              <a:t>i</a:t>
            </a:r>
            <a:r>
              <a:rPr dirty="0" spc="-130"/>
              <a:t> </a:t>
            </a:r>
            <a:r>
              <a:rPr dirty="0"/>
              <a:t>t</a:t>
            </a:r>
            <a:r>
              <a:rPr dirty="0">
                <a:latin typeface="Arial"/>
                <a:cs typeface="Arial"/>
              </a:rPr>
              <a:t>ượ</a:t>
            </a:r>
            <a:r>
              <a:rPr dirty="0"/>
              <a:t>ng</a:t>
            </a:r>
            <a:r>
              <a:rPr dirty="0" spc="-135"/>
              <a:t> </a:t>
            </a:r>
            <a:r>
              <a:rPr dirty="0" spc="110"/>
              <a:t>ndarray</a:t>
            </a:r>
            <a:r>
              <a:rPr dirty="0" spc="-130"/>
              <a:t> </a:t>
            </a:r>
            <a:r>
              <a:rPr dirty="0" spc="150"/>
              <a:t>(ndarray</a:t>
            </a:r>
            <a:r>
              <a:rPr dirty="0" spc="-135"/>
              <a:t> </a:t>
            </a:r>
            <a:r>
              <a:rPr dirty="0" spc="65"/>
              <a:t>Object</a:t>
            </a:r>
            <a:r>
              <a:rPr dirty="0" spc="-135"/>
              <a:t> </a:t>
            </a:r>
            <a:r>
              <a:rPr dirty="0" spc="50"/>
              <a:t>Internals)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1028699" y="541825"/>
            <a:ext cx="974090" cy="974090"/>
            <a:chOff x="1028699" y="541825"/>
            <a:chExt cx="974090" cy="974090"/>
          </a:xfrm>
        </p:grpSpPr>
        <p:sp>
          <p:nvSpPr>
            <p:cNvPr id="4" name="object 4" descr=""/>
            <p:cNvSpPr/>
            <p:nvPr/>
          </p:nvSpPr>
          <p:spPr>
            <a:xfrm>
              <a:off x="1028699" y="541825"/>
              <a:ext cx="974090" cy="974090"/>
            </a:xfrm>
            <a:custGeom>
              <a:avLst/>
              <a:gdLst/>
              <a:ahLst/>
              <a:cxnLst/>
              <a:rect l="l" t="t" r="r" b="b"/>
              <a:pathLst>
                <a:path w="974089" h="974090">
                  <a:moveTo>
                    <a:pt x="486874" y="973749"/>
                  </a:moveTo>
                  <a:lnTo>
                    <a:pt x="439985" y="971520"/>
                  </a:lnTo>
                  <a:lnTo>
                    <a:pt x="394357" y="964970"/>
                  </a:lnTo>
                  <a:lnTo>
                    <a:pt x="350194" y="954302"/>
                  </a:lnTo>
                  <a:lnTo>
                    <a:pt x="307699" y="939721"/>
                  </a:lnTo>
                  <a:lnTo>
                    <a:pt x="267078" y="921430"/>
                  </a:lnTo>
                  <a:lnTo>
                    <a:pt x="228535" y="899634"/>
                  </a:lnTo>
                  <a:lnTo>
                    <a:pt x="192272" y="874537"/>
                  </a:lnTo>
                  <a:lnTo>
                    <a:pt x="158495" y="846342"/>
                  </a:lnTo>
                  <a:lnTo>
                    <a:pt x="127407" y="815254"/>
                  </a:lnTo>
                  <a:lnTo>
                    <a:pt x="99212" y="781476"/>
                  </a:lnTo>
                  <a:lnTo>
                    <a:pt x="74114" y="745214"/>
                  </a:lnTo>
                  <a:lnTo>
                    <a:pt x="52318" y="706670"/>
                  </a:lnTo>
                  <a:lnTo>
                    <a:pt x="34028" y="666049"/>
                  </a:lnTo>
                  <a:lnTo>
                    <a:pt x="19446" y="623555"/>
                  </a:lnTo>
                  <a:lnTo>
                    <a:pt x="8779" y="579392"/>
                  </a:lnTo>
                  <a:lnTo>
                    <a:pt x="2228" y="533764"/>
                  </a:lnTo>
                  <a:lnTo>
                    <a:pt x="0" y="486874"/>
                  </a:lnTo>
                  <a:lnTo>
                    <a:pt x="2228" y="439985"/>
                  </a:lnTo>
                  <a:lnTo>
                    <a:pt x="8779" y="394357"/>
                  </a:lnTo>
                  <a:lnTo>
                    <a:pt x="19446" y="350194"/>
                  </a:lnTo>
                  <a:lnTo>
                    <a:pt x="34028" y="307699"/>
                  </a:lnTo>
                  <a:lnTo>
                    <a:pt x="52318" y="267078"/>
                  </a:lnTo>
                  <a:lnTo>
                    <a:pt x="74114" y="228535"/>
                  </a:lnTo>
                  <a:lnTo>
                    <a:pt x="99212" y="192272"/>
                  </a:lnTo>
                  <a:lnTo>
                    <a:pt x="127407" y="158495"/>
                  </a:lnTo>
                  <a:lnTo>
                    <a:pt x="158495" y="127407"/>
                  </a:lnTo>
                  <a:lnTo>
                    <a:pt x="192272" y="99212"/>
                  </a:lnTo>
                  <a:lnTo>
                    <a:pt x="228535" y="74114"/>
                  </a:lnTo>
                  <a:lnTo>
                    <a:pt x="267078" y="52318"/>
                  </a:lnTo>
                  <a:lnTo>
                    <a:pt x="307699" y="34028"/>
                  </a:lnTo>
                  <a:lnTo>
                    <a:pt x="350194" y="19446"/>
                  </a:lnTo>
                  <a:lnTo>
                    <a:pt x="394357" y="8779"/>
                  </a:lnTo>
                  <a:lnTo>
                    <a:pt x="439985" y="2228"/>
                  </a:lnTo>
                  <a:lnTo>
                    <a:pt x="486874" y="0"/>
                  </a:lnTo>
                  <a:lnTo>
                    <a:pt x="533764" y="2228"/>
                  </a:lnTo>
                  <a:lnTo>
                    <a:pt x="579392" y="8779"/>
                  </a:lnTo>
                  <a:lnTo>
                    <a:pt x="623555" y="19446"/>
                  </a:lnTo>
                  <a:lnTo>
                    <a:pt x="666049" y="34028"/>
                  </a:lnTo>
                  <a:lnTo>
                    <a:pt x="706670" y="52318"/>
                  </a:lnTo>
                  <a:lnTo>
                    <a:pt x="745214" y="74114"/>
                  </a:lnTo>
                  <a:lnTo>
                    <a:pt x="781476" y="99212"/>
                  </a:lnTo>
                  <a:lnTo>
                    <a:pt x="815254" y="127407"/>
                  </a:lnTo>
                  <a:lnTo>
                    <a:pt x="846342" y="158495"/>
                  </a:lnTo>
                  <a:lnTo>
                    <a:pt x="874537" y="192272"/>
                  </a:lnTo>
                  <a:lnTo>
                    <a:pt x="899634" y="228535"/>
                  </a:lnTo>
                  <a:lnTo>
                    <a:pt x="921430" y="267078"/>
                  </a:lnTo>
                  <a:lnTo>
                    <a:pt x="939721" y="307699"/>
                  </a:lnTo>
                  <a:lnTo>
                    <a:pt x="954302" y="350194"/>
                  </a:lnTo>
                  <a:lnTo>
                    <a:pt x="964970" y="394357"/>
                  </a:lnTo>
                  <a:lnTo>
                    <a:pt x="971520" y="439985"/>
                  </a:lnTo>
                  <a:lnTo>
                    <a:pt x="973749" y="486874"/>
                  </a:lnTo>
                  <a:lnTo>
                    <a:pt x="971520" y="533764"/>
                  </a:lnTo>
                  <a:lnTo>
                    <a:pt x="964970" y="579392"/>
                  </a:lnTo>
                  <a:lnTo>
                    <a:pt x="954302" y="623555"/>
                  </a:lnTo>
                  <a:lnTo>
                    <a:pt x="939721" y="666049"/>
                  </a:lnTo>
                  <a:lnTo>
                    <a:pt x="921430" y="706670"/>
                  </a:lnTo>
                  <a:lnTo>
                    <a:pt x="899634" y="745214"/>
                  </a:lnTo>
                  <a:lnTo>
                    <a:pt x="874537" y="781476"/>
                  </a:lnTo>
                  <a:lnTo>
                    <a:pt x="846342" y="815254"/>
                  </a:lnTo>
                  <a:lnTo>
                    <a:pt x="815254" y="846342"/>
                  </a:lnTo>
                  <a:lnTo>
                    <a:pt x="781476" y="874537"/>
                  </a:lnTo>
                  <a:lnTo>
                    <a:pt x="745214" y="899634"/>
                  </a:lnTo>
                  <a:lnTo>
                    <a:pt x="706670" y="921430"/>
                  </a:lnTo>
                  <a:lnTo>
                    <a:pt x="666049" y="939721"/>
                  </a:lnTo>
                  <a:lnTo>
                    <a:pt x="623555" y="954302"/>
                  </a:lnTo>
                  <a:lnTo>
                    <a:pt x="579392" y="964970"/>
                  </a:lnTo>
                  <a:lnTo>
                    <a:pt x="533764" y="971520"/>
                  </a:lnTo>
                  <a:lnTo>
                    <a:pt x="486874" y="973749"/>
                  </a:lnTo>
                  <a:close/>
                </a:path>
              </a:pathLst>
            </a:custGeom>
            <a:solidFill>
              <a:srgbClr val="32322F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119558" y="632682"/>
              <a:ext cx="792480" cy="792480"/>
            </a:xfrm>
            <a:custGeom>
              <a:avLst/>
              <a:gdLst/>
              <a:ahLst/>
              <a:cxnLst/>
              <a:rect l="l" t="t" r="r" b="b"/>
              <a:pathLst>
                <a:path w="792480" h="792480">
                  <a:moveTo>
                    <a:pt x="396016" y="792033"/>
                  </a:moveTo>
                  <a:lnTo>
                    <a:pt x="349832" y="789369"/>
                  </a:lnTo>
                  <a:lnTo>
                    <a:pt x="305213" y="781574"/>
                  </a:lnTo>
                  <a:lnTo>
                    <a:pt x="262456" y="768946"/>
                  </a:lnTo>
                  <a:lnTo>
                    <a:pt x="221858" y="751781"/>
                  </a:lnTo>
                  <a:lnTo>
                    <a:pt x="183716" y="730378"/>
                  </a:lnTo>
                  <a:lnTo>
                    <a:pt x="148328" y="705033"/>
                  </a:lnTo>
                  <a:lnTo>
                    <a:pt x="115990" y="676042"/>
                  </a:lnTo>
                  <a:lnTo>
                    <a:pt x="87000" y="643705"/>
                  </a:lnTo>
                  <a:lnTo>
                    <a:pt x="61655" y="608316"/>
                  </a:lnTo>
                  <a:lnTo>
                    <a:pt x="40251" y="570174"/>
                  </a:lnTo>
                  <a:lnTo>
                    <a:pt x="23087" y="529576"/>
                  </a:lnTo>
                  <a:lnTo>
                    <a:pt x="10459" y="486819"/>
                  </a:lnTo>
                  <a:lnTo>
                    <a:pt x="2664" y="442200"/>
                  </a:lnTo>
                  <a:lnTo>
                    <a:pt x="0" y="396016"/>
                  </a:lnTo>
                  <a:lnTo>
                    <a:pt x="2664" y="349832"/>
                  </a:lnTo>
                  <a:lnTo>
                    <a:pt x="10459" y="305213"/>
                  </a:lnTo>
                  <a:lnTo>
                    <a:pt x="23087" y="262456"/>
                  </a:lnTo>
                  <a:lnTo>
                    <a:pt x="40251" y="221858"/>
                  </a:lnTo>
                  <a:lnTo>
                    <a:pt x="61655" y="183716"/>
                  </a:lnTo>
                  <a:lnTo>
                    <a:pt x="87000" y="148328"/>
                  </a:lnTo>
                  <a:lnTo>
                    <a:pt x="115990" y="115990"/>
                  </a:lnTo>
                  <a:lnTo>
                    <a:pt x="148328" y="87000"/>
                  </a:lnTo>
                  <a:lnTo>
                    <a:pt x="183716" y="61655"/>
                  </a:lnTo>
                  <a:lnTo>
                    <a:pt x="221858" y="40251"/>
                  </a:lnTo>
                  <a:lnTo>
                    <a:pt x="262456" y="23087"/>
                  </a:lnTo>
                  <a:lnTo>
                    <a:pt x="305213" y="10459"/>
                  </a:lnTo>
                  <a:lnTo>
                    <a:pt x="349832" y="2664"/>
                  </a:lnTo>
                  <a:lnTo>
                    <a:pt x="396016" y="0"/>
                  </a:lnTo>
                  <a:lnTo>
                    <a:pt x="442200" y="2664"/>
                  </a:lnTo>
                  <a:lnTo>
                    <a:pt x="486819" y="10459"/>
                  </a:lnTo>
                  <a:lnTo>
                    <a:pt x="529577" y="23087"/>
                  </a:lnTo>
                  <a:lnTo>
                    <a:pt x="570175" y="40251"/>
                  </a:lnTo>
                  <a:lnTo>
                    <a:pt x="608316" y="61655"/>
                  </a:lnTo>
                  <a:lnTo>
                    <a:pt x="643705" y="87000"/>
                  </a:lnTo>
                  <a:lnTo>
                    <a:pt x="676043" y="115990"/>
                  </a:lnTo>
                  <a:lnTo>
                    <a:pt x="705033" y="148328"/>
                  </a:lnTo>
                  <a:lnTo>
                    <a:pt x="730378" y="183716"/>
                  </a:lnTo>
                  <a:lnTo>
                    <a:pt x="751782" y="221858"/>
                  </a:lnTo>
                  <a:lnTo>
                    <a:pt x="768946" y="262456"/>
                  </a:lnTo>
                  <a:lnTo>
                    <a:pt x="781574" y="305213"/>
                  </a:lnTo>
                  <a:lnTo>
                    <a:pt x="789369" y="349832"/>
                  </a:lnTo>
                  <a:lnTo>
                    <a:pt x="792033" y="396016"/>
                  </a:lnTo>
                  <a:lnTo>
                    <a:pt x="789369" y="442200"/>
                  </a:lnTo>
                  <a:lnTo>
                    <a:pt x="781574" y="486819"/>
                  </a:lnTo>
                  <a:lnTo>
                    <a:pt x="768946" y="529576"/>
                  </a:lnTo>
                  <a:lnTo>
                    <a:pt x="751782" y="570174"/>
                  </a:lnTo>
                  <a:lnTo>
                    <a:pt x="730378" y="608316"/>
                  </a:lnTo>
                  <a:lnTo>
                    <a:pt x="705033" y="643705"/>
                  </a:lnTo>
                  <a:lnTo>
                    <a:pt x="676043" y="676042"/>
                  </a:lnTo>
                  <a:lnTo>
                    <a:pt x="643705" y="705033"/>
                  </a:lnTo>
                  <a:lnTo>
                    <a:pt x="608316" y="730378"/>
                  </a:lnTo>
                  <a:lnTo>
                    <a:pt x="570175" y="751781"/>
                  </a:lnTo>
                  <a:lnTo>
                    <a:pt x="529577" y="768946"/>
                  </a:lnTo>
                  <a:lnTo>
                    <a:pt x="486819" y="781574"/>
                  </a:lnTo>
                  <a:lnTo>
                    <a:pt x="442200" y="789369"/>
                  </a:lnTo>
                  <a:lnTo>
                    <a:pt x="396016" y="792033"/>
                  </a:lnTo>
                  <a:close/>
                </a:path>
              </a:pathLst>
            </a:custGeom>
            <a:solidFill>
              <a:srgbClr val="32322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459878" y="839058"/>
            <a:ext cx="11112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715">
                <a:solidFill>
                  <a:srgbClr val="FFFFFF"/>
                </a:solidFill>
                <a:latin typeface="Lucida Sans Unicode"/>
                <a:cs typeface="Lucida Sans Unicode"/>
              </a:rPr>
              <a:t>1</a:t>
            </a:r>
            <a:endParaRPr sz="2100">
              <a:latin typeface="Lucida Sans Unicode"/>
              <a:cs typeface="Lucida Sans Unicode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97246" y="2117083"/>
            <a:ext cx="17083405" cy="65398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438150" marR="101600">
              <a:lnSpc>
                <a:spcPct val="115799"/>
              </a:lnSpc>
              <a:spcBef>
                <a:spcPts val="100"/>
              </a:spcBef>
            </a:pPr>
            <a:r>
              <a:rPr dirty="0" sz="3400" spc="130">
                <a:solidFill>
                  <a:srgbClr val="32322F"/>
                </a:solidFill>
                <a:latin typeface="Tahoma"/>
                <a:cs typeface="Tahoma"/>
              </a:rPr>
              <a:t>ndarray</a:t>
            </a:r>
            <a:r>
              <a:rPr dirty="0" sz="3400" spc="-17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10">
                <a:solidFill>
                  <a:srgbClr val="32322F"/>
                </a:solidFill>
                <a:latin typeface="Tahoma"/>
                <a:cs typeface="Tahoma"/>
              </a:rPr>
              <a:t>của</a:t>
            </a:r>
            <a:r>
              <a:rPr dirty="0" sz="3400" spc="-17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95">
                <a:solidFill>
                  <a:srgbClr val="32322F"/>
                </a:solidFill>
                <a:latin typeface="Tahoma"/>
                <a:cs typeface="Tahoma"/>
              </a:rPr>
              <a:t>NumPy</a:t>
            </a:r>
            <a:r>
              <a:rPr dirty="0" sz="3400" spc="-17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50">
                <a:solidFill>
                  <a:srgbClr val="32322F"/>
                </a:solidFill>
                <a:latin typeface="Tahoma"/>
                <a:cs typeface="Tahoma"/>
              </a:rPr>
              <a:t>cung</a:t>
            </a:r>
            <a:r>
              <a:rPr dirty="0" sz="3400" spc="-17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14">
                <a:solidFill>
                  <a:srgbClr val="32322F"/>
                </a:solidFill>
                <a:latin typeface="Tahoma"/>
                <a:cs typeface="Tahoma"/>
              </a:rPr>
              <a:t>cấp</a:t>
            </a:r>
            <a:r>
              <a:rPr dirty="0" sz="3400" spc="-17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95">
                <a:solidFill>
                  <a:srgbClr val="32322F"/>
                </a:solidFill>
                <a:latin typeface="Tahoma"/>
                <a:cs typeface="Tahoma"/>
              </a:rPr>
              <a:t>một</a:t>
            </a:r>
            <a:r>
              <a:rPr dirty="0" sz="3400" spc="-17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90">
                <a:solidFill>
                  <a:srgbClr val="32322F"/>
                </a:solidFill>
                <a:latin typeface="Tahoma"/>
                <a:cs typeface="Tahoma"/>
              </a:rPr>
              <a:t>cách</a:t>
            </a:r>
            <a:r>
              <a:rPr dirty="0" sz="3400" spc="-17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32322F"/>
                </a:solidFill>
                <a:latin typeface="Tahoma"/>
                <a:cs typeface="Tahoma"/>
              </a:rPr>
              <a:t>để</a:t>
            </a:r>
            <a:r>
              <a:rPr dirty="0" sz="3400" spc="-17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50">
                <a:solidFill>
                  <a:srgbClr val="32322F"/>
                </a:solidFill>
                <a:latin typeface="Tahoma"/>
                <a:cs typeface="Tahoma"/>
              </a:rPr>
              <a:t>diễn</a:t>
            </a:r>
            <a:r>
              <a:rPr dirty="0" sz="3400" spc="-17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32322F"/>
                </a:solidFill>
                <a:latin typeface="Tahoma"/>
                <a:cs typeface="Tahoma"/>
              </a:rPr>
              <a:t>giải</a:t>
            </a:r>
            <a:r>
              <a:rPr dirty="0" sz="3400" spc="-17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95">
                <a:solidFill>
                  <a:srgbClr val="32322F"/>
                </a:solidFill>
                <a:latin typeface="Tahoma"/>
                <a:cs typeface="Tahoma"/>
              </a:rPr>
              <a:t>một</a:t>
            </a:r>
            <a:r>
              <a:rPr dirty="0" sz="3400" spc="-17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45">
                <a:solidFill>
                  <a:srgbClr val="32322F"/>
                </a:solidFill>
                <a:latin typeface="Tahoma"/>
                <a:cs typeface="Tahoma"/>
              </a:rPr>
              <a:t>khối</a:t>
            </a:r>
            <a:r>
              <a:rPr dirty="0" sz="3400" spc="-17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210">
                <a:solidFill>
                  <a:srgbClr val="32322F"/>
                </a:solidFill>
                <a:latin typeface="Tahoma"/>
                <a:cs typeface="Tahoma"/>
              </a:rPr>
              <a:t>dữ</a:t>
            </a:r>
            <a:r>
              <a:rPr dirty="0" sz="3400" spc="-17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32322F"/>
                </a:solidFill>
                <a:latin typeface="Tahoma"/>
                <a:cs typeface="Tahoma"/>
              </a:rPr>
              <a:t>liệu</a:t>
            </a:r>
            <a:r>
              <a:rPr dirty="0" sz="3400" spc="-17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20">
                <a:solidFill>
                  <a:srgbClr val="32322F"/>
                </a:solidFill>
                <a:latin typeface="Tahoma"/>
                <a:cs typeface="Tahoma"/>
              </a:rPr>
              <a:t>có</a:t>
            </a:r>
            <a:r>
              <a:rPr dirty="0" sz="3400" spc="-17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30">
                <a:solidFill>
                  <a:srgbClr val="32322F"/>
                </a:solidFill>
                <a:latin typeface="Tahoma"/>
                <a:cs typeface="Tahoma"/>
              </a:rPr>
              <a:t>kiểu</a:t>
            </a:r>
            <a:r>
              <a:rPr dirty="0" sz="3400" spc="-17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60">
                <a:solidFill>
                  <a:srgbClr val="32322F"/>
                </a:solidFill>
                <a:latin typeface="Tahoma"/>
                <a:cs typeface="Tahoma"/>
              </a:rPr>
              <a:t>đồng </a:t>
            </a:r>
            <a:r>
              <a:rPr dirty="0" sz="3400" spc="135">
                <a:solidFill>
                  <a:srgbClr val="32322F"/>
                </a:solidFill>
                <a:latin typeface="Tahoma"/>
                <a:cs typeface="Tahoma"/>
              </a:rPr>
              <a:t>nhất</a:t>
            </a:r>
            <a:r>
              <a:rPr dirty="0" sz="3400" spc="-15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>
                <a:solidFill>
                  <a:srgbClr val="32322F"/>
                </a:solidFill>
                <a:latin typeface="Tahoma"/>
                <a:cs typeface="Tahoma"/>
              </a:rPr>
              <a:t>(liền</a:t>
            </a:r>
            <a:r>
              <a:rPr dirty="0" sz="3400" spc="-14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14">
                <a:solidFill>
                  <a:srgbClr val="32322F"/>
                </a:solidFill>
                <a:latin typeface="Tahoma"/>
                <a:cs typeface="Tahoma"/>
              </a:rPr>
              <a:t>kề</a:t>
            </a:r>
            <a:r>
              <a:rPr dirty="0" sz="3400" spc="-14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30">
                <a:solidFill>
                  <a:srgbClr val="32322F"/>
                </a:solidFill>
                <a:latin typeface="Tahoma"/>
                <a:cs typeface="Tahoma"/>
              </a:rPr>
              <a:t>hoặc</a:t>
            </a:r>
            <a:r>
              <a:rPr dirty="0" sz="3400" spc="-14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20">
                <a:solidFill>
                  <a:srgbClr val="32322F"/>
                </a:solidFill>
                <a:latin typeface="Tahoma"/>
                <a:cs typeface="Tahoma"/>
              </a:rPr>
              <a:t>có</a:t>
            </a:r>
            <a:r>
              <a:rPr dirty="0" sz="3400" spc="-14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55">
                <a:solidFill>
                  <a:srgbClr val="32322F"/>
                </a:solidFill>
                <a:latin typeface="Tahoma"/>
                <a:cs typeface="Tahoma"/>
              </a:rPr>
              <a:t>bước</a:t>
            </a:r>
            <a:r>
              <a:rPr dirty="0" sz="3400" spc="-14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>
                <a:solidFill>
                  <a:srgbClr val="32322F"/>
                </a:solidFill>
                <a:latin typeface="Tahoma"/>
                <a:cs typeface="Tahoma"/>
              </a:rPr>
              <a:t>nhảy)</a:t>
            </a:r>
            <a:r>
              <a:rPr dirty="0" sz="3400" spc="-14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95">
                <a:solidFill>
                  <a:srgbClr val="32322F"/>
                </a:solidFill>
                <a:latin typeface="Tahoma"/>
                <a:cs typeface="Tahoma"/>
              </a:rPr>
              <a:t>như</a:t>
            </a:r>
            <a:r>
              <a:rPr dirty="0" sz="3400" spc="-14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95">
                <a:solidFill>
                  <a:srgbClr val="32322F"/>
                </a:solidFill>
                <a:latin typeface="Tahoma"/>
                <a:cs typeface="Tahoma"/>
              </a:rPr>
              <a:t>một</a:t>
            </a:r>
            <a:r>
              <a:rPr dirty="0" sz="3400" spc="-15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40">
                <a:solidFill>
                  <a:srgbClr val="32322F"/>
                </a:solidFill>
                <a:latin typeface="Tahoma"/>
                <a:cs typeface="Tahoma"/>
              </a:rPr>
              <a:t>đối</a:t>
            </a:r>
            <a:r>
              <a:rPr dirty="0" sz="3400" spc="-14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70">
                <a:solidFill>
                  <a:srgbClr val="32322F"/>
                </a:solidFill>
                <a:latin typeface="Tahoma"/>
                <a:cs typeface="Tahoma"/>
              </a:rPr>
              <a:t>tượng</a:t>
            </a:r>
            <a:r>
              <a:rPr dirty="0" sz="3400" spc="-14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200">
                <a:solidFill>
                  <a:srgbClr val="32322F"/>
                </a:solidFill>
                <a:latin typeface="Tahoma"/>
                <a:cs typeface="Tahoma"/>
              </a:rPr>
              <a:t>mảng</a:t>
            </a:r>
            <a:r>
              <a:rPr dirty="0" sz="3400" spc="-14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14">
                <a:solidFill>
                  <a:srgbClr val="32322F"/>
                </a:solidFill>
                <a:latin typeface="Tahoma"/>
                <a:cs typeface="Tahoma"/>
              </a:rPr>
              <a:t>đa</a:t>
            </a:r>
            <a:r>
              <a:rPr dirty="0" sz="3400" spc="-14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85">
                <a:solidFill>
                  <a:srgbClr val="32322F"/>
                </a:solidFill>
                <a:latin typeface="Tahoma"/>
                <a:cs typeface="Tahoma"/>
              </a:rPr>
              <a:t>chiều.</a:t>
            </a:r>
            <a:r>
              <a:rPr dirty="0" sz="3400" spc="-14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32322F"/>
                </a:solidFill>
                <a:latin typeface="Tahoma"/>
                <a:cs typeface="Tahoma"/>
              </a:rPr>
              <a:t>Kiểu</a:t>
            </a:r>
            <a:r>
              <a:rPr dirty="0" sz="3400" spc="-14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210">
                <a:solidFill>
                  <a:srgbClr val="32322F"/>
                </a:solidFill>
                <a:latin typeface="Tahoma"/>
                <a:cs typeface="Tahoma"/>
              </a:rPr>
              <a:t>dữ</a:t>
            </a:r>
            <a:r>
              <a:rPr dirty="0" sz="3400" spc="-14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55">
                <a:solidFill>
                  <a:srgbClr val="32322F"/>
                </a:solidFill>
                <a:latin typeface="Tahoma"/>
                <a:cs typeface="Tahoma"/>
              </a:rPr>
              <a:t>liệu, </a:t>
            </a:r>
            <a:r>
              <a:rPr dirty="0" sz="3400" spc="105">
                <a:solidFill>
                  <a:srgbClr val="32322F"/>
                </a:solidFill>
                <a:latin typeface="Tahoma"/>
                <a:cs typeface="Tahoma"/>
              </a:rPr>
              <a:t>hay</a:t>
            </a:r>
            <a:r>
              <a:rPr dirty="0" sz="3400" spc="-17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80">
                <a:solidFill>
                  <a:srgbClr val="32322F"/>
                </a:solidFill>
                <a:latin typeface="Tahoma"/>
                <a:cs typeface="Tahoma"/>
              </a:rPr>
              <a:t>dtype,</a:t>
            </a:r>
            <a:r>
              <a:rPr dirty="0" sz="3400" spc="-17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20">
                <a:solidFill>
                  <a:srgbClr val="32322F"/>
                </a:solidFill>
                <a:latin typeface="Tahoma"/>
                <a:cs typeface="Tahoma"/>
              </a:rPr>
              <a:t>quyết</a:t>
            </a:r>
            <a:r>
              <a:rPr dirty="0" sz="3400" spc="-17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50">
                <a:solidFill>
                  <a:srgbClr val="32322F"/>
                </a:solidFill>
                <a:latin typeface="Tahoma"/>
                <a:cs typeface="Tahoma"/>
              </a:rPr>
              <a:t>định</a:t>
            </a:r>
            <a:r>
              <a:rPr dirty="0" sz="3400" spc="-17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90">
                <a:solidFill>
                  <a:srgbClr val="32322F"/>
                </a:solidFill>
                <a:latin typeface="Tahoma"/>
                <a:cs typeface="Tahoma"/>
              </a:rPr>
              <a:t>cách</a:t>
            </a:r>
            <a:r>
              <a:rPr dirty="0" sz="3400" spc="-17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210">
                <a:solidFill>
                  <a:srgbClr val="32322F"/>
                </a:solidFill>
                <a:latin typeface="Tahoma"/>
                <a:cs typeface="Tahoma"/>
              </a:rPr>
              <a:t>dữ</a:t>
            </a:r>
            <a:r>
              <a:rPr dirty="0" sz="3400" spc="-17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32322F"/>
                </a:solidFill>
                <a:latin typeface="Tahoma"/>
                <a:cs typeface="Tahoma"/>
              </a:rPr>
              <a:t>liệu</a:t>
            </a:r>
            <a:r>
              <a:rPr dirty="0" sz="3400" spc="-17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40">
                <a:solidFill>
                  <a:srgbClr val="32322F"/>
                </a:solidFill>
                <a:latin typeface="Tahoma"/>
                <a:cs typeface="Tahoma"/>
              </a:rPr>
              <a:t>được</a:t>
            </a:r>
            <a:r>
              <a:rPr dirty="0" sz="3400" spc="-17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50">
                <a:solidFill>
                  <a:srgbClr val="32322F"/>
                </a:solidFill>
                <a:latin typeface="Tahoma"/>
                <a:cs typeface="Tahoma"/>
              </a:rPr>
              <a:t>diễn</a:t>
            </a:r>
            <a:r>
              <a:rPr dirty="0" sz="3400" spc="-17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32322F"/>
                </a:solidFill>
                <a:latin typeface="Tahoma"/>
                <a:cs typeface="Tahoma"/>
              </a:rPr>
              <a:t>giải</a:t>
            </a:r>
            <a:r>
              <a:rPr dirty="0" sz="3400" spc="-17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00">
                <a:solidFill>
                  <a:srgbClr val="32322F"/>
                </a:solidFill>
                <a:latin typeface="Tahoma"/>
                <a:cs typeface="Tahoma"/>
              </a:rPr>
              <a:t>là</a:t>
            </a:r>
            <a:r>
              <a:rPr dirty="0" sz="3400" spc="-17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50">
                <a:solidFill>
                  <a:srgbClr val="32322F"/>
                </a:solidFill>
                <a:latin typeface="Tahoma"/>
                <a:cs typeface="Tahoma"/>
              </a:rPr>
              <a:t>số</a:t>
            </a:r>
            <a:r>
              <a:rPr dirty="0" sz="3400" spc="-17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80">
                <a:solidFill>
                  <a:srgbClr val="32322F"/>
                </a:solidFill>
                <a:latin typeface="Tahoma"/>
                <a:cs typeface="Tahoma"/>
              </a:rPr>
              <a:t>thực,</a:t>
            </a:r>
            <a:r>
              <a:rPr dirty="0" sz="3400" spc="-17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50">
                <a:solidFill>
                  <a:srgbClr val="32322F"/>
                </a:solidFill>
                <a:latin typeface="Tahoma"/>
                <a:cs typeface="Tahoma"/>
              </a:rPr>
              <a:t>số</a:t>
            </a:r>
            <a:r>
              <a:rPr dirty="0" sz="3400" spc="-17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10">
                <a:solidFill>
                  <a:srgbClr val="32322F"/>
                </a:solidFill>
                <a:latin typeface="Tahoma"/>
                <a:cs typeface="Tahoma"/>
              </a:rPr>
              <a:t>nguyên,</a:t>
            </a:r>
            <a:r>
              <a:rPr dirty="0" sz="3400" spc="-17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10">
                <a:solidFill>
                  <a:srgbClr val="32322F"/>
                </a:solidFill>
                <a:latin typeface="Tahoma"/>
                <a:cs typeface="Tahoma"/>
              </a:rPr>
              <a:t>Boolean, </a:t>
            </a:r>
            <a:r>
              <a:rPr dirty="0" sz="3400" spc="130">
                <a:solidFill>
                  <a:srgbClr val="32322F"/>
                </a:solidFill>
                <a:latin typeface="Tahoma"/>
                <a:cs typeface="Tahoma"/>
              </a:rPr>
              <a:t>hoặc</a:t>
            </a:r>
            <a:r>
              <a:rPr dirty="0" sz="3400" spc="-17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32322F"/>
                </a:solidFill>
                <a:latin typeface="Tahoma"/>
                <a:cs typeface="Tahoma"/>
              </a:rPr>
              <a:t>bất</a:t>
            </a:r>
            <a:r>
              <a:rPr dirty="0" sz="3400" spc="-17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70">
                <a:solidFill>
                  <a:srgbClr val="32322F"/>
                </a:solidFill>
                <a:latin typeface="Tahoma"/>
                <a:cs typeface="Tahoma"/>
              </a:rPr>
              <a:t>kỳ</a:t>
            </a:r>
            <a:r>
              <a:rPr dirty="0" sz="3400" spc="-17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30">
                <a:solidFill>
                  <a:srgbClr val="32322F"/>
                </a:solidFill>
                <a:latin typeface="Tahoma"/>
                <a:cs typeface="Tahoma"/>
              </a:rPr>
              <a:t>kiểu</a:t>
            </a:r>
            <a:r>
              <a:rPr dirty="0" sz="3400" spc="-17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60">
                <a:solidFill>
                  <a:srgbClr val="32322F"/>
                </a:solidFill>
                <a:latin typeface="Tahoma"/>
                <a:cs typeface="Tahoma"/>
              </a:rPr>
              <a:t>nào</a:t>
            </a:r>
            <a:r>
              <a:rPr dirty="0" sz="3400" spc="-17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10">
                <a:solidFill>
                  <a:srgbClr val="32322F"/>
                </a:solidFill>
                <a:latin typeface="Tahoma"/>
                <a:cs typeface="Tahoma"/>
              </a:rPr>
              <a:t>khác</a:t>
            </a:r>
            <a:r>
              <a:rPr dirty="0" sz="3400" spc="-17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204">
                <a:solidFill>
                  <a:srgbClr val="32322F"/>
                </a:solidFill>
                <a:latin typeface="Tahoma"/>
                <a:cs typeface="Tahoma"/>
              </a:rPr>
              <a:t>mà</a:t>
            </a:r>
            <a:r>
              <a:rPr dirty="0" sz="3400" spc="-17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60">
                <a:solidFill>
                  <a:srgbClr val="32322F"/>
                </a:solidFill>
                <a:latin typeface="Tahoma"/>
                <a:cs typeface="Tahoma"/>
              </a:rPr>
              <a:t>chúng</a:t>
            </a:r>
            <a:r>
              <a:rPr dirty="0" sz="3400" spc="-17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90">
                <a:solidFill>
                  <a:srgbClr val="32322F"/>
                </a:solidFill>
                <a:latin typeface="Tahoma"/>
                <a:cs typeface="Tahoma"/>
              </a:rPr>
              <a:t>ta</a:t>
            </a:r>
            <a:r>
              <a:rPr dirty="0" sz="3400" spc="-17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14">
                <a:solidFill>
                  <a:srgbClr val="32322F"/>
                </a:solidFill>
                <a:latin typeface="Tahoma"/>
                <a:cs typeface="Tahoma"/>
              </a:rPr>
              <a:t>đã</a:t>
            </a:r>
            <a:r>
              <a:rPr dirty="0" sz="3400" spc="-17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65">
                <a:solidFill>
                  <a:srgbClr val="32322F"/>
                </a:solidFill>
                <a:latin typeface="Tahoma"/>
                <a:cs typeface="Tahoma"/>
              </a:rPr>
              <a:t>xem</a:t>
            </a:r>
            <a:r>
              <a:rPr dirty="0" sz="3400" spc="-17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-20">
                <a:solidFill>
                  <a:srgbClr val="32322F"/>
                </a:solidFill>
                <a:latin typeface="Tahoma"/>
                <a:cs typeface="Tahoma"/>
              </a:rPr>
              <a:t>xét.</a:t>
            </a:r>
            <a:endParaRPr sz="3400">
              <a:latin typeface="Tahoma"/>
              <a:cs typeface="Tahoma"/>
            </a:endParaRPr>
          </a:p>
          <a:p>
            <a:pPr algn="ctr" marL="12065" marR="5080">
              <a:lnSpc>
                <a:spcPct val="115799"/>
              </a:lnSpc>
              <a:spcBef>
                <a:spcPts val="4045"/>
              </a:spcBef>
            </a:pPr>
            <a:r>
              <a:rPr dirty="0" sz="3400" spc="235">
                <a:solidFill>
                  <a:srgbClr val="32322F"/>
                </a:solidFill>
                <a:latin typeface="Tahoma"/>
                <a:cs typeface="Tahoma"/>
              </a:rPr>
              <a:t>Một</a:t>
            </a:r>
            <a:r>
              <a:rPr dirty="0" sz="3400" spc="-17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65">
                <a:solidFill>
                  <a:srgbClr val="32322F"/>
                </a:solidFill>
                <a:latin typeface="Tahoma"/>
                <a:cs typeface="Tahoma"/>
              </a:rPr>
              <a:t>phần</a:t>
            </a:r>
            <a:r>
              <a:rPr dirty="0" sz="3400" spc="-17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70">
                <a:solidFill>
                  <a:srgbClr val="32322F"/>
                </a:solidFill>
                <a:latin typeface="Tahoma"/>
                <a:cs typeface="Tahoma"/>
              </a:rPr>
              <a:t>làm</a:t>
            </a:r>
            <a:r>
              <a:rPr dirty="0" sz="3400" spc="-17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40">
                <a:solidFill>
                  <a:srgbClr val="32322F"/>
                </a:solidFill>
                <a:latin typeface="Tahoma"/>
                <a:cs typeface="Tahoma"/>
              </a:rPr>
              <a:t>cho</a:t>
            </a:r>
            <a:r>
              <a:rPr dirty="0" sz="3400" spc="-17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30">
                <a:solidFill>
                  <a:srgbClr val="32322F"/>
                </a:solidFill>
                <a:latin typeface="Tahoma"/>
                <a:cs typeface="Tahoma"/>
              </a:rPr>
              <a:t>ndarray</a:t>
            </a:r>
            <a:r>
              <a:rPr dirty="0" sz="3400" spc="-17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32322F"/>
                </a:solidFill>
                <a:latin typeface="Tahoma"/>
                <a:cs typeface="Tahoma"/>
              </a:rPr>
              <a:t>trở</a:t>
            </a:r>
            <a:r>
              <a:rPr dirty="0" sz="3400" spc="-17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65">
                <a:solidFill>
                  <a:srgbClr val="32322F"/>
                </a:solidFill>
                <a:latin typeface="Tahoma"/>
                <a:cs typeface="Tahoma"/>
              </a:rPr>
              <a:t>nên</a:t>
            </a:r>
            <a:r>
              <a:rPr dirty="0" sz="3400" spc="-17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40">
                <a:solidFill>
                  <a:srgbClr val="32322F"/>
                </a:solidFill>
                <a:latin typeface="Tahoma"/>
                <a:cs typeface="Tahoma"/>
              </a:rPr>
              <a:t>linh</a:t>
            </a:r>
            <a:r>
              <a:rPr dirty="0" sz="3400" spc="-17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40">
                <a:solidFill>
                  <a:srgbClr val="32322F"/>
                </a:solidFill>
                <a:latin typeface="Tahoma"/>
                <a:cs typeface="Tahoma"/>
              </a:rPr>
              <a:t>hoạt</a:t>
            </a:r>
            <a:r>
              <a:rPr dirty="0" sz="3400" spc="-17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00">
                <a:solidFill>
                  <a:srgbClr val="32322F"/>
                </a:solidFill>
                <a:latin typeface="Tahoma"/>
                <a:cs typeface="Tahoma"/>
              </a:rPr>
              <a:t>là</a:t>
            </a:r>
            <a:r>
              <a:rPr dirty="0" sz="3400" spc="-17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200">
                <a:solidFill>
                  <a:srgbClr val="32322F"/>
                </a:solidFill>
                <a:latin typeface="Tahoma"/>
                <a:cs typeface="Tahoma"/>
              </a:rPr>
              <a:t>mỗi</a:t>
            </a:r>
            <a:r>
              <a:rPr dirty="0" sz="3400" spc="-17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40">
                <a:solidFill>
                  <a:srgbClr val="32322F"/>
                </a:solidFill>
                <a:latin typeface="Tahoma"/>
                <a:cs typeface="Tahoma"/>
              </a:rPr>
              <a:t>đối</a:t>
            </a:r>
            <a:r>
              <a:rPr dirty="0" sz="3400" spc="-17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70">
                <a:solidFill>
                  <a:srgbClr val="32322F"/>
                </a:solidFill>
                <a:latin typeface="Tahoma"/>
                <a:cs typeface="Tahoma"/>
              </a:rPr>
              <a:t>tượng</a:t>
            </a:r>
            <a:r>
              <a:rPr dirty="0" sz="3400" spc="-17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200">
                <a:solidFill>
                  <a:srgbClr val="32322F"/>
                </a:solidFill>
                <a:latin typeface="Tahoma"/>
                <a:cs typeface="Tahoma"/>
              </a:rPr>
              <a:t>mảng</a:t>
            </a:r>
            <a:r>
              <a:rPr dirty="0" sz="3400" spc="-17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45">
                <a:solidFill>
                  <a:srgbClr val="32322F"/>
                </a:solidFill>
                <a:latin typeface="Tahoma"/>
                <a:cs typeface="Tahoma"/>
              </a:rPr>
              <a:t>đều</a:t>
            </a:r>
            <a:r>
              <a:rPr dirty="0" sz="3400" spc="-17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00">
                <a:solidFill>
                  <a:srgbClr val="32322F"/>
                </a:solidFill>
                <a:latin typeface="Tahoma"/>
                <a:cs typeface="Tahoma"/>
              </a:rPr>
              <a:t>là</a:t>
            </a:r>
            <a:r>
              <a:rPr dirty="0" sz="3400" spc="-17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70">
                <a:solidFill>
                  <a:srgbClr val="32322F"/>
                </a:solidFill>
                <a:latin typeface="Tahoma"/>
                <a:cs typeface="Tahoma"/>
              </a:rPr>
              <a:t>một khung</a:t>
            </a:r>
            <a:r>
              <a:rPr dirty="0" sz="3400" spc="-17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65">
                <a:solidFill>
                  <a:srgbClr val="32322F"/>
                </a:solidFill>
                <a:latin typeface="Tahoma"/>
                <a:cs typeface="Tahoma"/>
              </a:rPr>
              <a:t>nhìn</a:t>
            </a:r>
            <a:r>
              <a:rPr dirty="0" sz="3400" spc="-17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20">
                <a:solidFill>
                  <a:srgbClr val="32322F"/>
                </a:solidFill>
                <a:latin typeface="Tahoma"/>
                <a:cs typeface="Tahoma"/>
              </a:rPr>
              <a:t>có</a:t>
            </a:r>
            <a:r>
              <a:rPr dirty="0" sz="3400" spc="-17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55">
                <a:solidFill>
                  <a:srgbClr val="32322F"/>
                </a:solidFill>
                <a:latin typeface="Tahoma"/>
                <a:cs typeface="Tahoma"/>
              </a:rPr>
              <a:t>bước</a:t>
            </a:r>
            <a:r>
              <a:rPr dirty="0" sz="3400" spc="-17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32322F"/>
                </a:solidFill>
                <a:latin typeface="Tahoma"/>
                <a:cs typeface="Tahoma"/>
              </a:rPr>
              <a:t>nhảy</a:t>
            </a:r>
            <a:r>
              <a:rPr dirty="0" sz="3400" spc="-17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85">
                <a:solidFill>
                  <a:srgbClr val="32322F"/>
                </a:solidFill>
                <a:latin typeface="Tahoma"/>
                <a:cs typeface="Tahoma"/>
              </a:rPr>
              <a:t>(strided</a:t>
            </a:r>
            <a:r>
              <a:rPr dirty="0" sz="3400" spc="-17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>
                <a:solidFill>
                  <a:srgbClr val="32322F"/>
                </a:solidFill>
                <a:latin typeface="Tahoma"/>
                <a:cs typeface="Tahoma"/>
              </a:rPr>
              <a:t>view)</a:t>
            </a:r>
            <a:r>
              <a:rPr dirty="0" sz="3400" spc="-17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30">
                <a:solidFill>
                  <a:srgbClr val="32322F"/>
                </a:solidFill>
                <a:latin typeface="Tahoma"/>
                <a:cs typeface="Tahoma"/>
              </a:rPr>
              <a:t>trên</a:t>
            </a:r>
            <a:r>
              <a:rPr dirty="0" sz="3400" spc="-17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95">
                <a:solidFill>
                  <a:srgbClr val="32322F"/>
                </a:solidFill>
                <a:latin typeface="Tahoma"/>
                <a:cs typeface="Tahoma"/>
              </a:rPr>
              <a:t>một</a:t>
            </a:r>
            <a:r>
              <a:rPr dirty="0" sz="3400" spc="-17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45">
                <a:solidFill>
                  <a:srgbClr val="32322F"/>
                </a:solidFill>
                <a:latin typeface="Tahoma"/>
                <a:cs typeface="Tahoma"/>
              </a:rPr>
              <a:t>khối</a:t>
            </a:r>
            <a:r>
              <a:rPr dirty="0" sz="3400" spc="-17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210">
                <a:solidFill>
                  <a:srgbClr val="32322F"/>
                </a:solidFill>
                <a:latin typeface="Tahoma"/>
                <a:cs typeface="Tahoma"/>
              </a:rPr>
              <a:t>dữ</a:t>
            </a:r>
            <a:r>
              <a:rPr dirty="0" sz="3400" spc="-17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75">
                <a:solidFill>
                  <a:srgbClr val="32322F"/>
                </a:solidFill>
                <a:latin typeface="Tahoma"/>
                <a:cs typeface="Tahoma"/>
              </a:rPr>
              <a:t>liệu.</a:t>
            </a:r>
            <a:r>
              <a:rPr dirty="0" sz="3400" spc="-17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60">
                <a:solidFill>
                  <a:srgbClr val="32322F"/>
                </a:solidFill>
                <a:latin typeface="Tahoma"/>
                <a:cs typeface="Tahoma"/>
              </a:rPr>
              <a:t>Bạn</a:t>
            </a:r>
            <a:r>
              <a:rPr dirty="0" sz="3400" spc="-17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20">
                <a:solidFill>
                  <a:srgbClr val="32322F"/>
                </a:solidFill>
                <a:latin typeface="Tahoma"/>
                <a:cs typeface="Tahoma"/>
              </a:rPr>
              <a:t>có</a:t>
            </a:r>
            <a:r>
              <a:rPr dirty="0" sz="3400" spc="-16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32322F"/>
                </a:solidFill>
                <a:latin typeface="Tahoma"/>
                <a:cs typeface="Tahoma"/>
              </a:rPr>
              <a:t>thể</a:t>
            </a:r>
            <a:r>
              <a:rPr dirty="0" sz="3400" spc="-17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50">
                <a:solidFill>
                  <a:srgbClr val="32322F"/>
                </a:solidFill>
                <a:latin typeface="Tahoma"/>
                <a:cs typeface="Tahoma"/>
              </a:rPr>
              <a:t>tự</a:t>
            </a:r>
            <a:r>
              <a:rPr dirty="0" sz="3400" spc="-17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90">
                <a:solidFill>
                  <a:srgbClr val="32322F"/>
                </a:solidFill>
                <a:latin typeface="Tahoma"/>
                <a:cs typeface="Tahoma"/>
              </a:rPr>
              <a:t>hỏi,</a:t>
            </a:r>
            <a:r>
              <a:rPr dirty="0" sz="3400" spc="-17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35">
                <a:solidFill>
                  <a:srgbClr val="32322F"/>
                </a:solidFill>
                <a:latin typeface="Tahoma"/>
                <a:cs typeface="Tahoma"/>
              </a:rPr>
              <a:t>ví </a:t>
            </a:r>
            <a:r>
              <a:rPr dirty="0" sz="3400" spc="85">
                <a:solidFill>
                  <a:srgbClr val="32322F"/>
                </a:solidFill>
                <a:latin typeface="Tahoma"/>
                <a:cs typeface="Tahoma"/>
              </a:rPr>
              <a:t>dụ,</a:t>
            </a:r>
            <a:r>
              <a:rPr dirty="0" sz="3400" spc="-18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70">
                <a:solidFill>
                  <a:srgbClr val="32322F"/>
                </a:solidFill>
                <a:latin typeface="Tahoma"/>
                <a:cs typeface="Tahoma"/>
              </a:rPr>
              <a:t>làm</a:t>
            </a:r>
            <a:r>
              <a:rPr dirty="0" sz="3400" spc="-17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32322F"/>
                </a:solidFill>
                <a:latin typeface="Tahoma"/>
                <a:cs typeface="Tahoma"/>
              </a:rPr>
              <a:t>thế</a:t>
            </a:r>
            <a:r>
              <a:rPr dirty="0" sz="3400" spc="-18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60">
                <a:solidFill>
                  <a:srgbClr val="32322F"/>
                </a:solidFill>
                <a:latin typeface="Tahoma"/>
                <a:cs typeface="Tahoma"/>
              </a:rPr>
              <a:t>nào</a:t>
            </a:r>
            <a:r>
              <a:rPr dirty="0" sz="3400" spc="-17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204">
                <a:solidFill>
                  <a:srgbClr val="32322F"/>
                </a:solidFill>
                <a:latin typeface="Tahoma"/>
                <a:cs typeface="Tahoma"/>
              </a:rPr>
              <a:t>mà</a:t>
            </a:r>
            <a:r>
              <a:rPr dirty="0" sz="3400" spc="-17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70">
                <a:solidFill>
                  <a:srgbClr val="32322F"/>
                </a:solidFill>
                <a:latin typeface="Tahoma"/>
                <a:cs typeface="Tahoma"/>
              </a:rPr>
              <a:t>khung</a:t>
            </a:r>
            <a:r>
              <a:rPr dirty="0" sz="3400" spc="-18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65">
                <a:solidFill>
                  <a:srgbClr val="32322F"/>
                </a:solidFill>
                <a:latin typeface="Tahoma"/>
                <a:cs typeface="Tahoma"/>
              </a:rPr>
              <a:t>nhìn</a:t>
            </a:r>
            <a:r>
              <a:rPr dirty="0" sz="3400" spc="-17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-45">
                <a:solidFill>
                  <a:srgbClr val="32322F"/>
                </a:solidFill>
                <a:latin typeface="Tahoma"/>
                <a:cs typeface="Tahoma"/>
              </a:rPr>
              <a:t>arr[::2,</a:t>
            </a:r>
            <a:r>
              <a:rPr dirty="0" sz="3400" spc="-18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-254">
                <a:solidFill>
                  <a:srgbClr val="32322F"/>
                </a:solidFill>
                <a:latin typeface="Tahoma"/>
                <a:cs typeface="Tahoma"/>
              </a:rPr>
              <a:t>::-</a:t>
            </a:r>
            <a:r>
              <a:rPr dirty="0" sz="3400" spc="-10">
                <a:solidFill>
                  <a:srgbClr val="32322F"/>
                </a:solidFill>
                <a:latin typeface="Tahoma"/>
                <a:cs typeface="Tahoma"/>
              </a:rPr>
              <a:t>1]</a:t>
            </a:r>
            <a:r>
              <a:rPr dirty="0" sz="3400" spc="-17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75">
                <a:solidFill>
                  <a:srgbClr val="32322F"/>
                </a:solidFill>
                <a:latin typeface="Tahoma"/>
                <a:cs typeface="Tahoma"/>
              </a:rPr>
              <a:t>không</a:t>
            </a:r>
            <a:r>
              <a:rPr dirty="0" sz="3400" spc="-17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35">
                <a:solidFill>
                  <a:srgbClr val="32322F"/>
                </a:solidFill>
                <a:latin typeface="Tahoma"/>
                <a:cs typeface="Tahoma"/>
              </a:rPr>
              <a:t>sao</a:t>
            </a:r>
            <a:r>
              <a:rPr dirty="0" sz="3400" spc="-18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35">
                <a:solidFill>
                  <a:srgbClr val="32322F"/>
                </a:solidFill>
                <a:latin typeface="Tahoma"/>
                <a:cs typeface="Tahoma"/>
              </a:rPr>
              <a:t>chép</a:t>
            </a:r>
            <a:r>
              <a:rPr dirty="0" sz="3400" spc="-17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32322F"/>
                </a:solidFill>
                <a:latin typeface="Tahoma"/>
                <a:cs typeface="Tahoma"/>
              </a:rPr>
              <a:t>bất</a:t>
            </a:r>
            <a:r>
              <a:rPr dirty="0" sz="3400" spc="-18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70">
                <a:solidFill>
                  <a:srgbClr val="32322F"/>
                </a:solidFill>
                <a:latin typeface="Tahoma"/>
                <a:cs typeface="Tahoma"/>
              </a:rPr>
              <a:t>kỳ</a:t>
            </a:r>
            <a:r>
              <a:rPr dirty="0" sz="3400" spc="-17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210">
                <a:solidFill>
                  <a:srgbClr val="32322F"/>
                </a:solidFill>
                <a:latin typeface="Tahoma"/>
                <a:cs typeface="Tahoma"/>
              </a:rPr>
              <a:t>dữ</a:t>
            </a:r>
            <a:r>
              <a:rPr dirty="0" sz="3400" spc="-17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32322F"/>
                </a:solidFill>
                <a:latin typeface="Tahoma"/>
                <a:cs typeface="Tahoma"/>
              </a:rPr>
              <a:t>liệu</a:t>
            </a:r>
            <a:r>
              <a:rPr dirty="0" sz="3400" spc="-18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90">
                <a:solidFill>
                  <a:srgbClr val="32322F"/>
                </a:solidFill>
                <a:latin typeface="Tahoma"/>
                <a:cs typeface="Tahoma"/>
              </a:rPr>
              <a:t>nào.</a:t>
            </a:r>
            <a:r>
              <a:rPr dirty="0" sz="3400" spc="-17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55">
                <a:solidFill>
                  <a:srgbClr val="32322F"/>
                </a:solidFill>
                <a:latin typeface="Tahoma"/>
                <a:cs typeface="Tahoma"/>
              </a:rPr>
              <a:t>Lý</a:t>
            </a:r>
            <a:r>
              <a:rPr dirty="0" sz="3400" spc="-18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75">
                <a:solidFill>
                  <a:srgbClr val="32322F"/>
                </a:solidFill>
                <a:latin typeface="Tahoma"/>
                <a:cs typeface="Tahoma"/>
              </a:rPr>
              <a:t>do </a:t>
            </a:r>
            <a:r>
              <a:rPr dirty="0" sz="3400" spc="100">
                <a:solidFill>
                  <a:srgbClr val="32322F"/>
                </a:solidFill>
                <a:latin typeface="Tahoma"/>
                <a:cs typeface="Tahoma"/>
              </a:rPr>
              <a:t>là</a:t>
            </a:r>
            <a:r>
              <a:rPr dirty="0" sz="3400" spc="-16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30">
                <a:solidFill>
                  <a:srgbClr val="32322F"/>
                </a:solidFill>
                <a:latin typeface="Tahoma"/>
                <a:cs typeface="Tahoma"/>
              </a:rPr>
              <a:t>ndarray</a:t>
            </a:r>
            <a:r>
              <a:rPr dirty="0" sz="3400" spc="-16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75">
                <a:solidFill>
                  <a:srgbClr val="32322F"/>
                </a:solidFill>
                <a:latin typeface="Tahoma"/>
                <a:cs typeface="Tahoma"/>
              </a:rPr>
              <a:t>không</a:t>
            </a:r>
            <a:r>
              <a:rPr dirty="0" sz="3400" spc="-16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05">
                <a:solidFill>
                  <a:srgbClr val="32322F"/>
                </a:solidFill>
                <a:latin typeface="Tahoma"/>
                <a:cs typeface="Tahoma"/>
              </a:rPr>
              <a:t>chỉ</a:t>
            </a:r>
            <a:r>
              <a:rPr dirty="0" sz="3400" spc="-16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00">
                <a:solidFill>
                  <a:srgbClr val="32322F"/>
                </a:solidFill>
                <a:latin typeface="Tahoma"/>
                <a:cs typeface="Tahoma"/>
              </a:rPr>
              <a:t>là</a:t>
            </a:r>
            <a:r>
              <a:rPr dirty="0" sz="3400" spc="-16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95">
                <a:solidFill>
                  <a:srgbClr val="32322F"/>
                </a:solidFill>
                <a:latin typeface="Tahoma"/>
                <a:cs typeface="Tahoma"/>
              </a:rPr>
              <a:t>một</a:t>
            </a:r>
            <a:r>
              <a:rPr dirty="0" sz="3400" spc="-16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45">
                <a:solidFill>
                  <a:srgbClr val="32322F"/>
                </a:solidFill>
                <a:latin typeface="Tahoma"/>
                <a:cs typeface="Tahoma"/>
              </a:rPr>
              <a:t>khối</a:t>
            </a:r>
            <a:r>
              <a:rPr dirty="0" sz="3400" spc="-16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200">
                <a:solidFill>
                  <a:srgbClr val="32322F"/>
                </a:solidFill>
                <a:latin typeface="Tahoma"/>
                <a:cs typeface="Tahoma"/>
              </a:rPr>
              <a:t>bộ</a:t>
            </a:r>
            <a:r>
              <a:rPr dirty="0" sz="3400" spc="-16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80">
                <a:solidFill>
                  <a:srgbClr val="32322F"/>
                </a:solidFill>
                <a:latin typeface="Tahoma"/>
                <a:cs typeface="Tahoma"/>
              </a:rPr>
              <a:t>nhớ</a:t>
            </a:r>
            <a:r>
              <a:rPr dirty="0" sz="3400" spc="-16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65">
                <a:solidFill>
                  <a:srgbClr val="32322F"/>
                </a:solidFill>
                <a:latin typeface="Tahoma"/>
                <a:cs typeface="Tahoma"/>
              </a:rPr>
              <a:t>và</a:t>
            </a:r>
            <a:r>
              <a:rPr dirty="0" sz="3400" spc="-16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95">
                <a:solidFill>
                  <a:srgbClr val="32322F"/>
                </a:solidFill>
                <a:latin typeface="Tahoma"/>
                <a:cs typeface="Tahoma"/>
              </a:rPr>
              <a:t>một</a:t>
            </a:r>
            <a:r>
              <a:rPr dirty="0" sz="3400" spc="-16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30">
                <a:solidFill>
                  <a:srgbClr val="32322F"/>
                </a:solidFill>
                <a:latin typeface="Tahoma"/>
                <a:cs typeface="Tahoma"/>
              </a:rPr>
              <a:t>kiểu</a:t>
            </a:r>
            <a:r>
              <a:rPr dirty="0" sz="3400" spc="-16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210">
                <a:solidFill>
                  <a:srgbClr val="32322F"/>
                </a:solidFill>
                <a:latin typeface="Tahoma"/>
                <a:cs typeface="Tahoma"/>
              </a:rPr>
              <a:t>dữ</a:t>
            </a:r>
            <a:r>
              <a:rPr dirty="0" sz="3400" spc="-16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>
                <a:solidFill>
                  <a:srgbClr val="32322F"/>
                </a:solidFill>
                <a:latin typeface="Tahoma"/>
                <a:cs typeface="Tahoma"/>
              </a:rPr>
              <a:t>liệu;</a:t>
            </a:r>
            <a:r>
              <a:rPr dirty="0" sz="3400" spc="-16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90">
                <a:solidFill>
                  <a:srgbClr val="32322F"/>
                </a:solidFill>
                <a:latin typeface="Tahoma"/>
                <a:cs typeface="Tahoma"/>
              </a:rPr>
              <a:t>nó</a:t>
            </a:r>
            <a:r>
              <a:rPr dirty="0" sz="3400" spc="-16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40">
                <a:solidFill>
                  <a:srgbClr val="32322F"/>
                </a:solidFill>
                <a:latin typeface="Tahoma"/>
                <a:cs typeface="Tahoma"/>
              </a:rPr>
              <a:t>còn</a:t>
            </a:r>
            <a:r>
              <a:rPr dirty="0" sz="3400" spc="-16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20">
                <a:solidFill>
                  <a:srgbClr val="32322F"/>
                </a:solidFill>
                <a:latin typeface="Tahoma"/>
                <a:cs typeface="Tahoma"/>
              </a:rPr>
              <a:t>có</a:t>
            </a:r>
            <a:r>
              <a:rPr dirty="0" sz="3400" spc="-16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65">
                <a:solidFill>
                  <a:srgbClr val="32322F"/>
                </a:solidFill>
                <a:latin typeface="Tahoma"/>
                <a:cs typeface="Tahoma"/>
              </a:rPr>
              <a:t>thông</a:t>
            </a:r>
            <a:r>
              <a:rPr dirty="0" sz="3400" spc="-16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20">
                <a:solidFill>
                  <a:srgbClr val="32322F"/>
                </a:solidFill>
                <a:latin typeface="Tahoma"/>
                <a:cs typeface="Tahoma"/>
              </a:rPr>
              <a:t>tin</a:t>
            </a:r>
            <a:r>
              <a:rPr dirty="0" sz="3400" spc="-16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50">
                <a:solidFill>
                  <a:srgbClr val="32322F"/>
                </a:solidFill>
                <a:latin typeface="Tahoma"/>
                <a:cs typeface="Tahoma"/>
              </a:rPr>
              <a:t>về </a:t>
            </a:r>
            <a:r>
              <a:rPr dirty="0" sz="3400" spc="155">
                <a:solidFill>
                  <a:srgbClr val="32322F"/>
                </a:solidFill>
                <a:latin typeface="Tahoma"/>
                <a:cs typeface="Tahoma"/>
              </a:rPr>
              <a:t>bước</a:t>
            </a:r>
            <a:r>
              <a:rPr dirty="0" sz="3400" spc="-17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32322F"/>
                </a:solidFill>
                <a:latin typeface="Tahoma"/>
                <a:cs typeface="Tahoma"/>
              </a:rPr>
              <a:t>nhảy</a:t>
            </a:r>
            <a:r>
              <a:rPr dirty="0" sz="3400" spc="-17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55">
                <a:solidFill>
                  <a:srgbClr val="32322F"/>
                </a:solidFill>
                <a:latin typeface="Tahoma"/>
                <a:cs typeface="Tahoma"/>
              </a:rPr>
              <a:t>(striding)</a:t>
            </a:r>
            <a:r>
              <a:rPr dirty="0" sz="3400" spc="-17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40">
                <a:solidFill>
                  <a:srgbClr val="32322F"/>
                </a:solidFill>
                <a:latin typeface="Tahoma"/>
                <a:cs typeface="Tahoma"/>
              </a:rPr>
              <a:t>cho</a:t>
            </a:r>
            <a:r>
              <a:rPr dirty="0" sz="3400" spc="-17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75">
                <a:solidFill>
                  <a:srgbClr val="32322F"/>
                </a:solidFill>
                <a:latin typeface="Tahoma"/>
                <a:cs typeface="Tahoma"/>
              </a:rPr>
              <a:t>phép</a:t>
            </a:r>
            <a:r>
              <a:rPr dirty="0" sz="3400" spc="-17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200">
                <a:solidFill>
                  <a:srgbClr val="32322F"/>
                </a:solidFill>
                <a:latin typeface="Tahoma"/>
                <a:cs typeface="Tahoma"/>
              </a:rPr>
              <a:t>mảng</a:t>
            </a:r>
            <a:r>
              <a:rPr dirty="0" sz="3400" spc="-17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50">
                <a:solidFill>
                  <a:srgbClr val="32322F"/>
                </a:solidFill>
                <a:latin typeface="Tahoma"/>
                <a:cs typeface="Tahoma"/>
              </a:rPr>
              <a:t>di</a:t>
            </a:r>
            <a:r>
              <a:rPr dirty="0" sz="3400" spc="-17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32322F"/>
                </a:solidFill>
                <a:latin typeface="Tahoma"/>
                <a:cs typeface="Tahoma"/>
              </a:rPr>
              <a:t>chuyển</a:t>
            </a:r>
            <a:r>
              <a:rPr dirty="0" sz="3400" spc="-17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60">
                <a:solidFill>
                  <a:srgbClr val="32322F"/>
                </a:solidFill>
                <a:latin typeface="Tahoma"/>
                <a:cs typeface="Tahoma"/>
              </a:rPr>
              <a:t>qua</a:t>
            </a:r>
            <a:r>
              <a:rPr dirty="0" sz="3400" spc="-17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200">
                <a:solidFill>
                  <a:srgbClr val="32322F"/>
                </a:solidFill>
                <a:latin typeface="Tahoma"/>
                <a:cs typeface="Tahoma"/>
              </a:rPr>
              <a:t>bộ</a:t>
            </a:r>
            <a:r>
              <a:rPr dirty="0" sz="3400" spc="-17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80">
                <a:solidFill>
                  <a:srgbClr val="32322F"/>
                </a:solidFill>
                <a:latin typeface="Tahoma"/>
                <a:cs typeface="Tahoma"/>
              </a:rPr>
              <a:t>nhớ</a:t>
            </a:r>
            <a:r>
              <a:rPr dirty="0" sz="3400" spc="-17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95">
                <a:solidFill>
                  <a:srgbClr val="32322F"/>
                </a:solidFill>
                <a:latin typeface="Tahoma"/>
                <a:cs typeface="Tahoma"/>
              </a:rPr>
              <a:t>với</a:t>
            </a:r>
            <a:r>
              <a:rPr dirty="0" sz="3400" spc="-17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60">
                <a:solidFill>
                  <a:srgbClr val="32322F"/>
                </a:solidFill>
                <a:latin typeface="Tahoma"/>
                <a:cs typeface="Tahoma"/>
              </a:rPr>
              <a:t>các</a:t>
            </a:r>
            <a:r>
              <a:rPr dirty="0" sz="3400" spc="-17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10">
                <a:solidFill>
                  <a:srgbClr val="32322F"/>
                </a:solidFill>
                <a:latin typeface="Tahoma"/>
                <a:cs typeface="Tahoma"/>
              </a:rPr>
              <a:t>kích</a:t>
            </a:r>
            <a:r>
              <a:rPr dirty="0" sz="3400" spc="-17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35">
                <a:solidFill>
                  <a:srgbClr val="32322F"/>
                </a:solidFill>
                <a:latin typeface="Tahoma"/>
                <a:cs typeface="Tahoma"/>
              </a:rPr>
              <a:t>thước</a:t>
            </a:r>
            <a:r>
              <a:rPr dirty="0" sz="3400" spc="-17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135">
                <a:solidFill>
                  <a:srgbClr val="32322F"/>
                </a:solidFill>
                <a:latin typeface="Tahoma"/>
                <a:cs typeface="Tahoma"/>
              </a:rPr>
              <a:t>bước </a:t>
            </a:r>
            <a:r>
              <a:rPr dirty="0" sz="3400" spc="110">
                <a:solidFill>
                  <a:srgbClr val="32322F"/>
                </a:solidFill>
                <a:latin typeface="Tahoma"/>
                <a:cs typeface="Tahoma"/>
              </a:rPr>
              <a:t>khác</a:t>
            </a:r>
            <a:r>
              <a:rPr dirty="0" sz="3400" spc="-17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400" spc="95">
                <a:solidFill>
                  <a:srgbClr val="32322F"/>
                </a:solidFill>
                <a:latin typeface="Tahoma"/>
                <a:cs typeface="Tahoma"/>
              </a:rPr>
              <a:t>nhau.</a:t>
            </a:r>
            <a:endParaRPr sz="3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32322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9898" y="794052"/>
            <a:ext cx="11296649" cy="104774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67540" y="5871703"/>
            <a:ext cx="11296649" cy="378142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26199" y="2587782"/>
            <a:ext cx="110241" cy="110241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26199" y="3396220"/>
            <a:ext cx="110241" cy="110241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26199" y="4204659"/>
            <a:ext cx="110241" cy="110241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26199" y="4608878"/>
            <a:ext cx="110241" cy="110241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2429763" y="1973383"/>
            <a:ext cx="12666980" cy="3259454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 sz="2350" spc="150">
                <a:solidFill>
                  <a:srgbClr val="FFFFFF"/>
                </a:solidFill>
                <a:latin typeface="Lucida Sans Unicode"/>
                <a:cs typeface="Lucida Sans Unicode"/>
              </a:rPr>
              <a:t>C</a:t>
            </a:r>
            <a:r>
              <a:rPr dirty="0" sz="2350" spc="150">
                <a:solidFill>
                  <a:srgbClr val="FFFFFF"/>
                </a:solidFill>
                <a:latin typeface="Arial"/>
                <a:cs typeface="Arial"/>
              </a:rPr>
              <a:t>ụ</a:t>
            </a:r>
            <a:r>
              <a:rPr dirty="0" sz="235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FFFFFF"/>
                </a:solidFill>
                <a:latin typeface="Lucida Sans Unicode"/>
                <a:cs typeface="Lucida Sans Unicode"/>
              </a:rPr>
              <a:t>th</a:t>
            </a:r>
            <a:r>
              <a:rPr dirty="0" sz="2350">
                <a:solidFill>
                  <a:srgbClr val="FFFFFF"/>
                </a:solidFill>
                <a:latin typeface="Arial"/>
                <a:cs typeface="Arial"/>
              </a:rPr>
              <a:t>ể</a:t>
            </a:r>
            <a:r>
              <a:rPr dirty="0" sz="235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50" spc="-85">
                <a:solidFill>
                  <a:srgbClr val="FFFFFF"/>
                </a:solidFill>
                <a:latin typeface="Lucida Sans Unicode"/>
                <a:cs typeface="Lucida Sans Unicode"/>
              </a:rPr>
              <a:t>h</a:t>
            </a:r>
            <a:r>
              <a:rPr dirty="0" sz="2350" spc="-85">
                <a:solidFill>
                  <a:srgbClr val="FFFFFF"/>
                </a:solidFill>
                <a:latin typeface="Arial"/>
                <a:cs typeface="Arial"/>
              </a:rPr>
              <a:t>ơ</a:t>
            </a:r>
            <a:r>
              <a:rPr dirty="0" sz="2350" spc="-85">
                <a:solidFill>
                  <a:srgbClr val="FFFFFF"/>
                </a:solidFill>
                <a:latin typeface="Lucida Sans Unicode"/>
                <a:cs typeface="Lucida Sans Unicode"/>
              </a:rPr>
              <a:t>n,</a:t>
            </a:r>
            <a:r>
              <a:rPr dirty="0" sz="235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85">
                <a:solidFill>
                  <a:srgbClr val="FFFFFF"/>
                </a:solidFill>
                <a:latin typeface="Lucida Sans Unicode"/>
                <a:cs typeface="Lucida Sans Unicode"/>
              </a:rPr>
              <a:t>ndarray</a:t>
            </a:r>
            <a:r>
              <a:rPr dirty="0" sz="235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85">
                <a:solidFill>
                  <a:srgbClr val="FFFFFF"/>
                </a:solidFill>
                <a:latin typeface="Lucida Sans Unicode"/>
                <a:cs typeface="Lucida Sans Unicode"/>
              </a:rPr>
              <a:t>bên</a:t>
            </a:r>
            <a:r>
              <a:rPr dirty="0" sz="235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>
                <a:solidFill>
                  <a:srgbClr val="FFFFFF"/>
                </a:solidFill>
                <a:latin typeface="Lucida Sans Unicode"/>
                <a:cs typeface="Lucida Sans Unicode"/>
              </a:rPr>
              <a:t>trong</a:t>
            </a:r>
            <a:r>
              <a:rPr dirty="0" sz="235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145">
                <a:solidFill>
                  <a:srgbClr val="FFFFFF"/>
                </a:solidFill>
                <a:latin typeface="Lucida Sans Unicode"/>
                <a:cs typeface="Lucida Sans Unicode"/>
              </a:rPr>
              <a:t>bao</a:t>
            </a:r>
            <a:r>
              <a:rPr dirty="0" sz="235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-20">
                <a:solidFill>
                  <a:srgbClr val="FFFFFF"/>
                </a:solidFill>
                <a:latin typeface="Lucida Sans Unicode"/>
                <a:cs typeface="Lucida Sans Unicode"/>
              </a:rPr>
              <a:t>g</a:t>
            </a:r>
            <a:r>
              <a:rPr dirty="0" sz="2350" spc="-20">
                <a:solidFill>
                  <a:srgbClr val="FFFFFF"/>
                </a:solidFill>
                <a:latin typeface="Arial"/>
                <a:cs typeface="Arial"/>
              </a:rPr>
              <a:t>ồ</a:t>
            </a:r>
            <a:r>
              <a:rPr dirty="0" sz="2350" spc="-20">
                <a:solidFill>
                  <a:srgbClr val="FFFFFF"/>
                </a:solidFill>
                <a:latin typeface="Lucida Sans Unicode"/>
                <a:cs typeface="Lucida Sans Unicode"/>
              </a:rPr>
              <a:t>m:</a:t>
            </a:r>
            <a:endParaRPr sz="2350">
              <a:latin typeface="Lucida Sans Unicode"/>
              <a:cs typeface="Lucida Sans Unicode"/>
            </a:endParaRPr>
          </a:p>
          <a:p>
            <a:pPr marL="520065" marR="5080">
              <a:lnSpc>
                <a:spcPct val="112900"/>
              </a:lnSpc>
            </a:pPr>
            <a:r>
              <a:rPr dirty="0" sz="2350">
                <a:solidFill>
                  <a:srgbClr val="FFFFFF"/>
                </a:solidFill>
                <a:latin typeface="Lucida Sans Unicode"/>
                <a:cs typeface="Lucida Sans Unicode"/>
              </a:rPr>
              <a:t>M</a:t>
            </a:r>
            <a:r>
              <a:rPr dirty="0" sz="2350">
                <a:solidFill>
                  <a:srgbClr val="FFFFFF"/>
                </a:solidFill>
                <a:latin typeface="Arial"/>
                <a:cs typeface="Arial"/>
              </a:rPr>
              <a:t>ộ</a:t>
            </a:r>
            <a:r>
              <a:rPr dirty="0" sz="235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dirty="0" sz="235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95">
                <a:solidFill>
                  <a:srgbClr val="FFFFFF"/>
                </a:solidFill>
                <a:latin typeface="Lucida Sans Unicode"/>
                <a:cs typeface="Lucida Sans Unicode"/>
              </a:rPr>
              <a:t>con</a:t>
            </a:r>
            <a:r>
              <a:rPr dirty="0" sz="235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>
                <a:solidFill>
                  <a:srgbClr val="FFFFFF"/>
                </a:solidFill>
                <a:latin typeface="Lucida Sans Unicode"/>
                <a:cs typeface="Lucida Sans Unicode"/>
              </a:rPr>
              <a:t>tr</a:t>
            </a:r>
            <a:r>
              <a:rPr dirty="0" sz="2350">
                <a:solidFill>
                  <a:srgbClr val="FFFFFF"/>
                </a:solidFill>
                <a:latin typeface="Arial"/>
                <a:cs typeface="Arial"/>
              </a:rPr>
              <a:t>ỏ </a:t>
            </a:r>
            <a:r>
              <a:rPr dirty="0" sz="2350">
                <a:solidFill>
                  <a:srgbClr val="FFFFFF"/>
                </a:solidFill>
                <a:latin typeface="Lucida Sans Unicode"/>
                <a:cs typeface="Lucida Sans Unicode"/>
              </a:rPr>
              <a:t>đ</a:t>
            </a:r>
            <a:r>
              <a:rPr dirty="0" sz="2350">
                <a:solidFill>
                  <a:srgbClr val="FFFFFF"/>
                </a:solidFill>
                <a:latin typeface="Arial"/>
                <a:cs typeface="Arial"/>
              </a:rPr>
              <a:t>ế</a:t>
            </a:r>
            <a:r>
              <a:rPr dirty="0" sz="235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dirty="0" sz="235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>
                <a:solidFill>
                  <a:srgbClr val="FFFFFF"/>
                </a:solidFill>
                <a:latin typeface="Lucida Sans Unicode"/>
                <a:cs typeface="Lucida Sans Unicode"/>
              </a:rPr>
              <a:t>d</a:t>
            </a:r>
            <a:r>
              <a:rPr dirty="0" sz="2350">
                <a:solidFill>
                  <a:srgbClr val="FFFFFF"/>
                </a:solidFill>
                <a:latin typeface="Arial"/>
                <a:cs typeface="Arial"/>
              </a:rPr>
              <a:t>ữ</a:t>
            </a:r>
            <a:r>
              <a:rPr dirty="0" sz="235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50" spc="-45">
                <a:solidFill>
                  <a:srgbClr val="FFFFFF"/>
                </a:solidFill>
                <a:latin typeface="Lucida Sans Unicode"/>
                <a:cs typeface="Lucida Sans Unicode"/>
              </a:rPr>
              <a:t>li</a:t>
            </a:r>
            <a:r>
              <a:rPr dirty="0" sz="2350" spc="-45">
                <a:solidFill>
                  <a:srgbClr val="FFFFFF"/>
                </a:solidFill>
                <a:latin typeface="Arial"/>
                <a:cs typeface="Arial"/>
              </a:rPr>
              <a:t>ệ</a:t>
            </a:r>
            <a:r>
              <a:rPr dirty="0" sz="2350" spc="-45">
                <a:solidFill>
                  <a:srgbClr val="FFFFFF"/>
                </a:solidFill>
                <a:latin typeface="Lucida Sans Unicode"/>
                <a:cs typeface="Lucida Sans Unicode"/>
              </a:rPr>
              <a:t>u</a:t>
            </a:r>
            <a:r>
              <a:rPr dirty="0" sz="2350" spc="-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45">
                <a:solidFill>
                  <a:srgbClr val="FFFFFF"/>
                </a:solidFill>
                <a:latin typeface="Lucida Sans Unicode"/>
                <a:cs typeface="Lucida Sans Unicode"/>
              </a:rPr>
              <a:t>(pointer</a:t>
            </a:r>
            <a:r>
              <a:rPr dirty="0" sz="235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sz="235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185">
                <a:solidFill>
                  <a:srgbClr val="FFFFFF"/>
                </a:solidFill>
                <a:latin typeface="Lucida Sans Unicode"/>
                <a:cs typeface="Lucida Sans Unicode"/>
              </a:rPr>
              <a:t>data)</a:t>
            </a:r>
            <a:r>
              <a:rPr dirty="0" sz="2350" spc="-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-285">
                <a:solidFill>
                  <a:srgbClr val="FFFFFF"/>
                </a:solidFill>
                <a:latin typeface="Lucida Sans Unicode"/>
                <a:cs typeface="Lucida Sans Unicode"/>
              </a:rPr>
              <a:t>—</a:t>
            </a:r>
            <a:r>
              <a:rPr dirty="0" sz="235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55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dirty="0" sz="2350" spc="55">
                <a:solidFill>
                  <a:srgbClr val="FFFFFF"/>
                </a:solidFill>
                <a:latin typeface="Arial"/>
                <a:cs typeface="Arial"/>
              </a:rPr>
              <a:t>ứ</a:t>
            </a:r>
            <a:r>
              <a:rPr dirty="0" sz="2350" spc="55">
                <a:solidFill>
                  <a:srgbClr val="FFFFFF"/>
                </a:solidFill>
                <a:latin typeface="Lucida Sans Unicode"/>
                <a:cs typeface="Lucida Sans Unicode"/>
              </a:rPr>
              <a:t>c</a:t>
            </a:r>
            <a:r>
              <a:rPr dirty="0" sz="235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-20">
                <a:solidFill>
                  <a:srgbClr val="FFFFFF"/>
                </a:solidFill>
                <a:latin typeface="Lucida Sans Unicode"/>
                <a:cs typeface="Lucida Sans Unicode"/>
              </a:rPr>
              <a:t>là,</a:t>
            </a:r>
            <a:r>
              <a:rPr dirty="0" sz="2350" spc="-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95">
                <a:solidFill>
                  <a:srgbClr val="FFFFFF"/>
                </a:solidFill>
                <a:latin typeface="Lucida Sans Unicode"/>
                <a:cs typeface="Lucida Sans Unicode"/>
              </a:rPr>
              <a:t>m</a:t>
            </a:r>
            <a:r>
              <a:rPr dirty="0" sz="2350" spc="95">
                <a:solidFill>
                  <a:srgbClr val="FFFFFF"/>
                </a:solidFill>
                <a:latin typeface="Arial"/>
                <a:cs typeface="Arial"/>
              </a:rPr>
              <a:t>ộ</a:t>
            </a:r>
            <a:r>
              <a:rPr dirty="0" sz="2350" spc="95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dirty="0" sz="235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-30">
                <a:solidFill>
                  <a:srgbClr val="FFFFFF"/>
                </a:solidFill>
                <a:latin typeface="Lucida Sans Unicode"/>
                <a:cs typeface="Lucida Sans Unicode"/>
              </a:rPr>
              <a:t>kh</a:t>
            </a:r>
            <a:r>
              <a:rPr dirty="0" sz="2350" spc="-30">
                <a:solidFill>
                  <a:srgbClr val="FFFFFF"/>
                </a:solidFill>
                <a:latin typeface="Arial"/>
                <a:cs typeface="Arial"/>
              </a:rPr>
              <a:t>ố</a:t>
            </a:r>
            <a:r>
              <a:rPr dirty="0" sz="2350" spc="-3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dirty="0" sz="235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>
                <a:solidFill>
                  <a:srgbClr val="FFFFFF"/>
                </a:solidFill>
                <a:latin typeface="Lucida Sans Unicode"/>
                <a:cs typeface="Lucida Sans Unicode"/>
              </a:rPr>
              <a:t>d</a:t>
            </a:r>
            <a:r>
              <a:rPr dirty="0" sz="2350">
                <a:solidFill>
                  <a:srgbClr val="FFFFFF"/>
                </a:solidFill>
                <a:latin typeface="Arial"/>
                <a:cs typeface="Arial"/>
              </a:rPr>
              <a:t>ữ </a:t>
            </a:r>
            <a:r>
              <a:rPr dirty="0" sz="2350" spc="-45">
                <a:solidFill>
                  <a:srgbClr val="FFFFFF"/>
                </a:solidFill>
                <a:latin typeface="Lucida Sans Unicode"/>
                <a:cs typeface="Lucida Sans Unicode"/>
              </a:rPr>
              <a:t>li</a:t>
            </a:r>
            <a:r>
              <a:rPr dirty="0" sz="2350" spc="-45">
                <a:solidFill>
                  <a:srgbClr val="FFFFFF"/>
                </a:solidFill>
                <a:latin typeface="Arial"/>
                <a:cs typeface="Arial"/>
              </a:rPr>
              <a:t>ệ</a:t>
            </a:r>
            <a:r>
              <a:rPr dirty="0" sz="2350" spc="-45">
                <a:solidFill>
                  <a:srgbClr val="FFFFFF"/>
                </a:solidFill>
                <a:latin typeface="Lucida Sans Unicode"/>
                <a:cs typeface="Lucida Sans Unicode"/>
              </a:rPr>
              <a:t>u</a:t>
            </a:r>
            <a:r>
              <a:rPr dirty="0" sz="235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>
                <a:solidFill>
                  <a:srgbClr val="FFFFFF"/>
                </a:solidFill>
                <a:latin typeface="Lucida Sans Unicode"/>
                <a:cs typeface="Lucida Sans Unicode"/>
              </a:rPr>
              <a:t>trong</a:t>
            </a:r>
            <a:r>
              <a:rPr dirty="0" sz="235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-35">
                <a:solidFill>
                  <a:srgbClr val="FFFFFF"/>
                </a:solidFill>
                <a:latin typeface="Lucida Sans Unicode"/>
                <a:cs typeface="Lucida Sans Unicode"/>
              </a:rPr>
              <a:t>RAM</a:t>
            </a:r>
            <a:r>
              <a:rPr dirty="0" sz="2350" spc="-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50">
                <a:solidFill>
                  <a:srgbClr val="FFFFFF"/>
                </a:solidFill>
                <a:latin typeface="Lucida Sans Unicode"/>
                <a:cs typeface="Lucida Sans Unicode"/>
              </a:rPr>
              <a:t>ho</a:t>
            </a:r>
            <a:r>
              <a:rPr dirty="0" sz="2350" spc="50">
                <a:solidFill>
                  <a:srgbClr val="FFFFFF"/>
                </a:solidFill>
                <a:latin typeface="Arial"/>
                <a:cs typeface="Arial"/>
              </a:rPr>
              <a:t>ặ</a:t>
            </a:r>
            <a:r>
              <a:rPr dirty="0" sz="2350" spc="50">
                <a:solidFill>
                  <a:srgbClr val="FFFFFF"/>
                </a:solidFill>
                <a:latin typeface="Lucida Sans Unicode"/>
                <a:cs typeface="Lucida Sans Unicode"/>
              </a:rPr>
              <a:t>c </a:t>
            </a:r>
            <a:r>
              <a:rPr dirty="0" sz="2350">
                <a:solidFill>
                  <a:srgbClr val="FFFFFF"/>
                </a:solidFill>
                <a:latin typeface="Lucida Sans Unicode"/>
                <a:cs typeface="Lucida Sans Unicode"/>
              </a:rPr>
              <a:t>trong</a:t>
            </a:r>
            <a:r>
              <a:rPr dirty="0" sz="235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95">
                <a:solidFill>
                  <a:srgbClr val="FFFFFF"/>
                </a:solidFill>
                <a:latin typeface="Lucida Sans Unicode"/>
                <a:cs typeface="Lucida Sans Unicode"/>
              </a:rPr>
              <a:t>m</a:t>
            </a:r>
            <a:r>
              <a:rPr dirty="0" sz="2350" spc="95">
                <a:solidFill>
                  <a:srgbClr val="FFFFFF"/>
                </a:solidFill>
                <a:latin typeface="Arial"/>
                <a:cs typeface="Arial"/>
              </a:rPr>
              <a:t>ộ</a:t>
            </a:r>
            <a:r>
              <a:rPr dirty="0" sz="2350" spc="95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dirty="0" sz="235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dirty="0" sz="2350">
                <a:solidFill>
                  <a:srgbClr val="FFFFFF"/>
                </a:solidFill>
                <a:latin typeface="Arial"/>
                <a:cs typeface="Arial"/>
              </a:rPr>
              <a:t>ệ</a:t>
            </a:r>
            <a:r>
              <a:rPr dirty="0" sz="2350">
                <a:solidFill>
                  <a:srgbClr val="FFFFFF"/>
                </a:solidFill>
                <a:latin typeface="Lucida Sans Unicode"/>
                <a:cs typeface="Lucida Sans Unicode"/>
              </a:rPr>
              <a:t>p</a:t>
            </a:r>
            <a:r>
              <a:rPr dirty="0" sz="235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50">
                <a:solidFill>
                  <a:srgbClr val="FFFFFF"/>
                </a:solidFill>
                <a:latin typeface="Lucida Sans Unicode"/>
                <a:cs typeface="Lucida Sans Unicode"/>
              </a:rPr>
              <a:t>đ</a:t>
            </a:r>
            <a:r>
              <a:rPr dirty="0" sz="2350" spc="50">
                <a:solidFill>
                  <a:srgbClr val="FFFFFF"/>
                </a:solidFill>
                <a:latin typeface="Arial"/>
                <a:cs typeface="Arial"/>
              </a:rPr>
              <a:t>ượ</a:t>
            </a:r>
            <a:r>
              <a:rPr dirty="0" sz="2350" spc="50">
                <a:solidFill>
                  <a:srgbClr val="FFFFFF"/>
                </a:solidFill>
                <a:latin typeface="Lucida Sans Unicode"/>
                <a:cs typeface="Lucida Sans Unicode"/>
              </a:rPr>
              <a:t>c</a:t>
            </a:r>
            <a:r>
              <a:rPr dirty="0" sz="235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110">
                <a:solidFill>
                  <a:srgbClr val="FFFFFF"/>
                </a:solidFill>
                <a:latin typeface="Lucida Sans Unicode"/>
                <a:cs typeface="Lucida Sans Unicode"/>
              </a:rPr>
              <a:t>ánh</a:t>
            </a:r>
            <a:r>
              <a:rPr dirty="0" sz="235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-170">
                <a:solidFill>
                  <a:srgbClr val="FFFFFF"/>
                </a:solidFill>
                <a:latin typeface="Lucida Sans Unicode"/>
                <a:cs typeface="Lucida Sans Unicode"/>
              </a:rPr>
              <a:t>x</a:t>
            </a:r>
            <a:r>
              <a:rPr dirty="0" sz="2350" spc="-170">
                <a:solidFill>
                  <a:srgbClr val="FFFFFF"/>
                </a:solidFill>
                <a:latin typeface="Arial"/>
                <a:cs typeface="Arial"/>
              </a:rPr>
              <a:t>ạ</a:t>
            </a:r>
            <a:r>
              <a:rPr dirty="0" sz="235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50" spc="100">
                <a:solidFill>
                  <a:srgbClr val="FFFFFF"/>
                </a:solidFill>
                <a:latin typeface="Lucida Sans Unicode"/>
                <a:cs typeface="Lucida Sans Unicode"/>
              </a:rPr>
              <a:t>b</a:t>
            </a:r>
            <a:r>
              <a:rPr dirty="0" sz="2350" spc="100">
                <a:solidFill>
                  <a:srgbClr val="FFFFFF"/>
                </a:solidFill>
                <a:latin typeface="Arial"/>
                <a:cs typeface="Arial"/>
              </a:rPr>
              <a:t>ộ</a:t>
            </a:r>
            <a:r>
              <a:rPr dirty="0" sz="235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FFFFFF"/>
                </a:solidFill>
                <a:latin typeface="Lucida Sans Unicode"/>
                <a:cs typeface="Lucida Sans Unicode"/>
              </a:rPr>
              <a:t>nh</a:t>
            </a:r>
            <a:r>
              <a:rPr dirty="0" sz="2350">
                <a:solidFill>
                  <a:srgbClr val="FFFFFF"/>
                </a:solidFill>
                <a:latin typeface="Arial"/>
                <a:cs typeface="Arial"/>
              </a:rPr>
              <a:t>ớ</a:t>
            </a:r>
            <a:r>
              <a:rPr dirty="0" sz="235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50" spc="105">
                <a:solidFill>
                  <a:srgbClr val="FFFFFF"/>
                </a:solidFill>
                <a:latin typeface="Lucida Sans Unicode"/>
                <a:cs typeface="Lucida Sans Unicode"/>
              </a:rPr>
              <a:t>(memory-</a:t>
            </a:r>
            <a:r>
              <a:rPr dirty="0" sz="2350" spc="155">
                <a:solidFill>
                  <a:srgbClr val="FFFFFF"/>
                </a:solidFill>
                <a:latin typeface="Lucida Sans Unicode"/>
                <a:cs typeface="Lucida Sans Unicode"/>
              </a:rPr>
              <a:t>mapped</a:t>
            </a:r>
            <a:r>
              <a:rPr dirty="0" sz="235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-10">
                <a:solidFill>
                  <a:srgbClr val="FFFFFF"/>
                </a:solidFill>
                <a:latin typeface="Lucida Sans Unicode"/>
                <a:cs typeface="Lucida Sans Unicode"/>
              </a:rPr>
              <a:t>file).</a:t>
            </a:r>
            <a:endParaRPr sz="2350">
              <a:latin typeface="Lucida Sans Unicode"/>
              <a:cs typeface="Lucida Sans Unicode"/>
            </a:endParaRPr>
          </a:p>
          <a:p>
            <a:pPr marL="520065" marR="137160">
              <a:lnSpc>
                <a:spcPct val="112900"/>
              </a:lnSpc>
            </a:pPr>
            <a:r>
              <a:rPr dirty="0" sz="2350" spc="-55">
                <a:solidFill>
                  <a:srgbClr val="FFFFFF"/>
                </a:solidFill>
                <a:latin typeface="Lucida Sans Unicode"/>
                <a:cs typeface="Lucida Sans Unicode"/>
              </a:rPr>
              <a:t>Ki</a:t>
            </a:r>
            <a:r>
              <a:rPr dirty="0" sz="2350" spc="-55">
                <a:solidFill>
                  <a:srgbClr val="FFFFFF"/>
                </a:solidFill>
                <a:latin typeface="Arial"/>
                <a:cs typeface="Arial"/>
              </a:rPr>
              <a:t>ể</a:t>
            </a:r>
            <a:r>
              <a:rPr dirty="0" sz="2350" spc="-55">
                <a:solidFill>
                  <a:srgbClr val="FFFFFF"/>
                </a:solidFill>
                <a:latin typeface="Lucida Sans Unicode"/>
                <a:cs typeface="Lucida Sans Unicode"/>
              </a:rPr>
              <a:t>u</a:t>
            </a:r>
            <a:r>
              <a:rPr dirty="0" sz="235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>
                <a:solidFill>
                  <a:srgbClr val="FFFFFF"/>
                </a:solidFill>
                <a:latin typeface="Lucida Sans Unicode"/>
                <a:cs typeface="Lucida Sans Unicode"/>
              </a:rPr>
              <a:t>d</a:t>
            </a:r>
            <a:r>
              <a:rPr dirty="0" sz="2350">
                <a:solidFill>
                  <a:srgbClr val="FFFFFF"/>
                </a:solidFill>
                <a:latin typeface="Arial"/>
                <a:cs typeface="Arial"/>
              </a:rPr>
              <a:t>ữ</a:t>
            </a:r>
            <a:r>
              <a:rPr dirty="0" sz="235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50" spc="-45">
                <a:solidFill>
                  <a:srgbClr val="FFFFFF"/>
                </a:solidFill>
                <a:latin typeface="Lucida Sans Unicode"/>
                <a:cs typeface="Lucida Sans Unicode"/>
              </a:rPr>
              <a:t>li</a:t>
            </a:r>
            <a:r>
              <a:rPr dirty="0" sz="2350" spc="-45">
                <a:solidFill>
                  <a:srgbClr val="FFFFFF"/>
                </a:solidFill>
                <a:latin typeface="Arial"/>
                <a:cs typeface="Arial"/>
              </a:rPr>
              <a:t>ệ</a:t>
            </a:r>
            <a:r>
              <a:rPr dirty="0" sz="2350" spc="-45">
                <a:solidFill>
                  <a:srgbClr val="FFFFFF"/>
                </a:solidFill>
                <a:latin typeface="Lucida Sans Unicode"/>
                <a:cs typeface="Lucida Sans Unicode"/>
              </a:rPr>
              <a:t>u</a:t>
            </a:r>
            <a:r>
              <a:rPr dirty="0" sz="235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185">
                <a:solidFill>
                  <a:srgbClr val="FFFFFF"/>
                </a:solidFill>
                <a:latin typeface="Lucida Sans Unicode"/>
                <a:cs typeface="Lucida Sans Unicode"/>
              </a:rPr>
              <a:t>(data</a:t>
            </a:r>
            <a:r>
              <a:rPr dirty="0" sz="235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120">
                <a:solidFill>
                  <a:srgbClr val="FFFFFF"/>
                </a:solidFill>
                <a:latin typeface="Lucida Sans Unicode"/>
                <a:cs typeface="Lucida Sans Unicode"/>
              </a:rPr>
              <a:t>type)</a:t>
            </a:r>
            <a:r>
              <a:rPr dirty="0" sz="235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130">
                <a:solidFill>
                  <a:srgbClr val="FFFFFF"/>
                </a:solidFill>
                <a:latin typeface="Lucida Sans Unicode"/>
                <a:cs typeface="Lucida Sans Unicode"/>
              </a:rPr>
              <a:t>hay</a:t>
            </a:r>
            <a:r>
              <a:rPr dirty="0" sz="235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80">
                <a:solidFill>
                  <a:srgbClr val="FFFFFF"/>
                </a:solidFill>
                <a:latin typeface="Lucida Sans Unicode"/>
                <a:cs typeface="Lucida Sans Unicode"/>
              </a:rPr>
              <a:t>dtype</a:t>
            </a:r>
            <a:r>
              <a:rPr dirty="0" sz="235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135">
                <a:solidFill>
                  <a:srgbClr val="FFFFFF"/>
                </a:solidFill>
                <a:latin typeface="Lucida Sans Unicode"/>
                <a:cs typeface="Lucida Sans Unicode"/>
              </a:rPr>
              <a:t>mô</a:t>
            </a:r>
            <a:r>
              <a:rPr dirty="0" sz="235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dirty="0" sz="2350">
                <a:solidFill>
                  <a:srgbClr val="FFFFFF"/>
                </a:solidFill>
                <a:latin typeface="Arial"/>
                <a:cs typeface="Arial"/>
              </a:rPr>
              <a:t>ả</a:t>
            </a:r>
            <a:r>
              <a:rPr dirty="0" sz="235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50" spc="235">
                <a:solidFill>
                  <a:srgbClr val="FFFFFF"/>
                </a:solidFill>
                <a:latin typeface="Lucida Sans Unicode"/>
                <a:cs typeface="Lucida Sans Unicode"/>
              </a:rPr>
              <a:t>các</a:t>
            </a:r>
            <a:r>
              <a:rPr dirty="0" sz="235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55">
                <a:solidFill>
                  <a:srgbClr val="FFFFFF"/>
                </a:solidFill>
                <a:latin typeface="Lucida Sans Unicode"/>
                <a:cs typeface="Lucida Sans Unicode"/>
              </a:rPr>
              <a:t>ô</a:t>
            </a:r>
            <a:r>
              <a:rPr dirty="0" sz="235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95">
                <a:solidFill>
                  <a:srgbClr val="FFFFFF"/>
                </a:solidFill>
                <a:latin typeface="Lucida Sans Unicode"/>
                <a:cs typeface="Lucida Sans Unicode"/>
              </a:rPr>
              <a:t>giá</a:t>
            </a:r>
            <a:r>
              <a:rPr dirty="0" sz="235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>
                <a:solidFill>
                  <a:srgbClr val="FFFFFF"/>
                </a:solidFill>
                <a:latin typeface="Lucida Sans Unicode"/>
                <a:cs typeface="Lucida Sans Unicode"/>
              </a:rPr>
              <a:t>tr</a:t>
            </a:r>
            <a:r>
              <a:rPr dirty="0" sz="2350">
                <a:solidFill>
                  <a:srgbClr val="FFFFFF"/>
                </a:solidFill>
                <a:latin typeface="Arial"/>
                <a:cs typeface="Arial"/>
              </a:rPr>
              <a:t>ị</a:t>
            </a:r>
            <a:r>
              <a:rPr dirty="0" sz="235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50" spc="130">
                <a:solidFill>
                  <a:srgbClr val="FFFFFF"/>
                </a:solidFill>
                <a:latin typeface="Lucida Sans Unicode"/>
                <a:cs typeface="Lucida Sans Unicode"/>
              </a:rPr>
              <a:t>có</a:t>
            </a:r>
            <a:r>
              <a:rPr dirty="0" sz="235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>
                <a:solidFill>
                  <a:srgbClr val="FFFFFF"/>
                </a:solidFill>
                <a:latin typeface="Lucida Sans Unicode"/>
                <a:cs typeface="Lucida Sans Unicode"/>
              </a:rPr>
              <a:t>kích</a:t>
            </a:r>
            <a:r>
              <a:rPr dirty="0" sz="235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>
                <a:solidFill>
                  <a:srgbClr val="FFFFFF"/>
                </a:solidFill>
                <a:latin typeface="Lucida Sans Unicode"/>
                <a:cs typeface="Lucida Sans Unicode"/>
              </a:rPr>
              <a:t>th</a:t>
            </a:r>
            <a:r>
              <a:rPr dirty="0" sz="2350">
                <a:solidFill>
                  <a:srgbClr val="FFFFFF"/>
                </a:solidFill>
                <a:latin typeface="Arial"/>
                <a:cs typeface="Arial"/>
              </a:rPr>
              <a:t>ướ</a:t>
            </a:r>
            <a:r>
              <a:rPr dirty="0" sz="2350">
                <a:solidFill>
                  <a:srgbClr val="FFFFFF"/>
                </a:solidFill>
                <a:latin typeface="Lucida Sans Unicode"/>
                <a:cs typeface="Lucida Sans Unicode"/>
              </a:rPr>
              <a:t>c</a:t>
            </a:r>
            <a:r>
              <a:rPr dirty="0" sz="235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155">
                <a:solidFill>
                  <a:srgbClr val="FFFFFF"/>
                </a:solidFill>
                <a:latin typeface="Lucida Sans Unicode"/>
                <a:cs typeface="Lucida Sans Unicode"/>
              </a:rPr>
              <a:t>c</a:t>
            </a:r>
            <a:r>
              <a:rPr dirty="0" sz="2350" spc="155">
                <a:solidFill>
                  <a:srgbClr val="FFFFFF"/>
                </a:solidFill>
                <a:latin typeface="Arial"/>
                <a:cs typeface="Arial"/>
              </a:rPr>
              <a:t>ố</a:t>
            </a:r>
            <a:r>
              <a:rPr dirty="0" sz="235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50" spc="55">
                <a:solidFill>
                  <a:srgbClr val="FFFFFF"/>
                </a:solidFill>
                <a:latin typeface="Lucida Sans Unicode"/>
                <a:cs typeface="Lucida Sans Unicode"/>
              </a:rPr>
              <a:t>đ</a:t>
            </a:r>
            <a:r>
              <a:rPr dirty="0" sz="2350" spc="55">
                <a:solidFill>
                  <a:srgbClr val="FFFFFF"/>
                </a:solidFill>
                <a:latin typeface="Arial"/>
                <a:cs typeface="Arial"/>
              </a:rPr>
              <a:t>ị</a:t>
            </a:r>
            <a:r>
              <a:rPr dirty="0" sz="2350" spc="55">
                <a:solidFill>
                  <a:srgbClr val="FFFFFF"/>
                </a:solidFill>
                <a:latin typeface="Lucida Sans Unicode"/>
                <a:cs typeface="Lucida Sans Unicode"/>
              </a:rPr>
              <a:t>nh</a:t>
            </a:r>
            <a:r>
              <a:rPr dirty="0" sz="235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-10">
                <a:solidFill>
                  <a:srgbClr val="FFFFFF"/>
                </a:solidFill>
                <a:latin typeface="Lucida Sans Unicode"/>
                <a:cs typeface="Lucida Sans Unicode"/>
              </a:rPr>
              <a:t>trong m</a:t>
            </a:r>
            <a:r>
              <a:rPr dirty="0" sz="2350" spc="-10">
                <a:solidFill>
                  <a:srgbClr val="FFFFFF"/>
                </a:solidFill>
                <a:latin typeface="Arial"/>
                <a:cs typeface="Arial"/>
              </a:rPr>
              <a:t>ả</a:t>
            </a:r>
            <a:r>
              <a:rPr dirty="0" sz="2350" spc="-10">
                <a:solidFill>
                  <a:srgbClr val="FFFFFF"/>
                </a:solidFill>
                <a:latin typeface="Lucida Sans Unicode"/>
                <a:cs typeface="Lucida Sans Unicode"/>
              </a:rPr>
              <a:t>ng.</a:t>
            </a:r>
            <a:endParaRPr sz="2350">
              <a:latin typeface="Lucida Sans Unicode"/>
              <a:cs typeface="Lucida Sans Unicode"/>
            </a:endParaRPr>
          </a:p>
          <a:p>
            <a:pPr marL="520065">
              <a:lnSpc>
                <a:spcPct val="100000"/>
              </a:lnSpc>
              <a:spcBef>
                <a:spcPts val="360"/>
              </a:spcBef>
            </a:pPr>
            <a:r>
              <a:rPr dirty="0" sz="2350">
                <a:solidFill>
                  <a:srgbClr val="FFFFFF"/>
                </a:solidFill>
                <a:latin typeface="Lucida Sans Unicode"/>
                <a:cs typeface="Lucida Sans Unicode"/>
              </a:rPr>
              <a:t>M</a:t>
            </a:r>
            <a:r>
              <a:rPr dirty="0" sz="2350">
                <a:solidFill>
                  <a:srgbClr val="FFFFFF"/>
                </a:solidFill>
                <a:latin typeface="Arial"/>
                <a:cs typeface="Arial"/>
              </a:rPr>
              <a:t>ộ</a:t>
            </a:r>
            <a:r>
              <a:rPr dirty="0" sz="235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dirty="0" sz="235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>
                <a:solidFill>
                  <a:srgbClr val="FFFFFF"/>
                </a:solidFill>
                <a:latin typeface="Lucida Sans Unicode"/>
                <a:cs typeface="Lucida Sans Unicode"/>
              </a:rPr>
              <a:t>tuple</a:t>
            </a:r>
            <a:r>
              <a:rPr dirty="0" sz="235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95">
                <a:solidFill>
                  <a:srgbClr val="FFFFFF"/>
                </a:solidFill>
                <a:latin typeface="Lucida Sans Unicode"/>
                <a:cs typeface="Lucida Sans Unicode"/>
              </a:rPr>
              <a:t>cho</a:t>
            </a:r>
            <a:r>
              <a:rPr dirty="0" sz="235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>
                <a:solidFill>
                  <a:srgbClr val="FFFFFF"/>
                </a:solidFill>
                <a:latin typeface="Lucida Sans Unicode"/>
                <a:cs typeface="Lucida Sans Unicode"/>
              </a:rPr>
              <a:t>bi</a:t>
            </a:r>
            <a:r>
              <a:rPr dirty="0" sz="2350">
                <a:solidFill>
                  <a:srgbClr val="FFFFFF"/>
                </a:solidFill>
                <a:latin typeface="Arial"/>
                <a:cs typeface="Arial"/>
              </a:rPr>
              <a:t>ế</a:t>
            </a:r>
            <a:r>
              <a:rPr dirty="0" sz="235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dirty="0" sz="235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>
                <a:solidFill>
                  <a:srgbClr val="FFFFFF"/>
                </a:solidFill>
                <a:latin typeface="Lucida Sans Unicode"/>
                <a:cs typeface="Lucida Sans Unicode"/>
              </a:rPr>
              <a:t>hình</a:t>
            </a:r>
            <a:r>
              <a:rPr dirty="0" sz="235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55">
                <a:solidFill>
                  <a:srgbClr val="FFFFFF"/>
                </a:solidFill>
                <a:latin typeface="Lucida Sans Unicode"/>
                <a:cs typeface="Lucida Sans Unicode"/>
              </a:rPr>
              <a:t>d</a:t>
            </a:r>
            <a:r>
              <a:rPr dirty="0" sz="2350" spc="55">
                <a:solidFill>
                  <a:srgbClr val="FFFFFF"/>
                </a:solidFill>
                <a:latin typeface="Arial"/>
                <a:cs typeface="Arial"/>
              </a:rPr>
              <a:t>ạ</a:t>
            </a:r>
            <a:r>
              <a:rPr dirty="0" sz="2350" spc="55">
                <a:solidFill>
                  <a:srgbClr val="FFFFFF"/>
                </a:solidFill>
                <a:latin typeface="Lucida Sans Unicode"/>
                <a:cs typeface="Lucida Sans Unicode"/>
              </a:rPr>
              <a:t>ng</a:t>
            </a:r>
            <a:r>
              <a:rPr dirty="0" sz="235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165">
                <a:solidFill>
                  <a:srgbClr val="FFFFFF"/>
                </a:solidFill>
                <a:latin typeface="Lucida Sans Unicode"/>
                <a:cs typeface="Lucida Sans Unicode"/>
              </a:rPr>
              <a:t>(shape)</a:t>
            </a:r>
            <a:r>
              <a:rPr dirty="0" sz="235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204">
                <a:solidFill>
                  <a:srgbClr val="FFFFFF"/>
                </a:solidFill>
                <a:latin typeface="Lucida Sans Unicode"/>
                <a:cs typeface="Lucida Sans Unicode"/>
              </a:rPr>
              <a:t>c</a:t>
            </a:r>
            <a:r>
              <a:rPr dirty="0" sz="2350" spc="204">
                <a:solidFill>
                  <a:srgbClr val="FFFFFF"/>
                </a:solidFill>
                <a:latin typeface="Arial"/>
                <a:cs typeface="Arial"/>
              </a:rPr>
              <a:t>ủ</a:t>
            </a:r>
            <a:r>
              <a:rPr dirty="0" sz="2350" spc="204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dirty="0" sz="235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-10">
                <a:solidFill>
                  <a:srgbClr val="FFFFFF"/>
                </a:solidFill>
                <a:latin typeface="Lucida Sans Unicode"/>
                <a:cs typeface="Lucida Sans Unicode"/>
              </a:rPr>
              <a:t>m</a:t>
            </a:r>
            <a:r>
              <a:rPr dirty="0" sz="2350" spc="-10">
                <a:solidFill>
                  <a:srgbClr val="FFFFFF"/>
                </a:solidFill>
                <a:latin typeface="Arial"/>
                <a:cs typeface="Arial"/>
              </a:rPr>
              <a:t>ả</a:t>
            </a:r>
            <a:r>
              <a:rPr dirty="0" sz="2350" spc="-10">
                <a:solidFill>
                  <a:srgbClr val="FFFFFF"/>
                </a:solidFill>
                <a:latin typeface="Lucida Sans Unicode"/>
                <a:cs typeface="Lucida Sans Unicode"/>
              </a:rPr>
              <a:t>ng.</a:t>
            </a:r>
            <a:endParaRPr sz="2350">
              <a:latin typeface="Lucida Sans Unicode"/>
              <a:cs typeface="Lucida Sans Unicode"/>
            </a:endParaRPr>
          </a:p>
          <a:p>
            <a:pPr marL="520065" marR="597535">
              <a:lnSpc>
                <a:spcPct val="112900"/>
              </a:lnSpc>
            </a:pPr>
            <a:r>
              <a:rPr dirty="0" sz="2350">
                <a:solidFill>
                  <a:srgbClr val="FFFFFF"/>
                </a:solidFill>
                <a:latin typeface="Lucida Sans Unicode"/>
                <a:cs typeface="Lucida Sans Unicode"/>
              </a:rPr>
              <a:t>M</a:t>
            </a:r>
            <a:r>
              <a:rPr dirty="0" sz="2350">
                <a:solidFill>
                  <a:srgbClr val="FFFFFF"/>
                </a:solidFill>
                <a:latin typeface="Arial"/>
                <a:cs typeface="Arial"/>
              </a:rPr>
              <a:t>ộ</a:t>
            </a:r>
            <a:r>
              <a:rPr dirty="0" sz="235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dirty="0" sz="235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>
                <a:solidFill>
                  <a:srgbClr val="FFFFFF"/>
                </a:solidFill>
                <a:latin typeface="Lucida Sans Unicode"/>
                <a:cs typeface="Lucida Sans Unicode"/>
              </a:rPr>
              <a:t>tuple</a:t>
            </a:r>
            <a:r>
              <a:rPr dirty="0" sz="235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125">
                <a:solidFill>
                  <a:srgbClr val="FFFFFF"/>
                </a:solidFill>
                <a:latin typeface="Lucida Sans Unicode"/>
                <a:cs typeface="Lucida Sans Unicode"/>
              </a:rPr>
              <a:t>ch</a:t>
            </a:r>
            <a:r>
              <a:rPr dirty="0" sz="2350" spc="125">
                <a:solidFill>
                  <a:srgbClr val="FFFFFF"/>
                </a:solidFill>
                <a:latin typeface="Arial"/>
                <a:cs typeface="Arial"/>
              </a:rPr>
              <a:t>ứ</a:t>
            </a:r>
            <a:r>
              <a:rPr dirty="0" sz="2350" spc="125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dirty="0" sz="235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235">
                <a:solidFill>
                  <a:srgbClr val="FFFFFF"/>
                </a:solidFill>
                <a:latin typeface="Lucida Sans Unicode"/>
                <a:cs typeface="Lucida Sans Unicode"/>
              </a:rPr>
              <a:t>các</a:t>
            </a:r>
            <a:r>
              <a:rPr dirty="0" sz="2350" spc="-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50">
                <a:solidFill>
                  <a:srgbClr val="FFFFFF"/>
                </a:solidFill>
                <a:latin typeface="Lucida Sans Unicode"/>
                <a:cs typeface="Lucida Sans Unicode"/>
              </a:rPr>
              <a:t>b</a:t>
            </a:r>
            <a:r>
              <a:rPr dirty="0" sz="2350" spc="50">
                <a:solidFill>
                  <a:srgbClr val="FFFFFF"/>
                </a:solidFill>
                <a:latin typeface="Arial"/>
                <a:cs typeface="Arial"/>
              </a:rPr>
              <a:t>ướ</a:t>
            </a:r>
            <a:r>
              <a:rPr dirty="0" sz="2350" spc="50">
                <a:solidFill>
                  <a:srgbClr val="FFFFFF"/>
                </a:solidFill>
                <a:latin typeface="Lucida Sans Unicode"/>
                <a:cs typeface="Lucida Sans Unicode"/>
              </a:rPr>
              <a:t>c</a:t>
            </a:r>
            <a:r>
              <a:rPr dirty="0" sz="235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>
                <a:solidFill>
                  <a:srgbClr val="FFFFFF"/>
                </a:solidFill>
                <a:latin typeface="Lucida Sans Unicode"/>
                <a:cs typeface="Lucida Sans Unicode"/>
              </a:rPr>
              <a:t>nh</a:t>
            </a:r>
            <a:r>
              <a:rPr dirty="0" sz="2350">
                <a:solidFill>
                  <a:srgbClr val="FFFFFF"/>
                </a:solidFill>
                <a:latin typeface="Arial"/>
                <a:cs typeface="Arial"/>
              </a:rPr>
              <a:t>ả</a:t>
            </a:r>
            <a:r>
              <a:rPr dirty="0" sz="2350">
                <a:solidFill>
                  <a:srgbClr val="FFFFFF"/>
                </a:solidFill>
                <a:latin typeface="Lucida Sans Unicode"/>
                <a:cs typeface="Lucida Sans Unicode"/>
              </a:rPr>
              <a:t>y</a:t>
            </a:r>
            <a:r>
              <a:rPr dirty="0" sz="235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70">
                <a:solidFill>
                  <a:srgbClr val="FFFFFF"/>
                </a:solidFill>
                <a:latin typeface="Lucida Sans Unicode"/>
                <a:cs typeface="Lucida Sans Unicode"/>
              </a:rPr>
              <a:t>(strides)</a:t>
            </a:r>
            <a:r>
              <a:rPr dirty="0" sz="235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-285">
                <a:solidFill>
                  <a:srgbClr val="FFFFFF"/>
                </a:solidFill>
                <a:latin typeface="Lucida Sans Unicode"/>
                <a:cs typeface="Lucida Sans Unicode"/>
              </a:rPr>
              <a:t>—</a:t>
            </a:r>
            <a:r>
              <a:rPr dirty="0" sz="2350" spc="-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235">
                <a:solidFill>
                  <a:srgbClr val="FFFFFF"/>
                </a:solidFill>
                <a:latin typeface="Lucida Sans Unicode"/>
                <a:cs typeface="Lucida Sans Unicode"/>
              </a:rPr>
              <a:t>các</a:t>
            </a:r>
            <a:r>
              <a:rPr dirty="0" sz="235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6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dirty="0" sz="2350" spc="60">
                <a:solidFill>
                  <a:srgbClr val="FFFFFF"/>
                </a:solidFill>
                <a:latin typeface="Arial"/>
                <a:cs typeface="Arial"/>
              </a:rPr>
              <a:t>ố</a:t>
            </a:r>
            <a:r>
              <a:rPr dirty="0" sz="235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50" spc="70">
                <a:solidFill>
                  <a:srgbClr val="FFFFFF"/>
                </a:solidFill>
                <a:latin typeface="Lucida Sans Unicode"/>
                <a:cs typeface="Lucida Sans Unicode"/>
              </a:rPr>
              <a:t>nguyên</a:t>
            </a:r>
            <a:r>
              <a:rPr dirty="0" sz="235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95">
                <a:solidFill>
                  <a:srgbClr val="FFFFFF"/>
                </a:solidFill>
                <a:latin typeface="Lucida Sans Unicode"/>
                <a:cs typeface="Lucida Sans Unicode"/>
              </a:rPr>
              <a:t>cho</a:t>
            </a:r>
            <a:r>
              <a:rPr dirty="0" sz="2350" spc="-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>
                <a:solidFill>
                  <a:srgbClr val="FFFFFF"/>
                </a:solidFill>
                <a:latin typeface="Lucida Sans Unicode"/>
                <a:cs typeface="Lucida Sans Unicode"/>
              </a:rPr>
              <a:t>bi</a:t>
            </a:r>
            <a:r>
              <a:rPr dirty="0" sz="2350">
                <a:solidFill>
                  <a:srgbClr val="FFFFFF"/>
                </a:solidFill>
                <a:latin typeface="Arial"/>
                <a:cs typeface="Arial"/>
              </a:rPr>
              <a:t>ế</a:t>
            </a:r>
            <a:r>
              <a:rPr dirty="0" sz="235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dirty="0" sz="235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6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dirty="0" sz="2350" spc="60">
                <a:solidFill>
                  <a:srgbClr val="FFFFFF"/>
                </a:solidFill>
                <a:latin typeface="Arial"/>
                <a:cs typeface="Arial"/>
              </a:rPr>
              <a:t>ố</a:t>
            </a:r>
            <a:r>
              <a:rPr dirty="0" sz="235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50" spc="75">
                <a:solidFill>
                  <a:srgbClr val="FFFFFF"/>
                </a:solidFill>
                <a:latin typeface="Lucida Sans Unicode"/>
                <a:cs typeface="Lucida Sans Unicode"/>
              </a:rPr>
              <a:t>byte</a:t>
            </a:r>
            <a:r>
              <a:rPr dirty="0" sz="235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50">
                <a:solidFill>
                  <a:srgbClr val="FFFFFF"/>
                </a:solidFill>
                <a:latin typeface="Lucida Sans Unicode"/>
                <a:cs typeface="Lucida Sans Unicode"/>
              </a:rPr>
              <a:t>c</a:t>
            </a:r>
            <a:r>
              <a:rPr dirty="0" sz="2350" spc="50">
                <a:solidFill>
                  <a:srgbClr val="FFFFFF"/>
                </a:solidFill>
                <a:latin typeface="Arial"/>
                <a:cs typeface="Arial"/>
              </a:rPr>
              <a:t>ầ</a:t>
            </a:r>
            <a:r>
              <a:rPr dirty="0" sz="2350" spc="50">
                <a:solidFill>
                  <a:srgbClr val="FFFFFF"/>
                </a:solidFill>
                <a:latin typeface="Lucida Sans Unicode"/>
                <a:cs typeface="Lucida Sans Unicode"/>
              </a:rPr>
              <a:t>n </a:t>
            </a:r>
            <a:r>
              <a:rPr dirty="0" sz="2350" spc="-25">
                <a:solidFill>
                  <a:srgbClr val="FFFFFF"/>
                </a:solidFill>
                <a:latin typeface="Lucida Sans Unicode"/>
                <a:cs typeface="Lucida Sans Unicode"/>
              </a:rPr>
              <a:t>"b</a:t>
            </a:r>
            <a:r>
              <a:rPr dirty="0" sz="2350" spc="-25">
                <a:solidFill>
                  <a:srgbClr val="FFFFFF"/>
                </a:solidFill>
                <a:latin typeface="Arial"/>
                <a:cs typeface="Arial"/>
              </a:rPr>
              <a:t>ướ</a:t>
            </a:r>
            <a:r>
              <a:rPr dirty="0" sz="2350" spc="-25">
                <a:solidFill>
                  <a:srgbClr val="FFFFFF"/>
                </a:solidFill>
                <a:latin typeface="Lucida Sans Unicode"/>
                <a:cs typeface="Lucida Sans Unicode"/>
              </a:rPr>
              <a:t>c"</a:t>
            </a:r>
            <a:r>
              <a:rPr dirty="0" sz="235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55">
                <a:solidFill>
                  <a:srgbClr val="FFFFFF"/>
                </a:solidFill>
                <a:latin typeface="Lucida Sans Unicode"/>
                <a:cs typeface="Lucida Sans Unicode"/>
              </a:rPr>
              <a:t>đ</a:t>
            </a:r>
            <a:r>
              <a:rPr dirty="0" sz="2350" spc="55">
                <a:solidFill>
                  <a:srgbClr val="FFFFFF"/>
                </a:solidFill>
                <a:latin typeface="Arial"/>
                <a:cs typeface="Arial"/>
              </a:rPr>
              <a:t>ể</a:t>
            </a:r>
            <a:r>
              <a:rPr dirty="0" sz="2350" spc="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50" spc="-20">
                <a:solidFill>
                  <a:srgbClr val="FFFFFF"/>
                </a:solidFill>
                <a:latin typeface="Lucida Sans Unicode"/>
                <a:cs typeface="Lucida Sans Unicode"/>
              </a:rPr>
              <a:t>ti</a:t>
            </a:r>
            <a:r>
              <a:rPr dirty="0" sz="2350" spc="-20">
                <a:solidFill>
                  <a:srgbClr val="FFFFFF"/>
                </a:solidFill>
                <a:latin typeface="Arial"/>
                <a:cs typeface="Arial"/>
              </a:rPr>
              <a:t>ế</a:t>
            </a:r>
            <a:r>
              <a:rPr dirty="0" sz="2350" spc="-2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dirty="0" sz="2350" spc="-80">
                <a:solidFill>
                  <a:srgbClr val="FFFFFF"/>
                </a:solidFill>
                <a:latin typeface="Lucida Sans Unicode"/>
                <a:cs typeface="Lucida Sans Unicode"/>
              </a:rPr>
              <a:t> t</a:t>
            </a:r>
            <a:r>
              <a:rPr dirty="0" sz="2350" spc="-80">
                <a:solidFill>
                  <a:srgbClr val="FFFFFF"/>
                </a:solidFill>
                <a:latin typeface="Arial"/>
                <a:cs typeface="Arial"/>
              </a:rPr>
              <a:t>ớ</a:t>
            </a:r>
            <a:r>
              <a:rPr dirty="0" sz="2350" spc="-80">
                <a:solidFill>
                  <a:srgbClr val="FFFFFF"/>
                </a:solidFill>
                <a:latin typeface="Lucida Sans Unicode"/>
                <a:cs typeface="Lucida Sans Unicode"/>
              </a:rPr>
              <a:t>i </a:t>
            </a:r>
            <a:r>
              <a:rPr dirty="0" sz="2350">
                <a:solidFill>
                  <a:srgbClr val="FFFFFF"/>
                </a:solidFill>
                <a:latin typeface="Lucida Sans Unicode"/>
                <a:cs typeface="Lucida Sans Unicode"/>
              </a:rPr>
              <a:t>ph</a:t>
            </a:r>
            <a:r>
              <a:rPr dirty="0" sz="2350">
                <a:solidFill>
                  <a:srgbClr val="FFFFFF"/>
                </a:solidFill>
                <a:latin typeface="Arial"/>
                <a:cs typeface="Arial"/>
              </a:rPr>
              <a:t>ầ</a:t>
            </a:r>
            <a:r>
              <a:rPr dirty="0" sz="235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dirty="0" sz="235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dirty="0" sz="2350">
                <a:solidFill>
                  <a:srgbClr val="FFFFFF"/>
                </a:solidFill>
                <a:latin typeface="Arial"/>
                <a:cs typeface="Arial"/>
              </a:rPr>
              <a:t>ử</a:t>
            </a:r>
            <a:r>
              <a:rPr dirty="0" sz="2350" spc="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FFFFFF"/>
                </a:solidFill>
                <a:latin typeface="Lucida Sans Unicode"/>
                <a:cs typeface="Lucida Sans Unicode"/>
              </a:rPr>
              <a:t>ti</a:t>
            </a:r>
            <a:r>
              <a:rPr dirty="0" sz="2350">
                <a:solidFill>
                  <a:srgbClr val="FFFFFF"/>
                </a:solidFill>
                <a:latin typeface="Arial"/>
                <a:cs typeface="Arial"/>
              </a:rPr>
              <a:t>ế</a:t>
            </a:r>
            <a:r>
              <a:rPr dirty="0" sz="2350">
                <a:solidFill>
                  <a:srgbClr val="FFFFFF"/>
                </a:solidFill>
                <a:latin typeface="Lucida Sans Unicode"/>
                <a:cs typeface="Lucida Sans Unicode"/>
              </a:rPr>
              <a:t>p</a:t>
            </a:r>
            <a:r>
              <a:rPr dirty="0" sz="235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>
                <a:solidFill>
                  <a:srgbClr val="FFFFFF"/>
                </a:solidFill>
                <a:latin typeface="Lucida Sans Unicode"/>
                <a:cs typeface="Lucida Sans Unicode"/>
              </a:rPr>
              <a:t>theo</a:t>
            </a:r>
            <a:r>
              <a:rPr dirty="0" sz="235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135">
                <a:solidFill>
                  <a:srgbClr val="FFFFFF"/>
                </a:solidFill>
                <a:latin typeface="Lucida Sans Unicode"/>
                <a:cs typeface="Lucida Sans Unicode"/>
              </a:rPr>
              <a:t>d</a:t>
            </a:r>
            <a:r>
              <a:rPr dirty="0" sz="2350" spc="135">
                <a:solidFill>
                  <a:srgbClr val="FFFFFF"/>
                </a:solidFill>
                <a:latin typeface="Arial"/>
                <a:cs typeface="Arial"/>
              </a:rPr>
              <a:t>ọ</a:t>
            </a:r>
            <a:r>
              <a:rPr dirty="0" sz="2350" spc="135">
                <a:solidFill>
                  <a:srgbClr val="FFFFFF"/>
                </a:solidFill>
                <a:latin typeface="Lucida Sans Unicode"/>
                <a:cs typeface="Lucida Sans Unicode"/>
              </a:rPr>
              <a:t>c</a:t>
            </a:r>
            <a:r>
              <a:rPr dirty="0" sz="235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>
                <a:solidFill>
                  <a:srgbClr val="FFFFFF"/>
                </a:solidFill>
                <a:latin typeface="Lucida Sans Unicode"/>
                <a:cs typeface="Lucida Sans Unicode"/>
              </a:rPr>
              <a:t>theo</a:t>
            </a:r>
            <a:r>
              <a:rPr dirty="0" sz="235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95">
                <a:solidFill>
                  <a:srgbClr val="FFFFFF"/>
                </a:solidFill>
                <a:latin typeface="Lucida Sans Unicode"/>
                <a:cs typeface="Lucida Sans Unicode"/>
              </a:rPr>
              <a:t>m</a:t>
            </a:r>
            <a:r>
              <a:rPr dirty="0" sz="2350" spc="95">
                <a:solidFill>
                  <a:srgbClr val="FFFFFF"/>
                </a:solidFill>
                <a:latin typeface="Arial"/>
                <a:cs typeface="Arial"/>
              </a:rPr>
              <a:t>ộ</a:t>
            </a:r>
            <a:r>
              <a:rPr dirty="0" sz="2350" spc="95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dirty="0" sz="235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-10">
                <a:solidFill>
                  <a:srgbClr val="FFFFFF"/>
                </a:solidFill>
                <a:latin typeface="Lucida Sans Unicode"/>
                <a:cs typeface="Lucida Sans Unicode"/>
              </a:rPr>
              <a:t>chi</a:t>
            </a:r>
            <a:r>
              <a:rPr dirty="0" sz="2350" spc="-10">
                <a:solidFill>
                  <a:srgbClr val="FFFFFF"/>
                </a:solidFill>
                <a:latin typeface="Arial"/>
                <a:cs typeface="Arial"/>
              </a:rPr>
              <a:t>ề</a:t>
            </a:r>
            <a:r>
              <a:rPr dirty="0" sz="2350" spc="-10">
                <a:solidFill>
                  <a:srgbClr val="FFFFFF"/>
                </a:solidFill>
                <a:latin typeface="Lucida Sans Unicode"/>
                <a:cs typeface="Lucida Sans Unicode"/>
              </a:rPr>
              <a:t>u.</a:t>
            </a:r>
            <a:endParaRPr sz="23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65810" y="865718"/>
            <a:ext cx="14354174" cy="90296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00276"/>
            <a:ext cx="11296649" cy="104774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90469" y="3057405"/>
            <a:ext cx="10248899" cy="568642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82981" y="1549507"/>
            <a:ext cx="8346440" cy="7270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600" spc="200">
                <a:solidFill>
                  <a:srgbClr val="FFFFFF"/>
                </a:solidFill>
              </a:rPr>
              <a:t>Phân</a:t>
            </a:r>
            <a:r>
              <a:rPr dirty="0" sz="4600" spc="-245">
                <a:solidFill>
                  <a:srgbClr val="FFFFFF"/>
                </a:solidFill>
              </a:rPr>
              <a:t> </a:t>
            </a:r>
            <a:r>
              <a:rPr dirty="0" sz="4600" spc="204">
                <a:solidFill>
                  <a:srgbClr val="FFFFFF"/>
                </a:solidFill>
              </a:rPr>
              <a:t>c</a:t>
            </a:r>
            <a:r>
              <a:rPr dirty="0" sz="4600" spc="204">
                <a:solidFill>
                  <a:srgbClr val="FFFFFF"/>
                </a:solidFill>
                <a:latin typeface="Arial"/>
                <a:cs typeface="Arial"/>
              </a:rPr>
              <a:t>ấ</a:t>
            </a:r>
            <a:r>
              <a:rPr dirty="0" sz="4600" spc="204">
                <a:solidFill>
                  <a:srgbClr val="FFFFFF"/>
                </a:solidFill>
              </a:rPr>
              <a:t>p</a:t>
            </a:r>
            <a:r>
              <a:rPr dirty="0" sz="4600" spc="-240">
                <a:solidFill>
                  <a:srgbClr val="FFFFFF"/>
                </a:solidFill>
              </a:rPr>
              <a:t> </a:t>
            </a:r>
            <a:r>
              <a:rPr dirty="0" sz="4600" spc="-100">
                <a:solidFill>
                  <a:srgbClr val="FFFFFF"/>
                </a:solidFill>
              </a:rPr>
              <a:t>ki</a:t>
            </a:r>
            <a:r>
              <a:rPr dirty="0" sz="4600" spc="-100">
                <a:solidFill>
                  <a:srgbClr val="FFFFFF"/>
                </a:solidFill>
                <a:latin typeface="Arial"/>
                <a:cs typeface="Arial"/>
              </a:rPr>
              <a:t>ể</a:t>
            </a:r>
            <a:r>
              <a:rPr dirty="0" sz="4600" spc="-100">
                <a:solidFill>
                  <a:srgbClr val="FFFFFF"/>
                </a:solidFill>
              </a:rPr>
              <a:t>u</a:t>
            </a:r>
            <a:r>
              <a:rPr dirty="0" sz="4600" spc="-245">
                <a:solidFill>
                  <a:srgbClr val="FFFFFF"/>
                </a:solidFill>
              </a:rPr>
              <a:t> </a:t>
            </a:r>
            <a:r>
              <a:rPr dirty="0" sz="4600" spc="95">
                <a:solidFill>
                  <a:srgbClr val="FFFFFF"/>
                </a:solidFill>
              </a:rPr>
              <a:t>d</a:t>
            </a:r>
            <a:r>
              <a:rPr dirty="0" sz="4600" spc="95">
                <a:solidFill>
                  <a:srgbClr val="FFFFFF"/>
                </a:solidFill>
                <a:latin typeface="Arial"/>
                <a:cs typeface="Arial"/>
              </a:rPr>
              <a:t>ữ</a:t>
            </a:r>
            <a:r>
              <a:rPr dirty="0" sz="46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4600" spc="-60">
                <a:solidFill>
                  <a:srgbClr val="FFFFFF"/>
                </a:solidFill>
              </a:rPr>
              <a:t>li</a:t>
            </a:r>
            <a:r>
              <a:rPr dirty="0" sz="4600" spc="-60">
                <a:solidFill>
                  <a:srgbClr val="FFFFFF"/>
                </a:solidFill>
                <a:latin typeface="Arial"/>
                <a:cs typeface="Arial"/>
              </a:rPr>
              <a:t>ệ</a:t>
            </a:r>
            <a:r>
              <a:rPr dirty="0" sz="4600" spc="-60">
                <a:solidFill>
                  <a:srgbClr val="FFFFFF"/>
                </a:solidFill>
              </a:rPr>
              <a:t>u</a:t>
            </a:r>
            <a:r>
              <a:rPr dirty="0" sz="4600" spc="-245">
                <a:solidFill>
                  <a:srgbClr val="FFFFFF"/>
                </a:solidFill>
              </a:rPr>
              <a:t> </a:t>
            </a:r>
            <a:r>
              <a:rPr dirty="0" sz="4600" spc="105">
                <a:solidFill>
                  <a:srgbClr val="FFFFFF"/>
                </a:solidFill>
              </a:rPr>
              <a:t>NumPy</a:t>
            </a:r>
            <a:endParaRPr sz="46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82981" y="2395220"/>
            <a:ext cx="6894195" cy="70834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53695" indent="102235">
              <a:lnSpc>
                <a:spcPct val="114900"/>
              </a:lnSpc>
              <a:spcBef>
                <a:spcPts val="100"/>
              </a:spcBef>
            </a:pPr>
            <a:r>
              <a:rPr dirty="0" sz="3100" spc="114">
                <a:solidFill>
                  <a:srgbClr val="FFFFFF"/>
                </a:solidFill>
                <a:latin typeface="Tahoma"/>
                <a:cs typeface="Tahoma"/>
              </a:rPr>
              <a:t>Đôi</a:t>
            </a:r>
            <a:r>
              <a:rPr dirty="0" sz="31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 spc="60">
                <a:solidFill>
                  <a:srgbClr val="FFFFFF"/>
                </a:solidFill>
                <a:latin typeface="Tahoma"/>
                <a:cs typeface="Tahoma"/>
              </a:rPr>
              <a:t>khi,</a:t>
            </a:r>
            <a:r>
              <a:rPr dirty="0" sz="31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 spc="160">
                <a:solidFill>
                  <a:srgbClr val="FFFFFF"/>
                </a:solidFill>
                <a:latin typeface="Tahoma"/>
                <a:cs typeface="Tahoma"/>
              </a:rPr>
              <a:t>bạn</a:t>
            </a:r>
            <a:r>
              <a:rPr dirty="0" sz="31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 spc="114">
                <a:solidFill>
                  <a:srgbClr val="FFFFFF"/>
                </a:solidFill>
                <a:latin typeface="Tahoma"/>
                <a:cs typeface="Tahoma"/>
              </a:rPr>
              <a:t>có</a:t>
            </a:r>
            <a:r>
              <a:rPr dirty="0" sz="31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 spc="114">
                <a:solidFill>
                  <a:srgbClr val="FFFFFF"/>
                </a:solidFill>
                <a:latin typeface="Tahoma"/>
                <a:cs typeface="Tahoma"/>
              </a:rPr>
              <a:t>thể</a:t>
            </a:r>
            <a:r>
              <a:rPr dirty="0" sz="31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 spc="114">
                <a:solidFill>
                  <a:srgbClr val="FFFFFF"/>
                </a:solidFill>
                <a:latin typeface="Tahoma"/>
                <a:cs typeface="Tahoma"/>
              </a:rPr>
              <a:t>có</a:t>
            </a:r>
            <a:r>
              <a:rPr dirty="0" sz="31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 spc="195">
                <a:solidFill>
                  <a:srgbClr val="FFFFFF"/>
                </a:solidFill>
                <a:latin typeface="Tahoma"/>
                <a:cs typeface="Tahoma"/>
              </a:rPr>
              <a:t>mã</a:t>
            </a:r>
            <a:r>
              <a:rPr dirty="0" sz="31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 spc="114">
                <a:solidFill>
                  <a:srgbClr val="FFFFFF"/>
                </a:solidFill>
                <a:latin typeface="Tahoma"/>
                <a:cs typeface="Tahoma"/>
              </a:rPr>
              <a:t>cần</a:t>
            </a:r>
            <a:r>
              <a:rPr dirty="0" sz="31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 spc="114">
                <a:solidFill>
                  <a:srgbClr val="FFFFFF"/>
                </a:solidFill>
                <a:latin typeface="Tahoma"/>
                <a:cs typeface="Tahoma"/>
              </a:rPr>
              <a:t>kiểm </a:t>
            </a:r>
            <a:r>
              <a:rPr dirty="0" sz="3100" spc="100">
                <a:solidFill>
                  <a:srgbClr val="FFFFFF"/>
                </a:solidFill>
                <a:latin typeface="Tahoma"/>
                <a:cs typeface="Tahoma"/>
              </a:rPr>
              <a:t>tra</a:t>
            </a:r>
            <a:r>
              <a:rPr dirty="0" sz="31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 spc="145">
                <a:solidFill>
                  <a:srgbClr val="FFFFFF"/>
                </a:solidFill>
                <a:latin typeface="Tahoma"/>
                <a:cs typeface="Tahoma"/>
              </a:rPr>
              <a:t>xem</a:t>
            </a:r>
            <a:r>
              <a:rPr dirty="0" sz="31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 spc="175">
                <a:solidFill>
                  <a:srgbClr val="FFFFFF"/>
                </a:solidFill>
                <a:latin typeface="Tahoma"/>
                <a:cs typeface="Tahoma"/>
              </a:rPr>
              <a:t>một</a:t>
            </a:r>
            <a:r>
              <a:rPr dirty="0" sz="31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 spc="190">
                <a:solidFill>
                  <a:srgbClr val="FFFFFF"/>
                </a:solidFill>
                <a:latin typeface="Tahoma"/>
                <a:cs typeface="Tahoma"/>
              </a:rPr>
              <a:t>mảng</a:t>
            </a:r>
            <a:r>
              <a:rPr dirty="0" sz="31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 spc="114">
                <a:solidFill>
                  <a:srgbClr val="FFFFFF"/>
                </a:solidFill>
                <a:latin typeface="Tahoma"/>
                <a:cs typeface="Tahoma"/>
              </a:rPr>
              <a:t>có</a:t>
            </a:r>
            <a:r>
              <a:rPr dirty="0" sz="31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 spc="135">
                <a:solidFill>
                  <a:srgbClr val="FFFFFF"/>
                </a:solidFill>
                <a:latin typeface="Tahoma"/>
                <a:cs typeface="Tahoma"/>
              </a:rPr>
              <a:t>chứa</a:t>
            </a:r>
            <a:r>
              <a:rPr dirty="0" sz="31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 spc="110">
                <a:solidFill>
                  <a:srgbClr val="FFFFFF"/>
                </a:solidFill>
                <a:latin typeface="Tahoma"/>
                <a:cs typeface="Tahoma"/>
              </a:rPr>
              <a:t>số </a:t>
            </a:r>
            <a:r>
              <a:rPr dirty="0" sz="3100" spc="100">
                <a:solidFill>
                  <a:srgbClr val="FFFFFF"/>
                </a:solidFill>
                <a:latin typeface="Tahoma"/>
                <a:cs typeface="Tahoma"/>
              </a:rPr>
              <a:t>nguyên,</a:t>
            </a:r>
            <a:r>
              <a:rPr dirty="0" sz="31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 spc="135">
                <a:solidFill>
                  <a:srgbClr val="FFFFFF"/>
                </a:solidFill>
                <a:latin typeface="Tahoma"/>
                <a:cs typeface="Tahoma"/>
              </a:rPr>
              <a:t>số</a:t>
            </a:r>
            <a:r>
              <a:rPr dirty="0" sz="31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 spc="160">
                <a:solidFill>
                  <a:srgbClr val="FFFFFF"/>
                </a:solidFill>
                <a:latin typeface="Tahoma"/>
                <a:cs typeface="Tahoma"/>
              </a:rPr>
              <a:t>dấu</a:t>
            </a:r>
            <a:r>
              <a:rPr dirty="0" sz="31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 spc="120">
                <a:solidFill>
                  <a:srgbClr val="FFFFFF"/>
                </a:solidFill>
                <a:latin typeface="Tahoma"/>
                <a:cs typeface="Tahoma"/>
              </a:rPr>
              <a:t>phẩy</a:t>
            </a:r>
            <a:r>
              <a:rPr dirty="0" sz="3100" spc="-1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 spc="110">
                <a:solidFill>
                  <a:srgbClr val="FFFFFF"/>
                </a:solidFill>
                <a:latin typeface="Tahoma"/>
                <a:cs typeface="Tahoma"/>
              </a:rPr>
              <a:t>động,</a:t>
            </a:r>
            <a:r>
              <a:rPr dirty="0" sz="31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 spc="125">
                <a:solidFill>
                  <a:srgbClr val="FFFFFF"/>
                </a:solidFill>
                <a:latin typeface="Tahoma"/>
                <a:cs typeface="Tahoma"/>
              </a:rPr>
              <a:t>chuỗi </a:t>
            </a:r>
            <a:r>
              <a:rPr dirty="0" sz="3100" spc="130">
                <a:solidFill>
                  <a:srgbClr val="FFFFFF"/>
                </a:solidFill>
                <a:latin typeface="Tahoma"/>
                <a:cs typeface="Tahoma"/>
              </a:rPr>
              <a:t>hoặc</a:t>
            </a:r>
            <a:r>
              <a:rPr dirty="0" sz="31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 spc="125">
                <a:solidFill>
                  <a:srgbClr val="FFFFFF"/>
                </a:solidFill>
                <a:latin typeface="Tahoma"/>
                <a:cs typeface="Tahoma"/>
              </a:rPr>
              <a:t>đối</a:t>
            </a:r>
            <a:r>
              <a:rPr dirty="0" sz="31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 spc="155">
                <a:solidFill>
                  <a:srgbClr val="FFFFFF"/>
                </a:solidFill>
                <a:latin typeface="Tahoma"/>
                <a:cs typeface="Tahoma"/>
              </a:rPr>
              <a:t>tượng</a:t>
            </a:r>
            <a:r>
              <a:rPr dirty="0" sz="31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 spc="130">
                <a:solidFill>
                  <a:srgbClr val="FFFFFF"/>
                </a:solidFill>
                <a:latin typeface="Tahoma"/>
                <a:cs typeface="Tahoma"/>
              </a:rPr>
              <a:t>Python</a:t>
            </a:r>
            <a:r>
              <a:rPr dirty="0" sz="31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 spc="100">
                <a:solidFill>
                  <a:srgbClr val="FFFFFF"/>
                </a:solidFill>
                <a:latin typeface="Tahoma"/>
                <a:cs typeface="Tahoma"/>
              </a:rPr>
              <a:t>hay</a:t>
            </a:r>
            <a:r>
              <a:rPr dirty="0" sz="31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 spc="105">
                <a:solidFill>
                  <a:srgbClr val="FFFFFF"/>
                </a:solidFill>
                <a:latin typeface="Tahoma"/>
                <a:cs typeface="Tahoma"/>
              </a:rPr>
              <a:t>không.</a:t>
            </a:r>
            <a:endParaRPr sz="3100">
              <a:latin typeface="Tahoma"/>
              <a:cs typeface="Tahoma"/>
            </a:endParaRPr>
          </a:p>
          <a:p>
            <a:pPr marL="12700" marR="5080">
              <a:lnSpc>
                <a:spcPct val="114900"/>
              </a:lnSpc>
            </a:pPr>
            <a:r>
              <a:rPr dirty="0" sz="3100" spc="135">
                <a:solidFill>
                  <a:srgbClr val="FFFFFF"/>
                </a:solidFill>
                <a:latin typeface="Tahoma"/>
                <a:cs typeface="Tahoma"/>
              </a:rPr>
              <a:t>Bởi</a:t>
            </a:r>
            <a:r>
              <a:rPr dirty="0" sz="3100" spc="-1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>
                <a:solidFill>
                  <a:srgbClr val="FFFFFF"/>
                </a:solidFill>
                <a:latin typeface="Tahoma"/>
                <a:cs typeface="Tahoma"/>
              </a:rPr>
              <a:t>vì</a:t>
            </a:r>
            <a:r>
              <a:rPr dirty="0" sz="31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 spc="114">
                <a:solidFill>
                  <a:srgbClr val="FFFFFF"/>
                </a:solidFill>
                <a:latin typeface="Tahoma"/>
                <a:cs typeface="Tahoma"/>
              </a:rPr>
              <a:t>có</a:t>
            </a:r>
            <a:r>
              <a:rPr dirty="0" sz="31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 spc="145">
                <a:solidFill>
                  <a:srgbClr val="FFFFFF"/>
                </a:solidFill>
                <a:latin typeface="Tahoma"/>
                <a:cs typeface="Tahoma"/>
              </a:rPr>
              <a:t>nhiều</a:t>
            </a:r>
            <a:r>
              <a:rPr dirty="0" sz="3100" spc="-1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 spc="114">
                <a:solidFill>
                  <a:srgbClr val="FFFFFF"/>
                </a:solidFill>
                <a:latin typeface="Tahoma"/>
                <a:cs typeface="Tahoma"/>
              </a:rPr>
              <a:t>loại</a:t>
            </a:r>
            <a:r>
              <a:rPr dirty="0" sz="31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 spc="135">
                <a:solidFill>
                  <a:srgbClr val="FFFFFF"/>
                </a:solidFill>
                <a:latin typeface="Tahoma"/>
                <a:cs typeface="Tahoma"/>
              </a:rPr>
              <a:t>số</a:t>
            </a:r>
            <a:r>
              <a:rPr dirty="0" sz="31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 spc="160">
                <a:solidFill>
                  <a:srgbClr val="FFFFFF"/>
                </a:solidFill>
                <a:latin typeface="Tahoma"/>
                <a:cs typeface="Tahoma"/>
              </a:rPr>
              <a:t>dấu</a:t>
            </a:r>
            <a:r>
              <a:rPr dirty="0" sz="31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 spc="120">
                <a:solidFill>
                  <a:srgbClr val="FFFFFF"/>
                </a:solidFill>
                <a:latin typeface="Tahoma"/>
                <a:cs typeface="Tahoma"/>
              </a:rPr>
              <a:t>phẩy</a:t>
            </a:r>
            <a:r>
              <a:rPr dirty="0" sz="3100" spc="-1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 spc="145">
                <a:solidFill>
                  <a:srgbClr val="FFFFFF"/>
                </a:solidFill>
                <a:latin typeface="Tahoma"/>
                <a:cs typeface="Tahoma"/>
              </a:rPr>
              <a:t>động </a:t>
            </a:r>
            <a:r>
              <a:rPr dirty="0" sz="3100" spc="50">
                <a:solidFill>
                  <a:srgbClr val="FFFFFF"/>
                </a:solidFill>
                <a:latin typeface="Tahoma"/>
                <a:cs typeface="Tahoma"/>
              </a:rPr>
              <a:t>(float16</a:t>
            </a:r>
            <a:r>
              <a:rPr dirty="0" sz="3100" spc="-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 spc="130">
                <a:solidFill>
                  <a:srgbClr val="FFFFFF"/>
                </a:solidFill>
                <a:latin typeface="Tahoma"/>
                <a:cs typeface="Tahoma"/>
              </a:rPr>
              <a:t>đến</a:t>
            </a:r>
            <a:r>
              <a:rPr dirty="0" sz="3100" spc="-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>
                <a:solidFill>
                  <a:srgbClr val="FFFFFF"/>
                </a:solidFill>
                <a:latin typeface="Tahoma"/>
                <a:cs typeface="Tahoma"/>
              </a:rPr>
              <a:t>float128),</a:t>
            </a:r>
            <a:r>
              <a:rPr dirty="0" sz="3100" spc="-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 spc="60">
                <a:solidFill>
                  <a:srgbClr val="FFFFFF"/>
                </a:solidFill>
                <a:latin typeface="Tahoma"/>
                <a:cs typeface="Tahoma"/>
              </a:rPr>
              <a:t>việc</a:t>
            </a:r>
            <a:r>
              <a:rPr dirty="0" sz="3100" spc="-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 spc="135">
                <a:solidFill>
                  <a:srgbClr val="FFFFFF"/>
                </a:solidFill>
                <a:latin typeface="Tahoma"/>
                <a:cs typeface="Tahoma"/>
              </a:rPr>
              <a:t>kiểm</a:t>
            </a:r>
            <a:r>
              <a:rPr dirty="0" sz="3100" spc="-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 spc="75">
                <a:solidFill>
                  <a:srgbClr val="FFFFFF"/>
                </a:solidFill>
                <a:latin typeface="Tahoma"/>
                <a:cs typeface="Tahoma"/>
              </a:rPr>
              <a:t>tra </a:t>
            </a:r>
            <a:r>
              <a:rPr dirty="0" sz="3100" spc="145">
                <a:solidFill>
                  <a:srgbClr val="FFFFFF"/>
                </a:solidFill>
                <a:latin typeface="Tahoma"/>
                <a:cs typeface="Tahoma"/>
              </a:rPr>
              <a:t>xem</a:t>
            </a:r>
            <a:r>
              <a:rPr dirty="0" sz="31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 spc="114">
                <a:solidFill>
                  <a:srgbClr val="FFFFFF"/>
                </a:solidFill>
                <a:latin typeface="Tahoma"/>
                <a:cs typeface="Tahoma"/>
              </a:rPr>
              <a:t>loại</a:t>
            </a:r>
            <a:r>
              <a:rPr dirty="0" sz="31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 spc="190">
                <a:solidFill>
                  <a:srgbClr val="FFFFFF"/>
                </a:solidFill>
                <a:latin typeface="Tahoma"/>
                <a:cs typeface="Tahoma"/>
              </a:rPr>
              <a:t>dữ</a:t>
            </a:r>
            <a:r>
              <a:rPr dirty="0" sz="31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 spc="110">
                <a:solidFill>
                  <a:srgbClr val="FFFFFF"/>
                </a:solidFill>
                <a:latin typeface="Tahoma"/>
                <a:cs typeface="Tahoma"/>
              </a:rPr>
              <a:t>liệu</a:t>
            </a:r>
            <a:r>
              <a:rPr dirty="0" sz="31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 spc="114">
                <a:solidFill>
                  <a:srgbClr val="FFFFFF"/>
                </a:solidFill>
                <a:latin typeface="Tahoma"/>
                <a:cs typeface="Tahoma"/>
              </a:rPr>
              <a:t>có</a:t>
            </a:r>
            <a:r>
              <a:rPr dirty="0" sz="31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 spc="190">
                <a:solidFill>
                  <a:srgbClr val="FFFFFF"/>
                </a:solidFill>
                <a:latin typeface="Tahoma"/>
                <a:cs typeface="Tahoma"/>
              </a:rPr>
              <a:t>nằm</a:t>
            </a:r>
            <a:r>
              <a:rPr dirty="0" sz="31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 spc="150">
                <a:solidFill>
                  <a:srgbClr val="FFFFFF"/>
                </a:solidFill>
                <a:latin typeface="Tahoma"/>
                <a:cs typeface="Tahoma"/>
              </a:rPr>
              <a:t>trong</a:t>
            </a:r>
            <a:r>
              <a:rPr dirty="0" sz="31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 spc="145">
                <a:solidFill>
                  <a:srgbClr val="FFFFFF"/>
                </a:solidFill>
                <a:latin typeface="Tahoma"/>
                <a:cs typeface="Tahoma"/>
              </a:rPr>
              <a:t>danh </a:t>
            </a:r>
            <a:r>
              <a:rPr dirty="0" sz="3100" spc="110">
                <a:solidFill>
                  <a:srgbClr val="FFFFFF"/>
                </a:solidFill>
                <a:latin typeface="Tahoma"/>
                <a:cs typeface="Tahoma"/>
              </a:rPr>
              <a:t>sách</a:t>
            </a:r>
            <a:r>
              <a:rPr dirty="0" sz="31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 spc="70">
                <a:solidFill>
                  <a:srgbClr val="FFFFFF"/>
                </a:solidFill>
                <a:latin typeface="Tahoma"/>
                <a:cs typeface="Tahoma"/>
              </a:rPr>
              <a:t>các</a:t>
            </a:r>
            <a:r>
              <a:rPr dirty="0" sz="31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 spc="114">
                <a:solidFill>
                  <a:srgbClr val="FFFFFF"/>
                </a:solidFill>
                <a:latin typeface="Tahoma"/>
                <a:cs typeface="Tahoma"/>
              </a:rPr>
              <a:t>loại</a:t>
            </a:r>
            <a:r>
              <a:rPr dirty="0" sz="31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 spc="95">
                <a:solidFill>
                  <a:srgbClr val="FFFFFF"/>
                </a:solidFill>
                <a:latin typeface="Tahoma"/>
                <a:cs typeface="Tahoma"/>
              </a:rPr>
              <a:t>sẽ</a:t>
            </a:r>
            <a:r>
              <a:rPr dirty="0" sz="31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 spc="100">
                <a:solidFill>
                  <a:srgbClr val="FFFFFF"/>
                </a:solidFill>
                <a:latin typeface="Tahoma"/>
                <a:cs typeface="Tahoma"/>
              </a:rPr>
              <a:t>rất</a:t>
            </a:r>
            <a:r>
              <a:rPr dirty="0" sz="31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 spc="125">
                <a:solidFill>
                  <a:srgbClr val="FFFFFF"/>
                </a:solidFill>
                <a:latin typeface="Tahoma"/>
                <a:cs typeface="Tahoma"/>
              </a:rPr>
              <a:t>dài</a:t>
            </a:r>
            <a:r>
              <a:rPr dirty="0" sz="31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 spc="180">
                <a:solidFill>
                  <a:srgbClr val="FFFFFF"/>
                </a:solidFill>
                <a:latin typeface="Tahoma"/>
                <a:cs typeface="Tahoma"/>
              </a:rPr>
              <a:t>dòng</a:t>
            </a:r>
            <a:r>
              <a:rPr dirty="0" sz="31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 spc="75">
                <a:solidFill>
                  <a:srgbClr val="FFFFFF"/>
                </a:solidFill>
                <a:latin typeface="Tahoma"/>
                <a:cs typeface="Tahoma"/>
              </a:rPr>
              <a:t>hay </a:t>
            </a:r>
            <a:r>
              <a:rPr dirty="0" sz="3100" spc="114">
                <a:solidFill>
                  <a:srgbClr val="FFFFFF"/>
                </a:solidFill>
                <a:latin typeface="Tahoma"/>
                <a:cs typeface="Tahoma"/>
              </a:rPr>
              <a:t>không.</a:t>
            </a:r>
            <a:r>
              <a:rPr dirty="0" sz="3100" spc="-1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 spc="175">
                <a:solidFill>
                  <a:srgbClr val="FFFFFF"/>
                </a:solidFill>
                <a:latin typeface="Tahoma"/>
                <a:cs typeface="Tahoma"/>
              </a:rPr>
              <a:t>May</a:t>
            </a:r>
            <a:r>
              <a:rPr dirty="0" sz="3100" spc="-1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 spc="190">
                <a:solidFill>
                  <a:srgbClr val="FFFFFF"/>
                </a:solidFill>
                <a:latin typeface="Tahoma"/>
                <a:cs typeface="Tahoma"/>
              </a:rPr>
              <a:t>mắn</a:t>
            </a:r>
            <a:r>
              <a:rPr dirty="0" sz="3100" spc="-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>
                <a:solidFill>
                  <a:srgbClr val="FFFFFF"/>
                </a:solidFill>
                <a:latin typeface="Tahoma"/>
                <a:cs typeface="Tahoma"/>
              </a:rPr>
              <a:t>thay,</a:t>
            </a:r>
            <a:r>
              <a:rPr dirty="0" sz="3100" spc="-1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 spc="70">
                <a:solidFill>
                  <a:srgbClr val="FFFFFF"/>
                </a:solidFill>
                <a:latin typeface="Tahoma"/>
                <a:cs typeface="Tahoma"/>
              </a:rPr>
              <a:t>các</a:t>
            </a:r>
            <a:r>
              <a:rPr dirty="0" sz="3100" spc="-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 spc="110">
                <a:solidFill>
                  <a:srgbClr val="FFFFFF"/>
                </a:solidFill>
                <a:latin typeface="Tahoma"/>
                <a:cs typeface="Tahoma"/>
              </a:rPr>
              <a:t>kiểu</a:t>
            </a:r>
            <a:r>
              <a:rPr dirty="0" sz="3100" spc="-1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 spc="165">
                <a:solidFill>
                  <a:srgbClr val="FFFFFF"/>
                </a:solidFill>
                <a:latin typeface="Tahoma"/>
                <a:cs typeface="Tahoma"/>
              </a:rPr>
              <a:t>dữ </a:t>
            </a:r>
            <a:r>
              <a:rPr dirty="0" sz="3100" spc="110">
                <a:solidFill>
                  <a:srgbClr val="FFFFFF"/>
                </a:solidFill>
                <a:latin typeface="Tahoma"/>
                <a:cs typeface="Tahoma"/>
              </a:rPr>
              <a:t>liệu</a:t>
            </a:r>
            <a:r>
              <a:rPr dirty="0" sz="31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 spc="114">
                <a:solidFill>
                  <a:srgbClr val="FFFFFF"/>
                </a:solidFill>
                <a:latin typeface="Tahoma"/>
                <a:cs typeface="Tahoma"/>
              </a:rPr>
              <a:t>có</a:t>
            </a:r>
            <a:r>
              <a:rPr dirty="0" sz="31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 spc="114">
                <a:solidFill>
                  <a:srgbClr val="FFFFFF"/>
                </a:solidFill>
                <a:latin typeface="Tahoma"/>
                <a:cs typeface="Tahoma"/>
              </a:rPr>
              <a:t>siêu</a:t>
            </a:r>
            <a:r>
              <a:rPr dirty="0" sz="31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 spc="75">
                <a:solidFill>
                  <a:srgbClr val="FFFFFF"/>
                </a:solidFill>
                <a:latin typeface="Tahoma"/>
                <a:cs typeface="Tahoma"/>
              </a:rPr>
              <a:t>lớp,</a:t>
            </a:r>
            <a:r>
              <a:rPr dirty="0" sz="31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 spc="140">
                <a:solidFill>
                  <a:srgbClr val="FFFFFF"/>
                </a:solidFill>
                <a:latin typeface="Tahoma"/>
                <a:cs typeface="Tahoma"/>
              </a:rPr>
              <a:t>chẳng</a:t>
            </a:r>
            <a:r>
              <a:rPr dirty="0" sz="31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 spc="160">
                <a:solidFill>
                  <a:srgbClr val="FFFFFF"/>
                </a:solidFill>
                <a:latin typeface="Tahoma"/>
                <a:cs typeface="Tahoma"/>
              </a:rPr>
              <a:t>hạn</a:t>
            </a:r>
            <a:r>
              <a:rPr dirty="0" sz="31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 spc="165">
                <a:solidFill>
                  <a:srgbClr val="FFFFFF"/>
                </a:solidFill>
                <a:latin typeface="Tahoma"/>
                <a:cs typeface="Tahoma"/>
              </a:rPr>
              <a:t>như </a:t>
            </a:r>
            <a:r>
              <a:rPr dirty="0" sz="3100" spc="110">
                <a:solidFill>
                  <a:srgbClr val="FFFFFF"/>
                </a:solidFill>
                <a:latin typeface="Tahoma"/>
                <a:cs typeface="Tahoma"/>
              </a:rPr>
              <a:t>np.integer</a:t>
            </a:r>
            <a:r>
              <a:rPr dirty="0" sz="31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 spc="60">
                <a:solidFill>
                  <a:srgbClr val="FFFFFF"/>
                </a:solidFill>
                <a:latin typeface="Tahoma"/>
                <a:cs typeface="Tahoma"/>
              </a:rPr>
              <a:t>và</a:t>
            </a:r>
            <a:r>
              <a:rPr dirty="0" sz="31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 spc="90">
                <a:solidFill>
                  <a:srgbClr val="FFFFFF"/>
                </a:solidFill>
                <a:latin typeface="Tahoma"/>
                <a:cs typeface="Tahoma"/>
              </a:rPr>
              <a:t>np.floating,</a:t>
            </a:r>
            <a:r>
              <a:rPr dirty="0" sz="31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 spc="114">
                <a:solidFill>
                  <a:srgbClr val="FFFFFF"/>
                </a:solidFill>
                <a:latin typeface="Tahoma"/>
                <a:cs typeface="Tahoma"/>
              </a:rPr>
              <a:t>có</a:t>
            </a:r>
            <a:r>
              <a:rPr dirty="0" sz="31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 spc="90">
                <a:solidFill>
                  <a:srgbClr val="FFFFFF"/>
                </a:solidFill>
                <a:latin typeface="Tahoma"/>
                <a:cs typeface="Tahoma"/>
              </a:rPr>
              <a:t>thể </a:t>
            </a:r>
            <a:r>
              <a:rPr dirty="0" sz="3100" spc="130">
                <a:solidFill>
                  <a:srgbClr val="FFFFFF"/>
                </a:solidFill>
                <a:latin typeface="Tahoma"/>
                <a:cs typeface="Tahoma"/>
              </a:rPr>
              <a:t>được</a:t>
            </a:r>
            <a:r>
              <a:rPr dirty="0" sz="31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 spc="145">
                <a:solidFill>
                  <a:srgbClr val="FFFFFF"/>
                </a:solidFill>
                <a:latin typeface="Tahoma"/>
                <a:cs typeface="Tahoma"/>
              </a:rPr>
              <a:t>sử</a:t>
            </a:r>
            <a:r>
              <a:rPr dirty="0" sz="31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 spc="185">
                <a:solidFill>
                  <a:srgbClr val="FFFFFF"/>
                </a:solidFill>
                <a:latin typeface="Tahoma"/>
                <a:cs typeface="Tahoma"/>
              </a:rPr>
              <a:t>dụng</a:t>
            </a:r>
            <a:r>
              <a:rPr dirty="0" sz="31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 spc="80">
                <a:solidFill>
                  <a:srgbClr val="FFFFFF"/>
                </a:solidFill>
                <a:latin typeface="Tahoma"/>
                <a:cs typeface="Tahoma"/>
              </a:rPr>
              <a:t>với</a:t>
            </a:r>
            <a:r>
              <a:rPr dirty="0" sz="31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 spc="165">
                <a:solidFill>
                  <a:srgbClr val="FFFFFF"/>
                </a:solidFill>
                <a:latin typeface="Tahoma"/>
                <a:cs typeface="Tahoma"/>
              </a:rPr>
              <a:t>hàm </a:t>
            </a:r>
            <a:r>
              <a:rPr dirty="0" sz="3100" spc="70">
                <a:solidFill>
                  <a:srgbClr val="FFFFFF"/>
                </a:solidFill>
                <a:latin typeface="Tahoma"/>
                <a:cs typeface="Tahoma"/>
              </a:rPr>
              <a:t>np.issubdtype:</a:t>
            </a:r>
            <a:endParaRPr sz="3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32322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00276"/>
            <a:ext cx="11296649" cy="104774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01801" y="2593281"/>
            <a:ext cx="12525374" cy="706754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82981" y="1549507"/>
            <a:ext cx="8346440" cy="7270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600" spc="200">
                <a:solidFill>
                  <a:srgbClr val="FFFFFF"/>
                </a:solidFill>
              </a:rPr>
              <a:t>Phân</a:t>
            </a:r>
            <a:r>
              <a:rPr dirty="0" sz="4600" spc="-245">
                <a:solidFill>
                  <a:srgbClr val="FFFFFF"/>
                </a:solidFill>
              </a:rPr>
              <a:t> </a:t>
            </a:r>
            <a:r>
              <a:rPr dirty="0" sz="4600" spc="204">
                <a:solidFill>
                  <a:srgbClr val="FFFFFF"/>
                </a:solidFill>
              </a:rPr>
              <a:t>c</a:t>
            </a:r>
            <a:r>
              <a:rPr dirty="0" sz="4600" spc="204">
                <a:solidFill>
                  <a:srgbClr val="FFFFFF"/>
                </a:solidFill>
                <a:latin typeface="Arial"/>
                <a:cs typeface="Arial"/>
              </a:rPr>
              <a:t>ấ</a:t>
            </a:r>
            <a:r>
              <a:rPr dirty="0" sz="4600" spc="204">
                <a:solidFill>
                  <a:srgbClr val="FFFFFF"/>
                </a:solidFill>
              </a:rPr>
              <a:t>p</a:t>
            </a:r>
            <a:r>
              <a:rPr dirty="0" sz="4600" spc="-240">
                <a:solidFill>
                  <a:srgbClr val="FFFFFF"/>
                </a:solidFill>
              </a:rPr>
              <a:t> </a:t>
            </a:r>
            <a:r>
              <a:rPr dirty="0" sz="4600" spc="-100">
                <a:solidFill>
                  <a:srgbClr val="FFFFFF"/>
                </a:solidFill>
              </a:rPr>
              <a:t>ki</a:t>
            </a:r>
            <a:r>
              <a:rPr dirty="0" sz="4600" spc="-100">
                <a:solidFill>
                  <a:srgbClr val="FFFFFF"/>
                </a:solidFill>
                <a:latin typeface="Arial"/>
                <a:cs typeface="Arial"/>
              </a:rPr>
              <a:t>ể</a:t>
            </a:r>
            <a:r>
              <a:rPr dirty="0" sz="4600" spc="-100">
                <a:solidFill>
                  <a:srgbClr val="FFFFFF"/>
                </a:solidFill>
              </a:rPr>
              <a:t>u</a:t>
            </a:r>
            <a:r>
              <a:rPr dirty="0" sz="4600" spc="-245">
                <a:solidFill>
                  <a:srgbClr val="FFFFFF"/>
                </a:solidFill>
              </a:rPr>
              <a:t> </a:t>
            </a:r>
            <a:r>
              <a:rPr dirty="0" sz="4600" spc="95">
                <a:solidFill>
                  <a:srgbClr val="FFFFFF"/>
                </a:solidFill>
              </a:rPr>
              <a:t>d</a:t>
            </a:r>
            <a:r>
              <a:rPr dirty="0" sz="4600" spc="95">
                <a:solidFill>
                  <a:srgbClr val="FFFFFF"/>
                </a:solidFill>
                <a:latin typeface="Arial"/>
                <a:cs typeface="Arial"/>
              </a:rPr>
              <a:t>ữ</a:t>
            </a:r>
            <a:r>
              <a:rPr dirty="0" sz="46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4600" spc="-60">
                <a:solidFill>
                  <a:srgbClr val="FFFFFF"/>
                </a:solidFill>
              </a:rPr>
              <a:t>li</a:t>
            </a:r>
            <a:r>
              <a:rPr dirty="0" sz="4600" spc="-60">
                <a:solidFill>
                  <a:srgbClr val="FFFFFF"/>
                </a:solidFill>
                <a:latin typeface="Arial"/>
                <a:cs typeface="Arial"/>
              </a:rPr>
              <a:t>ệ</a:t>
            </a:r>
            <a:r>
              <a:rPr dirty="0" sz="4600" spc="-60">
                <a:solidFill>
                  <a:srgbClr val="FFFFFF"/>
                </a:solidFill>
              </a:rPr>
              <a:t>u</a:t>
            </a:r>
            <a:r>
              <a:rPr dirty="0" sz="4600" spc="-245">
                <a:solidFill>
                  <a:srgbClr val="FFFFFF"/>
                </a:solidFill>
              </a:rPr>
              <a:t> </a:t>
            </a:r>
            <a:r>
              <a:rPr dirty="0" sz="4600" spc="105">
                <a:solidFill>
                  <a:srgbClr val="FFFFFF"/>
                </a:solidFill>
              </a:rPr>
              <a:t>NumPy</a:t>
            </a:r>
            <a:endParaRPr sz="4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00276"/>
            <a:ext cx="11296649" cy="104774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8463" y="2843410"/>
            <a:ext cx="8991599" cy="577214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82981" y="1549507"/>
            <a:ext cx="8346440" cy="7270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600" spc="200">
                <a:solidFill>
                  <a:srgbClr val="FFFFFF"/>
                </a:solidFill>
              </a:rPr>
              <a:t>Phân</a:t>
            </a:r>
            <a:r>
              <a:rPr dirty="0" sz="4600" spc="-245">
                <a:solidFill>
                  <a:srgbClr val="FFFFFF"/>
                </a:solidFill>
              </a:rPr>
              <a:t> </a:t>
            </a:r>
            <a:r>
              <a:rPr dirty="0" sz="4600" spc="204">
                <a:solidFill>
                  <a:srgbClr val="FFFFFF"/>
                </a:solidFill>
              </a:rPr>
              <a:t>c</a:t>
            </a:r>
            <a:r>
              <a:rPr dirty="0" sz="4600" spc="204">
                <a:solidFill>
                  <a:srgbClr val="FFFFFF"/>
                </a:solidFill>
                <a:latin typeface="Arial"/>
                <a:cs typeface="Arial"/>
              </a:rPr>
              <a:t>ấ</a:t>
            </a:r>
            <a:r>
              <a:rPr dirty="0" sz="4600" spc="204">
                <a:solidFill>
                  <a:srgbClr val="FFFFFF"/>
                </a:solidFill>
              </a:rPr>
              <a:t>p</a:t>
            </a:r>
            <a:r>
              <a:rPr dirty="0" sz="4600" spc="-240">
                <a:solidFill>
                  <a:srgbClr val="FFFFFF"/>
                </a:solidFill>
              </a:rPr>
              <a:t> </a:t>
            </a:r>
            <a:r>
              <a:rPr dirty="0" sz="4600" spc="-100">
                <a:solidFill>
                  <a:srgbClr val="FFFFFF"/>
                </a:solidFill>
              </a:rPr>
              <a:t>ki</a:t>
            </a:r>
            <a:r>
              <a:rPr dirty="0" sz="4600" spc="-100">
                <a:solidFill>
                  <a:srgbClr val="FFFFFF"/>
                </a:solidFill>
                <a:latin typeface="Arial"/>
                <a:cs typeface="Arial"/>
              </a:rPr>
              <a:t>ể</a:t>
            </a:r>
            <a:r>
              <a:rPr dirty="0" sz="4600" spc="-100">
                <a:solidFill>
                  <a:srgbClr val="FFFFFF"/>
                </a:solidFill>
              </a:rPr>
              <a:t>u</a:t>
            </a:r>
            <a:r>
              <a:rPr dirty="0" sz="4600" spc="-245">
                <a:solidFill>
                  <a:srgbClr val="FFFFFF"/>
                </a:solidFill>
              </a:rPr>
              <a:t> </a:t>
            </a:r>
            <a:r>
              <a:rPr dirty="0" sz="4600" spc="95">
                <a:solidFill>
                  <a:srgbClr val="FFFFFF"/>
                </a:solidFill>
              </a:rPr>
              <a:t>d</a:t>
            </a:r>
            <a:r>
              <a:rPr dirty="0" sz="4600" spc="95">
                <a:solidFill>
                  <a:srgbClr val="FFFFFF"/>
                </a:solidFill>
                <a:latin typeface="Arial"/>
                <a:cs typeface="Arial"/>
              </a:rPr>
              <a:t>ữ</a:t>
            </a:r>
            <a:r>
              <a:rPr dirty="0" sz="46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4600" spc="-60">
                <a:solidFill>
                  <a:srgbClr val="FFFFFF"/>
                </a:solidFill>
              </a:rPr>
              <a:t>li</a:t>
            </a:r>
            <a:r>
              <a:rPr dirty="0" sz="4600" spc="-60">
                <a:solidFill>
                  <a:srgbClr val="FFFFFF"/>
                </a:solidFill>
                <a:latin typeface="Arial"/>
                <a:cs typeface="Arial"/>
              </a:rPr>
              <a:t>ệ</a:t>
            </a:r>
            <a:r>
              <a:rPr dirty="0" sz="4600" spc="-60">
                <a:solidFill>
                  <a:srgbClr val="FFFFFF"/>
                </a:solidFill>
              </a:rPr>
              <a:t>u</a:t>
            </a:r>
            <a:r>
              <a:rPr dirty="0" sz="4600" spc="-245">
                <a:solidFill>
                  <a:srgbClr val="FFFFFF"/>
                </a:solidFill>
              </a:rPr>
              <a:t> </a:t>
            </a:r>
            <a:r>
              <a:rPr dirty="0" sz="4600" spc="105">
                <a:solidFill>
                  <a:srgbClr val="FFFFFF"/>
                </a:solidFill>
              </a:rPr>
              <a:t>NumPy</a:t>
            </a:r>
            <a:endParaRPr sz="46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0284794" y="3558398"/>
            <a:ext cx="7470775" cy="3625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15799"/>
              </a:lnSpc>
              <a:spcBef>
                <a:spcPts val="100"/>
              </a:spcBef>
            </a:pPr>
            <a:r>
              <a:rPr dirty="0" sz="3400" spc="160">
                <a:solidFill>
                  <a:srgbClr val="FFFFFF"/>
                </a:solidFill>
                <a:latin typeface="Tahoma"/>
                <a:cs typeface="Tahoma"/>
              </a:rPr>
              <a:t>Hầu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hết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75">
                <a:solidFill>
                  <a:srgbClr val="FFFFFF"/>
                </a:solidFill>
                <a:latin typeface="Tahoma"/>
                <a:cs typeface="Tahoma"/>
              </a:rPr>
              <a:t>người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0">
                <a:solidFill>
                  <a:srgbClr val="FFFFFF"/>
                </a:solidFill>
                <a:latin typeface="Tahoma"/>
                <a:cs typeface="Tahoma"/>
              </a:rPr>
              <a:t>dùng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5">
                <a:solidFill>
                  <a:srgbClr val="FFFFFF"/>
                </a:solidFill>
                <a:latin typeface="Tahoma"/>
                <a:cs typeface="Tahoma"/>
              </a:rPr>
              <a:t>NumPy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85">
                <a:solidFill>
                  <a:srgbClr val="FFFFFF"/>
                </a:solidFill>
                <a:latin typeface="Tahoma"/>
                <a:cs typeface="Tahoma"/>
              </a:rPr>
              <a:t>sẽ </a:t>
            </a:r>
            <a:r>
              <a:rPr dirty="0" sz="3400" spc="175">
                <a:solidFill>
                  <a:srgbClr val="FFFFFF"/>
                </a:solidFill>
                <a:latin typeface="Tahoma"/>
                <a:cs typeface="Tahoma"/>
              </a:rPr>
              <a:t>không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5">
                <a:solidFill>
                  <a:srgbClr val="FFFFFF"/>
                </a:solidFill>
                <a:latin typeface="Tahoma"/>
                <a:cs typeface="Tahoma"/>
              </a:rPr>
              <a:t>bao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5">
                <a:solidFill>
                  <a:srgbClr val="FFFFFF"/>
                </a:solidFill>
                <a:latin typeface="Tahoma"/>
                <a:cs typeface="Tahoma"/>
              </a:rPr>
              <a:t>giờ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biết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75">
                <a:solidFill>
                  <a:srgbClr val="FFFFFF"/>
                </a:solidFill>
                <a:latin typeface="Tahoma"/>
                <a:cs typeface="Tahoma"/>
              </a:rPr>
              <a:t>về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5">
                <a:solidFill>
                  <a:srgbClr val="FFFFFF"/>
                </a:solidFill>
                <a:latin typeface="Tahoma"/>
                <a:cs typeface="Tahoma"/>
              </a:rPr>
              <a:t>điều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-10">
                <a:solidFill>
                  <a:srgbClr val="FFFFFF"/>
                </a:solidFill>
                <a:latin typeface="Tahoma"/>
                <a:cs typeface="Tahoma"/>
              </a:rPr>
              <a:t>nàSy, </a:t>
            </a:r>
            <a:r>
              <a:rPr dirty="0" sz="3400" spc="195">
                <a:solidFill>
                  <a:srgbClr val="FFFFFF"/>
                </a:solidFill>
                <a:latin typeface="Tahoma"/>
                <a:cs typeface="Tahoma"/>
              </a:rPr>
              <a:t>nhưng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0">
                <a:solidFill>
                  <a:srgbClr val="FFFFFF"/>
                </a:solidFill>
                <a:latin typeface="Tahoma"/>
                <a:cs typeface="Tahoma"/>
              </a:rPr>
              <a:t>đôi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0">
                <a:solidFill>
                  <a:srgbClr val="FFFFFF"/>
                </a:solidFill>
                <a:latin typeface="Tahoma"/>
                <a:cs typeface="Tahoma"/>
              </a:rPr>
              <a:t>khi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0">
                <a:solidFill>
                  <a:srgbClr val="FFFFFF"/>
                </a:solidFill>
                <a:latin typeface="Tahoma"/>
                <a:cs typeface="Tahoma"/>
              </a:rPr>
              <a:t>nó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5">
                <a:solidFill>
                  <a:srgbClr val="FFFFFF"/>
                </a:solidFill>
                <a:latin typeface="Tahoma"/>
                <a:cs typeface="Tahoma"/>
              </a:rPr>
              <a:t>rất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5">
                <a:solidFill>
                  <a:srgbClr val="FFFFFF"/>
                </a:solidFill>
                <a:latin typeface="Tahoma"/>
                <a:cs typeface="Tahoma"/>
              </a:rPr>
              <a:t>hữu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50">
                <a:solidFill>
                  <a:srgbClr val="FFFFFF"/>
                </a:solidFill>
                <a:latin typeface="Tahoma"/>
                <a:cs typeface="Tahoma"/>
              </a:rPr>
              <a:t>ích.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4">
                <a:solidFill>
                  <a:srgbClr val="FFFFFF"/>
                </a:solidFill>
                <a:latin typeface="Tahoma"/>
                <a:cs typeface="Tahoma"/>
              </a:rPr>
              <a:t>Xem </a:t>
            </a:r>
            <a:r>
              <a:rPr dirty="0" sz="3400" spc="165">
                <a:solidFill>
                  <a:srgbClr val="FFFFFF"/>
                </a:solidFill>
                <a:latin typeface="Tahoma"/>
                <a:cs typeface="Tahoma"/>
              </a:rPr>
              <a:t>Hình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-25">
                <a:solidFill>
                  <a:srgbClr val="FFFFFF"/>
                </a:solidFill>
                <a:latin typeface="Tahoma"/>
                <a:cs typeface="Tahoma"/>
              </a:rPr>
              <a:t>A-</a:t>
            </a:r>
            <a:r>
              <a:rPr dirty="0" sz="3400" spc="9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để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biết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biểu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5">
                <a:solidFill>
                  <a:srgbClr val="FFFFFF"/>
                </a:solidFill>
                <a:latin typeface="Tahoma"/>
                <a:cs typeface="Tahoma"/>
              </a:rPr>
              <a:t>đồ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75">
                <a:solidFill>
                  <a:srgbClr val="FFFFFF"/>
                </a:solidFill>
                <a:latin typeface="Tahoma"/>
                <a:cs typeface="Tahoma"/>
              </a:rPr>
              <a:t>về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5">
                <a:solidFill>
                  <a:srgbClr val="FFFFFF"/>
                </a:solidFill>
                <a:latin typeface="Tahoma"/>
                <a:cs typeface="Tahoma"/>
              </a:rPr>
              <a:t>phân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90">
                <a:solidFill>
                  <a:srgbClr val="FFFFFF"/>
                </a:solidFill>
                <a:latin typeface="Tahoma"/>
                <a:cs typeface="Tahoma"/>
              </a:rPr>
              <a:t>cấp </a:t>
            </a:r>
            <a:r>
              <a:rPr dirty="0" sz="3400" spc="130">
                <a:solidFill>
                  <a:srgbClr val="FFFFFF"/>
                </a:solidFill>
                <a:latin typeface="Tahoma"/>
                <a:cs typeface="Tahoma"/>
              </a:rPr>
              <a:t>kiểu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10">
                <a:solidFill>
                  <a:srgbClr val="FFFFFF"/>
                </a:solidFill>
                <a:latin typeface="Tahoma"/>
                <a:cs typeface="Tahoma"/>
              </a:rPr>
              <a:t>dữ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liệu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5">
                <a:solidFill>
                  <a:srgbClr val="FFFFFF"/>
                </a:solidFill>
                <a:latin typeface="Tahoma"/>
                <a:cs typeface="Tahoma"/>
              </a:rPr>
              <a:t>và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00">
                <a:solidFill>
                  <a:srgbClr val="FFFFFF"/>
                </a:solidFill>
                <a:latin typeface="Tahoma"/>
                <a:cs typeface="Tahoma"/>
              </a:rPr>
              <a:t>mối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5">
                <a:solidFill>
                  <a:srgbClr val="FFFFFF"/>
                </a:solidFill>
                <a:latin typeface="Tahoma"/>
                <a:cs typeface="Tahoma"/>
              </a:rPr>
              <a:t>quan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5">
                <a:solidFill>
                  <a:srgbClr val="FFFFFF"/>
                </a:solidFill>
                <a:latin typeface="Tahoma"/>
                <a:cs typeface="Tahoma"/>
              </a:rPr>
              <a:t>hệ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5">
                <a:solidFill>
                  <a:srgbClr val="FFFFFF"/>
                </a:solidFill>
                <a:latin typeface="Tahoma"/>
                <a:cs typeface="Tahoma"/>
              </a:rPr>
              <a:t>lớp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45">
                <a:solidFill>
                  <a:srgbClr val="FFFFFF"/>
                </a:solidFill>
                <a:latin typeface="Tahoma"/>
                <a:cs typeface="Tahoma"/>
              </a:rPr>
              <a:t>con- </a:t>
            </a:r>
            <a:r>
              <a:rPr dirty="0" sz="3400" spc="155">
                <a:solidFill>
                  <a:srgbClr val="FFFFFF"/>
                </a:solidFill>
                <a:latin typeface="Tahoma"/>
                <a:cs typeface="Tahoma"/>
              </a:rPr>
              <a:t>lớp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30">
                <a:solidFill>
                  <a:srgbClr val="FFFFFF"/>
                </a:solidFill>
                <a:latin typeface="Tahoma"/>
                <a:cs typeface="Tahoma"/>
              </a:rPr>
              <a:t>cha.</a:t>
            </a:r>
            <a:endParaRPr sz="3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028699" y="541825"/>
            <a:ext cx="974090" cy="974090"/>
            <a:chOff x="1028699" y="541825"/>
            <a:chExt cx="974090" cy="974090"/>
          </a:xfrm>
        </p:grpSpPr>
        <p:sp>
          <p:nvSpPr>
            <p:cNvPr id="3" name="object 3" descr=""/>
            <p:cNvSpPr/>
            <p:nvPr/>
          </p:nvSpPr>
          <p:spPr>
            <a:xfrm>
              <a:off x="1028699" y="541825"/>
              <a:ext cx="974090" cy="974090"/>
            </a:xfrm>
            <a:custGeom>
              <a:avLst/>
              <a:gdLst/>
              <a:ahLst/>
              <a:cxnLst/>
              <a:rect l="l" t="t" r="r" b="b"/>
              <a:pathLst>
                <a:path w="974089" h="974090">
                  <a:moveTo>
                    <a:pt x="486874" y="973749"/>
                  </a:moveTo>
                  <a:lnTo>
                    <a:pt x="439985" y="971520"/>
                  </a:lnTo>
                  <a:lnTo>
                    <a:pt x="394357" y="964970"/>
                  </a:lnTo>
                  <a:lnTo>
                    <a:pt x="350194" y="954302"/>
                  </a:lnTo>
                  <a:lnTo>
                    <a:pt x="307699" y="939721"/>
                  </a:lnTo>
                  <a:lnTo>
                    <a:pt x="267078" y="921430"/>
                  </a:lnTo>
                  <a:lnTo>
                    <a:pt x="228535" y="899634"/>
                  </a:lnTo>
                  <a:lnTo>
                    <a:pt x="192272" y="874537"/>
                  </a:lnTo>
                  <a:lnTo>
                    <a:pt x="158495" y="846342"/>
                  </a:lnTo>
                  <a:lnTo>
                    <a:pt x="127407" y="815254"/>
                  </a:lnTo>
                  <a:lnTo>
                    <a:pt x="99212" y="781476"/>
                  </a:lnTo>
                  <a:lnTo>
                    <a:pt x="74114" y="745214"/>
                  </a:lnTo>
                  <a:lnTo>
                    <a:pt x="52318" y="706670"/>
                  </a:lnTo>
                  <a:lnTo>
                    <a:pt x="34028" y="666049"/>
                  </a:lnTo>
                  <a:lnTo>
                    <a:pt x="19446" y="623555"/>
                  </a:lnTo>
                  <a:lnTo>
                    <a:pt x="8779" y="579392"/>
                  </a:lnTo>
                  <a:lnTo>
                    <a:pt x="2228" y="533764"/>
                  </a:lnTo>
                  <a:lnTo>
                    <a:pt x="0" y="486874"/>
                  </a:lnTo>
                  <a:lnTo>
                    <a:pt x="2228" y="439985"/>
                  </a:lnTo>
                  <a:lnTo>
                    <a:pt x="8779" y="394357"/>
                  </a:lnTo>
                  <a:lnTo>
                    <a:pt x="19446" y="350194"/>
                  </a:lnTo>
                  <a:lnTo>
                    <a:pt x="34028" y="307699"/>
                  </a:lnTo>
                  <a:lnTo>
                    <a:pt x="52318" y="267078"/>
                  </a:lnTo>
                  <a:lnTo>
                    <a:pt x="74114" y="228535"/>
                  </a:lnTo>
                  <a:lnTo>
                    <a:pt x="99212" y="192272"/>
                  </a:lnTo>
                  <a:lnTo>
                    <a:pt x="127407" y="158495"/>
                  </a:lnTo>
                  <a:lnTo>
                    <a:pt x="158495" y="127407"/>
                  </a:lnTo>
                  <a:lnTo>
                    <a:pt x="192272" y="99212"/>
                  </a:lnTo>
                  <a:lnTo>
                    <a:pt x="228535" y="74114"/>
                  </a:lnTo>
                  <a:lnTo>
                    <a:pt x="267078" y="52318"/>
                  </a:lnTo>
                  <a:lnTo>
                    <a:pt x="307699" y="34028"/>
                  </a:lnTo>
                  <a:lnTo>
                    <a:pt x="350194" y="19446"/>
                  </a:lnTo>
                  <a:lnTo>
                    <a:pt x="394357" y="8779"/>
                  </a:lnTo>
                  <a:lnTo>
                    <a:pt x="439985" y="2228"/>
                  </a:lnTo>
                  <a:lnTo>
                    <a:pt x="486874" y="0"/>
                  </a:lnTo>
                  <a:lnTo>
                    <a:pt x="533764" y="2228"/>
                  </a:lnTo>
                  <a:lnTo>
                    <a:pt x="579392" y="8779"/>
                  </a:lnTo>
                  <a:lnTo>
                    <a:pt x="623555" y="19446"/>
                  </a:lnTo>
                  <a:lnTo>
                    <a:pt x="666049" y="34028"/>
                  </a:lnTo>
                  <a:lnTo>
                    <a:pt x="706670" y="52318"/>
                  </a:lnTo>
                  <a:lnTo>
                    <a:pt x="745214" y="74114"/>
                  </a:lnTo>
                  <a:lnTo>
                    <a:pt x="781476" y="99212"/>
                  </a:lnTo>
                  <a:lnTo>
                    <a:pt x="815254" y="127407"/>
                  </a:lnTo>
                  <a:lnTo>
                    <a:pt x="846342" y="158495"/>
                  </a:lnTo>
                  <a:lnTo>
                    <a:pt x="874537" y="192272"/>
                  </a:lnTo>
                  <a:lnTo>
                    <a:pt x="899634" y="228535"/>
                  </a:lnTo>
                  <a:lnTo>
                    <a:pt x="921430" y="267078"/>
                  </a:lnTo>
                  <a:lnTo>
                    <a:pt x="939721" y="307699"/>
                  </a:lnTo>
                  <a:lnTo>
                    <a:pt x="954302" y="350194"/>
                  </a:lnTo>
                  <a:lnTo>
                    <a:pt x="964970" y="394357"/>
                  </a:lnTo>
                  <a:lnTo>
                    <a:pt x="971520" y="439985"/>
                  </a:lnTo>
                  <a:lnTo>
                    <a:pt x="973749" y="486874"/>
                  </a:lnTo>
                  <a:lnTo>
                    <a:pt x="971520" y="533764"/>
                  </a:lnTo>
                  <a:lnTo>
                    <a:pt x="964970" y="579392"/>
                  </a:lnTo>
                  <a:lnTo>
                    <a:pt x="954302" y="623555"/>
                  </a:lnTo>
                  <a:lnTo>
                    <a:pt x="939721" y="666049"/>
                  </a:lnTo>
                  <a:lnTo>
                    <a:pt x="921430" y="706670"/>
                  </a:lnTo>
                  <a:lnTo>
                    <a:pt x="899634" y="745214"/>
                  </a:lnTo>
                  <a:lnTo>
                    <a:pt x="874537" y="781476"/>
                  </a:lnTo>
                  <a:lnTo>
                    <a:pt x="846342" y="815254"/>
                  </a:lnTo>
                  <a:lnTo>
                    <a:pt x="815254" y="846342"/>
                  </a:lnTo>
                  <a:lnTo>
                    <a:pt x="781476" y="874537"/>
                  </a:lnTo>
                  <a:lnTo>
                    <a:pt x="745214" y="899634"/>
                  </a:lnTo>
                  <a:lnTo>
                    <a:pt x="706670" y="921430"/>
                  </a:lnTo>
                  <a:lnTo>
                    <a:pt x="666049" y="939721"/>
                  </a:lnTo>
                  <a:lnTo>
                    <a:pt x="623555" y="954302"/>
                  </a:lnTo>
                  <a:lnTo>
                    <a:pt x="579392" y="964970"/>
                  </a:lnTo>
                  <a:lnTo>
                    <a:pt x="533764" y="971520"/>
                  </a:lnTo>
                  <a:lnTo>
                    <a:pt x="486874" y="973749"/>
                  </a:lnTo>
                  <a:close/>
                </a:path>
              </a:pathLst>
            </a:custGeom>
            <a:solidFill>
              <a:srgbClr val="32322F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119558" y="632682"/>
              <a:ext cx="792480" cy="792480"/>
            </a:xfrm>
            <a:custGeom>
              <a:avLst/>
              <a:gdLst/>
              <a:ahLst/>
              <a:cxnLst/>
              <a:rect l="l" t="t" r="r" b="b"/>
              <a:pathLst>
                <a:path w="792480" h="792480">
                  <a:moveTo>
                    <a:pt x="396016" y="792033"/>
                  </a:moveTo>
                  <a:lnTo>
                    <a:pt x="349832" y="789369"/>
                  </a:lnTo>
                  <a:lnTo>
                    <a:pt x="305213" y="781574"/>
                  </a:lnTo>
                  <a:lnTo>
                    <a:pt x="262456" y="768946"/>
                  </a:lnTo>
                  <a:lnTo>
                    <a:pt x="221858" y="751781"/>
                  </a:lnTo>
                  <a:lnTo>
                    <a:pt x="183716" y="730378"/>
                  </a:lnTo>
                  <a:lnTo>
                    <a:pt x="148328" y="705033"/>
                  </a:lnTo>
                  <a:lnTo>
                    <a:pt x="115990" y="676042"/>
                  </a:lnTo>
                  <a:lnTo>
                    <a:pt x="87000" y="643705"/>
                  </a:lnTo>
                  <a:lnTo>
                    <a:pt x="61655" y="608316"/>
                  </a:lnTo>
                  <a:lnTo>
                    <a:pt x="40251" y="570174"/>
                  </a:lnTo>
                  <a:lnTo>
                    <a:pt x="23087" y="529576"/>
                  </a:lnTo>
                  <a:lnTo>
                    <a:pt x="10459" y="486819"/>
                  </a:lnTo>
                  <a:lnTo>
                    <a:pt x="2664" y="442200"/>
                  </a:lnTo>
                  <a:lnTo>
                    <a:pt x="0" y="396016"/>
                  </a:lnTo>
                  <a:lnTo>
                    <a:pt x="2664" y="349832"/>
                  </a:lnTo>
                  <a:lnTo>
                    <a:pt x="10459" y="305213"/>
                  </a:lnTo>
                  <a:lnTo>
                    <a:pt x="23087" y="262456"/>
                  </a:lnTo>
                  <a:lnTo>
                    <a:pt x="40251" y="221858"/>
                  </a:lnTo>
                  <a:lnTo>
                    <a:pt x="61655" y="183716"/>
                  </a:lnTo>
                  <a:lnTo>
                    <a:pt x="87000" y="148328"/>
                  </a:lnTo>
                  <a:lnTo>
                    <a:pt x="115990" y="115990"/>
                  </a:lnTo>
                  <a:lnTo>
                    <a:pt x="148328" y="87000"/>
                  </a:lnTo>
                  <a:lnTo>
                    <a:pt x="183716" y="61655"/>
                  </a:lnTo>
                  <a:lnTo>
                    <a:pt x="221858" y="40251"/>
                  </a:lnTo>
                  <a:lnTo>
                    <a:pt x="262456" y="23087"/>
                  </a:lnTo>
                  <a:lnTo>
                    <a:pt x="305213" y="10459"/>
                  </a:lnTo>
                  <a:lnTo>
                    <a:pt x="349832" y="2664"/>
                  </a:lnTo>
                  <a:lnTo>
                    <a:pt x="396016" y="0"/>
                  </a:lnTo>
                  <a:lnTo>
                    <a:pt x="442200" y="2664"/>
                  </a:lnTo>
                  <a:lnTo>
                    <a:pt x="486819" y="10459"/>
                  </a:lnTo>
                  <a:lnTo>
                    <a:pt x="529577" y="23087"/>
                  </a:lnTo>
                  <a:lnTo>
                    <a:pt x="570175" y="40251"/>
                  </a:lnTo>
                  <a:lnTo>
                    <a:pt x="608316" y="61655"/>
                  </a:lnTo>
                  <a:lnTo>
                    <a:pt x="643705" y="87000"/>
                  </a:lnTo>
                  <a:lnTo>
                    <a:pt x="676043" y="115990"/>
                  </a:lnTo>
                  <a:lnTo>
                    <a:pt x="705033" y="148328"/>
                  </a:lnTo>
                  <a:lnTo>
                    <a:pt x="730378" y="183716"/>
                  </a:lnTo>
                  <a:lnTo>
                    <a:pt x="751782" y="221858"/>
                  </a:lnTo>
                  <a:lnTo>
                    <a:pt x="768946" y="262456"/>
                  </a:lnTo>
                  <a:lnTo>
                    <a:pt x="781574" y="305213"/>
                  </a:lnTo>
                  <a:lnTo>
                    <a:pt x="789369" y="349832"/>
                  </a:lnTo>
                  <a:lnTo>
                    <a:pt x="792033" y="396016"/>
                  </a:lnTo>
                  <a:lnTo>
                    <a:pt x="789369" y="442200"/>
                  </a:lnTo>
                  <a:lnTo>
                    <a:pt x="781574" y="486819"/>
                  </a:lnTo>
                  <a:lnTo>
                    <a:pt x="768946" y="529576"/>
                  </a:lnTo>
                  <a:lnTo>
                    <a:pt x="751782" y="570174"/>
                  </a:lnTo>
                  <a:lnTo>
                    <a:pt x="730378" y="608316"/>
                  </a:lnTo>
                  <a:lnTo>
                    <a:pt x="705033" y="643705"/>
                  </a:lnTo>
                  <a:lnTo>
                    <a:pt x="676043" y="676042"/>
                  </a:lnTo>
                  <a:lnTo>
                    <a:pt x="643705" y="705033"/>
                  </a:lnTo>
                  <a:lnTo>
                    <a:pt x="608316" y="730378"/>
                  </a:lnTo>
                  <a:lnTo>
                    <a:pt x="570175" y="751781"/>
                  </a:lnTo>
                  <a:lnTo>
                    <a:pt x="529577" y="768946"/>
                  </a:lnTo>
                  <a:lnTo>
                    <a:pt x="486819" y="781574"/>
                  </a:lnTo>
                  <a:lnTo>
                    <a:pt x="442200" y="789369"/>
                  </a:lnTo>
                  <a:lnTo>
                    <a:pt x="396016" y="792033"/>
                  </a:lnTo>
                  <a:close/>
                </a:path>
              </a:pathLst>
            </a:custGeom>
            <a:solidFill>
              <a:srgbClr val="32322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1425945" y="839058"/>
            <a:ext cx="17907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65">
                <a:solidFill>
                  <a:srgbClr val="FFFFFF"/>
                </a:solidFill>
                <a:latin typeface="Lucida Sans Unicode"/>
                <a:cs typeface="Lucida Sans Unicode"/>
              </a:rPr>
              <a:t>2</a:t>
            </a:r>
            <a:endParaRPr sz="2100">
              <a:latin typeface="Lucida Sans Unicode"/>
              <a:cs typeface="Lucida Sans Unicode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51115" y="5143500"/>
            <a:ext cx="5819774" cy="4743449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2297987" y="692889"/>
            <a:ext cx="1165288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50">
                <a:solidFill>
                  <a:srgbClr val="32322F"/>
                </a:solidFill>
                <a:latin typeface="Lucida Sans Unicode"/>
                <a:cs typeface="Lucida Sans Unicode"/>
              </a:rPr>
              <a:t>Thao</a:t>
            </a:r>
            <a:r>
              <a:rPr dirty="0" sz="3200" spc="-105">
                <a:solidFill>
                  <a:srgbClr val="32322F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210">
                <a:solidFill>
                  <a:srgbClr val="32322F"/>
                </a:solidFill>
                <a:latin typeface="Lucida Sans Unicode"/>
                <a:cs typeface="Lucida Sans Unicode"/>
              </a:rPr>
              <a:t>tác</a:t>
            </a:r>
            <a:r>
              <a:rPr dirty="0" sz="3200" spc="-105">
                <a:solidFill>
                  <a:srgbClr val="32322F"/>
                </a:solidFill>
                <a:latin typeface="Lucida Sans Unicode"/>
                <a:cs typeface="Lucida Sans Unicode"/>
              </a:rPr>
              <a:t> </a:t>
            </a:r>
            <a:r>
              <a:rPr dirty="0" sz="3200">
                <a:solidFill>
                  <a:srgbClr val="32322F"/>
                </a:solidFill>
                <a:latin typeface="Lucida Sans Unicode"/>
                <a:cs typeface="Lucida Sans Unicode"/>
              </a:rPr>
              <a:t>M</a:t>
            </a:r>
            <a:r>
              <a:rPr dirty="0" sz="3200">
                <a:solidFill>
                  <a:srgbClr val="32322F"/>
                </a:solidFill>
                <a:latin typeface="Arial"/>
                <a:cs typeface="Arial"/>
              </a:rPr>
              <a:t>ả</a:t>
            </a:r>
            <a:r>
              <a:rPr dirty="0" sz="3200">
                <a:solidFill>
                  <a:srgbClr val="32322F"/>
                </a:solidFill>
                <a:latin typeface="Lucida Sans Unicode"/>
                <a:cs typeface="Lucida Sans Unicode"/>
              </a:rPr>
              <a:t>ng</a:t>
            </a:r>
            <a:r>
              <a:rPr dirty="0" sz="3200" spc="-105">
                <a:solidFill>
                  <a:srgbClr val="32322F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114">
                <a:solidFill>
                  <a:srgbClr val="32322F"/>
                </a:solidFill>
                <a:latin typeface="Lucida Sans Unicode"/>
                <a:cs typeface="Lucida Sans Unicode"/>
              </a:rPr>
              <a:t>Nâng</a:t>
            </a:r>
            <a:r>
              <a:rPr dirty="0" sz="3200" spc="-105">
                <a:solidFill>
                  <a:srgbClr val="32322F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250">
                <a:solidFill>
                  <a:srgbClr val="32322F"/>
                </a:solidFill>
                <a:latin typeface="Lucida Sans Unicode"/>
                <a:cs typeface="Lucida Sans Unicode"/>
              </a:rPr>
              <a:t>cao</a:t>
            </a:r>
            <a:r>
              <a:rPr dirty="0" sz="3200" spc="-105">
                <a:solidFill>
                  <a:srgbClr val="32322F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180">
                <a:solidFill>
                  <a:srgbClr val="32322F"/>
                </a:solidFill>
                <a:latin typeface="Lucida Sans Unicode"/>
                <a:cs typeface="Lucida Sans Unicode"/>
              </a:rPr>
              <a:t>(Advanced</a:t>
            </a:r>
            <a:r>
              <a:rPr dirty="0" sz="3200" spc="-105">
                <a:solidFill>
                  <a:srgbClr val="32322F"/>
                </a:solidFill>
                <a:latin typeface="Lucida Sans Unicode"/>
                <a:cs typeface="Lucida Sans Unicode"/>
              </a:rPr>
              <a:t> </a:t>
            </a:r>
            <a:r>
              <a:rPr dirty="0" sz="3200">
                <a:solidFill>
                  <a:srgbClr val="32322F"/>
                </a:solidFill>
                <a:latin typeface="Lucida Sans Unicode"/>
                <a:cs typeface="Lucida Sans Unicode"/>
              </a:rPr>
              <a:t>Array</a:t>
            </a:r>
            <a:r>
              <a:rPr dirty="0" sz="3200" spc="-105">
                <a:solidFill>
                  <a:srgbClr val="32322F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70">
                <a:solidFill>
                  <a:srgbClr val="32322F"/>
                </a:solidFill>
                <a:latin typeface="Lucida Sans Unicode"/>
                <a:cs typeface="Lucida Sans Unicode"/>
              </a:rPr>
              <a:t>Manipulation)</a:t>
            </a:r>
            <a:endParaRPr sz="3200">
              <a:latin typeface="Lucida Sans Unicode"/>
              <a:cs typeface="Lucida Sans Unicode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58419" y="1667129"/>
            <a:ext cx="17830800" cy="81807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52400" marR="5080">
              <a:lnSpc>
                <a:spcPct val="117000"/>
              </a:lnSpc>
              <a:spcBef>
                <a:spcPts val="95"/>
              </a:spcBef>
            </a:pPr>
            <a:r>
              <a:rPr dirty="0" sz="3250" spc="160">
                <a:solidFill>
                  <a:srgbClr val="32322F"/>
                </a:solidFill>
                <a:latin typeface="Tahoma"/>
                <a:cs typeface="Tahoma"/>
              </a:rPr>
              <a:t>Có</a:t>
            </a:r>
            <a:r>
              <a:rPr dirty="0" sz="3250" spc="-14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250" spc="175">
                <a:solidFill>
                  <a:srgbClr val="32322F"/>
                </a:solidFill>
                <a:latin typeface="Tahoma"/>
                <a:cs typeface="Tahoma"/>
              </a:rPr>
              <a:t>nhiều</a:t>
            </a:r>
            <a:r>
              <a:rPr dirty="0" sz="3250" spc="-14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250" spc="120">
                <a:solidFill>
                  <a:srgbClr val="32322F"/>
                </a:solidFill>
                <a:latin typeface="Tahoma"/>
                <a:cs typeface="Tahoma"/>
              </a:rPr>
              <a:t>cách</a:t>
            </a:r>
            <a:r>
              <a:rPr dirty="0" sz="3250" spc="-14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250" spc="140">
                <a:solidFill>
                  <a:srgbClr val="32322F"/>
                </a:solidFill>
                <a:latin typeface="Tahoma"/>
                <a:cs typeface="Tahoma"/>
              </a:rPr>
              <a:t>để</a:t>
            </a:r>
            <a:r>
              <a:rPr dirty="0" sz="3250" spc="-14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250" spc="185">
                <a:solidFill>
                  <a:srgbClr val="32322F"/>
                </a:solidFill>
                <a:latin typeface="Tahoma"/>
                <a:cs typeface="Tahoma"/>
              </a:rPr>
              <a:t>làm</a:t>
            </a:r>
            <a:r>
              <a:rPr dirty="0" sz="3250" spc="-14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250" spc="85">
                <a:solidFill>
                  <a:srgbClr val="32322F"/>
                </a:solidFill>
                <a:latin typeface="Tahoma"/>
                <a:cs typeface="Tahoma"/>
              </a:rPr>
              <a:t>việc</a:t>
            </a:r>
            <a:r>
              <a:rPr dirty="0" sz="3250" spc="-14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250" spc="105">
                <a:solidFill>
                  <a:srgbClr val="32322F"/>
                </a:solidFill>
                <a:latin typeface="Tahoma"/>
                <a:cs typeface="Tahoma"/>
              </a:rPr>
              <a:t>với</a:t>
            </a:r>
            <a:r>
              <a:rPr dirty="0" sz="3250" spc="-14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250" spc="220">
                <a:solidFill>
                  <a:srgbClr val="32322F"/>
                </a:solidFill>
                <a:latin typeface="Tahoma"/>
                <a:cs typeface="Tahoma"/>
              </a:rPr>
              <a:t>mảng</a:t>
            </a:r>
            <a:r>
              <a:rPr dirty="0" sz="3250" spc="-14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250" spc="170">
                <a:solidFill>
                  <a:srgbClr val="32322F"/>
                </a:solidFill>
                <a:latin typeface="Tahoma"/>
                <a:cs typeface="Tahoma"/>
              </a:rPr>
              <a:t>ngoài</a:t>
            </a:r>
            <a:r>
              <a:rPr dirty="0" sz="3250" spc="-14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250" spc="85">
                <a:solidFill>
                  <a:srgbClr val="32322F"/>
                </a:solidFill>
                <a:latin typeface="Tahoma"/>
                <a:cs typeface="Tahoma"/>
              </a:rPr>
              <a:t>việc</a:t>
            </a:r>
            <a:r>
              <a:rPr dirty="0" sz="3250" spc="-14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250" spc="150">
                <a:solidFill>
                  <a:srgbClr val="32322F"/>
                </a:solidFill>
                <a:latin typeface="Tahoma"/>
                <a:cs typeface="Tahoma"/>
              </a:rPr>
              <a:t>lập</a:t>
            </a:r>
            <a:r>
              <a:rPr dirty="0" sz="3250" spc="-14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250" spc="125">
                <a:solidFill>
                  <a:srgbClr val="32322F"/>
                </a:solidFill>
                <a:latin typeface="Tahoma"/>
                <a:cs typeface="Tahoma"/>
              </a:rPr>
              <a:t>chỉ</a:t>
            </a:r>
            <a:r>
              <a:rPr dirty="0" sz="3250" spc="-14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250" spc="120">
                <a:solidFill>
                  <a:srgbClr val="32322F"/>
                </a:solidFill>
                <a:latin typeface="Tahoma"/>
                <a:cs typeface="Tahoma"/>
              </a:rPr>
              <a:t>mục,</a:t>
            </a:r>
            <a:r>
              <a:rPr dirty="0" sz="3250" spc="-14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250" spc="95">
                <a:solidFill>
                  <a:srgbClr val="32322F"/>
                </a:solidFill>
                <a:latin typeface="Tahoma"/>
                <a:cs typeface="Tahoma"/>
              </a:rPr>
              <a:t>cắt</a:t>
            </a:r>
            <a:r>
              <a:rPr dirty="0" sz="3250" spc="-14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250" spc="105">
                <a:solidFill>
                  <a:srgbClr val="32322F"/>
                </a:solidFill>
                <a:latin typeface="Tahoma"/>
                <a:cs typeface="Tahoma"/>
              </a:rPr>
              <a:t>lát</a:t>
            </a:r>
            <a:r>
              <a:rPr dirty="0" sz="3250" spc="-14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250" spc="85">
                <a:solidFill>
                  <a:srgbClr val="32322F"/>
                </a:solidFill>
                <a:latin typeface="Tahoma"/>
                <a:cs typeface="Tahoma"/>
              </a:rPr>
              <a:t>và</a:t>
            </a:r>
            <a:r>
              <a:rPr dirty="0" sz="3250" spc="-14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250" spc="140">
                <a:solidFill>
                  <a:srgbClr val="32322F"/>
                </a:solidFill>
                <a:latin typeface="Tahoma"/>
                <a:cs typeface="Tahoma"/>
              </a:rPr>
              <a:t>tập</a:t>
            </a:r>
            <a:r>
              <a:rPr dirty="0" sz="3250" spc="-14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250" spc="200">
                <a:solidFill>
                  <a:srgbClr val="32322F"/>
                </a:solidFill>
                <a:latin typeface="Tahoma"/>
                <a:cs typeface="Tahoma"/>
              </a:rPr>
              <a:t>hợp</a:t>
            </a:r>
            <a:r>
              <a:rPr dirty="0" sz="3250" spc="-14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250" spc="160">
                <a:solidFill>
                  <a:srgbClr val="32322F"/>
                </a:solidFill>
                <a:latin typeface="Tahoma"/>
                <a:cs typeface="Tahoma"/>
              </a:rPr>
              <a:t>con</a:t>
            </a:r>
            <a:r>
              <a:rPr dirty="0" sz="3250" spc="-14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250" spc="125">
                <a:solidFill>
                  <a:srgbClr val="32322F"/>
                </a:solidFill>
                <a:latin typeface="Tahoma"/>
                <a:cs typeface="Tahoma"/>
              </a:rPr>
              <a:t>Boolean. </a:t>
            </a:r>
            <a:r>
              <a:rPr dirty="0" sz="3250" spc="225">
                <a:solidFill>
                  <a:srgbClr val="32322F"/>
                </a:solidFill>
                <a:latin typeface="Tahoma"/>
                <a:cs typeface="Tahoma"/>
              </a:rPr>
              <a:t>Mặc</a:t>
            </a:r>
            <a:r>
              <a:rPr dirty="0" sz="325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250" spc="210">
                <a:solidFill>
                  <a:srgbClr val="32322F"/>
                </a:solidFill>
                <a:latin typeface="Tahoma"/>
                <a:cs typeface="Tahoma"/>
              </a:rPr>
              <a:t>dù</a:t>
            </a:r>
            <a:r>
              <a:rPr dirty="0" sz="3250" spc="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250" spc="190">
                <a:solidFill>
                  <a:srgbClr val="32322F"/>
                </a:solidFill>
                <a:latin typeface="Tahoma"/>
                <a:cs typeface="Tahoma"/>
              </a:rPr>
              <a:t>phần</a:t>
            </a:r>
            <a:r>
              <a:rPr dirty="0" sz="3250" spc="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250" spc="165">
                <a:solidFill>
                  <a:srgbClr val="32322F"/>
                </a:solidFill>
                <a:latin typeface="Tahoma"/>
                <a:cs typeface="Tahoma"/>
              </a:rPr>
              <a:t>lớn</a:t>
            </a:r>
            <a:r>
              <a:rPr dirty="0" sz="325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250" spc="175">
                <a:solidFill>
                  <a:srgbClr val="32322F"/>
                </a:solidFill>
                <a:latin typeface="Tahoma"/>
                <a:cs typeface="Tahoma"/>
              </a:rPr>
              <a:t>công</a:t>
            </a:r>
            <a:r>
              <a:rPr dirty="0" sz="3250" spc="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250" spc="85">
                <a:solidFill>
                  <a:srgbClr val="32322F"/>
                </a:solidFill>
                <a:latin typeface="Tahoma"/>
                <a:cs typeface="Tahoma"/>
              </a:rPr>
              <a:t>việc</a:t>
            </a:r>
            <a:r>
              <a:rPr dirty="0" sz="3250" spc="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250" spc="190">
                <a:solidFill>
                  <a:srgbClr val="32322F"/>
                </a:solidFill>
                <a:latin typeface="Tahoma"/>
                <a:cs typeface="Tahoma"/>
              </a:rPr>
              <a:t>nặng</a:t>
            </a:r>
            <a:r>
              <a:rPr dirty="0" sz="3250" spc="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250" spc="175">
                <a:solidFill>
                  <a:srgbClr val="32322F"/>
                </a:solidFill>
                <a:latin typeface="Tahoma"/>
                <a:cs typeface="Tahoma"/>
              </a:rPr>
              <a:t>nhọc</a:t>
            </a:r>
            <a:r>
              <a:rPr dirty="0" sz="325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250" spc="160">
                <a:solidFill>
                  <a:srgbClr val="32322F"/>
                </a:solidFill>
                <a:latin typeface="Tahoma"/>
                <a:cs typeface="Tahoma"/>
              </a:rPr>
              <a:t>cho</a:t>
            </a:r>
            <a:r>
              <a:rPr dirty="0" sz="3250" spc="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250" spc="90">
                <a:solidFill>
                  <a:srgbClr val="32322F"/>
                </a:solidFill>
                <a:latin typeface="Tahoma"/>
                <a:cs typeface="Tahoma"/>
              </a:rPr>
              <a:t>các</a:t>
            </a:r>
            <a:r>
              <a:rPr dirty="0" sz="3250" spc="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250" spc="220">
                <a:solidFill>
                  <a:srgbClr val="32322F"/>
                </a:solidFill>
                <a:latin typeface="Tahoma"/>
                <a:cs typeface="Tahoma"/>
              </a:rPr>
              <a:t>ứng</a:t>
            </a:r>
            <a:r>
              <a:rPr dirty="0" sz="325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250" spc="210">
                <a:solidFill>
                  <a:srgbClr val="32322F"/>
                </a:solidFill>
                <a:latin typeface="Tahoma"/>
                <a:cs typeface="Tahoma"/>
              </a:rPr>
              <a:t>dụng</a:t>
            </a:r>
            <a:r>
              <a:rPr dirty="0" sz="3250" spc="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250" spc="190">
                <a:solidFill>
                  <a:srgbClr val="32322F"/>
                </a:solidFill>
                <a:latin typeface="Tahoma"/>
                <a:cs typeface="Tahoma"/>
              </a:rPr>
              <a:t>phân</a:t>
            </a:r>
            <a:r>
              <a:rPr dirty="0" sz="3250" spc="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250" spc="114">
                <a:solidFill>
                  <a:srgbClr val="32322F"/>
                </a:solidFill>
                <a:latin typeface="Tahoma"/>
                <a:cs typeface="Tahoma"/>
              </a:rPr>
              <a:t>tích</a:t>
            </a:r>
            <a:r>
              <a:rPr dirty="0" sz="3250" spc="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250" spc="220">
                <a:solidFill>
                  <a:srgbClr val="32322F"/>
                </a:solidFill>
                <a:latin typeface="Tahoma"/>
                <a:cs typeface="Tahoma"/>
              </a:rPr>
              <a:t>dữ</a:t>
            </a:r>
            <a:r>
              <a:rPr dirty="0" sz="325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250" spc="135">
                <a:solidFill>
                  <a:srgbClr val="32322F"/>
                </a:solidFill>
                <a:latin typeface="Tahoma"/>
                <a:cs typeface="Tahoma"/>
              </a:rPr>
              <a:t>liệu</a:t>
            </a:r>
            <a:r>
              <a:rPr dirty="0" sz="3250" spc="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250" spc="155">
                <a:solidFill>
                  <a:srgbClr val="32322F"/>
                </a:solidFill>
                <a:latin typeface="Tahoma"/>
                <a:cs typeface="Tahoma"/>
              </a:rPr>
              <a:t>được</a:t>
            </a:r>
            <a:r>
              <a:rPr dirty="0" sz="3250" spc="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250" spc="170">
                <a:solidFill>
                  <a:srgbClr val="32322F"/>
                </a:solidFill>
                <a:latin typeface="Tahoma"/>
                <a:cs typeface="Tahoma"/>
              </a:rPr>
              <a:t>xử</a:t>
            </a:r>
            <a:r>
              <a:rPr dirty="0" sz="325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250" spc="75">
                <a:solidFill>
                  <a:srgbClr val="32322F"/>
                </a:solidFill>
                <a:latin typeface="Tahoma"/>
                <a:cs typeface="Tahoma"/>
              </a:rPr>
              <a:t>lý</a:t>
            </a:r>
            <a:r>
              <a:rPr dirty="0" sz="3250" spc="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250" spc="135">
                <a:solidFill>
                  <a:srgbClr val="32322F"/>
                </a:solidFill>
                <a:latin typeface="Tahoma"/>
                <a:cs typeface="Tahoma"/>
              </a:rPr>
              <a:t>bởi </a:t>
            </a:r>
            <a:r>
              <a:rPr dirty="0" sz="3250" spc="90">
                <a:solidFill>
                  <a:srgbClr val="32322F"/>
                </a:solidFill>
                <a:latin typeface="Tahoma"/>
                <a:cs typeface="Tahoma"/>
              </a:rPr>
              <a:t>các</a:t>
            </a:r>
            <a:r>
              <a:rPr dirty="0" sz="3250" spc="220">
                <a:solidFill>
                  <a:srgbClr val="32322F"/>
                </a:solidFill>
                <a:latin typeface="Tahoma"/>
                <a:cs typeface="Tahoma"/>
              </a:rPr>
              <a:t> hàm</a:t>
            </a:r>
            <a:r>
              <a:rPr dirty="0" sz="3250" spc="22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250" spc="135">
                <a:solidFill>
                  <a:srgbClr val="32322F"/>
                </a:solidFill>
                <a:latin typeface="Tahoma"/>
                <a:cs typeface="Tahoma"/>
              </a:rPr>
              <a:t>cấp</a:t>
            </a:r>
            <a:r>
              <a:rPr dirty="0" sz="3250" spc="22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250" spc="135">
                <a:solidFill>
                  <a:srgbClr val="32322F"/>
                </a:solidFill>
                <a:latin typeface="Tahoma"/>
                <a:cs typeface="Tahoma"/>
              </a:rPr>
              <a:t>cao</a:t>
            </a:r>
            <a:r>
              <a:rPr dirty="0" sz="3250" spc="22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250" spc="200">
                <a:solidFill>
                  <a:srgbClr val="32322F"/>
                </a:solidFill>
                <a:latin typeface="Tahoma"/>
                <a:cs typeface="Tahoma"/>
              </a:rPr>
              <a:t>hơn</a:t>
            </a:r>
            <a:r>
              <a:rPr dirty="0" sz="3250" spc="22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250" spc="170">
                <a:solidFill>
                  <a:srgbClr val="32322F"/>
                </a:solidFill>
                <a:latin typeface="Tahoma"/>
                <a:cs typeface="Tahoma"/>
              </a:rPr>
              <a:t>trong</a:t>
            </a:r>
            <a:r>
              <a:rPr dirty="0" sz="3250" spc="22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250" spc="185">
                <a:solidFill>
                  <a:srgbClr val="32322F"/>
                </a:solidFill>
                <a:latin typeface="Tahoma"/>
                <a:cs typeface="Tahoma"/>
              </a:rPr>
              <a:t>gấu</a:t>
            </a:r>
            <a:r>
              <a:rPr dirty="0" sz="3250" spc="22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250" spc="85">
                <a:solidFill>
                  <a:srgbClr val="32322F"/>
                </a:solidFill>
                <a:latin typeface="Tahoma"/>
                <a:cs typeface="Tahoma"/>
              </a:rPr>
              <a:t>trúc,</a:t>
            </a:r>
            <a:r>
              <a:rPr dirty="0" sz="3250" spc="22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250" spc="215">
                <a:solidFill>
                  <a:srgbClr val="32322F"/>
                </a:solidFill>
                <a:latin typeface="Tahoma"/>
                <a:cs typeface="Tahoma"/>
              </a:rPr>
              <a:t>nhưng</a:t>
            </a:r>
            <a:r>
              <a:rPr dirty="0" sz="3250" spc="22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250" spc="150">
                <a:solidFill>
                  <a:srgbClr val="32322F"/>
                </a:solidFill>
                <a:latin typeface="Tahoma"/>
                <a:cs typeface="Tahoma"/>
              </a:rPr>
              <a:t>đôi</a:t>
            </a:r>
            <a:r>
              <a:rPr dirty="0" sz="3250" spc="22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250" spc="145">
                <a:solidFill>
                  <a:srgbClr val="32322F"/>
                </a:solidFill>
                <a:latin typeface="Tahoma"/>
                <a:cs typeface="Tahoma"/>
              </a:rPr>
              <a:t>khi</a:t>
            </a:r>
            <a:r>
              <a:rPr dirty="0" sz="3250" spc="22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250" spc="185">
                <a:solidFill>
                  <a:srgbClr val="32322F"/>
                </a:solidFill>
                <a:latin typeface="Tahoma"/>
                <a:cs typeface="Tahoma"/>
              </a:rPr>
              <a:t>bạn</a:t>
            </a:r>
            <a:r>
              <a:rPr dirty="0" sz="3250" spc="22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250" spc="140">
                <a:solidFill>
                  <a:srgbClr val="32322F"/>
                </a:solidFill>
                <a:latin typeface="Tahoma"/>
                <a:cs typeface="Tahoma"/>
              </a:rPr>
              <a:t>có</a:t>
            </a:r>
            <a:r>
              <a:rPr dirty="0" sz="3250" spc="22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250" spc="145">
                <a:solidFill>
                  <a:srgbClr val="32322F"/>
                </a:solidFill>
                <a:latin typeface="Tahoma"/>
                <a:cs typeface="Tahoma"/>
              </a:rPr>
              <a:t>thể</a:t>
            </a:r>
            <a:r>
              <a:rPr dirty="0" sz="3250" spc="22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250" spc="135">
                <a:solidFill>
                  <a:srgbClr val="32322F"/>
                </a:solidFill>
                <a:latin typeface="Tahoma"/>
                <a:cs typeface="Tahoma"/>
              </a:rPr>
              <a:t>cần</a:t>
            </a:r>
            <a:r>
              <a:rPr dirty="0" sz="3250" spc="22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250" spc="160">
                <a:solidFill>
                  <a:srgbClr val="32322F"/>
                </a:solidFill>
                <a:latin typeface="Tahoma"/>
                <a:cs typeface="Tahoma"/>
              </a:rPr>
              <a:t>phải</a:t>
            </a:r>
            <a:r>
              <a:rPr dirty="0" sz="3250" spc="22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250" spc="90">
                <a:solidFill>
                  <a:srgbClr val="32322F"/>
                </a:solidFill>
                <a:latin typeface="Tahoma"/>
                <a:cs typeface="Tahoma"/>
              </a:rPr>
              <a:t>viết</a:t>
            </a:r>
            <a:r>
              <a:rPr dirty="0" sz="3250" spc="22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250" spc="204">
                <a:solidFill>
                  <a:srgbClr val="32322F"/>
                </a:solidFill>
                <a:latin typeface="Tahoma"/>
                <a:cs typeface="Tahoma"/>
              </a:rPr>
              <a:t>một</a:t>
            </a:r>
            <a:r>
              <a:rPr dirty="0" sz="3250" spc="22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250" spc="135">
                <a:solidFill>
                  <a:srgbClr val="32322F"/>
                </a:solidFill>
                <a:latin typeface="Tahoma"/>
                <a:cs typeface="Tahoma"/>
              </a:rPr>
              <a:t>thuật </a:t>
            </a:r>
            <a:r>
              <a:rPr dirty="0" sz="3250" spc="160">
                <a:solidFill>
                  <a:srgbClr val="32322F"/>
                </a:solidFill>
                <a:latin typeface="Tahoma"/>
                <a:cs typeface="Tahoma"/>
              </a:rPr>
              <a:t>toán</a:t>
            </a:r>
            <a:r>
              <a:rPr dirty="0" sz="3250" spc="-16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250" spc="220">
                <a:solidFill>
                  <a:srgbClr val="32322F"/>
                </a:solidFill>
                <a:latin typeface="Tahoma"/>
                <a:cs typeface="Tahoma"/>
              </a:rPr>
              <a:t>dữ</a:t>
            </a:r>
            <a:r>
              <a:rPr dirty="0" sz="3250" spc="-15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250" spc="135">
                <a:solidFill>
                  <a:srgbClr val="32322F"/>
                </a:solidFill>
                <a:latin typeface="Tahoma"/>
                <a:cs typeface="Tahoma"/>
              </a:rPr>
              <a:t>liệu</a:t>
            </a:r>
            <a:r>
              <a:rPr dirty="0" sz="3250" spc="-15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250" spc="190">
                <a:solidFill>
                  <a:srgbClr val="32322F"/>
                </a:solidFill>
                <a:latin typeface="Tahoma"/>
                <a:cs typeface="Tahoma"/>
              </a:rPr>
              <a:t>không</a:t>
            </a:r>
            <a:r>
              <a:rPr dirty="0" sz="3250" spc="-15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250" spc="140">
                <a:solidFill>
                  <a:srgbClr val="32322F"/>
                </a:solidFill>
                <a:latin typeface="Tahoma"/>
                <a:cs typeface="Tahoma"/>
              </a:rPr>
              <a:t>có</a:t>
            </a:r>
            <a:r>
              <a:rPr dirty="0" sz="3250" spc="-15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250" spc="170">
                <a:solidFill>
                  <a:srgbClr val="32322F"/>
                </a:solidFill>
                <a:latin typeface="Tahoma"/>
                <a:cs typeface="Tahoma"/>
              </a:rPr>
              <a:t>trong</a:t>
            </a:r>
            <a:r>
              <a:rPr dirty="0" sz="3250" spc="-15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250" spc="204">
                <a:solidFill>
                  <a:srgbClr val="32322F"/>
                </a:solidFill>
                <a:latin typeface="Tahoma"/>
                <a:cs typeface="Tahoma"/>
              </a:rPr>
              <a:t>một</a:t>
            </a:r>
            <a:r>
              <a:rPr dirty="0" sz="3250" spc="-15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250" spc="170">
                <a:solidFill>
                  <a:srgbClr val="32322F"/>
                </a:solidFill>
                <a:latin typeface="Tahoma"/>
                <a:cs typeface="Tahoma"/>
              </a:rPr>
              <a:t>trong</a:t>
            </a:r>
            <a:r>
              <a:rPr dirty="0" sz="3250" spc="-15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250" spc="90">
                <a:solidFill>
                  <a:srgbClr val="32322F"/>
                </a:solidFill>
                <a:latin typeface="Tahoma"/>
                <a:cs typeface="Tahoma"/>
              </a:rPr>
              <a:t>các</a:t>
            </a:r>
            <a:r>
              <a:rPr dirty="0" sz="3250" spc="-15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250" spc="175">
                <a:solidFill>
                  <a:srgbClr val="32322F"/>
                </a:solidFill>
                <a:latin typeface="Tahoma"/>
                <a:cs typeface="Tahoma"/>
              </a:rPr>
              <a:t>thư</a:t>
            </a:r>
            <a:r>
              <a:rPr dirty="0" sz="3250" spc="-15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250" spc="120">
                <a:solidFill>
                  <a:srgbClr val="32322F"/>
                </a:solidFill>
                <a:latin typeface="Tahoma"/>
                <a:cs typeface="Tahoma"/>
              </a:rPr>
              <a:t>viện</a:t>
            </a:r>
            <a:r>
              <a:rPr dirty="0" sz="3250" spc="-155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250" spc="165">
                <a:solidFill>
                  <a:srgbClr val="32322F"/>
                </a:solidFill>
                <a:latin typeface="Tahoma"/>
                <a:cs typeface="Tahoma"/>
              </a:rPr>
              <a:t>hiện</a:t>
            </a:r>
            <a:r>
              <a:rPr dirty="0" sz="3250" spc="-160">
                <a:solidFill>
                  <a:srgbClr val="32322F"/>
                </a:solidFill>
                <a:latin typeface="Tahoma"/>
                <a:cs typeface="Tahoma"/>
              </a:rPr>
              <a:t> </a:t>
            </a:r>
            <a:r>
              <a:rPr dirty="0" sz="3250" spc="30">
                <a:solidFill>
                  <a:srgbClr val="32322F"/>
                </a:solidFill>
                <a:latin typeface="Tahoma"/>
                <a:cs typeface="Tahoma"/>
              </a:rPr>
              <a:t>có.</a:t>
            </a:r>
            <a:endParaRPr sz="32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730"/>
              </a:spcBef>
              <a:tabLst>
                <a:tab pos="1173480" algn="l"/>
                <a:tab pos="1971675" algn="l"/>
                <a:tab pos="3069590" algn="l"/>
                <a:tab pos="4258945" algn="l"/>
                <a:tab pos="5603240" algn="l"/>
                <a:tab pos="8168005" algn="l"/>
              </a:tabLst>
            </a:pPr>
            <a:r>
              <a:rPr dirty="0" sz="3000" spc="270" b="1">
                <a:solidFill>
                  <a:srgbClr val="32322F"/>
                </a:solidFill>
                <a:latin typeface="Cambria"/>
                <a:cs typeface="Cambria"/>
              </a:rPr>
              <a:t>Thay</a:t>
            </a:r>
            <a:r>
              <a:rPr dirty="0" sz="3000" b="1">
                <a:solidFill>
                  <a:srgbClr val="32322F"/>
                </a:solidFill>
                <a:latin typeface="Cambria"/>
                <a:cs typeface="Cambria"/>
              </a:rPr>
              <a:t>	</a:t>
            </a:r>
            <a:r>
              <a:rPr dirty="0" sz="3000" spc="240" b="1">
                <a:solidFill>
                  <a:srgbClr val="32322F"/>
                </a:solidFill>
                <a:latin typeface="Cambria"/>
                <a:cs typeface="Cambria"/>
              </a:rPr>
              <a:t>đổi</a:t>
            </a:r>
            <a:r>
              <a:rPr dirty="0" sz="3000" b="1">
                <a:solidFill>
                  <a:srgbClr val="32322F"/>
                </a:solidFill>
                <a:latin typeface="Cambria"/>
                <a:cs typeface="Cambria"/>
              </a:rPr>
              <a:t>	</a:t>
            </a:r>
            <a:r>
              <a:rPr dirty="0" sz="3000" spc="295" b="1">
                <a:solidFill>
                  <a:srgbClr val="32322F"/>
                </a:solidFill>
                <a:latin typeface="Cambria"/>
                <a:cs typeface="Cambria"/>
              </a:rPr>
              <a:t>định</a:t>
            </a:r>
            <a:r>
              <a:rPr dirty="0" sz="3000" b="1">
                <a:solidFill>
                  <a:srgbClr val="32322F"/>
                </a:solidFill>
                <a:latin typeface="Cambria"/>
                <a:cs typeface="Cambria"/>
              </a:rPr>
              <a:t>	</a:t>
            </a:r>
            <a:r>
              <a:rPr dirty="0" sz="3000" spc="365" b="1">
                <a:solidFill>
                  <a:srgbClr val="32322F"/>
                </a:solidFill>
                <a:latin typeface="Cambria"/>
                <a:cs typeface="Cambria"/>
              </a:rPr>
              <a:t>dạng</a:t>
            </a:r>
            <a:r>
              <a:rPr dirty="0" sz="3000" b="1">
                <a:solidFill>
                  <a:srgbClr val="32322F"/>
                </a:solidFill>
                <a:latin typeface="Cambria"/>
                <a:cs typeface="Cambria"/>
              </a:rPr>
              <a:t>	</a:t>
            </a:r>
            <a:r>
              <a:rPr dirty="0" sz="3000" spc="484" b="1">
                <a:solidFill>
                  <a:srgbClr val="32322F"/>
                </a:solidFill>
                <a:latin typeface="Cambria"/>
                <a:cs typeface="Cambria"/>
              </a:rPr>
              <a:t>Mảng</a:t>
            </a:r>
            <a:r>
              <a:rPr dirty="0" sz="3000" b="1">
                <a:solidFill>
                  <a:srgbClr val="32322F"/>
                </a:solidFill>
                <a:latin typeface="Cambria"/>
                <a:cs typeface="Cambria"/>
              </a:rPr>
              <a:t>	</a:t>
            </a:r>
            <a:r>
              <a:rPr dirty="0" sz="3000" spc="330" b="1">
                <a:solidFill>
                  <a:srgbClr val="32322F"/>
                </a:solidFill>
                <a:latin typeface="Cambria"/>
                <a:cs typeface="Cambria"/>
              </a:rPr>
              <a:t>(Reshaping</a:t>
            </a:r>
            <a:r>
              <a:rPr dirty="0" sz="3000" b="1">
                <a:solidFill>
                  <a:srgbClr val="32322F"/>
                </a:solidFill>
                <a:latin typeface="Cambria"/>
                <a:cs typeface="Cambria"/>
              </a:rPr>
              <a:t>	</a:t>
            </a:r>
            <a:r>
              <a:rPr dirty="0" sz="3000" spc="229" b="1">
                <a:solidFill>
                  <a:srgbClr val="32322F"/>
                </a:solidFill>
                <a:latin typeface="Cambria"/>
                <a:cs typeface="Cambria"/>
              </a:rPr>
              <a:t>Arrays)</a:t>
            </a:r>
            <a:endParaRPr sz="3000">
              <a:latin typeface="Cambria"/>
              <a:cs typeface="Cambria"/>
            </a:endParaRPr>
          </a:p>
          <a:p>
            <a:pPr marL="1160780" marR="9839325">
              <a:lnSpc>
                <a:spcPct val="115799"/>
              </a:lnSpc>
              <a:spcBef>
                <a:spcPts val="1830"/>
              </a:spcBef>
            </a:pPr>
            <a:r>
              <a:rPr dirty="0" sz="3400" spc="290">
                <a:solidFill>
                  <a:srgbClr val="32322F"/>
                </a:solidFill>
                <a:latin typeface="Cambria"/>
                <a:cs typeface="Cambria"/>
              </a:rPr>
              <a:t>Trong</a:t>
            </a:r>
            <a:r>
              <a:rPr dirty="0" sz="3400" spc="335">
                <a:solidFill>
                  <a:srgbClr val="32322F"/>
                </a:solidFill>
                <a:latin typeface="Cambria"/>
                <a:cs typeface="Cambria"/>
              </a:rPr>
              <a:t> </a:t>
            </a:r>
            <a:r>
              <a:rPr dirty="0" sz="3400" spc="280">
                <a:solidFill>
                  <a:srgbClr val="32322F"/>
                </a:solidFill>
                <a:latin typeface="Cambria"/>
                <a:cs typeface="Cambria"/>
              </a:rPr>
              <a:t>nhiều</a:t>
            </a:r>
            <a:r>
              <a:rPr dirty="0" sz="3400" spc="340">
                <a:solidFill>
                  <a:srgbClr val="32322F"/>
                </a:solidFill>
                <a:latin typeface="Cambria"/>
                <a:cs typeface="Cambria"/>
              </a:rPr>
              <a:t> </a:t>
            </a:r>
            <a:r>
              <a:rPr dirty="0" sz="3400" spc="204">
                <a:solidFill>
                  <a:srgbClr val="32322F"/>
                </a:solidFill>
                <a:latin typeface="Cambria"/>
                <a:cs typeface="Cambria"/>
              </a:rPr>
              <a:t>trường</a:t>
            </a:r>
            <a:r>
              <a:rPr dirty="0" sz="3400" spc="340">
                <a:solidFill>
                  <a:srgbClr val="32322F"/>
                </a:solidFill>
                <a:latin typeface="Cambria"/>
                <a:cs typeface="Cambria"/>
              </a:rPr>
              <a:t> </a:t>
            </a:r>
            <a:r>
              <a:rPr dirty="0" sz="3400" spc="235">
                <a:solidFill>
                  <a:srgbClr val="32322F"/>
                </a:solidFill>
                <a:latin typeface="Cambria"/>
                <a:cs typeface="Cambria"/>
              </a:rPr>
              <a:t>hợp,</a:t>
            </a:r>
            <a:r>
              <a:rPr dirty="0" sz="3400" spc="340">
                <a:solidFill>
                  <a:srgbClr val="32322F"/>
                </a:solidFill>
                <a:latin typeface="Cambria"/>
                <a:cs typeface="Cambria"/>
              </a:rPr>
              <a:t> </a:t>
            </a:r>
            <a:r>
              <a:rPr dirty="0" sz="3400" spc="280">
                <a:solidFill>
                  <a:srgbClr val="32322F"/>
                </a:solidFill>
                <a:latin typeface="Cambria"/>
                <a:cs typeface="Cambria"/>
              </a:rPr>
              <a:t>bạn </a:t>
            </a:r>
            <a:r>
              <a:rPr dirty="0" sz="3400" spc="305">
                <a:solidFill>
                  <a:srgbClr val="32322F"/>
                </a:solidFill>
                <a:latin typeface="Cambria"/>
                <a:cs typeface="Cambria"/>
              </a:rPr>
              <a:t>có</a:t>
            </a:r>
            <a:r>
              <a:rPr dirty="0" sz="3400" spc="335">
                <a:solidFill>
                  <a:srgbClr val="32322F"/>
                </a:solidFill>
                <a:latin typeface="Cambria"/>
                <a:cs typeface="Cambria"/>
              </a:rPr>
              <a:t> </a:t>
            </a:r>
            <a:r>
              <a:rPr dirty="0" sz="3400" spc="300">
                <a:solidFill>
                  <a:srgbClr val="32322F"/>
                </a:solidFill>
                <a:latin typeface="Cambria"/>
                <a:cs typeface="Cambria"/>
              </a:rPr>
              <a:t>thể</a:t>
            </a:r>
            <a:r>
              <a:rPr dirty="0" sz="3400" spc="335">
                <a:solidFill>
                  <a:srgbClr val="32322F"/>
                </a:solidFill>
                <a:latin typeface="Cambria"/>
                <a:cs typeface="Cambria"/>
              </a:rPr>
              <a:t> </a:t>
            </a:r>
            <a:r>
              <a:rPr dirty="0" sz="3400" spc="310">
                <a:solidFill>
                  <a:srgbClr val="32322F"/>
                </a:solidFill>
                <a:latin typeface="Cambria"/>
                <a:cs typeface="Cambria"/>
              </a:rPr>
              <a:t>chuyển</a:t>
            </a:r>
            <a:r>
              <a:rPr dirty="0" sz="3400" spc="335">
                <a:solidFill>
                  <a:srgbClr val="32322F"/>
                </a:solidFill>
                <a:latin typeface="Cambria"/>
                <a:cs typeface="Cambria"/>
              </a:rPr>
              <a:t> </a:t>
            </a:r>
            <a:r>
              <a:rPr dirty="0" sz="3400" spc="225">
                <a:solidFill>
                  <a:srgbClr val="32322F"/>
                </a:solidFill>
                <a:latin typeface="Cambria"/>
                <a:cs typeface="Cambria"/>
              </a:rPr>
              <a:t>đổi</a:t>
            </a:r>
            <a:r>
              <a:rPr dirty="0" sz="3400" spc="335">
                <a:solidFill>
                  <a:srgbClr val="32322F"/>
                </a:solidFill>
                <a:latin typeface="Cambria"/>
                <a:cs typeface="Cambria"/>
              </a:rPr>
              <a:t> </a:t>
            </a:r>
            <a:r>
              <a:rPr dirty="0" sz="3400" spc="275">
                <a:solidFill>
                  <a:srgbClr val="32322F"/>
                </a:solidFill>
                <a:latin typeface="Cambria"/>
                <a:cs typeface="Cambria"/>
              </a:rPr>
              <a:t>một</a:t>
            </a:r>
            <a:r>
              <a:rPr dirty="0" sz="3400" spc="335">
                <a:solidFill>
                  <a:srgbClr val="32322F"/>
                </a:solidFill>
                <a:latin typeface="Cambria"/>
                <a:cs typeface="Cambria"/>
              </a:rPr>
              <a:t> </a:t>
            </a:r>
            <a:r>
              <a:rPr dirty="0" sz="3400" spc="375">
                <a:solidFill>
                  <a:srgbClr val="32322F"/>
                </a:solidFill>
                <a:latin typeface="Cambria"/>
                <a:cs typeface="Cambria"/>
              </a:rPr>
              <a:t>mảng</a:t>
            </a:r>
            <a:r>
              <a:rPr dirty="0" sz="3400" spc="340">
                <a:solidFill>
                  <a:srgbClr val="32322F"/>
                </a:solidFill>
                <a:latin typeface="Cambria"/>
                <a:cs typeface="Cambria"/>
              </a:rPr>
              <a:t> </a:t>
            </a:r>
            <a:r>
              <a:rPr dirty="0" sz="3400" spc="105">
                <a:solidFill>
                  <a:srgbClr val="32322F"/>
                </a:solidFill>
                <a:latin typeface="Cambria"/>
                <a:cs typeface="Cambria"/>
              </a:rPr>
              <a:t>từ </a:t>
            </a:r>
            <a:r>
              <a:rPr dirty="0" sz="3400" spc="250">
                <a:solidFill>
                  <a:srgbClr val="32322F"/>
                </a:solidFill>
                <a:latin typeface="Cambria"/>
                <a:cs typeface="Cambria"/>
              </a:rPr>
              <a:t>hình</a:t>
            </a:r>
            <a:r>
              <a:rPr dirty="0" sz="3400" spc="335">
                <a:solidFill>
                  <a:srgbClr val="32322F"/>
                </a:solidFill>
                <a:latin typeface="Cambria"/>
                <a:cs typeface="Cambria"/>
              </a:rPr>
              <a:t> </a:t>
            </a:r>
            <a:r>
              <a:rPr dirty="0" sz="3400" spc="345">
                <a:solidFill>
                  <a:srgbClr val="32322F"/>
                </a:solidFill>
                <a:latin typeface="Cambria"/>
                <a:cs typeface="Cambria"/>
              </a:rPr>
              <a:t>dạng</a:t>
            </a:r>
            <a:r>
              <a:rPr dirty="0" sz="3400" spc="335">
                <a:solidFill>
                  <a:srgbClr val="32322F"/>
                </a:solidFill>
                <a:latin typeface="Cambria"/>
                <a:cs typeface="Cambria"/>
              </a:rPr>
              <a:t> </a:t>
            </a:r>
            <a:r>
              <a:rPr dirty="0" sz="3400" spc="275">
                <a:solidFill>
                  <a:srgbClr val="32322F"/>
                </a:solidFill>
                <a:latin typeface="Cambria"/>
                <a:cs typeface="Cambria"/>
              </a:rPr>
              <a:t>này</a:t>
            </a:r>
            <a:r>
              <a:rPr dirty="0" sz="3400" spc="335">
                <a:solidFill>
                  <a:srgbClr val="32322F"/>
                </a:solidFill>
                <a:latin typeface="Cambria"/>
                <a:cs typeface="Cambria"/>
              </a:rPr>
              <a:t> </a:t>
            </a:r>
            <a:r>
              <a:rPr dirty="0" sz="3400" spc="345">
                <a:solidFill>
                  <a:srgbClr val="32322F"/>
                </a:solidFill>
                <a:latin typeface="Cambria"/>
                <a:cs typeface="Cambria"/>
              </a:rPr>
              <a:t>sang</a:t>
            </a:r>
            <a:r>
              <a:rPr dirty="0" sz="3400" spc="340">
                <a:solidFill>
                  <a:srgbClr val="32322F"/>
                </a:solidFill>
                <a:latin typeface="Cambria"/>
                <a:cs typeface="Cambria"/>
              </a:rPr>
              <a:t> </a:t>
            </a:r>
            <a:r>
              <a:rPr dirty="0" sz="3400" spc="250">
                <a:solidFill>
                  <a:srgbClr val="32322F"/>
                </a:solidFill>
                <a:latin typeface="Cambria"/>
                <a:cs typeface="Cambria"/>
              </a:rPr>
              <a:t>hình</a:t>
            </a:r>
            <a:r>
              <a:rPr dirty="0" sz="3400" spc="335">
                <a:solidFill>
                  <a:srgbClr val="32322F"/>
                </a:solidFill>
                <a:latin typeface="Cambria"/>
                <a:cs typeface="Cambria"/>
              </a:rPr>
              <a:t> </a:t>
            </a:r>
            <a:r>
              <a:rPr dirty="0" sz="3400" spc="325">
                <a:solidFill>
                  <a:srgbClr val="32322F"/>
                </a:solidFill>
                <a:latin typeface="Cambria"/>
                <a:cs typeface="Cambria"/>
              </a:rPr>
              <a:t>dạng </a:t>
            </a:r>
            <a:r>
              <a:rPr dirty="0" sz="3400" spc="320">
                <a:solidFill>
                  <a:srgbClr val="32322F"/>
                </a:solidFill>
                <a:latin typeface="Cambria"/>
                <a:cs typeface="Cambria"/>
              </a:rPr>
              <a:t>khác</a:t>
            </a:r>
            <a:r>
              <a:rPr dirty="0" sz="3400" spc="335">
                <a:solidFill>
                  <a:srgbClr val="32322F"/>
                </a:solidFill>
                <a:latin typeface="Cambria"/>
                <a:cs typeface="Cambria"/>
              </a:rPr>
              <a:t> </a:t>
            </a:r>
            <a:r>
              <a:rPr dirty="0" sz="3400" spc="365">
                <a:solidFill>
                  <a:srgbClr val="32322F"/>
                </a:solidFill>
                <a:latin typeface="Cambria"/>
                <a:cs typeface="Cambria"/>
              </a:rPr>
              <a:t>mà</a:t>
            </a:r>
            <a:r>
              <a:rPr dirty="0" sz="3400" spc="335">
                <a:solidFill>
                  <a:srgbClr val="32322F"/>
                </a:solidFill>
                <a:latin typeface="Cambria"/>
                <a:cs typeface="Cambria"/>
              </a:rPr>
              <a:t> </a:t>
            </a:r>
            <a:r>
              <a:rPr dirty="0" sz="3400" spc="310">
                <a:solidFill>
                  <a:srgbClr val="32322F"/>
                </a:solidFill>
                <a:latin typeface="Cambria"/>
                <a:cs typeface="Cambria"/>
              </a:rPr>
              <a:t>không</a:t>
            </a:r>
            <a:r>
              <a:rPr dirty="0" sz="3400" spc="340">
                <a:solidFill>
                  <a:srgbClr val="32322F"/>
                </a:solidFill>
                <a:latin typeface="Cambria"/>
                <a:cs typeface="Cambria"/>
              </a:rPr>
              <a:t> </a:t>
            </a:r>
            <a:r>
              <a:rPr dirty="0" sz="3400" spc="360">
                <a:solidFill>
                  <a:srgbClr val="32322F"/>
                </a:solidFill>
                <a:latin typeface="Cambria"/>
                <a:cs typeface="Cambria"/>
              </a:rPr>
              <a:t>cần</a:t>
            </a:r>
            <a:r>
              <a:rPr dirty="0" sz="3400" spc="335">
                <a:solidFill>
                  <a:srgbClr val="32322F"/>
                </a:solidFill>
                <a:latin typeface="Cambria"/>
                <a:cs typeface="Cambria"/>
              </a:rPr>
              <a:t> </a:t>
            </a:r>
            <a:r>
              <a:rPr dirty="0" sz="3400" spc="280">
                <a:solidFill>
                  <a:srgbClr val="32322F"/>
                </a:solidFill>
                <a:latin typeface="Cambria"/>
                <a:cs typeface="Cambria"/>
              </a:rPr>
              <a:t>sao</a:t>
            </a:r>
            <a:r>
              <a:rPr dirty="0" sz="3400" spc="340">
                <a:solidFill>
                  <a:srgbClr val="32322F"/>
                </a:solidFill>
                <a:latin typeface="Cambria"/>
                <a:cs typeface="Cambria"/>
              </a:rPr>
              <a:t> </a:t>
            </a:r>
            <a:r>
              <a:rPr dirty="0" sz="3400" spc="305">
                <a:solidFill>
                  <a:srgbClr val="32322F"/>
                </a:solidFill>
                <a:latin typeface="Cambria"/>
                <a:cs typeface="Cambria"/>
              </a:rPr>
              <a:t>chép </a:t>
            </a:r>
            <a:r>
              <a:rPr dirty="0" sz="3400" spc="170">
                <a:solidFill>
                  <a:srgbClr val="32322F"/>
                </a:solidFill>
                <a:latin typeface="Cambria"/>
                <a:cs typeface="Cambria"/>
              </a:rPr>
              <a:t>dữ</a:t>
            </a:r>
            <a:r>
              <a:rPr dirty="0" sz="3400" spc="335">
                <a:solidFill>
                  <a:srgbClr val="32322F"/>
                </a:solidFill>
                <a:latin typeface="Cambria"/>
                <a:cs typeface="Cambria"/>
              </a:rPr>
              <a:t> </a:t>
            </a:r>
            <a:r>
              <a:rPr dirty="0" sz="3400" spc="260">
                <a:solidFill>
                  <a:srgbClr val="32322F"/>
                </a:solidFill>
                <a:latin typeface="Cambria"/>
                <a:cs typeface="Cambria"/>
              </a:rPr>
              <a:t>liệu.</a:t>
            </a:r>
            <a:r>
              <a:rPr dirty="0" sz="3400" spc="335">
                <a:solidFill>
                  <a:srgbClr val="32322F"/>
                </a:solidFill>
                <a:latin typeface="Cambria"/>
                <a:cs typeface="Cambria"/>
              </a:rPr>
              <a:t> </a:t>
            </a:r>
            <a:r>
              <a:rPr dirty="0" sz="3400" spc="440">
                <a:solidFill>
                  <a:srgbClr val="32322F"/>
                </a:solidFill>
                <a:latin typeface="Cambria"/>
                <a:cs typeface="Cambria"/>
              </a:rPr>
              <a:t>Để</a:t>
            </a:r>
            <a:r>
              <a:rPr dirty="0" sz="3400" spc="340">
                <a:solidFill>
                  <a:srgbClr val="32322F"/>
                </a:solidFill>
                <a:latin typeface="Cambria"/>
                <a:cs typeface="Cambria"/>
              </a:rPr>
              <a:t> </a:t>
            </a:r>
            <a:r>
              <a:rPr dirty="0" sz="3400" spc="295">
                <a:solidFill>
                  <a:srgbClr val="32322F"/>
                </a:solidFill>
                <a:latin typeface="Cambria"/>
                <a:cs typeface="Cambria"/>
              </a:rPr>
              <a:t>làm</a:t>
            </a:r>
            <a:r>
              <a:rPr dirty="0" sz="3400" spc="335">
                <a:solidFill>
                  <a:srgbClr val="32322F"/>
                </a:solidFill>
                <a:latin typeface="Cambria"/>
                <a:cs typeface="Cambria"/>
              </a:rPr>
              <a:t> </a:t>
            </a:r>
            <a:r>
              <a:rPr dirty="0" sz="3400" spc="280">
                <a:solidFill>
                  <a:srgbClr val="32322F"/>
                </a:solidFill>
                <a:latin typeface="Cambria"/>
                <a:cs typeface="Cambria"/>
              </a:rPr>
              <a:t>điều</a:t>
            </a:r>
            <a:r>
              <a:rPr dirty="0" sz="3400" spc="335">
                <a:solidFill>
                  <a:srgbClr val="32322F"/>
                </a:solidFill>
                <a:latin typeface="Cambria"/>
                <a:cs typeface="Cambria"/>
              </a:rPr>
              <a:t> </a:t>
            </a:r>
            <a:r>
              <a:rPr dirty="0" sz="3400" spc="185">
                <a:solidFill>
                  <a:srgbClr val="32322F"/>
                </a:solidFill>
                <a:latin typeface="Cambria"/>
                <a:cs typeface="Cambria"/>
              </a:rPr>
              <a:t>này,</a:t>
            </a:r>
            <a:r>
              <a:rPr dirty="0" sz="3400" spc="340">
                <a:solidFill>
                  <a:srgbClr val="32322F"/>
                </a:solidFill>
                <a:latin typeface="Cambria"/>
                <a:cs typeface="Cambria"/>
              </a:rPr>
              <a:t> </a:t>
            </a:r>
            <a:r>
              <a:rPr dirty="0" sz="3400" spc="254">
                <a:solidFill>
                  <a:srgbClr val="32322F"/>
                </a:solidFill>
                <a:latin typeface="Cambria"/>
                <a:cs typeface="Cambria"/>
              </a:rPr>
              <a:t>hãy </a:t>
            </a:r>
            <a:r>
              <a:rPr dirty="0" sz="3400" spc="265">
                <a:solidFill>
                  <a:srgbClr val="32322F"/>
                </a:solidFill>
                <a:latin typeface="Cambria"/>
                <a:cs typeface="Cambria"/>
              </a:rPr>
              <a:t>truyền</a:t>
            </a:r>
            <a:r>
              <a:rPr dirty="0" sz="3400" spc="335">
                <a:solidFill>
                  <a:srgbClr val="32322F"/>
                </a:solidFill>
                <a:latin typeface="Cambria"/>
                <a:cs typeface="Cambria"/>
              </a:rPr>
              <a:t> </a:t>
            </a:r>
            <a:r>
              <a:rPr dirty="0" sz="3400" spc="275">
                <a:solidFill>
                  <a:srgbClr val="32322F"/>
                </a:solidFill>
                <a:latin typeface="Cambria"/>
                <a:cs typeface="Cambria"/>
              </a:rPr>
              <a:t>một</a:t>
            </a:r>
            <a:r>
              <a:rPr dirty="0" sz="3400" spc="340">
                <a:solidFill>
                  <a:srgbClr val="32322F"/>
                </a:solidFill>
                <a:latin typeface="Cambria"/>
                <a:cs typeface="Cambria"/>
              </a:rPr>
              <a:t> </a:t>
            </a:r>
            <a:r>
              <a:rPr dirty="0" sz="3400" spc="254">
                <a:solidFill>
                  <a:srgbClr val="32322F"/>
                </a:solidFill>
                <a:latin typeface="Cambria"/>
                <a:cs typeface="Cambria"/>
              </a:rPr>
              <a:t>tuple</a:t>
            </a:r>
            <a:r>
              <a:rPr dirty="0" sz="3400" spc="340">
                <a:solidFill>
                  <a:srgbClr val="32322F"/>
                </a:solidFill>
                <a:latin typeface="Cambria"/>
                <a:cs typeface="Cambria"/>
              </a:rPr>
              <a:t> </a:t>
            </a:r>
            <a:r>
              <a:rPr dirty="0" sz="3400" spc="270">
                <a:solidFill>
                  <a:srgbClr val="32322F"/>
                </a:solidFill>
                <a:latin typeface="Cambria"/>
                <a:cs typeface="Cambria"/>
              </a:rPr>
              <a:t>chỉ</a:t>
            </a:r>
            <a:r>
              <a:rPr dirty="0" sz="3400" spc="340">
                <a:solidFill>
                  <a:srgbClr val="32322F"/>
                </a:solidFill>
                <a:latin typeface="Cambria"/>
                <a:cs typeface="Cambria"/>
              </a:rPr>
              <a:t> </a:t>
            </a:r>
            <a:r>
              <a:rPr dirty="0" sz="3400" spc="245">
                <a:solidFill>
                  <a:srgbClr val="32322F"/>
                </a:solidFill>
                <a:latin typeface="Cambria"/>
                <a:cs typeface="Cambria"/>
              </a:rPr>
              <a:t>định</a:t>
            </a:r>
            <a:r>
              <a:rPr dirty="0" sz="3400" spc="335">
                <a:solidFill>
                  <a:srgbClr val="32322F"/>
                </a:solidFill>
                <a:latin typeface="Cambria"/>
                <a:cs typeface="Cambria"/>
              </a:rPr>
              <a:t> </a:t>
            </a:r>
            <a:r>
              <a:rPr dirty="0" sz="3400" spc="229">
                <a:solidFill>
                  <a:srgbClr val="32322F"/>
                </a:solidFill>
                <a:latin typeface="Cambria"/>
                <a:cs typeface="Cambria"/>
              </a:rPr>
              <a:t>hình </a:t>
            </a:r>
            <a:r>
              <a:rPr dirty="0" sz="3400" spc="345">
                <a:solidFill>
                  <a:srgbClr val="32322F"/>
                </a:solidFill>
                <a:latin typeface="Cambria"/>
                <a:cs typeface="Cambria"/>
              </a:rPr>
              <a:t>dạng</a:t>
            </a:r>
            <a:r>
              <a:rPr dirty="0" sz="3400" spc="340">
                <a:solidFill>
                  <a:srgbClr val="32322F"/>
                </a:solidFill>
                <a:latin typeface="Cambria"/>
                <a:cs typeface="Cambria"/>
              </a:rPr>
              <a:t> </a:t>
            </a:r>
            <a:r>
              <a:rPr dirty="0" sz="3400" spc="170">
                <a:solidFill>
                  <a:srgbClr val="32322F"/>
                </a:solidFill>
                <a:latin typeface="Cambria"/>
                <a:cs typeface="Cambria"/>
              </a:rPr>
              <a:t>mới</a:t>
            </a:r>
            <a:r>
              <a:rPr dirty="0" sz="3400" spc="340">
                <a:solidFill>
                  <a:srgbClr val="32322F"/>
                </a:solidFill>
                <a:latin typeface="Cambria"/>
                <a:cs typeface="Cambria"/>
              </a:rPr>
              <a:t> </a:t>
            </a:r>
            <a:r>
              <a:rPr dirty="0" sz="3400" spc="254">
                <a:solidFill>
                  <a:srgbClr val="32322F"/>
                </a:solidFill>
                <a:latin typeface="Cambria"/>
                <a:cs typeface="Cambria"/>
              </a:rPr>
              <a:t>vào</a:t>
            </a:r>
            <a:r>
              <a:rPr dirty="0" sz="3400" spc="340">
                <a:solidFill>
                  <a:srgbClr val="32322F"/>
                </a:solidFill>
                <a:latin typeface="Cambria"/>
                <a:cs typeface="Cambria"/>
              </a:rPr>
              <a:t> </a:t>
            </a:r>
            <a:r>
              <a:rPr dirty="0" sz="3400" spc="229">
                <a:solidFill>
                  <a:srgbClr val="32322F"/>
                </a:solidFill>
                <a:latin typeface="Cambria"/>
                <a:cs typeface="Cambria"/>
              </a:rPr>
              <a:t>phương</a:t>
            </a:r>
            <a:r>
              <a:rPr dirty="0" sz="3400" spc="340">
                <a:solidFill>
                  <a:srgbClr val="32322F"/>
                </a:solidFill>
                <a:latin typeface="Cambria"/>
                <a:cs typeface="Cambria"/>
              </a:rPr>
              <a:t> </a:t>
            </a:r>
            <a:r>
              <a:rPr dirty="0" sz="3400" spc="215">
                <a:solidFill>
                  <a:srgbClr val="32322F"/>
                </a:solidFill>
                <a:latin typeface="Cambria"/>
                <a:cs typeface="Cambria"/>
              </a:rPr>
              <a:t>thức </a:t>
            </a:r>
            <a:r>
              <a:rPr dirty="0" sz="3400" spc="300">
                <a:solidFill>
                  <a:srgbClr val="32322F"/>
                </a:solidFill>
                <a:latin typeface="Cambria"/>
                <a:cs typeface="Cambria"/>
              </a:rPr>
              <a:t>reshape</a:t>
            </a:r>
            <a:r>
              <a:rPr dirty="0" sz="3400" spc="335">
                <a:solidFill>
                  <a:srgbClr val="32322F"/>
                </a:solidFill>
                <a:latin typeface="Cambria"/>
                <a:cs typeface="Cambria"/>
              </a:rPr>
              <a:t> </a:t>
            </a:r>
            <a:r>
              <a:rPr dirty="0" sz="3400" spc="340">
                <a:solidFill>
                  <a:srgbClr val="32322F"/>
                </a:solidFill>
                <a:latin typeface="Cambria"/>
                <a:cs typeface="Cambria"/>
              </a:rPr>
              <a:t>của</a:t>
            </a:r>
            <a:r>
              <a:rPr dirty="0" sz="3400" spc="335">
                <a:solidFill>
                  <a:srgbClr val="32322F"/>
                </a:solidFill>
                <a:latin typeface="Cambria"/>
                <a:cs typeface="Cambria"/>
              </a:rPr>
              <a:t> </a:t>
            </a:r>
            <a:r>
              <a:rPr dirty="0" sz="3400" spc="350">
                <a:solidFill>
                  <a:srgbClr val="32322F"/>
                </a:solidFill>
                <a:latin typeface="Cambria"/>
                <a:cs typeface="Cambria"/>
              </a:rPr>
              <a:t>mảng.</a:t>
            </a:r>
            <a:endParaRPr sz="3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425945" y="839058"/>
            <a:ext cx="17907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65">
                <a:solidFill>
                  <a:srgbClr val="FFFFFF"/>
                </a:solidFill>
                <a:latin typeface="Lucida Sans Unicode"/>
                <a:cs typeface="Lucida Sans Unicode"/>
              </a:rPr>
              <a:t>2</a:t>
            </a:r>
            <a:endParaRPr sz="2100">
              <a:latin typeface="Lucida Sans Unicode"/>
              <a:cs typeface="Lucida Sans Unicode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27328" y="1776135"/>
            <a:ext cx="11706225" cy="767714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50">
                <a:solidFill>
                  <a:srgbClr val="000000"/>
                </a:solidFill>
              </a:rPr>
              <a:t>Thao</a:t>
            </a:r>
            <a:r>
              <a:rPr dirty="0" spc="-105">
                <a:solidFill>
                  <a:srgbClr val="000000"/>
                </a:solidFill>
              </a:rPr>
              <a:t> </a:t>
            </a:r>
            <a:r>
              <a:rPr dirty="0" spc="210">
                <a:solidFill>
                  <a:srgbClr val="000000"/>
                </a:solidFill>
              </a:rPr>
              <a:t>tác</a:t>
            </a:r>
            <a:r>
              <a:rPr dirty="0" spc="-10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</a:t>
            </a:r>
            <a:r>
              <a:rPr dirty="0">
                <a:solidFill>
                  <a:srgbClr val="000000"/>
                </a:solidFill>
                <a:latin typeface="Arial"/>
                <a:cs typeface="Arial"/>
              </a:rPr>
              <a:t>ả</a:t>
            </a:r>
            <a:r>
              <a:rPr dirty="0">
                <a:solidFill>
                  <a:srgbClr val="000000"/>
                </a:solidFill>
              </a:rPr>
              <a:t>ng</a:t>
            </a:r>
            <a:r>
              <a:rPr dirty="0" spc="-105">
                <a:solidFill>
                  <a:srgbClr val="000000"/>
                </a:solidFill>
              </a:rPr>
              <a:t> </a:t>
            </a:r>
            <a:r>
              <a:rPr dirty="0" spc="114">
                <a:solidFill>
                  <a:srgbClr val="000000"/>
                </a:solidFill>
              </a:rPr>
              <a:t>Nâng</a:t>
            </a:r>
            <a:r>
              <a:rPr dirty="0" spc="-105">
                <a:solidFill>
                  <a:srgbClr val="000000"/>
                </a:solidFill>
              </a:rPr>
              <a:t> </a:t>
            </a:r>
            <a:r>
              <a:rPr dirty="0" spc="250">
                <a:solidFill>
                  <a:srgbClr val="000000"/>
                </a:solidFill>
              </a:rPr>
              <a:t>cao</a:t>
            </a:r>
            <a:r>
              <a:rPr dirty="0" spc="-105">
                <a:solidFill>
                  <a:srgbClr val="000000"/>
                </a:solidFill>
              </a:rPr>
              <a:t> </a:t>
            </a:r>
            <a:r>
              <a:rPr dirty="0" spc="180">
                <a:solidFill>
                  <a:srgbClr val="000000"/>
                </a:solidFill>
              </a:rPr>
              <a:t>(Advanced</a:t>
            </a:r>
            <a:r>
              <a:rPr dirty="0" spc="-10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Array</a:t>
            </a:r>
            <a:r>
              <a:rPr dirty="0" spc="-105">
                <a:solidFill>
                  <a:srgbClr val="000000"/>
                </a:solidFill>
              </a:rPr>
              <a:t> </a:t>
            </a:r>
            <a:r>
              <a:rPr dirty="0" spc="70">
                <a:solidFill>
                  <a:srgbClr val="000000"/>
                </a:solidFill>
              </a:rPr>
              <a:t>Manipulation)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9A898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1028699" y="541825"/>
            <a:ext cx="974090" cy="974090"/>
            <a:chOff x="1028699" y="541825"/>
            <a:chExt cx="974090" cy="974090"/>
          </a:xfrm>
        </p:grpSpPr>
        <p:sp>
          <p:nvSpPr>
            <p:cNvPr id="4" name="object 4" descr=""/>
            <p:cNvSpPr/>
            <p:nvPr/>
          </p:nvSpPr>
          <p:spPr>
            <a:xfrm>
              <a:off x="1028699" y="541825"/>
              <a:ext cx="974090" cy="974090"/>
            </a:xfrm>
            <a:custGeom>
              <a:avLst/>
              <a:gdLst/>
              <a:ahLst/>
              <a:cxnLst/>
              <a:rect l="l" t="t" r="r" b="b"/>
              <a:pathLst>
                <a:path w="974089" h="974090">
                  <a:moveTo>
                    <a:pt x="486874" y="973749"/>
                  </a:moveTo>
                  <a:lnTo>
                    <a:pt x="439985" y="971520"/>
                  </a:lnTo>
                  <a:lnTo>
                    <a:pt x="394357" y="964970"/>
                  </a:lnTo>
                  <a:lnTo>
                    <a:pt x="350194" y="954302"/>
                  </a:lnTo>
                  <a:lnTo>
                    <a:pt x="307699" y="939721"/>
                  </a:lnTo>
                  <a:lnTo>
                    <a:pt x="267078" y="921430"/>
                  </a:lnTo>
                  <a:lnTo>
                    <a:pt x="228535" y="899634"/>
                  </a:lnTo>
                  <a:lnTo>
                    <a:pt x="192272" y="874537"/>
                  </a:lnTo>
                  <a:lnTo>
                    <a:pt x="158495" y="846342"/>
                  </a:lnTo>
                  <a:lnTo>
                    <a:pt x="127407" y="815254"/>
                  </a:lnTo>
                  <a:lnTo>
                    <a:pt x="99212" y="781476"/>
                  </a:lnTo>
                  <a:lnTo>
                    <a:pt x="74114" y="745214"/>
                  </a:lnTo>
                  <a:lnTo>
                    <a:pt x="52318" y="706670"/>
                  </a:lnTo>
                  <a:lnTo>
                    <a:pt x="34028" y="666049"/>
                  </a:lnTo>
                  <a:lnTo>
                    <a:pt x="19446" y="623555"/>
                  </a:lnTo>
                  <a:lnTo>
                    <a:pt x="8779" y="579392"/>
                  </a:lnTo>
                  <a:lnTo>
                    <a:pt x="2228" y="533764"/>
                  </a:lnTo>
                  <a:lnTo>
                    <a:pt x="0" y="486874"/>
                  </a:lnTo>
                  <a:lnTo>
                    <a:pt x="2228" y="439985"/>
                  </a:lnTo>
                  <a:lnTo>
                    <a:pt x="8779" y="394357"/>
                  </a:lnTo>
                  <a:lnTo>
                    <a:pt x="19446" y="350194"/>
                  </a:lnTo>
                  <a:lnTo>
                    <a:pt x="34028" y="307699"/>
                  </a:lnTo>
                  <a:lnTo>
                    <a:pt x="52318" y="267078"/>
                  </a:lnTo>
                  <a:lnTo>
                    <a:pt x="74114" y="228535"/>
                  </a:lnTo>
                  <a:lnTo>
                    <a:pt x="99212" y="192272"/>
                  </a:lnTo>
                  <a:lnTo>
                    <a:pt x="127407" y="158495"/>
                  </a:lnTo>
                  <a:lnTo>
                    <a:pt x="158495" y="127407"/>
                  </a:lnTo>
                  <a:lnTo>
                    <a:pt x="192272" y="99212"/>
                  </a:lnTo>
                  <a:lnTo>
                    <a:pt x="228535" y="74114"/>
                  </a:lnTo>
                  <a:lnTo>
                    <a:pt x="267078" y="52318"/>
                  </a:lnTo>
                  <a:lnTo>
                    <a:pt x="307699" y="34028"/>
                  </a:lnTo>
                  <a:lnTo>
                    <a:pt x="350194" y="19446"/>
                  </a:lnTo>
                  <a:lnTo>
                    <a:pt x="394357" y="8779"/>
                  </a:lnTo>
                  <a:lnTo>
                    <a:pt x="439985" y="2228"/>
                  </a:lnTo>
                  <a:lnTo>
                    <a:pt x="486874" y="0"/>
                  </a:lnTo>
                  <a:lnTo>
                    <a:pt x="533764" y="2228"/>
                  </a:lnTo>
                  <a:lnTo>
                    <a:pt x="579392" y="8779"/>
                  </a:lnTo>
                  <a:lnTo>
                    <a:pt x="623555" y="19446"/>
                  </a:lnTo>
                  <a:lnTo>
                    <a:pt x="666049" y="34028"/>
                  </a:lnTo>
                  <a:lnTo>
                    <a:pt x="706670" y="52318"/>
                  </a:lnTo>
                  <a:lnTo>
                    <a:pt x="745214" y="74114"/>
                  </a:lnTo>
                  <a:lnTo>
                    <a:pt x="781476" y="99212"/>
                  </a:lnTo>
                  <a:lnTo>
                    <a:pt x="815254" y="127407"/>
                  </a:lnTo>
                  <a:lnTo>
                    <a:pt x="846342" y="158495"/>
                  </a:lnTo>
                  <a:lnTo>
                    <a:pt x="874537" y="192272"/>
                  </a:lnTo>
                  <a:lnTo>
                    <a:pt x="899634" y="228535"/>
                  </a:lnTo>
                  <a:lnTo>
                    <a:pt x="921430" y="267078"/>
                  </a:lnTo>
                  <a:lnTo>
                    <a:pt x="939721" y="307699"/>
                  </a:lnTo>
                  <a:lnTo>
                    <a:pt x="954302" y="350194"/>
                  </a:lnTo>
                  <a:lnTo>
                    <a:pt x="964970" y="394357"/>
                  </a:lnTo>
                  <a:lnTo>
                    <a:pt x="971520" y="439985"/>
                  </a:lnTo>
                  <a:lnTo>
                    <a:pt x="973749" y="486874"/>
                  </a:lnTo>
                  <a:lnTo>
                    <a:pt x="971520" y="533764"/>
                  </a:lnTo>
                  <a:lnTo>
                    <a:pt x="964970" y="579392"/>
                  </a:lnTo>
                  <a:lnTo>
                    <a:pt x="954302" y="623555"/>
                  </a:lnTo>
                  <a:lnTo>
                    <a:pt x="939721" y="666049"/>
                  </a:lnTo>
                  <a:lnTo>
                    <a:pt x="921430" y="706670"/>
                  </a:lnTo>
                  <a:lnTo>
                    <a:pt x="899634" y="745214"/>
                  </a:lnTo>
                  <a:lnTo>
                    <a:pt x="874537" y="781476"/>
                  </a:lnTo>
                  <a:lnTo>
                    <a:pt x="846342" y="815254"/>
                  </a:lnTo>
                  <a:lnTo>
                    <a:pt x="815254" y="846342"/>
                  </a:lnTo>
                  <a:lnTo>
                    <a:pt x="781476" y="874537"/>
                  </a:lnTo>
                  <a:lnTo>
                    <a:pt x="745214" y="899634"/>
                  </a:lnTo>
                  <a:lnTo>
                    <a:pt x="706670" y="921430"/>
                  </a:lnTo>
                  <a:lnTo>
                    <a:pt x="666049" y="939721"/>
                  </a:lnTo>
                  <a:lnTo>
                    <a:pt x="623555" y="954302"/>
                  </a:lnTo>
                  <a:lnTo>
                    <a:pt x="579392" y="964970"/>
                  </a:lnTo>
                  <a:lnTo>
                    <a:pt x="533764" y="971520"/>
                  </a:lnTo>
                  <a:lnTo>
                    <a:pt x="486874" y="973749"/>
                  </a:lnTo>
                  <a:close/>
                </a:path>
              </a:pathLst>
            </a:custGeom>
            <a:solidFill>
              <a:srgbClr val="32322F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119558" y="632682"/>
              <a:ext cx="792480" cy="792480"/>
            </a:xfrm>
            <a:custGeom>
              <a:avLst/>
              <a:gdLst/>
              <a:ahLst/>
              <a:cxnLst/>
              <a:rect l="l" t="t" r="r" b="b"/>
              <a:pathLst>
                <a:path w="792480" h="792480">
                  <a:moveTo>
                    <a:pt x="396016" y="792033"/>
                  </a:moveTo>
                  <a:lnTo>
                    <a:pt x="349832" y="789369"/>
                  </a:lnTo>
                  <a:lnTo>
                    <a:pt x="305213" y="781574"/>
                  </a:lnTo>
                  <a:lnTo>
                    <a:pt x="262456" y="768946"/>
                  </a:lnTo>
                  <a:lnTo>
                    <a:pt x="221858" y="751781"/>
                  </a:lnTo>
                  <a:lnTo>
                    <a:pt x="183716" y="730378"/>
                  </a:lnTo>
                  <a:lnTo>
                    <a:pt x="148328" y="705033"/>
                  </a:lnTo>
                  <a:lnTo>
                    <a:pt x="115990" y="676042"/>
                  </a:lnTo>
                  <a:lnTo>
                    <a:pt x="87000" y="643705"/>
                  </a:lnTo>
                  <a:lnTo>
                    <a:pt x="61655" y="608316"/>
                  </a:lnTo>
                  <a:lnTo>
                    <a:pt x="40251" y="570174"/>
                  </a:lnTo>
                  <a:lnTo>
                    <a:pt x="23087" y="529576"/>
                  </a:lnTo>
                  <a:lnTo>
                    <a:pt x="10459" y="486819"/>
                  </a:lnTo>
                  <a:lnTo>
                    <a:pt x="2664" y="442200"/>
                  </a:lnTo>
                  <a:lnTo>
                    <a:pt x="0" y="396016"/>
                  </a:lnTo>
                  <a:lnTo>
                    <a:pt x="2664" y="349832"/>
                  </a:lnTo>
                  <a:lnTo>
                    <a:pt x="10459" y="305213"/>
                  </a:lnTo>
                  <a:lnTo>
                    <a:pt x="23087" y="262456"/>
                  </a:lnTo>
                  <a:lnTo>
                    <a:pt x="40251" y="221858"/>
                  </a:lnTo>
                  <a:lnTo>
                    <a:pt x="61655" y="183716"/>
                  </a:lnTo>
                  <a:lnTo>
                    <a:pt x="87000" y="148328"/>
                  </a:lnTo>
                  <a:lnTo>
                    <a:pt x="115990" y="115990"/>
                  </a:lnTo>
                  <a:lnTo>
                    <a:pt x="148328" y="87000"/>
                  </a:lnTo>
                  <a:lnTo>
                    <a:pt x="183716" y="61655"/>
                  </a:lnTo>
                  <a:lnTo>
                    <a:pt x="221858" y="40251"/>
                  </a:lnTo>
                  <a:lnTo>
                    <a:pt x="262456" y="23087"/>
                  </a:lnTo>
                  <a:lnTo>
                    <a:pt x="305213" y="10459"/>
                  </a:lnTo>
                  <a:lnTo>
                    <a:pt x="349832" y="2664"/>
                  </a:lnTo>
                  <a:lnTo>
                    <a:pt x="396016" y="0"/>
                  </a:lnTo>
                  <a:lnTo>
                    <a:pt x="442200" y="2664"/>
                  </a:lnTo>
                  <a:lnTo>
                    <a:pt x="486819" y="10459"/>
                  </a:lnTo>
                  <a:lnTo>
                    <a:pt x="529577" y="23087"/>
                  </a:lnTo>
                  <a:lnTo>
                    <a:pt x="570175" y="40251"/>
                  </a:lnTo>
                  <a:lnTo>
                    <a:pt x="608316" y="61655"/>
                  </a:lnTo>
                  <a:lnTo>
                    <a:pt x="643705" y="87000"/>
                  </a:lnTo>
                  <a:lnTo>
                    <a:pt x="676043" y="115990"/>
                  </a:lnTo>
                  <a:lnTo>
                    <a:pt x="705033" y="148328"/>
                  </a:lnTo>
                  <a:lnTo>
                    <a:pt x="730378" y="183716"/>
                  </a:lnTo>
                  <a:lnTo>
                    <a:pt x="751782" y="221858"/>
                  </a:lnTo>
                  <a:lnTo>
                    <a:pt x="768946" y="262456"/>
                  </a:lnTo>
                  <a:lnTo>
                    <a:pt x="781574" y="305213"/>
                  </a:lnTo>
                  <a:lnTo>
                    <a:pt x="789369" y="349832"/>
                  </a:lnTo>
                  <a:lnTo>
                    <a:pt x="792033" y="396016"/>
                  </a:lnTo>
                  <a:lnTo>
                    <a:pt x="789369" y="442200"/>
                  </a:lnTo>
                  <a:lnTo>
                    <a:pt x="781574" y="486819"/>
                  </a:lnTo>
                  <a:lnTo>
                    <a:pt x="768946" y="529576"/>
                  </a:lnTo>
                  <a:lnTo>
                    <a:pt x="751782" y="570174"/>
                  </a:lnTo>
                  <a:lnTo>
                    <a:pt x="730378" y="608316"/>
                  </a:lnTo>
                  <a:lnTo>
                    <a:pt x="705033" y="643705"/>
                  </a:lnTo>
                  <a:lnTo>
                    <a:pt x="676043" y="676042"/>
                  </a:lnTo>
                  <a:lnTo>
                    <a:pt x="643705" y="705033"/>
                  </a:lnTo>
                  <a:lnTo>
                    <a:pt x="608316" y="730378"/>
                  </a:lnTo>
                  <a:lnTo>
                    <a:pt x="570175" y="751781"/>
                  </a:lnTo>
                  <a:lnTo>
                    <a:pt x="529577" y="768946"/>
                  </a:lnTo>
                  <a:lnTo>
                    <a:pt x="486819" y="781574"/>
                  </a:lnTo>
                  <a:lnTo>
                    <a:pt x="442200" y="789369"/>
                  </a:lnTo>
                  <a:lnTo>
                    <a:pt x="396016" y="792033"/>
                  </a:lnTo>
                  <a:close/>
                </a:path>
              </a:pathLst>
            </a:custGeom>
            <a:solidFill>
              <a:srgbClr val="32322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425945" y="839058"/>
            <a:ext cx="17907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65">
                <a:solidFill>
                  <a:srgbClr val="FFFFFF"/>
                </a:solidFill>
                <a:latin typeface="Lucida Sans Unicode"/>
                <a:cs typeface="Lucida Sans Unicode"/>
              </a:rPr>
              <a:t>2</a:t>
            </a:r>
            <a:endParaRPr sz="2100">
              <a:latin typeface="Lucida Sans Unicode"/>
              <a:cs typeface="Lucida Sans Unicode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2449" y="2029289"/>
            <a:ext cx="6638924" cy="1895474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58431" y="5143500"/>
            <a:ext cx="4229099" cy="3629024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50"/>
              <a:t>Thao</a:t>
            </a:r>
            <a:r>
              <a:rPr dirty="0" spc="-105"/>
              <a:t> </a:t>
            </a:r>
            <a:r>
              <a:rPr dirty="0" spc="210"/>
              <a:t>tác</a:t>
            </a:r>
            <a:r>
              <a:rPr dirty="0" spc="-105"/>
              <a:t> </a:t>
            </a:r>
            <a:r>
              <a:rPr dirty="0"/>
              <a:t>M</a:t>
            </a:r>
            <a:r>
              <a:rPr dirty="0">
                <a:latin typeface="Arial"/>
                <a:cs typeface="Arial"/>
              </a:rPr>
              <a:t>ả</a:t>
            </a:r>
            <a:r>
              <a:rPr dirty="0"/>
              <a:t>ng</a:t>
            </a:r>
            <a:r>
              <a:rPr dirty="0" spc="-105"/>
              <a:t> </a:t>
            </a:r>
            <a:r>
              <a:rPr dirty="0" spc="114"/>
              <a:t>Nâng</a:t>
            </a:r>
            <a:r>
              <a:rPr dirty="0" spc="-105"/>
              <a:t> </a:t>
            </a:r>
            <a:r>
              <a:rPr dirty="0" spc="250"/>
              <a:t>cao</a:t>
            </a:r>
            <a:r>
              <a:rPr dirty="0" spc="-105"/>
              <a:t> </a:t>
            </a:r>
            <a:r>
              <a:rPr dirty="0" spc="180"/>
              <a:t>(Advanced</a:t>
            </a:r>
            <a:r>
              <a:rPr dirty="0" spc="-105"/>
              <a:t> </a:t>
            </a:r>
            <a:r>
              <a:rPr dirty="0"/>
              <a:t>Array</a:t>
            </a:r>
            <a:r>
              <a:rPr dirty="0" spc="-105"/>
              <a:t> </a:t>
            </a:r>
            <a:r>
              <a:rPr dirty="0" spc="70"/>
              <a:t>Manipulation)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1989749" y="1485126"/>
            <a:ext cx="940371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 spc="70">
                <a:solidFill>
                  <a:srgbClr val="FFFFFF"/>
                </a:solidFill>
                <a:latin typeface="Palatino Linotype"/>
                <a:cs typeface="Palatino Linotype"/>
              </a:rPr>
              <a:t>Mảng</a:t>
            </a:r>
            <a:r>
              <a:rPr dirty="0" sz="3400" spc="-8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95">
                <a:solidFill>
                  <a:srgbClr val="FFFFFF"/>
                </a:solidFill>
                <a:latin typeface="Palatino Linotype"/>
                <a:cs typeface="Palatino Linotype"/>
              </a:rPr>
              <a:t>đa</a:t>
            </a:r>
            <a:r>
              <a:rPr dirty="0" sz="3400" spc="-8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135">
                <a:solidFill>
                  <a:srgbClr val="FFFFFF"/>
                </a:solidFill>
                <a:latin typeface="Palatino Linotype"/>
                <a:cs typeface="Palatino Linotype"/>
              </a:rPr>
              <a:t>chiều</a:t>
            </a:r>
            <a:r>
              <a:rPr dirty="0" sz="3400" spc="-8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95">
                <a:solidFill>
                  <a:srgbClr val="FFFFFF"/>
                </a:solidFill>
                <a:latin typeface="Palatino Linotype"/>
                <a:cs typeface="Palatino Linotype"/>
              </a:rPr>
              <a:t>cũng</a:t>
            </a:r>
            <a:r>
              <a:rPr dirty="0" sz="3400" spc="-8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Palatino Linotype"/>
                <a:cs typeface="Palatino Linotype"/>
              </a:rPr>
              <a:t>có</a:t>
            </a:r>
            <a:r>
              <a:rPr dirty="0" sz="3400" spc="-8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140">
                <a:solidFill>
                  <a:srgbClr val="FFFFFF"/>
                </a:solidFill>
                <a:latin typeface="Palatino Linotype"/>
                <a:cs typeface="Palatino Linotype"/>
              </a:rPr>
              <a:t>thể</a:t>
            </a:r>
            <a:r>
              <a:rPr dirty="0" sz="3400" spc="-8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85">
                <a:solidFill>
                  <a:srgbClr val="FFFFFF"/>
                </a:solidFill>
                <a:latin typeface="Palatino Linotype"/>
                <a:cs typeface="Palatino Linotype"/>
              </a:rPr>
              <a:t>được</a:t>
            </a:r>
            <a:r>
              <a:rPr dirty="0" sz="3400" spc="-8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120">
                <a:solidFill>
                  <a:srgbClr val="FFFFFF"/>
                </a:solidFill>
                <a:latin typeface="Palatino Linotype"/>
                <a:cs typeface="Palatino Linotype"/>
              </a:rPr>
              <a:t>định</a:t>
            </a:r>
            <a:r>
              <a:rPr dirty="0" sz="3400" spc="-8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165">
                <a:solidFill>
                  <a:srgbClr val="FFFFFF"/>
                </a:solidFill>
                <a:latin typeface="Palatino Linotype"/>
                <a:cs typeface="Palatino Linotype"/>
              </a:rPr>
              <a:t>hình</a:t>
            </a:r>
            <a:r>
              <a:rPr dirty="0" sz="3400" spc="-8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95">
                <a:solidFill>
                  <a:srgbClr val="FFFFFF"/>
                </a:solidFill>
                <a:latin typeface="Palatino Linotype"/>
                <a:cs typeface="Palatino Linotype"/>
              </a:rPr>
              <a:t>lại:</a:t>
            </a:r>
            <a:endParaRPr sz="3400">
              <a:latin typeface="Palatino Linotype"/>
              <a:cs typeface="Palatino Linotype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845731" y="3812469"/>
            <a:ext cx="14787880" cy="1225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799"/>
              </a:lnSpc>
              <a:spcBef>
                <a:spcPts val="100"/>
              </a:spcBef>
            </a:pPr>
            <a:r>
              <a:rPr dirty="0" sz="3400">
                <a:solidFill>
                  <a:srgbClr val="FFFFFF"/>
                </a:solidFill>
                <a:latin typeface="Palatino Linotype"/>
                <a:cs typeface="Palatino Linotype"/>
              </a:rPr>
              <a:t>Một</a:t>
            </a:r>
            <a:r>
              <a:rPr dirty="0" sz="3400" spc="-7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110">
                <a:solidFill>
                  <a:srgbClr val="FFFFFF"/>
                </a:solidFill>
                <a:latin typeface="Palatino Linotype"/>
                <a:cs typeface="Palatino Linotype"/>
              </a:rPr>
              <a:t>trong</a:t>
            </a:r>
            <a:r>
              <a:rPr dirty="0" sz="3400" spc="-6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165">
                <a:solidFill>
                  <a:srgbClr val="FFFFFF"/>
                </a:solidFill>
                <a:latin typeface="Palatino Linotype"/>
                <a:cs typeface="Palatino Linotype"/>
              </a:rPr>
              <a:t>các</a:t>
            </a:r>
            <a:r>
              <a:rPr dirty="0" sz="3400" spc="-7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135">
                <a:solidFill>
                  <a:srgbClr val="FFFFFF"/>
                </a:solidFill>
                <a:latin typeface="Palatino Linotype"/>
                <a:cs typeface="Palatino Linotype"/>
              </a:rPr>
              <a:t>chiều</a:t>
            </a:r>
            <a:r>
              <a:rPr dirty="0" sz="3400" spc="-6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Palatino Linotype"/>
                <a:cs typeface="Palatino Linotype"/>
              </a:rPr>
              <a:t>có</a:t>
            </a:r>
            <a:r>
              <a:rPr dirty="0" sz="3400" spc="-6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140">
                <a:solidFill>
                  <a:srgbClr val="FFFFFF"/>
                </a:solidFill>
                <a:latin typeface="Palatino Linotype"/>
                <a:cs typeface="Palatino Linotype"/>
              </a:rPr>
              <a:t>thể</a:t>
            </a:r>
            <a:r>
              <a:rPr dirty="0" sz="3400" spc="-7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85">
                <a:solidFill>
                  <a:srgbClr val="FFFFFF"/>
                </a:solidFill>
                <a:latin typeface="Palatino Linotype"/>
                <a:cs typeface="Palatino Linotype"/>
              </a:rPr>
              <a:t>được</a:t>
            </a:r>
            <a:r>
              <a:rPr dirty="0" sz="3400" spc="-6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90">
                <a:solidFill>
                  <a:srgbClr val="FFFFFF"/>
                </a:solidFill>
                <a:latin typeface="Palatino Linotype"/>
                <a:cs typeface="Palatino Linotype"/>
              </a:rPr>
              <a:t>đặt</a:t>
            </a:r>
            <a:r>
              <a:rPr dirty="0" sz="3400" spc="-7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130">
                <a:solidFill>
                  <a:srgbClr val="FFFFFF"/>
                </a:solidFill>
                <a:latin typeface="Palatino Linotype"/>
                <a:cs typeface="Palatino Linotype"/>
              </a:rPr>
              <a:t>là</a:t>
            </a:r>
            <a:r>
              <a:rPr dirty="0" sz="3400" spc="-6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-100">
                <a:solidFill>
                  <a:srgbClr val="FFFFFF"/>
                </a:solidFill>
                <a:latin typeface="Palatino Linotype"/>
                <a:cs typeface="Palatino Linotype"/>
              </a:rPr>
              <a:t>-</a:t>
            </a:r>
            <a:r>
              <a:rPr dirty="0" sz="3400" spc="90">
                <a:solidFill>
                  <a:srgbClr val="FFFFFF"/>
                </a:solidFill>
                <a:latin typeface="Palatino Linotype"/>
                <a:cs typeface="Palatino Linotype"/>
              </a:rPr>
              <a:t>1,</a:t>
            </a:r>
            <a:r>
              <a:rPr dirty="0" sz="3400" spc="-6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110">
                <a:solidFill>
                  <a:srgbClr val="FFFFFF"/>
                </a:solidFill>
                <a:latin typeface="Palatino Linotype"/>
                <a:cs typeface="Palatino Linotype"/>
              </a:rPr>
              <a:t>trong</a:t>
            </a:r>
            <a:r>
              <a:rPr dirty="0" sz="3400" spc="-7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120">
                <a:solidFill>
                  <a:srgbClr val="FFFFFF"/>
                </a:solidFill>
                <a:latin typeface="Palatino Linotype"/>
                <a:cs typeface="Palatino Linotype"/>
              </a:rPr>
              <a:t>trường</a:t>
            </a:r>
            <a:r>
              <a:rPr dirty="0" sz="3400" spc="-6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Palatino Linotype"/>
                <a:cs typeface="Palatino Linotype"/>
              </a:rPr>
              <a:t>hợp</a:t>
            </a:r>
            <a:r>
              <a:rPr dirty="0" sz="3400" spc="-7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>
                <a:solidFill>
                  <a:srgbClr val="FFFFFF"/>
                </a:solidFill>
                <a:latin typeface="Palatino Linotype"/>
                <a:cs typeface="Palatino Linotype"/>
              </a:rPr>
              <a:t>đó,</a:t>
            </a:r>
            <a:r>
              <a:rPr dirty="0" sz="3400" spc="-6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70">
                <a:solidFill>
                  <a:srgbClr val="FFFFFF"/>
                </a:solidFill>
                <a:latin typeface="Palatino Linotype"/>
                <a:cs typeface="Palatino Linotype"/>
              </a:rPr>
              <a:t>giá</a:t>
            </a:r>
            <a:r>
              <a:rPr dirty="0" sz="3400" spc="-6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140">
                <a:solidFill>
                  <a:srgbClr val="FFFFFF"/>
                </a:solidFill>
                <a:latin typeface="Palatino Linotype"/>
                <a:cs typeface="Palatino Linotype"/>
              </a:rPr>
              <a:t>trị</a:t>
            </a:r>
            <a:r>
              <a:rPr dirty="0" sz="3400" spc="-7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114">
                <a:solidFill>
                  <a:srgbClr val="FFFFFF"/>
                </a:solidFill>
                <a:latin typeface="Palatino Linotype"/>
                <a:cs typeface="Palatino Linotype"/>
              </a:rPr>
              <a:t>cho </a:t>
            </a:r>
            <a:r>
              <a:rPr dirty="0" sz="3400" spc="135">
                <a:solidFill>
                  <a:srgbClr val="FFFFFF"/>
                </a:solidFill>
                <a:latin typeface="Palatino Linotype"/>
                <a:cs typeface="Palatino Linotype"/>
              </a:rPr>
              <a:t>chiều</a:t>
            </a:r>
            <a:r>
              <a:rPr dirty="0" sz="3400" spc="-8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50">
                <a:solidFill>
                  <a:srgbClr val="FFFFFF"/>
                </a:solidFill>
                <a:latin typeface="Palatino Linotype"/>
                <a:cs typeface="Palatino Linotype"/>
              </a:rPr>
              <a:t>đó</a:t>
            </a:r>
            <a:r>
              <a:rPr dirty="0" sz="3400" spc="-8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130">
                <a:solidFill>
                  <a:srgbClr val="FFFFFF"/>
                </a:solidFill>
                <a:latin typeface="Palatino Linotype"/>
                <a:cs typeface="Palatino Linotype"/>
              </a:rPr>
              <a:t>sẽ</a:t>
            </a:r>
            <a:r>
              <a:rPr dirty="0" sz="3400" spc="-8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85">
                <a:solidFill>
                  <a:srgbClr val="FFFFFF"/>
                </a:solidFill>
                <a:latin typeface="Palatino Linotype"/>
                <a:cs typeface="Palatino Linotype"/>
              </a:rPr>
              <a:t>được</a:t>
            </a:r>
            <a:r>
              <a:rPr dirty="0" sz="3400" spc="-8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90">
                <a:solidFill>
                  <a:srgbClr val="FFFFFF"/>
                </a:solidFill>
                <a:latin typeface="Palatino Linotype"/>
                <a:cs typeface="Palatino Linotype"/>
              </a:rPr>
              <a:t>tự</a:t>
            </a:r>
            <a:r>
              <a:rPr dirty="0" sz="3400" spc="-8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55">
                <a:solidFill>
                  <a:srgbClr val="FFFFFF"/>
                </a:solidFill>
                <a:latin typeface="Palatino Linotype"/>
                <a:cs typeface="Palatino Linotype"/>
              </a:rPr>
              <a:t>động</a:t>
            </a:r>
            <a:r>
              <a:rPr dirty="0" sz="3400" spc="-8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65">
                <a:solidFill>
                  <a:srgbClr val="FFFFFF"/>
                </a:solidFill>
                <a:latin typeface="Palatino Linotype"/>
                <a:cs typeface="Palatino Linotype"/>
              </a:rPr>
              <a:t>suy</a:t>
            </a:r>
            <a:r>
              <a:rPr dirty="0" sz="3400" spc="-8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190">
                <a:solidFill>
                  <a:srgbClr val="FFFFFF"/>
                </a:solidFill>
                <a:latin typeface="Palatino Linotype"/>
                <a:cs typeface="Palatino Linotype"/>
              </a:rPr>
              <a:t>ra</a:t>
            </a:r>
            <a:r>
              <a:rPr dirty="0" sz="3400" spc="-8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90">
                <a:solidFill>
                  <a:srgbClr val="FFFFFF"/>
                </a:solidFill>
                <a:latin typeface="Palatino Linotype"/>
                <a:cs typeface="Palatino Linotype"/>
              </a:rPr>
              <a:t>từ</a:t>
            </a:r>
            <a:r>
              <a:rPr dirty="0" sz="3400" spc="-8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50">
                <a:solidFill>
                  <a:srgbClr val="FFFFFF"/>
                </a:solidFill>
                <a:latin typeface="Palatino Linotype"/>
                <a:cs typeface="Palatino Linotype"/>
              </a:rPr>
              <a:t>dữ</a:t>
            </a:r>
            <a:r>
              <a:rPr dirty="0" sz="3400" spc="-8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75">
                <a:solidFill>
                  <a:srgbClr val="FFFFFF"/>
                </a:solidFill>
                <a:latin typeface="Palatino Linotype"/>
                <a:cs typeface="Palatino Linotype"/>
              </a:rPr>
              <a:t>liệu.</a:t>
            </a:r>
            <a:endParaRPr sz="34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827228" y="786494"/>
            <a:ext cx="974090" cy="974090"/>
            <a:chOff x="827228" y="786494"/>
            <a:chExt cx="974090" cy="974090"/>
          </a:xfrm>
        </p:grpSpPr>
        <p:sp>
          <p:nvSpPr>
            <p:cNvPr id="3" name="object 3" descr=""/>
            <p:cNvSpPr/>
            <p:nvPr/>
          </p:nvSpPr>
          <p:spPr>
            <a:xfrm>
              <a:off x="827228" y="786494"/>
              <a:ext cx="974090" cy="974090"/>
            </a:xfrm>
            <a:custGeom>
              <a:avLst/>
              <a:gdLst/>
              <a:ahLst/>
              <a:cxnLst/>
              <a:rect l="l" t="t" r="r" b="b"/>
              <a:pathLst>
                <a:path w="974089" h="974089">
                  <a:moveTo>
                    <a:pt x="486874" y="973749"/>
                  </a:moveTo>
                  <a:lnTo>
                    <a:pt x="439985" y="971520"/>
                  </a:lnTo>
                  <a:lnTo>
                    <a:pt x="394357" y="964970"/>
                  </a:lnTo>
                  <a:lnTo>
                    <a:pt x="350194" y="954302"/>
                  </a:lnTo>
                  <a:lnTo>
                    <a:pt x="307699" y="939721"/>
                  </a:lnTo>
                  <a:lnTo>
                    <a:pt x="267078" y="921430"/>
                  </a:lnTo>
                  <a:lnTo>
                    <a:pt x="228535" y="899634"/>
                  </a:lnTo>
                  <a:lnTo>
                    <a:pt x="192272" y="874537"/>
                  </a:lnTo>
                  <a:lnTo>
                    <a:pt x="158495" y="846342"/>
                  </a:lnTo>
                  <a:lnTo>
                    <a:pt x="127407" y="815254"/>
                  </a:lnTo>
                  <a:lnTo>
                    <a:pt x="99212" y="781476"/>
                  </a:lnTo>
                  <a:lnTo>
                    <a:pt x="74114" y="745214"/>
                  </a:lnTo>
                  <a:lnTo>
                    <a:pt x="52318" y="706670"/>
                  </a:lnTo>
                  <a:lnTo>
                    <a:pt x="34028" y="666049"/>
                  </a:lnTo>
                  <a:lnTo>
                    <a:pt x="19446" y="623555"/>
                  </a:lnTo>
                  <a:lnTo>
                    <a:pt x="8779" y="579392"/>
                  </a:lnTo>
                  <a:lnTo>
                    <a:pt x="2228" y="533764"/>
                  </a:lnTo>
                  <a:lnTo>
                    <a:pt x="0" y="486874"/>
                  </a:lnTo>
                  <a:lnTo>
                    <a:pt x="2228" y="439985"/>
                  </a:lnTo>
                  <a:lnTo>
                    <a:pt x="8779" y="394357"/>
                  </a:lnTo>
                  <a:lnTo>
                    <a:pt x="19446" y="350194"/>
                  </a:lnTo>
                  <a:lnTo>
                    <a:pt x="34028" y="307699"/>
                  </a:lnTo>
                  <a:lnTo>
                    <a:pt x="52318" y="267078"/>
                  </a:lnTo>
                  <a:lnTo>
                    <a:pt x="74114" y="228535"/>
                  </a:lnTo>
                  <a:lnTo>
                    <a:pt x="99212" y="192272"/>
                  </a:lnTo>
                  <a:lnTo>
                    <a:pt x="127407" y="158495"/>
                  </a:lnTo>
                  <a:lnTo>
                    <a:pt x="158495" y="127407"/>
                  </a:lnTo>
                  <a:lnTo>
                    <a:pt x="192272" y="99212"/>
                  </a:lnTo>
                  <a:lnTo>
                    <a:pt x="228535" y="74114"/>
                  </a:lnTo>
                  <a:lnTo>
                    <a:pt x="267078" y="52318"/>
                  </a:lnTo>
                  <a:lnTo>
                    <a:pt x="307699" y="34028"/>
                  </a:lnTo>
                  <a:lnTo>
                    <a:pt x="350194" y="19446"/>
                  </a:lnTo>
                  <a:lnTo>
                    <a:pt x="394357" y="8779"/>
                  </a:lnTo>
                  <a:lnTo>
                    <a:pt x="439985" y="2228"/>
                  </a:lnTo>
                  <a:lnTo>
                    <a:pt x="486874" y="0"/>
                  </a:lnTo>
                  <a:lnTo>
                    <a:pt x="533764" y="2228"/>
                  </a:lnTo>
                  <a:lnTo>
                    <a:pt x="579392" y="8779"/>
                  </a:lnTo>
                  <a:lnTo>
                    <a:pt x="623555" y="19446"/>
                  </a:lnTo>
                  <a:lnTo>
                    <a:pt x="666049" y="34028"/>
                  </a:lnTo>
                  <a:lnTo>
                    <a:pt x="706670" y="52318"/>
                  </a:lnTo>
                  <a:lnTo>
                    <a:pt x="745214" y="74114"/>
                  </a:lnTo>
                  <a:lnTo>
                    <a:pt x="781476" y="99212"/>
                  </a:lnTo>
                  <a:lnTo>
                    <a:pt x="815254" y="127407"/>
                  </a:lnTo>
                  <a:lnTo>
                    <a:pt x="846342" y="158495"/>
                  </a:lnTo>
                  <a:lnTo>
                    <a:pt x="874537" y="192272"/>
                  </a:lnTo>
                  <a:lnTo>
                    <a:pt x="899634" y="228535"/>
                  </a:lnTo>
                  <a:lnTo>
                    <a:pt x="921430" y="267078"/>
                  </a:lnTo>
                  <a:lnTo>
                    <a:pt x="939721" y="307699"/>
                  </a:lnTo>
                  <a:lnTo>
                    <a:pt x="954302" y="350194"/>
                  </a:lnTo>
                  <a:lnTo>
                    <a:pt x="964970" y="394357"/>
                  </a:lnTo>
                  <a:lnTo>
                    <a:pt x="971520" y="439985"/>
                  </a:lnTo>
                  <a:lnTo>
                    <a:pt x="973749" y="486874"/>
                  </a:lnTo>
                  <a:lnTo>
                    <a:pt x="971520" y="533764"/>
                  </a:lnTo>
                  <a:lnTo>
                    <a:pt x="964970" y="579392"/>
                  </a:lnTo>
                  <a:lnTo>
                    <a:pt x="954302" y="623555"/>
                  </a:lnTo>
                  <a:lnTo>
                    <a:pt x="939721" y="666049"/>
                  </a:lnTo>
                  <a:lnTo>
                    <a:pt x="921430" y="706670"/>
                  </a:lnTo>
                  <a:lnTo>
                    <a:pt x="899634" y="745214"/>
                  </a:lnTo>
                  <a:lnTo>
                    <a:pt x="874537" y="781476"/>
                  </a:lnTo>
                  <a:lnTo>
                    <a:pt x="846342" y="815254"/>
                  </a:lnTo>
                  <a:lnTo>
                    <a:pt x="815254" y="846342"/>
                  </a:lnTo>
                  <a:lnTo>
                    <a:pt x="781476" y="874537"/>
                  </a:lnTo>
                  <a:lnTo>
                    <a:pt x="745214" y="899634"/>
                  </a:lnTo>
                  <a:lnTo>
                    <a:pt x="706670" y="921430"/>
                  </a:lnTo>
                  <a:lnTo>
                    <a:pt x="666049" y="939721"/>
                  </a:lnTo>
                  <a:lnTo>
                    <a:pt x="623555" y="954302"/>
                  </a:lnTo>
                  <a:lnTo>
                    <a:pt x="579392" y="964970"/>
                  </a:lnTo>
                  <a:lnTo>
                    <a:pt x="533764" y="971520"/>
                  </a:lnTo>
                  <a:lnTo>
                    <a:pt x="486874" y="973749"/>
                  </a:lnTo>
                  <a:close/>
                </a:path>
              </a:pathLst>
            </a:custGeom>
            <a:solidFill>
              <a:srgbClr val="32322F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918086" y="877351"/>
              <a:ext cx="792480" cy="792480"/>
            </a:xfrm>
            <a:custGeom>
              <a:avLst/>
              <a:gdLst/>
              <a:ahLst/>
              <a:cxnLst/>
              <a:rect l="l" t="t" r="r" b="b"/>
              <a:pathLst>
                <a:path w="792480" h="792480">
                  <a:moveTo>
                    <a:pt x="396016" y="792033"/>
                  </a:moveTo>
                  <a:lnTo>
                    <a:pt x="349832" y="789369"/>
                  </a:lnTo>
                  <a:lnTo>
                    <a:pt x="305213" y="781574"/>
                  </a:lnTo>
                  <a:lnTo>
                    <a:pt x="262456" y="768946"/>
                  </a:lnTo>
                  <a:lnTo>
                    <a:pt x="221858" y="751782"/>
                  </a:lnTo>
                  <a:lnTo>
                    <a:pt x="183716" y="730378"/>
                  </a:lnTo>
                  <a:lnTo>
                    <a:pt x="148328" y="705033"/>
                  </a:lnTo>
                  <a:lnTo>
                    <a:pt x="115990" y="676042"/>
                  </a:lnTo>
                  <a:lnTo>
                    <a:pt x="87000" y="643705"/>
                  </a:lnTo>
                  <a:lnTo>
                    <a:pt x="61655" y="608316"/>
                  </a:lnTo>
                  <a:lnTo>
                    <a:pt x="40251" y="570174"/>
                  </a:lnTo>
                  <a:lnTo>
                    <a:pt x="23087" y="529576"/>
                  </a:lnTo>
                  <a:lnTo>
                    <a:pt x="10459" y="486819"/>
                  </a:lnTo>
                  <a:lnTo>
                    <a:pt x="2664" y="442200"/>
                  </a:lnTo>
                  <a:lnTo>
                    <a:pt x="0" y="396016"/>
                  </a:lnTo>
                  <a:lnTo>
                    <a:pt x="2664" y="349832"/>
                  </a:lnTo>
                  <a:lnTo>
                    <a:pt x="10459" y="305213"/>
                  </a:lnTo>
                  <a:lnTo>
                    <a:pt x="23087" y="262456"/>
                  </a:lnTo>
                  <a:lnTo>
                    <a:pt x="40251" y="221858"/>
                  </a:lnTo>
                  <a:lnTo>
                    <a:pt x="61655" y="183716"/>
                  </a:lnTo>
                  <a:lnTo>
                    <a:pt x="87000" y="148328"/>
                  </a:lnTo>
                  <a:lnTo>
                    <a:pt x="115990" y="115990"/>
                  </a:lnTo>
                  <a:lnTo>
                    <a:pt x="148328" y="87000"/>
                  </a:lnTo>
                  <a:lnTo>
                    <a:pt x="183716" y="61655"/>
                  </a:lnTo>
                  <a:lnTo>
                    <a:pt x="221858" y="40251"/>
                  </a:lnTo>
                  <a:lnTo>
                    <a:pt x="262456" y="23087"/>
                  </a:lnTo>
                  <a:lnTo>
                    <a:pt x="305213" y="10459"/>
                  </a:lnTo>
                  <a:lnTo>
                    <a:pt x="349832" y="2664"/>
                  </a:lnTo>
                  <a:lnTo>
                    <a:pt x="396016" y="0"/>
                  </a:lnTo>
                  <a:lnTo>
                    <a:pt x="442200" y="2664"/>
                  </a:lnTo>
                  <a:lnTo>
                    <a:pt x="486819" y="10459"/>
                  </a:lnTo>
                  <a:lnTo>
                    <a:pt x="529576" y="23087"/>
                  </a:lnTo>
                  <a:lnTo>
                    <a:pt x="570174" y="40251"/>
                  </a:lnTo>
                  <a:lnTo>
                    <a:pt x="608316" y="61655"/>
                  </a:lnTo>
                  <a:lnTo>
                    <a:pt x="643705" y="87000"/>
                  </a:lnTo>
                  <a:lnTo>
                    <a:pt x="676042" y="115990"/>
                  </a:lnTo>
                  <a:lnTo>
                    <a:pt x="705033" y="148328"/>
                  </a:lnTo>
                  <a:lnTo>
                    <a:pt x="730378" y="183716"/>
                  </a:lnTo>
                  <a:lnTo>
                    <a:pt x="751781" y="221858"/>
                  </a:lnTo>
                  <a:lnTo>
                    <a:pt x="768946" y="262456"/>
                  </a:lnTo>
                  <a:lnTo>
                    <a:pt x="781574" y="305213"/>
                  </a:lnTo>
                  <a:lnTo>
                    <a:pt x="789369" y="349832"/>
                  </a:lnTo>
                  <a:lnTo>
                    <a:pt x="792033" y="396016"/>
                  </a:lnTo>
                  <a:lnTo>
                    <a:pt x="789369" y="442200"/>
                  </a:lnTo>
                  <a:lnTo>
                    <a:pt x="781574" y="486819"/>
                  </a:lnTo>
                  <a:lnTo>
                    <a:pt x="768946" y="529576"/>
                  </a:lnTo>
                  <a:lnTo>
                    <a:pt x="751781" y="570174"/>
                  </a:lnTo>
                  <a:lnTo>
                    <a:pt x="730378" y="608316"/>
                  </a:lnTo>
                  <a:lnTo>
                    <a:pt x="705033" y="643705"/>
                  </a:lnTo>
                  <a:lnTo>
                    <a:pt x="676042" y="676042"/>
                  </a:lnTo>
                  <a:lnTo>
                    <a:pt x="643705" y="705033"/>
                  </a:lnTo>
                  <a:lnTo>
                    <a:pt x="608316" y="730378"/>
                  </a:lnTo>
                  <a:lnTo>
                    <a:pt x="570174" y="751782"/>
                  </a:lnTo>
                  <a:lnTo>
                    <a:pt x="529576" y="768946"/>
                  </a:lnTo>
                  <a:lnTo>
                    <a:pt x="486819" y="781574"/>
                  </a:lnTo>
                  <a:lnTo>
                    <a:pt x="442200" y="789369"/>
                  </a:lnTo>
                  <a:lnTo>
                    <a:pt x="396016" y="792033"/>
                  </a:lnTo>
                  <a:close/>
                </a:path>
              </a:pathLst>
            </a:custGeom>
            <a:solidFill>
              <a:srgbClr val="32322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1224474" y="1083727"/>
            <a:ext cx="17907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65">
                <a:solidFill>
                  <a:srgbClr val="FFFFFF"/>
                </a:solidFill>
                <a:latin typeface="Lucida Sans Unicode"/>
                <a:cs typeface="Lucida Sans Unicode"/>
              </a:rPr>
              <a:t>2</a:t>
            </a:r>
            <a:endParaRPr sz="2100">
              <a:latin typeface="Lucida Sans Unicode"/>
              <a:cs typeface="Lucida Sans Unicode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6785269" y="1760243"/>
            <a:ext cx="11296650" cy="8526780"/>
            <a:chOff x="6785269" y="1760243"/>
            <a:chExt cx="11296650" cy="8526780"/>
          </a:xfrm>
        </p:grpSpPr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64395" y="1760243"/>
              <a:ext cx="5000624" cy="4124324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85269" y="5884337"/>
              <a:ext cx="11296649" cy="4402662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2096516" y="937558"/>
            <a:ext cx="1165288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50">
                <a:solidFill>
                  <a:srgbClr val="32322F"/>
                </a:solidFill>
                <a:latin typeface="Lucida Sans Unicode"/>
                <a:cs typeface="Lucida Sans Unicode"/>
              </a:rPr>
              <a:t>Thao</a:t>
            </a:r>
            <a:r>
              <a:rPr dirty="0" sz="3200" spc="-105">
                <a:solidFill>
                  <a:srgbClr val="32322F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210">
                <a:solidFill>
                  <a:srgbClr val="32322F"/>
                </a:solidFill>
                <a:latin typeface="Lucida Sans Unicode"/>
                <a:cs typeface="Lucida Sans Unicode"/>
              </a:rPr>
              <a:t>tác</a:t>
            </a:r>
            <a:r>
              <a:rPr dirty="0" sz="3200" spc="-105">
                <a:solidFill>
                  <a:srgbClr val="32322F"/>
                </a:solidFill>
                <a:latin typeface="Lucida Sans Unicode"/>
                <a:cs typeface="Lucida Sans Unicode"/>
              </a:rPr>
              <a:t> </a:t>
            </a:r>
            <a:r>
              <a:rPr dirty="0" sz="3200">
                <a:solidFill>
                  <a:srgbClr val="32322F"/>
                </a:solidFill>
                <a:latin typeface="Lucida Sans Unicode"/>
                <a:cs typeface="Lucida Sans Unicode"/>
              </a:rPr>
              <a:t>M</a:t>
            </a:r>
            <a:r>
              <a:rPr dirty="0" sz="3200">
                <a:solidFill>
                  <a:srgbClr val="32322F"/>
                </a:solidFill>
                <a:latin typeface="Arial"/>
                <a:cs typeface="Arial"/>
              </a:rPr>
              <a:t>ả</a:t>
            </a:r>
            <a:r>
              <a:rPr dirty="0" sz="3200">
                <a:solidFill>
                  <a:srgbClr val="32322F"/>
                </a:solidFill>
                <a:latin typeface="Lucida Sans Unicode"/>
                <a:cs typeface="Lucida Sans Unicode"/>
              </a:rPr>
              <a:t>ng</a:t>
            </a:r>
            <a:r>
              <a:rPr dirty="0" sz="3200" spc="-105">
                <a:solidFill>
                  <a:srgbClr val="32322F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114">
                <a:solidFill>
                  <a:srgbClr val="32322F"/>
                </a:solidFill>
                <a:latin typeface="Lucida Sans Unicode"/>
                <a:cs typeface="Lucida Sans Unicode"/>
              </a:rPr>
              <a:t>Nâng</a:t>
            </a:r>
            <a:r>
              <a:rPr dirty="0" sz="3200" spc="-105">
                <a:solidFill>
                  <a:srgbClr val="32322F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250">
                <a:solidFill>
                  <a:srgbClr val="32322F"/>
                </a:solidFill>
                <a:latin typeface="Lucida Sans Unicode"/>
                <a:cs typeface="Lucida Sans Unicode"/>
              </a:rPr>
              <a:t>cao</a:t>
            </a:r>
            <a:r>
              <a:rPr dirty="0" sz="3200" spc="-105">
                <a:solidFill>
                  <a:srgbClr val="32322F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180">
                <a:solidFill>
                  <a:srgbClr val="32322F"/>
                </a:solidFill>
                <a:latin typeface="Lucida Sans Unicode"/>
                <a:cs typeface="Lucida Sans Unicode"/>
              </a:rPr>
              <a:t>(Advanced</a:t>
            </a:r>
            <a:r>
              <a:rPr dirty="0" sz="3200" spc="-105">
                <a:solidFill>
                  <a:srgbClr val="32322F"/>
                </a:solidFill>
                <a:latin typeface="Lucida Sans Unicode"/>
                <a:cs typeface="Lucida Sans Unicode"/>
              </a:rPr>
              <a:t> </a:t>
            </a:r>
            <a:r>
              <a:rPr dirty="0" sz="3200">
                <a:solidFill>
                  <a:srgbClr val="32322F"/>
                </a:solidFill>
                <a:latin typeface="Lucida Sans Unicode"/>
                <a:cs typeface="Lucida Sans Unicode"/>
              </a:rPr>
              <a:t>Array</a:t>
            </a:r>
            <a:r>
              <a:rPr dirty="0" sz="3200" spc="-105">
                <a:solidFill>
                  <a:srgbClr val="32322F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70">
                <a:solidFill>
                  <a:srgbClr val="32322F"/>
                </a:solidFill>
                <a:latin typeface="Lucida Sans Unicode"/>
                <a:cs typeface="Lucida Sans Unicode"/>
              </a:rPr>
              <a:t>Manipulation)</a:t>
            </a:r>
            <a:endParaRPr sz="3200">
              <a:latin typeface="Lucida Sans Unicode"/>
              <a:cs typeface="Lucida Sans Unicode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48968" y="1642450"/>
            <a:ext cx="8131809" cy="19970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6599"/>
              </a:lnSpc>
              <a:spcBef>
                <a:spcPts val="90"/>
              </a:spcBef>
            </a:pPr>
            <a:r>
              <a:rPr dirty="0" sz="3700">
                <a:solidFill>
                  <a:srgbClr val="FFFFFF"/>
                </a:solidFill>
                <a:latin typeface="Palatino Linotype"/>
                <a:cs typeface="Palatino Linotype"/>
              </a:rPr>
              <a:t>Vì</a:t>
            </a:r>
            <a:r>
              <a:rPr dirty="0" sz="3700" spc="-10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700" spc="145">
                <a:solidFill>
                  <a:srgbClr val="FFFFFF"/>
                </a:solidFill>
                <a:latin typeface="Palatino Linotype"/>
                <a:cs typeface="Palatino Linotype"/>
              </a:rPr>
              <a:t>thuộc</a:t>
            </a:r>
            <a:r>
              <a:rPr dirty="0" sz="3700" spc="-9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700" spc="160">
                <a:solidFill>
                  <a:srgbClr val="FFFFFF"/>
                </a:solidFill>
                <a:latin typeface="Palatino Linotype"/>
                <a:cs typeface="Palatino Linotype"/>
              </a:rPr>
              <a:t>tính</a:t>
            </a:r>
            <a:r>
              <a:rPr dirty="0" sz="3700" spc="-9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700" spc="160">
                <a:solidFill>
                  <a:srgbClr val="FFFFFF"/>
                </a:solidFill>
                <a:latin typeface="Palatino Linotype"/>
                <a:cs typeface="Palatino Linotype"/>
              </a:rPr>
              <a:t>shape</a:t>
            </a:r>
            <a:r>
              <a:rPr dirty="0" sz="3700" spc="-9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700" spc="180">
                <a:solidFill>
                  <a:srgbClr val="FFFFFF"/>
                </a:solidFill>
                <a:latin typeface="Palatino Linotype"/>
                <a:cs typeface="Palatino Linotype"/>
              </a:rPr>
              <a:t>của</a:t>
            </a:r>
            <a:r>
              <a:rPr dirty="0" sz="3700" spc="-9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700" spc="155">
                <a:solidFill>
                  <a:srgbClr val="FFFFFF"/>
                </a:solidFill>
                <a:latin typeface="Palatino Linotype"/>
                <a:cs typeface="Palatino Linotype"/>
              </a:rPr>
              <a:t>mảng</a:t>
            </a:r>
            <a:r>
              <a:rPr dirty="0" sz="3700" spc="-9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700" spc="155">
                <a:solidFill>
                  <a:srgbClr val="FFFFFF"/>
                </a:solidFill>
                <a:latin typeface="Palatino Linotype"/>
                <a:cs typeface="Palatino Linotype"/>
              </a:rPr>
              <a:t>là</a:t>
            </a:r>
            <a:r>
              <a:rPr dirty="0" sz="3700" spc="-9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700" spc="120">
                <a:solidFill>
                  <a:srgbClr val="FFFFFF"/>
                </a:solidFill>
                <a:latin typeface="Palatino Linotype"/>
                <a:cs typeface="Palatino Linotype"/>
              </a:rPr>
              <a:t>một </a:t>
            </a:r>
            <a:r>
              <a:rPr dirty="0" sz="3700" spc="105">
                <a:solidFill>
                  <a:srgbClr val="FFFFFF"/>
                </a:solidFill>
                <a:latin typeface="Palatino Linotype"/>
                <a:cs typeface="Palatino Linotype"/>
              </a:rPr>
              <a:t>tuple</a:t>
            </a:r>
            <a:r>
              <a:rPr dirty="0" sz="3700" spc="-8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700" spc="225">
                <a:solidFill>
                  <a:srgbClr val="FFFFFF"/>
                </a:solidFill>
                <a:latin typeface="Palatino Linotype"/>
                <a:cs typeface="Palatino Linotype"/>
              </a:rPr>
              <a:t>nên</a:t>
            </a:r>
            <a:r>
              <a:rPr dirty="0" sz="3700" spc="-8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700" spc="175">
                <a:solidFill>
                  <a:srgbClr val="FFFFFF"/>
                </a:solidFill>
                <a:latin typeface="Palatino Linotype"/>
                <a:cs typeface="Palatino Linotype"/>
              </a:rPr>
              <a:t>nó</a:t>
            </a:r>
            <a:r>
              <a:rPr dirty="0" sz="3700" spc="-8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700" spc="114">
                <a:solidFill>
                  <a:srgbClr val="FFFFFF"/>
                </a:solidFill>
                <a:latin typeface="Palatino Linotype"/>
                <a:cs typeface="Palatino Linotype"/>
              </a:rPr>
              <a:t>cũng</a:t>
            </a:r>
            <a:r>
              <a:rPr dirty="0" sz="3700" spc="-8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700" spc="145">
                <a:solidFill>
                  <a:srgbClr val="FFFFFF"/>
                </a:solidFill>
                <a:latin typeface="Palatino Linotype"/>
                <a:cs typeface="Palatino Linotype"/>
              </a:rPr>
              <a:t>có</a:t>
            </a:r>
            <a:r>
              <a:rPr dirty="0" sz="3700" spc="-8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700" spc="170">
                <a:solidFill>
                  <a:srgbClr val="FFFFFF"/>
                </a:solidFill>
                <a:latin typeface="Palatino Linotype"/>
                <a:cs typeface="Palatino Linotype"/>
              </a:rPr>
              <a:t>thể</a:t>
            </a:r>
            <a:r>
              <a:rPr dirty="0" sz="3700" spc="-8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700" spc="85">
                <a:solidFill>
                  <a:srgbClr val="FFFFFF"/>
                </a:solidFill>
                <a:latin typeface="Palatino Linotype"/>
                <a:cs typeface="Palatino Linotype"/>
              </a:rPr>
              <a:t>được </a:t>
            </a:r>
            <a:r>
              <a:rPr dirty="0" sz="3700" spc="160">
                <a:solidFill>
                  <a:srgbClr val="FFFFFF"/>
                </a:solidFill>
                <a:latin typeface="Palatino Linotype"/>
                <a:cs typeface="Palatino Linotype"/>
              </a:rPr>
              <a:t>truyền</a:t>
            </a:r>
            <a:r>
              <a:rPr dirty="0" sz="3700" spc="-8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700" spc="135">
                <a:solidFill>
                  <a:srgbClr val="FFFFFF"/>
                </a:solidFill>
                <a:latin typeface="Palatino Linotype"/>
                <a:cs typeface="Palatino Linotype"/>
              </a:rPr>
              <a:t>vào</a:t>
            </a:r>
            <a:r>
              <a:rPr dirty="0" sz="3700" spc="-8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700" spc="165">
                <a:solidFill>
                  <a:srgbClr val="FFFFFF"/>
                </a:solidFill>
                <a:latin typeface="Palatino Linotype"/>
                <a:cs typeface="Palatino Linotype"/>
              </a:rPr>
              <a:t>reshape:</a:t>
            </a:r>
            <a:endParaRPr sz="3700">
              <a:latin typeface="Palatino Linotype"/>
              <a:cs typeface="Palatino Linotype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88771" y="5756322"/>
            <a:ext cx="6357620" cy="3502025"/>
          </a:xfrm>
          <a:prstGeom prst="rect">
            <a:avLst/>
          </a:prstGeom>
        </p:spPr>
        <p:txBody>
          <a:bodyPr wrap="square" lIns="0" tIns="1054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dirty="0" sz="3950" spc="130">
                <a:solidFill>
                  <a:srgbClr val="FFFFFF"/>
                </a:solidFill>
                <a:latin typeface="Palatino Linotype"/>
                <a:cs typeface="Palatino Linotype"/>
              </a:rPr>
              <a:t>Thao</a:t>
            </a:r>
            <a:r>
              <a:rPr dirty="0" sz="3950" spc="-9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950" spc="170">
                <a:solidFill>
                  <a:srgbClr val="FFFFFF"/>
                </a:solidFill>
                <a:latin typeface="Palatino Linotype"/>
                <a:cs typeface="Palatino Linotype"/>
              </a:rPr>
              <a:t>tác</a:t>
            </a:r>
            <a:r>
              <a:rPr dirty="0" sz="3950" spc="-9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950" spc="120">
                <a:solidFill>
                  <a:srgbClr val="FFFFFF"/>
                </a:solidFill>
                <a:latin typeface="Palatino Linotype"/>
                <a:cs typeface="Palatino Linotype"/>
              </a:rPr>
              <a:t>ngược</a:t>
            </a:r>
            <a:r>
              <a:rPr dirty="0" sz="3950" spc="-9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950" spc="135">
                <a:solidFill>
                  <a:srgbClr val="FFFFFF"/>
                </a:solidFill>
                <a:latin typeface="Palatino Linotype"/>
                <a:cs typeface="Palatino Linotype"/>
              </a:rPr>
              <a:t>lại</a:t>
            </a:r>
            <a:r>
              <a:rPr dirty="0" sz="3950" spc="-9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950" spc="150">
                <a:solidFill>
                  <a:srgbClr val="FFFFFF"/>
                </a:solidFill>
                <a:latin typeface="Palatino Linotype"/>
                <a:cs typeface="Palatino Linotype"/>
              </a:rPr>
              <a:t>của</a:t>
            </a:r>
            <a:endParaRPr sz="3950">
              <a:latin typeface="Palatino Linotype"/>
              <a:cs typeface="Palatino Linotype"/>
            </a:endParaRPr>
          </a:p>
          <a:p>
            <a:pPr marL="12700" marR="392430">
              <a:lnSpc>
                <a:spcPct val="115500"/>
              </a:lnSpc>
            </a:pPr>
            <a:r>
              <a:rPr dirty="0" sz="3950" spc="70">
                <a:solidFill>
                  <a:srgbClr val="FFFFFF"/>
                </a:solidFill>
                <a:latin typeface="Palatino Linotype"/>
                <a:cs typeface="Palatino Linotype"/>
              </a:rPr>
              <a:t>`reshape`</a:t>
            </a:r>
            <a:r>
              <a:rPr dirty="0" sz="3950" spc="-8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950" spc="120">
                <a:solidFill>
                  <a:srgbClr val="FFFFFF"/>
                </a:solidFill>
                <a:latin typeface="Palatino Linotype"/>
                <a:cs typeface="Palatino Linotype"/>
              </a:rPr>
              <a:t>từ</a:t>
            </a:r>
            <a:r>
              <a:rPr dirty="0" sz="3950" spc="-8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950" spc="145">
                <a:solidFill>
                  <a:srgbClr val="FFFFFF"/>
                </a:solidFill>
                <a:latin typeface="Palatino Linotype"/>
                <a:cs typeface="Palatino Linotype"/>
              </a:rPr>
              <a:t>một</a:t>
            </a:r>
            <a:r>
              <a:rPr dirty="0" sz="3950" spc="-8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950" spc="145">
                <a:solidFill>
                  <a:srgbClr val="FFFFFF"/>
                </a:solidFill>
                <a:latin typeface="Palatino Linotype"/>
                <a:cs typeface="Palatino Linotype"/>
              </a:rPr>
              <a:t>chiều </a:t>
            </a:r>
            <a:r>
              <a:rPr dirty="0" sz="3950" spc="120">
                <a:solidFill>
                  <a:srgbClr val="FFFFFF"/>
                </a:solidFill>
                <a:latin typeface="Palatino Linotype"/>
                <a:cs typeface="Palatino Linotype"/>
              </a:rPr>
              <a:t>sang</a:t>
            </a:r>
            <a:r>
              <a:rPr dirty="0" sz="3950" spc="-7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950" spc="114">
                <a:solidFill>
                  <a:srgbClr val="FFFFFF"/>
                </a:solidFill>
                <a:latin typeface="Palatino Linotype"/>
                <a:cs typeface="Palatino Linotype"/>
              </a:rPr>
              <a:t>đa</a:t>
            </a:r>
            <a:r>
              <a:rPr dirty="0" sz="3950" spc="-7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950" spc="165">
                <a:solidFill>
                  <a:srgbClr val="FFFFFF"/>
                </a:solidFill>
                <a:latin typeface="Palatino Linotype"/>
                <a:cs typeface="Palatino Linotype"/>
              </a:rPr>
              <a:t>chiều</a:t>
            </a:r>
            <a:r>
              <a:rPr dirty="0" sz="3950" spc="-7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950" spc="110">
                <a:solidFill>
                  <a:srgbClr val="FFFFFF"/>
                </a:solidFill>
                <a:latin typeface="Palatino Linotype"/>
                <a:cs typeface="Palatino Linotype"/>
              </a:rPr>
              <a:t>được</a:t>
            </a:r>
            <a:r>
              <a:rPr dirty="0" sz="3950" spc="-7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950">
                <a:solidFill>
                  <a:srgbClr val="FFFFFF"/>
                </a:solidFill>
                <a:latin typeface="Palatino Linotype"/>
                <a:cs typeface="Palatino Linotype"/>
              </a:rPr>
              <a:t>gọi</a:t>
            </a:r>
            <a:r>
              <a:rPr dirty="0" sz="3950" spc="-7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950" spc="125">
                <a:solidFill>
                  <a:srgbClr val="FFFFFF"/>
                </a:solidFill>
                <a:latin typeface="Palatino Linotype"/>
                <a:cs typeface="Palatino Linotype"/>
              </a:rPr>
              <a:t>là</a:t>
            </a:r>
            <a:endParaRPr sz="3950">
              <a:latin typeface="Palatino Linotype"/>
              <a:cs typeface="Palatino Linotype"/>
            </a:endParaRPr>
          </a:p>
          <a:p>
            <a:pPr marL="12700" marR="5080">
              <a:lnSpc>
                <a:spcPct val="115500"/>
              </a:lnSpc>
            </a:pPr>
            <a:r>
              <a:rPr dirty="0" sz="3950" spc="275">
                <a:solidFill>
                  <a:srgbClr val="FFFFFF"/>
                </a:solidFill>
                <a:latin typeface="Palatino Linotype"/>
                <a:cs typeface="Palatino Linotype"/>
              </a:rPr>
              <a:t>**làm</a:t>
            </a:r>
            <a:r>
              <a:rPr dirty="0" sz="3950" spc="-9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950" spc="125">
                <a:solidFill>
                  <a:srgbClr val="FFFFFF"/>
                </a:solidFill>
                <a:latin typeface="Palatino Linotype"/>
                <a:cs typeface="Palatino Linotype"/>
              </a:rPr>
              <a:t>phẳng</a:t>
            </a:r>
            <a:r>
              <a:rPr dirty="0" sz="3950" spc="-8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950" spc="155">
                <a:solidFill>
                  <a:srgbClr val="FFFFFF"/>
                </a:solidFill>
                <a:latin typeface="Palatino Linotype"/>
                <a:cs typeface="Palatino Linotype"/>
              </a:rPr>
              <a:t>(flattening)** </a:t>
            </a:r>
            <a:r>
              <a:rPr dirty="0" sz="3950" spc="180">
                <a:solidFill>
                  <a:srgbClr val="FFFFFF"/>
                </a:solidFill>
                <a:latin typeface="Palatino Linotype"/>
                <a:cs typeface="Palatino Linotype"/>
              </a:rPr>
              <a:t>hoặc</a:t>
            </a:r>
            <a:r>
              <a:rPr dirty="0" sz="3950" spc="-9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950" spc="195">
                <a:solidFill>
                  <a:srgbClr val="FFFFFF"/>
                </a:solidFill>
                <a:latin typeface="Palatino Linotype"/>
                <a:cs typeface="Palatino Linotype"/>
              </a:rPr>
              <a:t>**duỗi</a:t>
            </a:r>
            <a:r>
              <a:rPr dirty="0" sz="3950" spc="-9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950" spc="105">
                <a:solidFill>
                  <a:srgbClr val="FFFFFF"/>
                </a:solidFill>
                <a:latin typeface="Palatino Linotype"/>
                <a:cs typeface="Palatino Linotype"/>
              </a:rPr>
              <a:t>(raveling)**.</a:t>
            </a:r>
            <a:endParaRPr sz="395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9A898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1028699" y="541825"/>
            <a:ext cx="974090" cy="974090"/>
            <a:chOff x="1028699" y="541825"/>
            <a:chExt cx="974090" cy="974090"/>
          </a:xfrm>
        </p:grpSpPr>
        <p:sp>
          <p:nvSpPr>
            <p:cNvPr id="4" name="object 4" descr=""/>
            <p:cNvSpPr/>
            <p:nvPr/>
          </p:nvSpPr>
          <p:spPr>
            <a:xfrm>
              <a:off x="1028699" y="541825"/>
              <a:ext cx="974090" cy="974090"/>
            </a:xfrm>
            <a:custGeom>
              <a:avLst/>
              <a:gdLst/>
              <a:ahLst/>
              <a:cxnLst/>
              <a:rect l="l" t="t" r="r" b="b"/>
              <a:pathLst>
                <a:path w="974089" h="974090">
                  <a:moveTo>
                    <a:pt x="486874" y="973749"/>
                  </a:moveTo>
                  <a:lnTo>
                    <a:pt x="439985" y="971520"/>
                  </a:lnTo>
                  <a:lnTo>
                    <a:pt x="394357" y="964970"/>
                  </a:lnTo>
                  <a:lnTo>
                    <a:pt x="350194" y="954302"/>
                  </a:lnTo>
                  <a:lnTo>
                    <a:pt x="307699" y="939721"/>
                  </a:lnTo>
                  <a:lnTo>
                    <a:pt x="267078" y="921430"/>
                  </a:lnTo>
                  <a:lnTo>
                    <a:pt x="228535" y="899634"/>
                  </a:lnTo>
                  <a:lnTo>
                    <a:pt x="192272" y="874537"/>
                  </a:lnTo>
                  <a:lnTo>
                    <a:pt x="158495" y="846342"/>
                  </a:lnTo>
                  <a:lnTo>
                    <a:pt x="127407" y="815254"/>
                  </a:lnTo>
                  <a:lnTo>
                    <a:pt x="99212" y="781476"/>
                  </a:lnTo>
                  <a:lnTo>
                    <a:pt x="74114" y="745214"/>
                  </a:lnTo>
                  <a:lnTo>
                    <a:pt x="52318" y="706670"/>
                  </a:lnTo>
                  <a:lnTo>
                    <a:pt x="34028" y="666049"/>
                  </a:lnTo>
                  <a:lnTo>
                    <a:pt x="19446" y="623555"/>
                  </a:lnTo>
                  <a:lnTo>
                    <a:pt x="8779" y="579392"/>
                  </a:lnTo>
                  <a:lnTo>
                    <a:pt x="2228" y="533764"/>
                  </a:lnTo>
                  <a:lnTo>
                    <a:pt x="0" y="486874"/>
                  </a:lnTo>
                  <a:lnTo>
                    <a:pt x="2228" y="439985"/>
                  </a:lnTo>
                  <a:lnTo>
                    <a:pt x="8779" y="394357"/>
                  </a:lnTo>
                  <a:lnTo>
                    <a:pt x="19446" y="350194"/>
                  </a:lnTo>
                  <a:lnTo>
                    <a:pt x="34028" y="307699"/>
                  </a:lnTo>
                  <a:lnTo>
                    <a:pt x="52318" y="267078"/>
                  </a:lnTo>
                  <a:lnTo>
                    <a:pt x="74114" y="228535"/>
                  </a:lnTo>
                  <a:lnTo>
                    <a:pt x="99212" y="192272"/>
                  </a:lnTo>
                  <a:lnTo>
                    <a:pt x="127407" y="158495"/>
                  </a:lnTo>
                  <a:lnTo>
                    <a:pt x="158495" y="127407"/>
                  </a:lnTo>
                  <a:lnTo>
                    <a:pt x="192272" y="99212"/>
                  </a:lnTo>
                  <a:lnTo>
                    <a:pt x="228535" y="74114"/>
                  </a:lnTo>
                  <a:lnTo>
                    <a:pt x="267078" y="52318"/>
                  </a:lnTo>
                  <a:lnTo>
                    <a:pt x="307699" y="34028"/>
                  </a:lnTo>
                  <a:lnTo>
                    <a:pt x="350194" y="19446"/>
                  </a:lnTo>
                  <a:lnTo>
                    <a:pt x="394357" y="8779"/>
                  </a:lnTo>
                  <a:lnTo>
                    <a:pt x="439985" y="2228"/>
                  </a:lnTo>
                  <a:lnTo>
                    <a:pt x="486874" y="0"/>
                  </a:lnTo>
                  <a:lnTo>
                    <a:pt x="533764" y="2228"/>
                  </a:lnTo>
                  <a:lnTo>
                    <a:pt x="579392" y="8779"/>
                  </a:lnTo>
                  <a:lnTo>
                    <a:pt x="623555" y="19446"/>
                  </a:lnTo>
                  <a:lnTo>
                    <a:pt x="666049" y="34028"/>
                  </a:lnTo>
                  <a:lnTo>
                    <a:pt x="706670" y="52318"/>
                  </a:lnTo>
                  <a:lnTo>
                    <a:pt x="745214" y="74114"/>
                  </a:lnTo>
                  <a:lnTo>
                    <a:pt x="781476" y="99212"/>
                  </a:lnTo>
                  <a:lnTo>
                    <a:pt x="815254" y="127407"/>
                  </a:lnTo>
                  <a:lnTo>
                    <a:pt x="846342" y="158495"/>
                  </a:lnTo>
                  <a:lnTo>
                    <a:pt x="874537" y="192272"/>
                  </a:lnTo>
                  <a:lnTo>
                    <a:pt x="899634" y="228535"/>
                  </a:lnTo>
                  <a:lnTo>
                    <a:pt x="921430" y="267078"/>
                  </a:lnTo>
                  <a:lnTo>
                    <a:pt x="939721" y="307699"/>
                  </a:lnTo>
                  <a:lnTo>
                    <a:pt x="954302" y="350194"/>
                  </a:lnTo>
                  <a:lnTo>
                    <a:pt x="964970" y="394357"/>
                  </a:lnTo>
                  <a:lnTo>
                    <a:pt x="971520" y="439985"/>
                  </a:lnTo>
                  <a:lnTo>
                    <a:pt x="973749" y="486874"/>
                  </a:lnTo>
                  <a:lnTo>
                    <a:pt x="971520" y="533764"/>
                  </a:lnTo>
                  <a:lnTo>
                    <a:pt x="964970" y="579392"/>
                  </a:lnTo>
                  <a:lnTo>
                    <a:pt x="954302" y="623555"/>
                  </a:lnTo>
                  <a:lnTo>
                    <a:pt x="939721" y="666049"/>
                  </a:lnTo>
                  <a:lnTo>
                    <a:pt x="921430" y="706670"/>
                  </a:lnTo>
                  <a:lnTo>
                    <a:pt x="899634" y="745214"/>
                  </a:lnTo>
                  <a:lnTo>
                    <a:pt x="874537" y="781476"/>
                  </a:lnTo>
                  <a:lnTo>
                    <a:pt x="846342" y="815254"/>
                  </a:lnTo>
                  <a:lnTo>
                    <a:pt x="815254" y="846342"/>
                  </a:lnTo>
                  <a:lnTo>
                    <a:pt x="781476" y="874537"/>
                  </a:lnTo>
                  <a:lnTo>
                    <a:pt x="745214" y="899634"/>
                  </a:lnTo>
                  <a:lnTo>
                    <a:pt x="706670" y="921430"/>
                  </a:lnTo>
                  <a:lnTo>
                    <a:pt x="666049" y="939721"/>
                  </a:lnTo>
                  <a:lnTo>
                    <a:pt x="623555" y="954302"/>
                  </a:lnTo>
                  <a:lnTo>
                    <a:pt x="579392" y="964970"/>
                  </a:lnTo>
                  <a:lnTo>
                    <a:pt x="533764" y="971520"/>
                  </a:lnTo>
                  <a:lnTo>
                    <a:pt x="486874" y="973749"/>
                  </a:lnTo>
                  <a:close/>
                </a:path>
              </a:pathLst>
            </a:custGeom>
            <a:solidFill>
              <a:srgbClr val="32322F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119558" y="632682"/>
              <a:ext cx="792480" cy="792480"/>
            </a:xfrm>
            <a:custGeom>
              <a:avLst/>
              <a:gdLst/>
              <a:ahLst/>
              <a:cxnLst/>
              <a:rect l="l" t="t" r="r" b="b"/>
              <a:pathLst>
                <a:path w="792480" h="792480">
                  <a:moveTo>
                    <a:pt x="396016" y="792033"/>
                  </a:moveTo>
                  <a:lnTo>
                    <a:pt x="349832" y="789369"/>
                  </a:lnTo>
                  <a:lnTo>
                    <a:pt x="305213" y="781574"/>
                  </a:lnTo>
                  <a:lnTo>
                    <a:pt x="262456" y="768946"/>
                  </a:lnTo>
                  <a:lnTo>
                    <a:pt x="221858" y="751781"/>
                  </a:lnTo>
                  <a:lnTo>
                    <a:pt x="183716" y="730378"/>
                  </a:lnTo>
                  <a:lnTo>
                    <a:pt x="148328" y="705033"/>
                  </a:lnTo>
                  <a:lnTo>
                    <a:pt x="115990" y="676042"/>
                  </a:lnTo>
                  <a:lnTo>
                    <a:pt x="87000" y="643705"/>
                  </a:lnTo>
                  <a:lnTo>
                    <a:pt x="61655" y="608316"/>
                  </a:lnTo>
                  <a:lnTo>
                    <a:pt x="40251" y="570174"/>
                  </a:lnTo>
                  <a:lnTo>
                    <a:pt x="23087" y="529576"/>
                  </a:lnTo>
                  <a:lnTo>
                    <a:pt x="10459" y="486819"/>
                  </a:lnTo>
                  <a:lnTo>
                    <a:pt x="2664" y="442200"/>
                  </a:lnTo>
                  <a:lnTo>
                    <a:pt x="0" y="396016"/>
                  </a:lnTo>
                  <a:lnTo>
                    <a:pt x="2664" y="349832"/>
                  </a:lnTo>
                  <a:lnTo>
                    <a:pt x="10459" y="305213"/>
                  </a:lnTo>
                  <a:lnTo>
                    <a:pt x="23087" y="262456"/>
                  </a:lnTo>
                  <a:lnTo>
                    <a:pt x="40251" y="221858"/>
                  </a:lnTo>
                  <a:lnTo>
                    <a:pt x="61655" y="183716"/>
                  </a:lnTo>
                  <a:lnTo>
                    <a:pt x="87000" y="148328"/>
                  </a:lnTo>
                  <a:lnTo>
                    <a:pt x="115990" y="115990"/>
                  </a:lnTo>
                  <a:lnTo>
                    <a:pt x="148328" y="87000"/>
                  </a:lnTo>
                  <a:lnTo>
                    <a:pt x="183716" y="61655"/>
                  </a:lnTo>
                  <a:lnTo>
                    <a:pt x="221858" y="40251"/>
                  </a:lnTo>
                  <a:lnTo>
                    <a:pt x="262456" y="23087"/>
                  </a:lnTo>
                  <a:lnTo>
                    <a:pt x="305213" y="10459"/>
                  </a:lnTo>
                  <a:lnTo>
                    <a:pt x="349832" y="2664"/>
                  </a:lnTo>
                  <a:lnTo>
                    <a:pt x="396016" y="0"/>
                  </a:lnTo>
                  <a:lnTo>
                    <a:pt x="442200" y="2664"/>
                  </a:lnTo>
                  <a:lnTo>
                    <a:pt x="486819" y="10459"/>
                  </a:lnTo>
                  <a:lnTo>
                    <a:pt x="529577" y="23087"/>
                  </a:lnTo>
                  <a:lnTo>
                    <a:pt x="570175" y="40251"/>
                  </a:lnTo>
                  <a:lnTo>
                    <a:pt x="608316" y="61655"/>
                  </a:lnTo>
                  <a:lnTo>
                    <a:pt x="643705" y="87000"/>
                  </a:lnTo>
                  <a:lnTo>
                    <a:pt x="676043" y="115990"/>
                  </a:lnTo>
                  <a:lnTo>
                    <a:pt x="705033" y="148328"/>
                  </a:lnTo>
                  <a:lnTo>
                    <a:pt x="730378" y="183716"/>
                  </a:lnTo>
                  <a:lnTo>
                    <a:pt x="751782" y="221858"/>
                  </a:lnTo>
                  <a:lnTo>
                    <a:pt x="768946" y="262456"/>
                  </a:lnTo>
                  <a:lnTo>
                    <a:pt x="781574" y="305213"/>
                  </a:lnTo>
                  <a:lnTo>
                    <a:pt x="789369" y="349832"/>
                  </a:lnTo>
                  <a:lnTo>
                    <a:pt x="792033" y="396016"/>
                  </a:lnTo>
                  <a:lnTo>
                    <a:pt x="789369" y="442200"/>
                  </a:lnTo>
                  <a:lnTo>
                    <a:pt x="781574" y="486819"/>
                  </a:lnTo>
                  <a:lnTo>
                    <a:pt x="768946" y="529576"/>
                  </a:lnTo>
                  <a:lnTo>
                    <a:pt x="751782" y="570174"/>
                  </a:lnTo>
                  <a:lnTo>
                    <a:pt x="730378" y="608316"/>
                  </a:lnTo>
                  <a:lnTo>
                    <a:pt x="705033" y="643705"/>
                  </a:lnTo>
                  <a:lnTo>
                    <a:pt x="676043" y="676042"/>
                  </a:lnTo>
                  <a:lnTo>
                    <a:pt x="643705" y="705033"/>
                  </a:lnTo>
                  <a:lnTo>
                    <a:pt x="608316" y="730378"/>
                  </a:lnTo>
                  <a:lnTo>
                    <a:pt x="570175" y="751781"/>
                  </a:lnTo>
                  <a:lnTo>
                    <a:pt x="529577" y="768946"/>
                  </a:lnTo>
                  <a:lnTo>
                    <a:pt x="486819" y="781574"/>
                  </a:lnTo>
                  <a:lnTo>
                    <a:pt x="442200" y="789369"/>
                  </a:lnTo>
                  <a:lnTo>
                    <a:pt x="396016" y="792033"/>
                  </a:lnTo>
                  <a:close/>
                </a:path>
              </a:pathLst>
            </a:custGeom>
            <a:solidFill>
              <a:srgbClr val="32322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425945" y="839058"/>
            <a:ext cx="17907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65">
                <a:solidFill>
                  <a:srgbClr val="FFFFFF"/>
                </a:solidFill>
                <a:latin typeface="Lucida Sans Unicode"/>
                <a:cs typeface="Lucida Sans Unicode"/>
              </a:rPr>
              <a:t>2</a:t>
            </a:r>
            <a:endParaRPr sz="2100">
              <a:latin typeface="Lucida Sans Unicode"/>
              <a:cs typeface="Lucida Sans Unicode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62321" y="4744636"/>
            <a:ext cx="9382124" cy="5542363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50"/>
              <a:t>Thao</a:t>
            </a:r>
            <a:r>
              <a:rPr dirty="0" spc="-105"/>
              <a:t> </a:t>
            </a:r>
            <a:r>
              <a:rPr dirty="0" spc="210"/>
              <a:t>tác</a:t>
            </a:r>
            <a:r>
              <a:rPr dirty="0" spc="-105"/>
              <a:t> </a:t>
            </a:r>
            <a:r>
              <a:rPr dirty="0"/>
              <a:t>M</a:t>
            </a:r>
            <a:r>
              <a:rPr dirty="0">
                <a:latin typeface="Arial"/>
                <a:cs typeface="Arial"/>
              </a:rPr>
              <a:t>ả</a:t>
            </a:r>
            <a:r>
              <a:rPr dirty="0"/>
              <a:t>ng</a:t>
            </a:r>
            <a:r>
              <a:rPr dirty="0" spc="-105"/>
              <a:t> </a:t>
            </a:r>
            <a:r>
              <a:rPr dirty="0" spc="114"/>
              <a:t>Nâng</a:t>
            </a:r>
            <a:r>
              <a:rPr dirty="0" spc="-105"/>
              <a:t> </a:t>
            </a:r>
            <a:r>
              <a:rPr dirty="0" spc="250"/>
              <a:t>cao</a:t>
            </a:r>
            <a:r>
              <a:rPr dirty="0" spc="-105"/>
              <a:t> </a:t>
            </a:r>
            <a:r>
              <a:rPr dirty="0" spc="180"/>
              <a:t>(Advanced</a:t>
            </a:r>
            <a:r>
              <a:rPr dirty="0" spc="-105"/>
              <a:t> </a:t>
            </a:r>
            <a:r>
              <a:rPr dirty="0"/>
              <a:t>Array</a:t>
            </a:r>
            <a:r>
              <a:rPr dirty="0" spc="-105"/>
              <a:t> </a:t>
            </a:r>
            <a:r>
              <a:rPr dirty="0" spc="70"/>
              <a:t>Manipulation)</a:t>
            </a:r>
          </a:p>
        </p:txBody>
      </p:sp>
      <p:sp>
        <p:nvSpPr>
          <p:cNvPr id="9" name="object 9" descr=""/>
          <p:cNvSpPr/>
          <p:nvPr/>
        </p:nvSpPr>
        <p:spPr>
          <a:xfrm>
            <a:off x="10003891" y="1958169"/>
            <a:ext cx="48260" cy="38100"/>
          </a:xfrm>
          <a:custGeom>
            <a:avLst/>
            <a:gdLst/>
            <a:ahLst/>
            <a:cxnLst/>
            <a:rect l="l" t="t" r="r" b="b"/>
            <a:pathLst>
              <a:path w="48259" h="38100">
                <a:moveTo>
                  <a:pt x="48162" y="38099"/>
                </a:moveTo>
                <a:lnTo>
                  <a:pt x="0" y="38099"/>
                </a:lnTo>
                <a:lnTo>
                  <a:pt x="0" y="0"/>
                </a:lnTo>
                <a:lnTo>
                  <a:pt x="48162" y="0"/>
                </a:lnTo>
                <a:lnTo>
                  <a:pt x="48162" y="380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256436" y="1403173"/>
            <a:ext cx="17653635" cy="3025775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dirty="0" u="heavy" sz="3400" spc="-100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Thứ</a:t>
            </a:r>
            <a:r>
              <a:rPr dirty="0" u="heavy" sz="3400" spc="-95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3400" spc="114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t</a:t>
            </a:r>
            <a:r>
              <a:rPr dirty="0" u="heavy" sz="3400" spc="-880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ự</a:t>
            </a:r>
            <a:r>
              <a:rPr dirty="0" u="heavy" sz="3400" spc="20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 </a:t>
            </a:r>
            <a:r>
              <a:rPr dirty="0" u="heavy" sz="3400" spc="-395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C</a:t>
            </a:r>
            <a:r>
              <a:rPr dirty="0" u="heavy" sz="3400" spc="-60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3400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và</a:t>
            </a:r>
            <a:r>
              <a:rPr dirty="0" u="heavy" sz="3400" spc="-70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3400" spc="-260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FORTRAN</a:t>
            </a:r>
            <a:r>
              <a:rPr dirty="0" u="heavy" sz="3400" spc="-160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dirty="0" u="none" sz="3400" spc="-200" b="1" i="1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dirty="0" u="heavy" sz="3400" spc="-200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C</a:t>
            </a:r>
            <a:r>
              <a:rPr dirty="0" u="heavy" sz="3400" spc="-65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3400" spc="-135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Versus</a:t>
            </a:r>
            <a:r>
              <a:rPr dirty="0" u="heavy" sz="3400" spc="-70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3400" spc="-260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FORTRAN</a:t>
            </a:r>
            <a:r>
              <a:rPr dirty="0" u="heavy" sz="3400" spc="-65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3400" spc="-10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Order</a:t>
            </a:r>
            <a:r>
              <a:rPr dirty="0" u="none" sz="3400" spc="-10" b="1" i="1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3400">
              <a:latin typeface="Arial"/>
              <a:cs typeface="Arial"/>
            </a:endParaRPr>
          </a:p>
          <a:p>
            <a:pPr marL="12700" marR="5080">
              <a:lnSpc>
                <a:spcPct val="115799"/>
              </a:lnSpc>
            </a:pPr>
            <a:r>
              <a:rPr dirty="0" sz="3400" spc="195">
                <a:solidFill>
                  <a:srgbClr val="FFFFFF"/>
                </a:solidFill>
                <a:latin typeface="Tahoma"/>
                <a:cs typeface="Tahoma"/>
              </a:rPr>
              <a:t>Mặc</a:t>
            </a:r>
            <a:r>
              <a:rPr dirty="0" sz="34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95">
                <a:solidFill>
                  <a:srgbClr val="FFFFFF"/>
                </a:solidFill>
                <a:latin typeface="Tahoma"/>
                <a:cs typeface="Tahoma"/>
              </a:rPr>
              <a:t>định,</a:t>
            </a:r>
            <a:r>
              <a:rPr dirty="0" sz="34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00">
                <a:solidFill>
                  <a:srgbClr val="FFFFFF"/>
                </a:solidFill>
                <a:latin typeface="Tahoma"/>
                <a:cs typeface="Tahoma"/>
              </a:rPr>
              <a:t>mảng</a:t>
            </a:r>
            <a:r>
              <a:rPr dirty="0" sz="34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5">
                <a:solidFill>
                  <a:srgbClr val="FFFFFF"/>
                </a:solidFill>
                <a:latin typeface="Tahoma"/>
                <a:cs typeface="Tahoma"/>
              </a:rPr>
              <a:t>NumPy</a:t>
            </a:r>
            <a:r>
              <a:rPr dirty="0" sz="34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0">
                <a:solidFill>
                  <a:srgbClr val="FFFFFF"/>
                </a:solidFill>
                <a:latin typeface="Tahoma"/>
                <a:cs typeface="Tahoma"/>
              </a:rPr>
              <a:t>được</a:t>
            </a:r>
            <a:r>
              <a:rPr dirty="0" sz="34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tạo</a:t>
            </a:r>
            <a:r>
              <a:rPr dirty="0" sz="34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5">
                <a:solidFill>
                  <a:srgbClr val="FFFFFF"/>
                </a:solidFill>
                <a:latin typeface="Tahoma"/>
                <a:cs typeface="Tahoma"/>
              </a:rPr>
              <a:t>theo</a:t>
            </a:r>
            <a:r>
              <a:rPr dirty="0" sz="34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0">
                <a:solidFill>
                  <a:srgbClr val="FFFFFF"/>
                </a:solidFill>
                <a:latin typeface="Tahoma"/>
                <a:cs typeface="Tahoma"/>
              </a:rPr>
              <a:t>thứ</a:t>
            </a:r>
            <a:r>
              <a:rPr dirty="0" sz="3400" spc="-1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tự</a:t>
            </a:r>
            <a:r>
              <a:rPr dirty="0" sz="34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dirty="0" sz="34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-10">
                <a:solidFill>
                  <a:srgbClr val="FFFFFF"/>
                </a:solidFill>
                <a:latin typeface="Tahoma"/>
                <a:cs typeface="Tahoma"/>
              </a:rPr>
              <a:t>(row-</a:t>
            </a:r>
            <a:r>
              <a:rPr dirty="0" sz="3400">
                <a:solidFill>
                  <a:srgbClr val="FFFFFF"/>
                </a:solidFill>
                <a:latin typeface="Tahoma"/>
                <a:cs typeface="Tahoma"/>
              </a:rPr>
              <a:t>major),</a:t>
            </a:r>
            <a:r>
              <a:rPr dirty="0" sz="34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5">
                <a:solidFill>
                  <a:srgbClr val="FFFFFF"/>
                </a:solidFill>
                <a:latin typeface="Tahoma"/>
                <a:cs typeface="Tahoma"/>
              </a:rPr>
              <a:t>nghĩa</a:t>
            </a:r>
            <a:r>
              <a:rPr dirty="0" sz="34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0">
                <a:solidFill>
                  <a:srgbClr val="FFFFFF"/>
                </a:solidFill>
                <a:latin typeface="Tahoma"/>
                <a:cs typeface="Tahoma"/>
              </a:rPr>
              <a:t>là</a:t>
            </a:r>
            <a:r>
              <a:rPr dirty="0" sz="34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0">
                <a:solidFill>
                  <a:srgbClr val="FFFFFF"/>
                </a:solidFill>
                <a:latin typeface="Tahoma"/>
                <a:cs typeface="Tahoma"/>
              </a:rPr>
              <a:t>các</a:t>
            </a:r>
            <a:r>
              <a:rPr dirty="0" sz="34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5">
                <a:solidFill>
                  <a:srgbClr val="FFFFFF"/>
                </a:solidFill>
                <a:latin typeface="Tahoma"/>
                <a:cs typeface="Tahoma"/>
              </a:rPr>
              <a:t>phần</a:t>
            </a:r>
            <a:r>
              <a:rPr dirty="0" sz="3400" spc="-1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tử</a:t>
            </a:r>
            <a:r>
              <a:rPr dirty="0" sz="34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0">
                <a:solidFill>
                  <a:srgbClr val="FFFFFF"/>
                </a:solidFill>
                <a:latin typeface="Tahoma"/>
                <a:cs typeface="Tahoma"/>
              </a:rPr>
              <a:t>trong </a:t>
            </a: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cùng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5">
                <a:solidFill>
                  <a:srgbClr val="FFFFFF"/>
                </a:solidFill>
                <a:latin typeface="Tahoma"/>
                <a:cs typeface="Tahoma"/>
              </a:rPr>
              <a:t>một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5">
                <a:solidFill>
                  <a:srgbClr val="FFFFFF"/>
                </a:solidFill>
                <a:latin typeface="Tahoma"/>
                <a:cs typeface="Tahoma"/>
              </a:rPr>
              <a:t>hàng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0">
                <a:solidFill>
                  <a:srgbClr val="FFFFFF"/>
                </a:solidFill>
                <a:latin typeface="Tahoma"/>
                <a:cs typeface="Tahoma"/>
              </a:rPr>
              <a:t>được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70">
                <a:solidFill>
                  <a:srgbClr val="FFFFFF"/>
                </a:solidFill>
                <a:latin typeface="Tahoma"/>
                <a:cs typeface="Tahoma"/>
              </a:rPr>
              <a:t>lưu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5">
                <a:solidFill>
                  <a:srgbClr val="FFFFFF"/>
                </a:solidFill>
                <a:latin typeface="Tahoma"/>
                <a:cs typeface="Tahoma"/>
              </a:rPr>
              <a:t>trữ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liền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4">
                <a:solidFill>
                  <a:srgbClr val="FFFFFF"/>
                </a:solidFill>
                <a:latin typeface="Tahoma"/>
                <a:cs typeface="Tahoma"/>
              </a:rPr>
              <a:t>kề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0">
                <a:solidFill>
                  <a:srgbClr val="FFFFFF"/>
                </a:solidFill>
                <a:latin typeface="Tahoma"/>
                <a:cs typeface="Tahoma"/>
              </a:rPr>
              <a:t>trong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00">
                <a:solidFill>
                  <a:srgbClr val="FFFFFF"/>
                </a:solidFill>
                <a:latin typeface="Tahoma"/>
                <a:cs typeface="Tahoma"/>
              </a:rPr>
              <a:t>bộ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0">
                <a:solidFill>
                  <a:srgbClr val="FFFFFF"/>
                </a:solidFill>
                <a:latin typeface="Tahoma"/>
                <a:cs typeface="Tahoma"/>
              </a:rPr>
              <a:t>nhớ.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5">
                <a:solidFill>
                  <a:srgbClr val="FFFFFF"/>
                </a:solidFill>
                <a:latin typeface="Tahoma"/>
                <a:cs typeface="Tahoma"/>
              </a:rPr>
              <a:t>Lựa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chọn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0">
                <a:solidFill>
                  <a:srgbClr val="FFFFFF"/>
                </a:solidFill>
                <a:latin typeface="Tahoma"/>
                <a:cs typeface="Tahoma"/>
              </a:rPr>
              <a:t>khác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0">
                <a:solidFill>
                  <a:srgbClr val="FFFFFF"/>
                </a:solidFill>
                <a:latin typeface="Tahoma"/>
                <a:cs typeface="Tahoma"/>
              </a:rPr>
              <a:t>là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0">
                <a:solidFill>
                  <a:srgbClr val="FFFFFF"/>
                </a:solidFill>
                <a:latin typeface="Tahoma"/>
                <a:cs typeface="Tahoma"/>
              </a:rPr>
              <a:t>thứ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tự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0">
                <a:solidFill>
                  <a:srgbClr val="FFFFFF"/>
                </a:solidFill>
                <a:latin typeface="Tahoma"/>
                <a:cs typeface="Tahoma"/>
              </a:rPr>
              <a:t>FORTRAN </a:t>
            </a:r>
            <a:r>
              <a:rPr dirty="0" sz="3400" spc="70">
                <a:solidFill>
                  <a:srgbClr val="FFFFFF"/>
                </a:solidFill>
                <a:latin typeface="Tahoma"/>
                <a:cs typeface="Tahoma"/>
              </a:rPr>
              <a:t>(column-</a:t>
            </a:r>
            <a:r>
              <a:rPr dirty="0" sz="3400">
                <a:solidFill>
                  <a:srgbClr val="FFFFFF"/>
                </a:solidFill>
                <a:latin typeface="Tahoma"/>
                <a:cs typeface="Tahoma"/>
              </a:rPr>
              <a:t>major),</a:t>
            </a:r>
            <a:r>
              <a:rPr dirty="0" sz="3400" spc="-1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5">
                <a:solidFill>
                  <a:srgbClr val="FFFFFF"/>
                </a:solidFill>
                <a:latin typeface="Tahoma"/>
                <a:cs typeface="Tahoma"/>
              </a:rPr>
              <a:t>nghĩa</a:t>
            </a:r>
            <a:r>
              <a:rPr dirty="0" sz="34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0">
                <a:solidFill>
                  <a:srgbClr val="FFFFFF"/>
                </a:solidFill>
                <a:latin typeface="Tahoma"/>
                <a:cs typeface="Tahoma"/>
              </a:rPr>
              <a:t>là</a:t>
            </a:r>
            <a:r>
              <a:rPr dirty="0" sz="34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0">
                <a:solidFill>
                  <a:srgbClr val="FFFFFF"/>
                </a:solidFill>
                <a:latin typeface="Tahoma"/>
                <a:cs typeface="Tahoma"/>
              </a:rPr>
              <a:t>các</a:t>
            </a:r>
            <a:r>
              <a:rPr dirty="0" sz="3400" spc="-1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5">
                <a:solidFill>
                  <a:srgbClr val="FFFFFF"/>
                </a:solidFill>
                <a:latin typeface="Tahoma"/>
                <a:cs typeface="Tahoma"/>
              </a:rPr>
              <a:t>giá</a:t>
            </a:r>
            <a:r>
              <a:rPr dirty="0" sz="34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0">
                <a:solidFill>
                  <a:srgbClr val="FFFFFF"/>
                </a:solidFill>
                <a:latin typeface="Tahoma"/>
                <a:cs typeface="Tahoma"/>
              </a:rPr>
              <a:t>trị</a:t>
            </a:r>
            <a:r>
              <a:rPr dirty="0" sz="34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0">
                <a:solidFill>
                  <a:srgbClr val="FFFFFF"/>
                </a:solidFill>
                <a:latin typeface="Tahoma"/>
                <a:cs typeface="Tahoma"/>
              </a:rPr>
              <a:t>trong</a:t>
            </a:r>
            <a:r>
              <a:rPr dirty="0" sz="3400" spc="-1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cùng</a:t>
            </a:r>
            <a:r>
              <a:rPr dirty="0" sz="34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5">
                <a:solidFill>
                  <a:srgbClr val="FFFFFF"/>
                </a:solidFill>
                <a:latin typeface="Tahoma"/>
                <a:cs typeface="Tahoma"/>
              </a:rPr>
              <a:t>một</a:t>
            </a:r>
            <a:r>
              <a:rPr dirty="0" sz="34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5">
                <a:solidFill>
                  <a:srgbClr val="FFFFFF"/>
                </a:solidFill>
                <a:latin typeface="Tahoma"/>
                <a:cs typeface="Tahoma"/>
              </a:rPr>
              <a:t>cột</a:t>
            </a:r>
            <a:r>
              <a:rPr dirty="0" sz="3400" spc="-1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0">
                <a:solidFill>
                  <a:srgbClr val="FFFFFF"/>
                </a:solidFill>
                <a:latin typeface="Tahoma"/>
                <a:cs typeface="Tahoma"/>
              </a:rPr>
              <a:t>được</a:t>
            </a:r>
            <a:r>
              <a:rPr dirty="0" sz="34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70">
                <a:solidFill>
                  <a:srgbClr val="FFFFFF"/>
                </a:solidFill>
                <a:latin typeface="Tahoma"/>
                <a:cs typeface="Tahoma"/>
              </a:rPr>
              <a:t>lưu</a:t>
            </a:r>
            <a:r>
              <a:rPr dirty="0" sz="34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5">
                <a:solidFill>
                  <a:srgbClr val="FFFFFF"/>
                </a:solidFill>
                <a:latin typeface="Tahoma"/>
                <a:cs typeface="Tahoma"/>
              </a:rPr>
              <a:t>trữ</a:t>
            </a:r>
            <a:r>
              <a:rPr dirty="0" sz="3400" spc="-1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liền</a:t>
            </a:r>
            <a:r>
              <a:rPr dirty="0" sz="34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>
                <a:solidFill>
                  <a:srgbClr val="FFFFFF"/>
                </a:solidFill>
                <a:latin typeface="Tahoma"/>
                <a:cs typeface="Tahoma"/>
              </a:rPr>
              <a:t>kề.</a:t>
            </a:r>
            <a:r>
              <a:rPr dirty="0" sz="34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5">
                <a:solidFill>
                  <a:srgbClr val="FFFFFF"/>
                </a:solidFill>
                <a:latin typeface="Tahoma"/>
                <a:cs typeface="Tahoma"/>
              </a:rPr>
              <a:t>reshape</a:t>
            </a:r>
            <a:r>
              <a:rPr dirty="0" sz="3400" spc="-1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40">
                <a:solidFill>
                  <a:srgbClr val="FFFFFF"/>
                </a:solidFill>
                <a:latin typeface="Tahoma"/>
                <a:cs typeface="Tahoma"/>
              </a:rPr>
              <a:t>và </a:t>
            </a:r>
            <a:r>
              <a:rPr dirty="0" sz="3400" spc="95">
                <a:solidFill>
                  <a:srgbClr val="FFFFFF"/>
                </a:solidFill>
                <a:latin typeface="Tahoma"/>
                <a:cs typeface="Tahoma"/>
              </a:rPr>
              <a:t>ravel</a:t>
            </a:r>
            <a:r>
              <a:rPr dirty="0" sz="3400" spc="-1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0">
                <a:solidFill>
                  <a:srgbClr val="FFFFFF"/>
                </a:solidFill>
                <a:latin typeface="Tahoma"/>
                <a:cs typeface="Tahoma"/>
              </a:rPr>
              <a:t>chấp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5">
                <a:solidFill>
                  <a:srgbClr val="FFFFFF"/>
                </a:solidFill>
                <a:latin typeface="Tahoma"/>
                <a:cs typeface="Tahoma"/>
              </a:rPr>
              <a:t>nhận</a:t>
            </a:r>
            <a:r>
              <a:rPr dirty="0" sz="3400" spc="-1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5">
                <a:solidFill>
                  <a:srgbClr val="FFFFFF"/>
                </a:solidFill>
                <a:latin typeface="Tahoma"/>
                <a:cs typeface="Tahoma"/>
              </a:rPr>
              <a:t>một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5">
                <a:solidFill>
                  <a:srgbClr val="FFFFFF"/>
                </a:solidFill>
                <a:latin typeface="Tahoma"/>
                <a:cs typeface="Tahoma"/>
              </a:rPr>
              <a:t>tham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số</a:t>
            </a:r>
            <a:r>
              <a:rPr dirty="0" sz="3400" spc="-1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5">
                <a:solidFill>
                  <a:srgbClr val="FFFFFF"/>
                </a:solidFill>
                <a:latin typeface="Tahoma"/>
                <a:cs typeface="Tahoma"/>
              </a:rPr>
              <a:t>order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-10">
                <a:solidFill>
                  <a:srgbClr val="FFFFFF"/>
                </a:solidFill>
                <a:latin typeface="Tahoma"/>
                <a:cs typeface="Tahoma"/>
              </a:rPr>
              <a:t>('C'</a:t>
            </a:r>
            <a:r>
              <a:rPr dirty="0" sz="3400" spc="-1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0">
                <a:solidFill>
                  <a:srgbClr val="FFFFFF"/>
                </a:solidFill>
                <a:latin typeface="Tahoma"/>
                <a:cs typeface="Tahoma"/>
              </a:rPr>
              <a:t>hoặc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-50">
                <a:solidFill>
                  <a:srgbClr val="FFFFFF"/>
                </a:solidFill>
                <a:latin typeface="Tahoma"/>
                <a:cs typeface="Tahoma"/>
              </a:rPr>
              <a:t>'F')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để</a:t>
            </a:r>
            <a:r>
              <a:rPr dirty="0" sz="3400" spc="-1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5">
                <a:solidFill>
                  <a:srgbClr val="FFFFFF"/>
                </a:solidFill>
                <a:latin typeface="Tahoma"/>
                <a:cs typeface="Tahoma"/>
              </a:rPr>
              <a:t>chỉ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định</a:t>
            </a:r>
            <a:r>
              <a:rPr dirty="0" sz="3400" spc="-1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0">
                <a:solidFill>
                  <a:srgbClr val="FFFFFF"/>
                </a:solidFill>
                <a:latin typeface="Tahoma"/>
                <a:cs typeface="Tahoma"/>
              </a:rPr>
              <a:t>thứ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tự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-20">
                <a:solidFill>
                  <a:srgbClr val="FFFFFF"/>
                </a:solidFill>
                <a:latin typeface="Tahoma"/>
                <a:cs typeface="Tahoma"/>
              </a:rPr>
              <a:t>này.</a:t>
            </a:r>
            <a:endParaRPr sz="3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5297" y="330171"/>
            <a:ext cx="8429624" cy="3667124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5297" y="4414545"/>
            <a:ext cx="12363448" cy="561022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9A898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1028699" y="541825"/>
            <a:ext cx="974090" cy="974090"/>
            <a:chOff x="1028699" y="541825"/>
            <a:chExt cx="974090" cy="974090"/>
          </a:xfrm>
        </p:grpSpPr>
        <p:sp>
          <p:nvSpPr>
            <p:cNvPr id="4" name="object 4" descr=""/>
            <p:cNvSpPr/>
            <p:nvPr/>
          </p:nvSpPr>
          <p:spPr>
            <a:xfrm>
              <a:off x="1028699" y="541825"/>
              <a:ext cx="974090" cy="974090"/>
            </a:xfrm>
            <a:custGeom>
              <a:avLst/>
              <a:gdLst/>
              <a:ahLst/>
              <a:cxnLst/>
              <a:rect l="l" t="t" r="r" b="b"/>
              <a:pathLst>
                <a:path w="974089" h="974090">
                  <a:moveTo>
                    <a:pt x="486874" y="973749"/>
                  </a:moveTo>
                  <a:lnTo>
                    <a:pt x="439985" y="971520"/>
                  </a:lnTo>
                  <a:lnTo>
                    <a:pt x="394357" y="964970"/>
                  </a:lnTo>
                  <a:lnTo>
                    <a:pt x="350194" y="954302"/>
                  </a:lnTo>
                  <a:lnTo>
                    <a:pt x="307699" y="939721"/>
                  </a:lnTo>
                  <a:lnTo>
                    <a:pt x="267078" y="921430"/>
                  </a:lnTo>
                  <a:lnTo>
                    <a:pt x="228535" y="899634"/>
                  </a:lnTo>
                  <a:lnTo>
                    <a:pt x="192272" y="874537"/>
                  </a:lnTo>
                  <a:lnTo>
                    <a:pt x="158495" y="846342"/>
                  </a:lnTo>
                  <a:lnTo>
                    <a:pt x="127407" y="815254"/>
                  </a:lnTo>
                  <a:lnTo>
                    <a:pt x="99212" y="781476"/>
                  </a:lnTo>
                  <a:lnTo>
                    <a:pt x="74114" y="745214"/>
                  </a:lnTo>
                  <a:lnTo>
                    <a:pt x="52318" y="706670"/>
                  </a:lnTo>
                  <a:lnTo>
                    <a:pt x="34028" y="666049"/>
                  </a:lnTo>
                  <a:lnTo>
                    <a:pt x="19446" y="623555"/>
                  </a:lnTo>
                  <a:lnTo>
                    <a:pt x="8779" y="579392"/>
                  </a:lnTo>
                  <a:lnTo>
                    <a:pt x="2228" y="533764"/>
                  </a:lnTo>
                  <a:lnTo>
                    <a:pt x="0" y="486874"/>
                  </a:lnTo>
                  <a:lnTo>
                    <a:pt x="2228" y="439985"/>
                  </a:lnTo>
                  <a:lnTo>
                    <a:pt x="8779" y="394357"/>
                  </a:lnTo>
                  <a:lnTo>
                    <a:pt x="19446" y="350194"/>
                  </a:lnTo>
                  <a:lnTo>
                    <a:pt x="34028" y="307699"/>
                  </a:lnTo>
                  <a:lnTo>
                    <a:pt x="52318" y="267078"/>
                  </a:lnTo>
                  <a:lnTo>
                    <a:pt x="74114" y="228535"/>
                  </a:lnTo>
                  <a:lnTo>
                    <a:pt x="99212" y="192272"/>
                  </a:lnTo>
                  <a:lnTo>
                    <a:pt x="127407" y="158495"/>
                  </a:lnTo>
                  <a:lnTo>
                    <a:pt x="158495" y="127407"/>
                  </a:lnTo>
                  <a:lnTo>
                    <a:pt x="192272" y="99212"/>
                  </a:lnTo>
                  <a:lnTo>
                    <a:pt x="228535" y="74114"/>
                  </a:lnTo>
                  <a:lnTo>
                    <a:pt x="267078" y="52318"/>
                  </a:lnTo>
                  <a:lnTo>
                    <a:pt x="307699" y="34028"/>
                  </a:lnTo>
                  <a:lnTo>
                    <a:pt x="350194" y="19446"/>
                  </a:lnTo>
                  <a:lnTo>
                    <a:pt x="394357" y="8779"/>
                  </a:lnTo>
                  <a:lnTo>
                    <a:pt x="439985" y="2228"/>
                  </a:lnTo>
                  <a:lnTo>
                    <a:pt x="486874" y="0"/>
                  </a:lnTo>
                  <a:lnTo>
                    <a:pt x="533764" y="2228"/>
                  </a:lnTo>
                  <a:lnTo>
                    <a:pt x="579392" y="8779"/>
                  </a:lnTo>
                  <a:lnTo>
                    <a:pt x="623555" y="19446"/>
                  </a:lnTo>
                  <a:lnTo>
                    <a:pt x="666049" y="34028"/>
                  </a:lnTo>
                  <a:lnTo>
                    <a:pt x="706670" y="52318"/>
                  </a:lnTo>
                  <a:lnTo>
                    <a:pt x="745214" y="74114"/>
                  </a:lnTo>
                  <a:lnTo>
                    <a:pt x="781476" y="99212"/>
                  </a:lnTo>
                  <a:lnTo>
                    <a:pt x="815254" y="127407"/>
                  </a:lnTo>
                  <a:lnTo>
                    <a:pt x="846342" y="158495"/>
                  </a:lnTo>
                  <a:lnTo>
                    <a:pt x="874537" y="192272"/>
                  </a:lnTo>
                  <a:lnTo>
                    <a:pt x="899634" y="228535"/>
                  </a:lnTo>
                  <a:lnTo>
                    <a:pt x="921430" y="267078"/>
                  </a:lnTo>
                  <a:lnTo>
                    <a:pt x="939721" y="307699"/>
                  </a:lnTo>
                  <a:lnTo>
                    <a:pt x="954302" y="350194"/>
                  </a:lnTo>
                  <a:lnTo>
                    <a:pt x="964970" y="394357"/>
                  </a:lnTo>
                  <a:lnTo>
                    <a:pt x="971520" y="439985"/>
                  </a:lnTo>
                  <a:lnTo>
                    <a:pt x="973749" y="486874"/>
                  </a:lnTo>
                  <a:lnTo>
                    <a:pt x="971520" y="533764"/>
                  </a:lnTo>
                  <a:lnTo>
                    <a:pt x="964970" y="579392"/>
                  </a:lnTo>
                  <a:lnTo>
                    <a:pt x="954302" y="623555"/>
                  </a:lnTo>
                  <a:lnTo>
                    <a:pt x="939721" y="666049"/>
                  </a:lnTo>
                  <a:lnTo>
                    <a:pt x="921430" y="706670"/>
                  </a:lnTo>
                  <a:lnTo>
                    <a:pt x="899634" y="745214"/>
                  </a:lnTo>
                  <a:lnTo>
                    <a:pt x="874537" y="781476"/>
                  </a:lnTo>
                  <a:lnTo>
                    <a:pt x="846342" y="815254"/>
                  </a:lnTo>
                  <a:lnTo>
                    <a:pt x="815254" y="846342"/>
                  </a:lnTo>
                  <a:lnTo>
                    <a:pt x="781476" y="874537"/>
                  </a:lnTo>
                  <a:lnTo>
                    <a:pt x="745214" y="899634"/>
                  </a:lnTo>
                  <a:lnTo>
                    <a:pt x="706670" y="921430"/>
                  </a:lnTo>
                  <a:lnTo>
                    <a:pt x="666049" y="939721"/>
                  </a:lnTo>
                  <a:lnTo>
                    <a:pt x="623555" y="954302"/>
                  </a:lnTo>
                  <a:lnTo>
                    <a:pt x="579392" y="964970"/>
                  </a:lnTo>
                  <a:lnTo>
                    <a:pt x="533764" y="971520"/>
                  </a:lnTo>
                  <a:lnTo>
                    <a:pt x="486874" y="973749"/>
                  </a:lnTo>
                  <a:close/>
                </a:path>
              </a:pathLst>
            </a:custGeom>
            <a:solidFill>
              <a:srgbClr val="32322F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119558" y="632682"/>
              <a:ext cx="792480" cy="792480"/>
            </a:xfrm>
            <a:custGeom>
              <a:avLst/>
              <a:gdLst/>
              <a:ahLst/>
              <a:cxnLst/>
              <a:rect l="l" t="t" r="r" b="b"/>
              <a:pathLst>
                <a:path w="792480" h="792480">
                  <a:moveTo>
                    <a:pt x="396016" y="792033"/>
                  </a:moveTo>
                  <a:lnTo>
                    <a:pt x="349832" y="789369"/>
                  </a:lnTo>
                  <a:lnTo>
                    <a:pt x="305213" y="781574"/>
                  </a:lnTo>
                  <a:lnTo>
                    <a:pt x="262456" y="768946"/>
                  </a:lnTo>
                  <a:lnTo>
                    <a:pt x="221858" y="751781"/>
                  </a:lnTo>
                  <a:lnTo>
                    <a:pt x="183716" y="730378"/>
                  </a:lnTo>
                  <a:lnTo>
                    <a:pt x="148328" y="705033"/>
                  </a:lnTo>
                  <a:lnTo>
                    <a:pt x="115990" y="676042"/>
                  </a:lnTo>
                  <a:lnTo>
                    <a:pt x="87000" y="643705"/>
                  </a:lnTo>
                  <a:lnTo>
                    <a:pt x="61655" y="608316"/>
                  </a:lnTo>
                  <a:lnTo>
                    <a:pt x="40251" y="570174"/>
                  </a:lnTo>
                  <a:lnTo>
                    <a:pt x="23087" y="529576"/>
                  </a:lnTo>
                  <a:lnTo>
                    <a:pt x="10459" y="486819"/>
                  </a:lnTo>
                  <a:lnTo>
                    <a:pt x="2664" y="442200"/>
                  </a:lnTo>
                  <a:lnTo>
                    <a:pt x="0" y="396016"/>
                  </a:lnTo>
                  <a:lnTo>
                    <a:pt x="2664" y="349832"/>
                  </a:lnTo>
                  <a:lnTo>
                    <a:pt x="10459" y="305213"/>
                  </a:lnTo>
                  <a:lnTo>
                    <a:pt x="23087" y="262456"/>
                  </a:lnTo>
                  <a:lnTo>
                    <a:pt x="40251" y="221858"/>
                  </a:lnTo>
                  <a:lnTo>
                    <a:pt x="61655" y="183716"/>
                  </a:lnTo>
                  <a:lnTo>
                    <a:pt x="87000" y="148328"/>
                  </a:lnTo>
                  <a:lnTo>
                    <a:pt x="115990" y="115990"/>
                  </a:lnTo>
                  <a:lnTo>
                    <a:pt x="148328" y="87000"/>
                  </a:lnTo>
                  <a:lnTo>
                    <a:pt x="183716" y="61655"/>
                  </a:lnTo>
                  <a:lnTo>
                    <a:pt x="221858" y="40251"/>
                  </a:lnTo>
                  <a:lnTo>
                    <a:pt x="262456" y="23087"/>
                  </a:lnTo>
                  <a:lnTo>
                    <a:pt x="305213" y="10459"/>
                  </a:lnTo>
                  <a:lnTo>
                    <a:pt x="349832" y="2664"/>
                  </a:lnTo>
                  <a:lnTo>
                    <a:pt x="396016" y="0"/>
                  </a:lnTo>
                  <a:lnTo>
                    <a:pt x="442200" y="2664"/>
                  </a:lnTo>
                  <a:lnTo>
                    <a:pt x="486819" y="10459"/>
                  </a:lnTo>
                  <a:lnTo>
                    <a:pt x="529577" y="23087"/>
                  </a:lnTo>
                  <a:lnTo>
                    <a:pt x="570175" y="40251"/>
                  </a:lnTo>
                  <a:lnTo>
                    <a:pt x="608316" y="61655"/>
                  </a:lnTo>
                  <a:lnTo>
                    <a:pt x="643705" y="87000"/>
                  </a:lnTo>
                  <a:lnTo>
                    <a:pt x="676043" y="115990"/>
                  </a:lnTo>
                  <a:lnTo>
                    <a:pt x="705033" y="148328"/>
                  </a:lnTo>
                  <a:lnTo>
                    <a:pt x="730378" y="183716"/>
                  </a:lnTo>
                  <a:lnTo>
                    <a:pt x="751782" y="221858"/>
                  </a:lnTo>
                  <a:lnTo>
                    <a:pt x="768946" y="262456"/>
                  </a:lnTo>
                  <a:lnTo>
                    <a:pt x="781574" y="305213"/>
                  </a:lnTo>
                  <a:lnTo>
                    <a:pt x="789369" y="349832"/>
                  </a:lnTo>
                  <a:lnTo>
                    <a:pt x="792033" y="396016"/>
                  </a:lnTo>
                  <a:lnTo>
                    <a:pt x="789369" y="442200"/>
                  </a:lnTo>
                  <a:lnTo>
                    <a:pt x="781574" y="486819"/>
                  </a:lnTo>
                  <a:lnTo>
                    <a:pt x="768946" y="529576"/>
                  </a:lnTo>
                  <a:lnTo>
                    <a:pt x="751782" y="570174"/>
                  </a:lnTo>
                  <a:lnTo>
                    <a:pt x="730378" y="608316"/>
                  </a:lnTo>
                  <a:lnTo>
                    <a:pt x="705033" y="643705"/>
                  </a:lnTo>
                  <a:lnTo>
                    <a:pt x="676043" y="676042"/>
                  </a:lnTo>
                  <a:lnTo>
                    <a:pt x="643705" y="705033"/>
                  </a:lnTo>
                  <a:lnTo>
                    <a:pt x="608316" y="730378"/>
                  </a:lnTo>
                  <a:lnTo>
                    <a:pt x="570175" y="751781"/>
                  </a:lnTo>
                  <a:lnTo>
                    <a:pt x="529577" y="768946"/>
                  </a:lnTo>
                  <a:lnTo>
                    <a:pt x="486819" y="781574"/>
                  </a:lnTo>
                  <a:lnTo>
                    <a:pt x="442200" y="789369"/>
                  </a:lnTo>
                  <a:lnTo>
                    <a:pt x="396016" y="792033"/>
                  </a:lnTo>
                  <a:close/>
                </a:path>
              </a:pathLst>
            </a:custGeom>
            <a:solidFill>
              <a:srgbClr val="32322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425945" y="839058"/>
            <a:ext cx="17907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65">
                <a:solidFill>
                  <a:srgbClr val="FFFFFF"/>
                </a:solidFill>
                <a:latin typeface="Lucida Sans Unicode"/>
                <a:cs typeface="Lucida Sans Unicode"/>
              </a:rPr>
              <a:t>2</a:t>
            </a:r>
            <a:endParaRPr sz="2100">
              <a:latin typeface="Lucida Sans Unicode"/>
              <a:cs typeface="Lucida Sans Unicode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63483" y="5143500"/>
            <a:ext cx="10239374" cy="4981574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50"/>
              <a:t>Thao</a:t>
            </a:r>
            <a:r>
              <a:rPr dirty="0" spc="-105"/>
              <a:t> </a:t>
            </a:r>
            <a:r>
              <a:rPr dirty="0" spc="210"/>
              <a:t>tác</a:t>
            </a:r>
            <a:r>
              <a:rPr dirty="0" spc="-105"/>
              <a:t> </a:t>
            </a:r>
            <a:r>
              <a:rPr dirty="0"/>
              <a:t>M</a:t>
            </a:r>
            <a:r>
              <a:rPr dirty="0">
                <a:latin typeface="Arial"/>
                <a:cs typeface="Arial"/>
              </a:rPr>
              <a:t>ả</a:t>
            </a:r>
            <a:r>
              <a:rPr dirty="0"/>
              <a:t>ng</a:t>
            </a:r>
            <a:r>
              <a:rPr dirty="0" spc="-105"/>
              <a:t> </a:t>
            </a:r>
            <a:r>
              <a:rPr dirty="0" spc="114"/>
              <a:t>Nâng</a:t>
            </a:r>
            <a:r>
              <a:rPr dirty="0" spc="-105"/>
              <a:t> </a:t>
            </a:r>
            <a:r>
              <a:rPr dirty="0" spc="250"/>
              <a:t>cao</a:t>
            </a:r>
            <a:r>
              <a:rPr dirty="0" spc="-105"/>
              <a:t> </a:t>
            </a:r>
            <a:r>
              <a:rPr dirty="0" spc="180"/>
              <a:t>(Advanced</a:t>
            </a:r>
            <a:r>
              <a:rPr dirty="0" spc="-105"/>
              <a:t> </a:t>
            </a:r>
            <a:r>
              <a:rPr dirty="0"/>
              <a:t>Array</a:t>
            </a:r>
            <a:r>
              <a:rPr dirty="0" spc="-105"/>
              <a:t> </a:t>
            </a:r>
            <a:r>
              <a:rPr dirty="0" spc="70"/>
              <a:t>Manipulation)</a:t>
            </a:r>
          </a:p>
        </p:txBody>
      </p:sp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1677" y="2571155"/>
            <a:ext cx="152400" cy="152399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1677" y="3171230"/>
            <a:ext cx="152400" cy="152399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1677" y="4371380"/>
            <a:ext cx="152400" cy="152399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207502" y="1663734"/>
            <a:ext cx="17988280" cy="3025775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dirty="0" sz="3400" b="1" i="1">
                <a:solidFill>
                  <a:srgbClr val="FFFFFF"/>
                </a:solidFill>
                <a:latin typeface="Arial"/>
                <a:cs typeface="Arial"/>
              </a:rPr>
              <a:t>Nối</a:t>
            </a:r>
            <a:r>
              <a:rPr dirty="0" sz="3400" spc="-8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400" b="1" i="1">
                <a:solidFill>
                  <a:srgbClr val="FFFFFF"/>
                </a:solidFill>
                <a:latin typeface="Arial"/>
                <a:cs typeface="Arial"/>
              </a:rPr>
              <a:t>và</a:t>
            </a:r>
            <a:r>
              <a:rPr dirty="0" sz="3400" spc="-7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400" spc="-155" b="1" i="1">
                <a:solidFill>
                  <a:srgbClr val="FFFFFF"/>
                </a:solidFill>
                <a:latin typeface="Arial"/>
                <a:cs typeface="Arial"/>
              </a:rPr>
              <a:t>Tách</a:t>
            </a:r>
            <a:r>
              <a:rPr dirty="0" sz="3400" spc="-7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400" b="1" i="1">
                <a:solidFill>
                  <a:srgbClr val="FFFFFF"/>
                </a:solidFill>
                <a:latin typeface="Arial"/>
                <a:cs typeface="Arial"/>
              </a:rPr>
              <a:t>mảng</a:t>
            </a:r>
            <a:r>
              <a:rPr dirty="0" sz="3400" spc="-7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400" b="1" i="1">
                <a:solidFill>
                  <a:srgbClr val="FFFFFF"/>
                </a:solidFill>
                <a:latin typeface="Arial"/>
                <a:cs typeface="Arial"/>
              </a:rPr>
              <a:t>(Concatenating</a:t>
            </a:r>
            <a:r>
              <a:rPr dirty="0" sz="3400" spc="-7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400" b="1" i="1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3400" spc="-7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400" b="1" i="1">
                <a:solidFill>
                  <a:srgbClr val="FFFFFF"/>
                </a:solidFill>
                <a:latin typeface="Arial"/>
                <a:cs typeface="Arial"/>
              </a:rPr>
              <a:t>Splitting</a:t>
            </a:r>
            <a:r>
              <a:rPr dirty="0" sz="3400" spc="-7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400" spc="-10" b="1" i="1">
                <a:solidFill>
                  <a:srgbClr val="FFFFFF"/>
                </a:solidFill>
                <a:latin typeface="Arial"/>
                <a:cs typeface="Arial"/>
              </a:rPr>
              <a:t>Arrays)</a:t>
            </a:r>
            <a:endParaRPr sz="3400">
              <a:latin typeface="Arial"/>
              <a:cs typeface="Arial"/>
            </a:endParaRPr>
          </a:p>
          <a:p>
            <a:pPr marL="746125">
              <a:lnSpc>
                <a:spcPct val="100000"/>
              </a:lnSpc>
              <a:spcBef>
                <a:spcPts val="645"/>
              </a:spcBef>
            </a:pPr>
            <a:r>
              <a:rPr dirty="0" sz="3400" spc="80">
                <a:solidFill>
                  <a:srgbClr val="FFFFFF"/>
                </a:solidFill>
                <a:latin typeface="Tahoma"/>
                <a:cs typeface="Tahoma"/>
              </a:rPr>
              <a:t>np.concatenate: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5">
                <a:solidFill>
                  <a:srgbClr val="FFFFFF"/>
                </a:solidFill>
                <a:latin typeface="Tahoma"/>
                <a:cs typeface="Tahoma"/>
              </a:rPr>
              <a:t>Nối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5">
                <a:solidFill>
                  <a:srgbClr val="FFFFFF"/>
                </a:solidFill>
                <a:latin typeface="Tahoma"/>
                <a:cs typeface="Tahoma"/>
              </a:rPr>
              <a:t>một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0">
                <a:solidFill>
                  <a:srgbClr val="FFFFFF"/>
                </a:solidFill>
                <a:latin typeface="Tahoma"/>
                <a:cs typeface="Tahoma"/>
              </a:rPr>
              <a:t>chuỗi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0">
                <a:solidFill>
                  <a:srgbClr val="FFFFFF"/>
                </a:solidFill>
                <a:latin typeface="Tahoma"/>
                <a:cs typeface="Tahoma"/>
              </a:rPr>
              <a:t>các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00">
                <a:solidFill>
                  <a:srgbClr val="FFFFFF"/>
                </a:solidFill>
                <a:latin typeface="Tahoma"/>
                <a:cs typeface="Tahoma"/>
              </a:rPr>
              <a:t>mảng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5">
                <a:solidFill>
                  <a:srgbClr val="FFFFFF"/>
                </a:solidFill>
                <a:latin typeface="Tahoma"/>
                <a:cs typeface="Tahoma"/>
              </a:rPr>
              <a:t>theo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5">
                <a:solidFill>
                  <a:srgbClr val="FFFFFF"/>
                </a:solidFill>
                <a:latin typeface="Tahoma"/>
                <a:cs typeface="Tahoma"/>
              </a:rPr>
              <a:t>một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4">
                <a:solidFill>
                  <a:srgbClr val="FFFFFF"/>
                </a:solidFill>
                <a:latin typeface="Tahoma"/>
                <a:cs typeface="Tahoma"/>
              </a:rPr>
              <a:t>trục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0">
                <a:solidFill>
                  <a:srgbClr val="FFFFFF"/>
                </a:solidFill>
                <a:latin typeface="Tahoma"/>
                <a:cs typeface="Tahoma"/>
              </a:rPr>
              <a:t>cho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80">
                <a:solidFill>
                  <a:srgbClr val="FFFFFF"/>
                </a:solidFill>
                <a:latin typeface="Tahoma"/>
                <a:cs typeface="Tahoma"/>
              </a:rPr>
              <a:t>trước.</a:t>
            </a:r>
            <a:endParaRPr sz="3400">
              <a:latin typeface="Tahoma"/>
              <a:cs typeface="Tahoma"/>
            </a:endParaRPr>
          </a:p>
          <a:p>
            <a:pPr marL="746125" marR="5080">
              <a:lnSpc>
                <a:spcPct val="115799"/>
              </a:lnSpc>
            </a:pPr>
            <a:r>
              <a:rPr dirty="0" sz="3400" spc="80">
                <a:solidFill>
                  <a:srgbClr val="FFFFFF"/>
                </a:solidFill>
                <a:latin typeface="Tahoma"/>
                <a:cs typeface="Tahoma"/>
              </a:rPr>
              <a:t>np.vstack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55">
                <a:solidFill>
                  <a:srgbClr val="FFFFFF"/>
                </a:solidFill>
                <a:latin typeface="Tahoma"/>
                <a:cs typeface="Tahoma"/>
              </a:rPr>
              <a:t>np.hstack: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80">
                <a:solidFill>
                  <a:srgbClr val="FFFFFF"/>
                </a:solidFill>
                <a:latin typeface="Tahoma"/>
                <a:cs typeface="Tahoma"/>
              </a:rPr>
              <a:t>Các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00">
                <a:solidFill>
                  <a:srgbClr val="FFFFFF"/>
                </a:solidFill>
                <a:latin typeface="Tahoma"/>
                <a:cs typeface="Tahoma"/>
              </a:rPr>
              <a:t>hàm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0">
                <a:solidFill>
                  <a:srgbClr val="FFFFFF"/>
                </a:solidFill>
                <a:latin typeface="Tahoma"/>
                <a:cs typeface="Tahoma"/>
              </a:rPr>
              <a:t>tiện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0">
                <a:solidFill>
                  <a:srgbClr val="FFFFFF"/>
                </a:solidFill>
                <a:latin typeface="Tahoma"/>
                <a:cs typeface="Tahoma"/>
              </a:rPr>
              <a:t>ích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để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0">
                <a:solidFill>
                  <a:srgbClr val="FFFFFF"/>
                </a:solidFill>
                <a:latin typeface="Tahoma"/>
                <a:cs typeface="Tahoma"/>
              </a:rPr>
              <a:t>xếp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0">
                <a:solidFill>
                  <a:srgbClr val="FFFFFF"/>
                </a:solidFill>
                <a:latin typeface="Tahoma"/>
                <a:cs typeface="Tahoma"/>
              </a:rPr>
              <a:t>chồng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0">
                <a:solidFill>
                  <a:srgbClr val="FFFFFF"/>
                </a:solidFill>
                <a:latin typeface="Tahoma"/>
                <a:cs typeface="Tahoma"/>
              </a:rPr>
              <a:t>các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00">
                <a:solidFill>
                  <a:srgbClr val="FFFFFF"/>
                </a:solidFill>
                <a:latin typeface="Tahoma"/>
                <a:cs typeface="Tahoma"/>
              </a:rPr>
              <a:t>mảng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5">
                <a:solidFill>
                  <a:srgbClr val="FFFFFF"/>
                </a:solidFill>
                <a:latin typeface="Tahoma"/>
                <a:cs typeface="Tahoma"/>
              </a:rPr>
              <a:t>theo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chiều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5">
                <a:solidFill>
                  <a:srgbClr val="FFFFFF"/>
                </a:solidFill>
                <a:latin typeface="Tahoma"/>
                <a:cs typeface="Tahoma"/>
              </a:rPr>
              <a:t>dọc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-10">
                <a:solidFill>
                  <a:srgbClr val="FFFFFF"/>
                </a:solidFill>
                <a:latin typeface="Tahoma"/>
                <a:cs typeface="Tahoma"/>
              </a:rPr>
              <a:t>(hàng) </a:t>
            </a:r>
            <a:r>
              <a:rPr dirty="0" sz="3400" spc="65">
                <a:solidFill>
                  <a:srgbClr val="FFFFFF"/>
                </a:solidFill>
                <a:latin typeface="Tahoma"/>
                <a:cs typeface="Tahoma"/>
              </a:rPr>
              <a:t>và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chiều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75">
                <a:solidFill>
                  <a:srgbClr val="FFFFFF"/>
                </a:solidFill>
                <a:latin typeface="Tahoma"/>
                <a:cs typeface="Tahoma"/>
              </a:rPr>
              <a:t>ngang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-10">
                <a:solidFill>
                  <a:srgbClr val="FFFFFF"/>
                </a:solidFill>
                <a:latin typeface="Tahoma"/>
                <a:cs typeface="Tahoma"/>
              </a:rPr>
              <a:t>(cột).</a:t>
            </a:r>
            <a:endParaRPr sz="3400">
              <a:latin typeface="Tahoma"/>
              <a:cs typeface="Tahoma"/>
            </a:endParaRPr>
          </a:p>
          <a:p>
            <a:pPr marL="746125">
              <a:lnSpc>
                <a:spcPct val="100000"/>
              </a:lnSpc>
              <a:spcBef>
                <a:spcPts val="645"/>
              </a:spcBef>
            </a:pPr>
            <a:r>
              <a:rPr dirty="0" sz="3400" spc="60">
                <a:solidFill>
                  <a:srgbClr val="FFFFFF"/>
                </a:solidFill>
                <a:latin typeface="Tahoma"/>
                <a:cs typeface="Tahoma"/>
              </a:rPr>
              <a:t>np.split: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>
                <a:solidFill>
                  <a:srgbClr val="FFFFFF"/>
                </a:solidFill>
                <a:latin typeface="Tahoma"/>
                <a:cs typeface="Tahoma"/>
              </a:rPr>
              <a:t>Tách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5">
                <a:solidFill>
                  <a:srgbClr val="FFFFFF"/>
                </a:solidFill>
                <a:latin typeface="Tahoma"/>
                <a:cs typeface="Tahoma"/>
              </a:rPr>
              <a:t>một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00">
                <a:solidFill>
                  <a:srgbClr val="FFFFFF"/>
                </a:solidFill>
                <a:latin typeface="Tahoma"/>
                <a:cs typeface="Tahoma"/>
              </a:rPr>
              <a:t>mảng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5">
                <a:solidFill>
                  <a:srgbClr val="FFFFFF"/>
                </a:solidFill>
                <a:latin typeface="Tahoma"/>
                <a:cs typeface="Tahoma"/>
              </a:rPr>
              <a:t>thành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5">
                <a:solidFill>
                  <a:srgbClr val="FFFFFF"/>
                </a:solidFill>
                <a:latin typeface="Tahoma"/>
                <a:cs typeface="Tahoma"/>
              </a:rPr>
              <a:t>nhiều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00">
                <a:solidFill>
                  <a:srgbClr val="FFFFFF"/>
                </a:solidFill>
                <a:latin typeface="Tahoma"/>
                <a:cs typeface="Tahoma"/>
              </a:rPr>
              <a:t>mảng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55">
                <a:solidFill>
                  <a:srgbClr val="FFFFFF"/>
                </a:solidFill>
                <a:latin typeface="Tahoma"/>
                <a:cs typeface="Tahoma"/>
              </a:rPr>
              <a:t>con.</a:t>
            </a:r>
            <a:endParaRPr sz="3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425945" y="839058"/>
            <a:ext cx="17907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65">
                <a:solidFill>
                  <a:srgbClr val="FFFFFF"/>
                </a:solidFill>
                <a:latin typeface="Lucida Sans Unicode"/>
                <a:cs typeface="Lucida Sans Unicode"/>
              </a:rPr>
              <a:t>2</a:t>
            </a:r>
            <a:endParaRPr sz="2100">
              <a:latin typeface="Lucida Sans Unicode"/>
              <a:cs typeface="Lucida Sans Unicode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10577" y="1515574"/>
            <a:ext cx="8582024" cy="856297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50"/>
              <a:t>Thao</a:t>
            </a:r>
            <a:r>
              <a:rPr dirty="0" spc="-105"/>
              <a:t> </a:t>
            </a:r>
            <a:r>
              <a:rPr dirty="0" spc="210"/>
              <a:t>tác</a:t>
            </a:r>
            <a:r>
              <a:rPr dirty="0" spc="-105"/>
              <a:t> </a:t>
            </a:r>
            <a:r>
              <a:rPr dirty="0"/>
              <a:t>M</a:t>
            </a:r>
            <a:r>
              <a:rPr dirty="0">
                <a:latin typeface="Arial"/>
                <a:cs typeface="Arial"/>
              </a:rPr>
              <a:t>ả</a:t>
            </a:r>
            <a:r>
              <a:rPr dirty="0"/>
              <a:t>ng</a:t>
            </a:r>
            <a:r>
              <a:rPr dirty="0" spc="-105"/>
              <a:t> </a:t>
            </a:r>
            <a:r>
              <a:rPr dirty="0" spc="114"/>
              <a:t>Nâng</a:t>
            </a:r>
            <a:r>
              <a:rPr dirty="0" spc="-105"/>
              <a:t> </a:t>
            </a:r>
            <a:r>
              <a:rPr dirty="0" spc="250"/>
              <a:t>cao</a:t>
            </a:r>
            <a:r>
              <a:rPr dirty="0" spc="-105"/>
              <a:t> </a:t>
            </a:r>
            <a:r>
              <a:rPr dirty="0" spc="180"/>
              <a:t>(Advanced</a:t>
            </a:r>
            <a:r>
              <a:rPr dirty="0" spc="-105"/>
              <a:t> </a:t>
            </a:r>
            <a:r>
              <a:rPr dirty="0"/>
              <a:t>Array</a:t>
            </a:r>
            <a:r>
              <a:rPr dirty="0" spc="-105"/>
              <a:t> </a:t>
            </a:r>
            <a:r>
              <a:rPr dirty="0" spc="70"/>
              <a:t>Manipulation)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9A898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1028699" y="541825"/>
            <a:ext cx="974090" cy="974090"/>
            <a:chOff x="1028699" y="541825"/>
            <a:chExt cx="974090" cy="974090"/>
          </a:xfrm>
        </p:grpSpPr>
        <p:sp>
          <p:nvSpPr>
            <p:cNvPr id="4" name="object 4" descr=""/>
            <p:cNvSpPr/>
            <p:nvPr/>
          </p:nvSpPr>
          <p:spPr>
            <a:xfrm>
              <a:off x="1028699" y="541825"/>
              <a:ext cx="974090" cy="974090"/>
            </a:xfrm>
            <a:custGeom>
              <a:avLst/>
              <a:gdLst/>
              <a:ahLst/>
              <a:cxnLst/>
              <a:rect l="l" t="t" r="r" b="b"/>
              <a:pathLst>
                <a:path w="974089" h="974090">
                  <a:moveTo>
                    <a:pt x="486874" y="973749"/>
                  </a:moveTo>
                  <a:lnTo>
                    <a:pt x="439985" y="971520"/>
                  </a:lnTo>
                  <a:lnTo>
                    <a:pt x="394357" y="964970"/>
                  </a:lnTo>
                  <a:lnTo>
                    <a:pt x="350194" y="954302"/>
                  </a:lnTo>
                  <a:lnTo>
                    <a:pt x="307699" y="939721"/>
                  </a:lnTo>
                  <a:lnTo>
                    <a:pt x="267078" y="921430"/>
                  </a:lnTo>
                  <a:lnTo>
                    <a:pt x="228535" y="899634"/>
                  </a:lnTo>
                  <a:lnTo>
                    <a:pt x="192272" y="874537"/>
                  </a:lnTo>
                  <a:lnTo>
                    <a:pt x="158495" y="846342"/>
                  </a:lnTo>
                  <a:lnTo>
                    <a:pt x="127407" y="815254"/>
                  </a:lnTo>
                  <a:lnTo>
                    <a:pt x="99212" y="781476"/>
                  </a:lnTo>
                  <a:lnTo>
                    <a:pt x="74114" y="745214"/>
                  </a:lnTo>
                  <a:lnTo>
                    <a:pt x="52318" y="706670"/>
                  </a:lnTo>
                  <a:lnTo>
                    <a:pt x="34028" y="666049"/>
                  </a:lnTo>
                  <a:lnTo>
                    <a:pt x="19446" y="623555"/>
                  </a:lnTo>
                  <a:lnTo>
                    <a:pt x="8779" y="579392"/>
                  </a:lnTo>
                  <a:lnTo>
                    <a:pt x="2228" y="533764"/>
                  </a:lnTo>
                  <a:lnTo>
                    <a:pt x="0" y="486874"/>
                  </a:lnTo>
                  <a:lnTo>
                    <a:pt x="2228" y="439985"/>
                  </a:lnTo>
                  <a:lnTo>
                    <a:pt x="8779" y="394357"/>
                  </a:lnTo>
                  <a:lnTo>
                    <a:pt x="19446" y="350194"/>
                  </a:lnTo>
                  <a:lnTo>
                    <a:pt x="34028" y="307699"/>
                  </a:lnTo>
                  <a:lnTo>
                    <a:pt x="52318" y="267078"/>
                  </a:lnTo>
                  <a:lnTo>
                    <a:pt x="74114" y="228535"/>
                  </a:lnTo>
                  <a:lnTo>
                    <a:pt x="99212" y="192272"/>
                  </a:lnTo>
                  <a:lnTo>
                    <a:pt x="127407" y="158495"/>
                  </a:lnTo>
                  <a:lnTo>
                    <a:pt x="158495" y="127407"/>
                  </a:lnTo>
                  <a:lnTo>
                    <a:pt x="192272" y="99212"/>
                  </a:lnTo>
                  <a:lnTo>
                    <a:pt x="228535" y="74114"/>
                  </a:lnTo>
                  <a:lnTo>
                    <a:pt x="267078" y="52318"/>
                  </a:lnTo>
                  <a:lnTo>
                    <a:pt x="307699" y="34028"/>
                  </a:lnTo>
                  <a:lnTo>
                    <a:pt x="350194" y="19446"/>
                  </a:lnTo>
                  <a:lnTo>
                    <a:pt x="394357" y="8779"/>
                  </a:lnTo>
                  <a:lnTo>
                    <a:pt x="439985" y="2228"/>
                  </a:lnTo>
                  <a:lnTo>
                    <a:pt x="486874" y="0"/>
                  </a:lnTo>
                  <a:lnTo>
                    <a:pt x="533764" y="2228"/>
                  </a:lnTo>
                  <a:lnTo>
                    <a:pt x="579392" y="8779"/>
                  </a:lnTo>
                  <a:lnTo>
                    <a:pt x="623555" y="19446"/>
                  </a:lnTo>
                  <a:lnTo>
                    <a:pt x="666049" y="34028"/>
                  </a:lnTo>
                  <a:lnTo>
                    <a:pt x="706670" y="52318"/>
                  </a:lnTo>
                  <a:lnTo>
                    <a:pt x="745214" y="74114"/>
                  </a:lnTo>
                  <a:lnTo>
                    <a:pt x="781476" y="99212"/>
                  </a:lnTo>
                  <a:lnTo>
                    <a:pt x="815254" y="127407"/>
                  </a:lnTo>
                  <a:lnTo>
                    <a:pt x="846342" y="158495"/>
                  </a:lnTo>
                  <a:lnTo>
                    <a:pt x="874537" y="192272"/>
                  </a:lnTo>
                  <a:lnTo>
                    <a:pt x="899634" y="228535"/>
                  </a:lnTo>
                  <a:lnTo>
                    <a:pt x="921430" y="267078"/>
                  </a:lnTo>
                  <a:lnTo>
                    <a:pt x="939721" y="307699"/>
                  </a:lnTo>
                  <a:lnTo>
                    <a:pt x="954302" y="350194"/>
                  </a:lnTo>
                  <a:lnTo>
                    <a:pt x="964970" y="394357"/>
                  </a:lnTo>
                  <a:lnTo>
                    <a:pt x="971520" y="439985"/>
                  </a:lnTo>
                  <a:lnTo>
                    <a:pt x="973749" y="486874"/>
                  </a:lnTo>
                  <a:lnTo>
                    <a:pt x="971520" y="533764"/>
                  </a:lnTo>
                  <a:lnTo>
                    <a:pt x="964970" y="579392"/>
                  </a:lnTo>
                  <a:lnTo>
                    <a:pt x="954302" y="623555"/>
                  </a:lnTo>
                  <a:lnTo>
                    <a:pt x="939721" y="666049"/>
                  </a:lnTo>
                  <a:lnTo>
                    <a:pt x="921430" y="706670"/>
                  </a:lnTo>
                  <a:lnTo>
                    <a:pt x="899634" y="745214"/>
                  </a:lnTo>
                  <a:lnTo>
                    <a:pt x="874537" y="781476"/>
                  </a:lnTo>
                  <a:lnTo>
                    <a:pt x="846342" y="815254"/>
                  </a:lnTo>
                  <a:lnTo>
                    <a:pt x="815254" y="846342"/>
                  </a:lnTo>
                  <a:lnTo>
                    <a:pt x="781476" y="874537"/>
                  </a:lnTo>
                  <a:lnTo>
                    <a:pt x="745214" y="899634"/>
                  </a:lnTo>
                  <a:lnTo>
                    <a:pt x="706670" y="921430"/>
                  </a:lnTo>
                  <a:lnTo>
                    <a:pt x="666049" y="939721"/>
                  </a:lnTo>
                  <a:lnTo>
                    <a:pt x="623555" y="954302"/>
                  </a:lnTo>
                  <a:lnTo>
                    <a:pt x="579392" y="964970"/>
                  </a:lnTo>
                  <a:lnTo>
                    <a:pt x="533764" y="971520"/>
                  </a:lnTo>
                  <a:lnTo>
                    <a:pt x="486874" y="973749"/>
                  </a:lnTo>
                  <a:close/>
                </a:path>
              </a:pathLst>
            </a:custGeom>
            <a:solidFill>
              <a:srgbClr val="32322F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119558" y="632682"/>
              <a:ext cx="792480" cy="792480"/>
            </a:xfrm>
            <a:custGeom>
              <a:avLst/>
              <a:gdLst/>
              <a:ahLst/>
              <a:cxnLst/>
              <a:rect l="l" t="t" r="r" b="b"/>
              <a:pathLst>
                <a:path w="792480" h="792480">
                  <a:moveTo>
                    <a:pt x="396016" y="792033"/>
                  </a:moveTo>
                  <a:lnTo>
                    <a:pt x="349832" y="789369"/>
                  </a:lnTo>
                  <a:lnTo>
                    <a:pt x="305213" y="781574"/>
                  </a:lnTo>
                  <a:lnTo>
                    <a:pt x="262456" y="768946"/>
                  </a:lnTo>
                  <a:lnTo>
                    <a:pt x="221858" y="751781"/>
                  </a:lnTo>
                  <a:lnTo>
                    <a:pt x="183716" y="730378"/>
                  </a:lnTo>
                  <a:lnTo>
                    <a:pt x="148328" y="705033"/>
                  </a:lnTo>
                  <a:lnTo>
                    <a:pt x="115990" y="676042"/>
                  </a:lnTo>
                  <a:lnTo>
                    <a:pt x="87000" y="643705"/>
                  </a:lnTo>
                  <a:lnTo>
                    <a:pt x="61655" y="608316"/>
                  </a:lnTo>
                  <a:lnTo>
                    <a:pt x="40251" y="570174"/>
                  </a:lnTo>
                  <a:lnTo>
                    <a:pt x="23087" y="529576"/>
                  </a:lnTo>
                  <a:lnTo>
                    <a:pt x="10459" y="486819"/>
                  </a:lnTo>
                  <a:lnTo>
                    <a:pt x="2664" y="442200"/>
                  </a:lnTo>
                  <a:lnTo>
                    <a:pt x="0" y="396016"/>
                  </a:lnTo>
                  <a:lnTo>
                    <a:pt x="2664" y="349832"/>
                  </a:lnTo>
                  <a:lnTo>
                    <a:pt x="10459" y="305213"/>
                  </a:lnTo>
                  <a:lnTo>
                    <a:pt x="23087" y="262456"/>
                  </a:lnTo>
                  <a:lnTo>
                    <a:pt x="40251" y="221858"/>
                  </a:lnTo>
                  <a:lnTo>
                    <a:pt x="61655" y="183716"/>
                  </a:lnTo>
                  <a:lnTo>
                    <a:pt x="87000" y="148328"/>
                  </a:lnTo>
                  <a:lnTo>
                    <a:pt x="115990" y="115990"/>
                  </a:lnTo>
                  <a:lnTo>
                    <a:pt x="148328" y="87000"/>
                  </a:lnTo>
                  <a:lnTo>
                    <a:pt x="183716" y="61655"/>
                  </a:lnTo>
                  <a:lnTo>
                    <a:pt x="221858" y="40251"/>
                  </a:lnTo>
                  <a:lnTo>
                    <a:pt x="262456" y="23087"/>
                  </a:lnTo>
                  <a:lnTo>
                    <a:pt x="305213" y="10459"/>
                  </a:lnTo>
                  <a:lnTo>
                    <a:pt x="349832" y="2664"/>
                  </a:lnTo>
                  <a:lnTo>
                    <a:pt x="396016" y="0"/>
                  </a:lnTo>
                  <a:lnTo>
                    <a:pt x="442200" y="2664"/>
                  </a:lnTo>
                  <a:lnTo>
                    <a:pt x="486819" y="10459"/>
                  </a:lnTo>
                  <a:lnTo>
                    <a:pt x="529577" y="23087"/>
                  </a:lnTo>
                  <a:lnTo>
                    <a:pt x="570175" y="40251"/>
                  </a:lnTo>
                  <a:lnTo>
                    <a:pt x="608316" y="61655"/>
                  </a:lnTo>
                  <a:lnTo>
                    <a:pt x="643705" y="87000"/>
                  </a:lnTo>
                  <a:lnTo>
                    <a:pt x="676043" y="115990"/>
                  </a:lnTo>
                  <a:lnTo>
                    <a:pt x="705033" y="148328"/>
                  </a:lnTo>
                  <a:lnTo>
                    <a:pt x="730378" y="183716"/>
                  </a:lnTo>
                  <a:lnTo>
                    <a:pt x="751782" y="221858"/>
                  </a:lnTo>
                  <a:lnTo>
                    <a:pt x="768946" y="262456"/>
                  </a:lnTo>
                  <a:lnTo>
                    <a:pt x="781574" y="305213"/>
                  </a:lnTo>
                  <a:lnTo>
                    <a:pt x="789369" y="349832"/>
                  </a:lnTo>
                  <a:lnTo>
                    <a:pt x="792033" y="396016"/>
                  </a:lnTo>
                  <a:lnTo>
                    <a:pt x="789369" y="442200"/>
                  </a:lnTo>
                  <a:lnTo>
                    <a:pt x="781574" y="486819"/>
                  </a:lnTo>
                  <a:lnTo>
                    <a:pt x="768946" y="529576"/>
                  </a:lnTo>
                  <a:lnTo>
                    <a:pt x="751782" y="570174"/>
                  </a:lnTo>
                  <a:lnTo>
                    <a:pt x="730378" y="608316"/>
                  </a:lnTo>
                  <a:lnTo>
                    <a:pt x="705033" y="643705"/>
                  </a:lnTo>
                  <a:lnTo>
                    <a:pt x="676043" y="676042"/>
                  </a:lnTo>
                  <a:lnTo>
                    <a:pt x="643705" y="705033"/>
                  </a:lnTo>
                  <a:lnTo>
                    <a:pt x="608316" y="730378"/>
                  </a:lnTo>
                  <a:lnTo>
                    <a:pt x="570175" y="751781"/>
                  </a:lnTo>
                  <a:lnTo>
                    <a:pt x="529577" y="768946"/>
                  </a:lnTo>
                  <a:lnTo>
                    <a:pt x="486819" y="781574"/>
                  </a:lnTo>
                  <a:lnTo>
                    <a:pt x="442200" y="789369"/>
                  </a:lnTo>
                  <a:lnTo>
                    <a:pt x="396016" y="792033"/>
                  </a:lnTo>
                  <a:close/>
                </a:path>
              </a:pathLst>
            </a:custGeom>
            <a:solidFill>
              <a:srgbClr val="32322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425945" y="839058"/>
            <a:ext cx="17907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65">
                <a:solidFill>
                  <a:srgbClr val="FFFFFF"/>
                </a:solidFill>
                <a:latin typeface="Lucida Sans Unicode"/>
                <a:cs typeface="Lucida Sans Unicode"/>
              </a:rPr>
              <a:t>2</a:t>
            </a:r>
            <a:endParaRPr sz="2100">
              <a:latin typeface="Lucida Sans Unicode"/>
              <a:cs typeface="Lucida Sans Unicode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6466" y="3358102"/>
            <a:ext cx="6953249" cy="6924674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87233" y="5143500"/>
            <a:ext cx="6534149" cy="4571999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50"/>
              <a:t>Thao</a:t>
            </a:r>
            <a:r>
              <a:rPr dirty="0" spc="-105"/>
              <a:t> </a:t>
            </a:r>
            <a:r>
              <a:rPr dirty="0" spc="210"/>
              <a:t>tác</a:t>
            </a:r>
            <a:r>
              <a:rPr dirty="0" spc="-105"/>
              <a:t> </a:t>
            </a:r>
            <a:r>
              <a:rPr dirty="0"/>
              <a:t>M</a:t>
            </a:r>
            <a:r>
              <a:rPr dirty="0">
                <a:latin typeface="Arial"/>
                <a:cs typeface="Arial"/>
              </a:rPr>
              <a:t>ả</a:t>
            </a:r>
            <a:r>
              <a:rPr dirty="0"/>
              <a:t>ng</a:t>
            </a:r>
            <a:r>
              <a:rPr dirty="0" spc="-105"/>
              <a:t> </a:t>
            </a:r>
            <a:r>
              <a:rPr dirty="0" spc="114"/>
              <a:t>Nâng</a:t>
            </a:r>
            <a:r>
              <a:rPr dirty="0" spc="-105"/>
              <a:t> </a:t>
            </a:r>
            <a:r>
              <a:rPr dirty="0" spc="250"/>
              <a:t>cao</a:t>
            </a:r>
            <a:r>
              <a:rPr dirty="0" spc="-105"/>
              <a:t> </a:t>
            </a:r>
            <a:r>
              <a:rPr dirty="0" spc="180"/>
              <a:t>(Advanced</a:t>
            </a:r>
            <a:r>
              <a:rPr dirty="0" spc="-105"/>
              <a:t> </a:t>
            </a:r>
            <a:r>
              <a:rPr dirty="0"/>
              <a:t>Array</a:t>
            </a:r>
            <a:r>
              <a:rPr dirty="0" spc="-105"/>
              <a:t> </a:t>
            </a:r>
            <a:r>
              <a:rPr dirty="0" spc="70"/>
              <a:t>Manipulation)</a:t>
            </a:r>
          </a:p>
        </p:txBody>
      </p:sp>
      <p:sp>
        <p:nvSpPr>
          <p:cNvPr id="10" name="object 10" descr=""/>
          <p:cNvSpPr/>
          <p:nvPr/>
        </p:nvSpPr>
        <p:spPr>
          <a:xfrm>
            <a:off x="2444003" y="1958169"/>
            <a:ext cx="142240" cy="38100"/>
          </a:xfrm>
          <a:custGeom>
            <a:avLst/>
            <a:gdLst/>
            <a:ahLst/>
            <a:cxnLst/>
            <a:rect l="l" t="t" r="r" b="b"/>
            <a:pathLst>
              <a:path w="142239" h="38100">
                <a:moveTo>
                  <a:pt x="141663" y="38099"/>
                </a:moveTo>
                <a:lnTo>
                  <a:pt x="0" y="38099"/>
                </a:lnTo>
                <a:lnTo>
                  <a:pt x="0" y="0"/>
                </a:lnTo>
                <a:lnTo>
                  <a:pt x="141663" y="0"/>
                </a:lnTo>
                <a:lnTo>
                  <a:pt x="141663" y="380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473766" y="1403173"/>
            <a:ext cx="17713960" cy="1825625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dirty="0" u="heavy" sz="3400" spc="295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Palatino Linotype"/>
                <a:cs typeface="Palatino Linotype"/>
              </a:rPr>
              <a:t>Trình</a:t>
            </a:r>
            <a:r>
              <a:rPr dirty="0" u="heavy" sz="3400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dirty="0" u="heavy" sz="3400" spc="330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Palatino Linotype"/>
                <a:cs typeface="Palatino Linotype"/>
              </a:rPr>
              <a:t>trợ</a:t>
            </a:r>
            <a:r>
              <a:rPr dirty="0" u="none" sz="3400" b="1" i="1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u="none" sz="3400" spc="240" b="1" i="1">
                <a:solidFill>
                  <a:srgbClr val="FFFFFF"/>
                </a:solidFill>
                <a:latin typeface="Palatino Linotype"/>
                <a:cs typeface="Palatino Linotype"/>
              </a:rPr>
              <a:t>g</a:t>
            </a:r>
            <a:r>
              <a:rPr dirty="0" u="heavy" sz="3400" spc="240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Palatino Linotype"/>
                <a:cs typeface="Palatino Linotype"/>
              </a:rPr>
              <a:t>iúp</a:t>
            </a:r>
            <a:r>
              <a:rPr dirty="0" u="none" sz="3400" b="1" i="1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u="heavy" sz="3400" spc="265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Palatino Linotype"/>
                <a:cs typeface="Palatino Linotype"/>
              </a:rPr>
              <a:t>xếp</a:t>
            </a:r>
            <a:r>
              <a:rPr dirty="0" u="none" sz="3400" spc="5" b="1" i="1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u="heavy" sz="3400" spc="295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Palatino Linotype"/>
                <a:cs typeface="Palatino Linotype"/>
              </a:rPr>
              <a:t>chồng:</a:t>
            </a:r>
            <a:r>
              <a:rPr dirty="0" u="heavy" sz="3400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dirty="0" u="heavy" sz="3400" spc="185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Palatino Linotype"/>
                <a:cs typeface="Palatino Linotype"/>
              </a:rPr>
              <a:t>r_</a:t>
            </a:r>
            <a:r>
              <a:rPr dirty="0" u="heavy" sz="3400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dirty="0" u="heavy" sz="3400" spc="100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Palatino Linotype"/>
                <a:cs typeface="Palatino Linotype"/>
              </a:rPr>
              <a:t>và</a:t>
            </a:r>
            <a:r>
              <a:rPr dirty="0" u="heavy" sz="3400" spc="5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dirty="0" u="heavy" sz="3400" spc="-25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Palatino Linotype"/>
                <a:cs typeface="Palatino Linotype"/>
              </a:rPr>
              <a:t>c</a:t>
            </a:r>
            <a:r>
              <a:rPr dirty="0" u="heavy" sz="3400" spc="-2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Palatino Linotype"/>
                <a:cs typeface="Palatino Linotype"/>
              </a:rPr>
              <a:t>_</a:t>
            </a:r>
            <a:endParaRPr sz="3400">
              <a:latin typeface="Palatino Linotype"/>
              <a:cs typeface="Palatino Linotype"/>
            </a:endParaRPr>
          </a:p>
          <a:p>
            <a:pPr marL="12700" marR="5080">
              <a:lnSpc>
                <a:spcPct val="115799"/>
              </a:lnSpc>
            </a:pPr>
            <a:r>
              <a:rPr dirty="0" sz="3400" spc="-110">
                <a:solidFill>
                  <a:srgbClr val="FFFFFF"/>
                </a:solidFill>
                <a:latin typeface="Palatino Linotype"/>
                <a:cs typeface="Palatino Linotype"/>
              </a:rPr>
              <a:t>Có</a:t>
            </a:r>
            <a:r>
              <a:rPr dirty="0" sz="3400" spc="-7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155">
                <a:solidFill>
                  <a:srgbClr val="FFFFFF"/>
                </a:solidFill>
                <a:latin typeface="Palatino Linotype"/>
                <a:cs typeface="Palatino Linotype"/>
              </a:rPr>
              <a:t>hai</a:t>
            </a:r>
            <a:r>
              <a:rPr dirty="0" sz="3400" spc="-6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65">
                <a:solidFill>
                  <a:srgbClr val="FFFFFF"/>
                </a:solidFill>
                <a:latin typeface="Palatino Linotype"/>
                <a:cs typeface="Palatino Linotype"/>
              </a:rPr>
              <a:t>đối</a:t>
            </a:r>
            <a:r>
              <a:rPr dirty="0" sz="3400" spc="-7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80">
                <a:solidFill>
                  <a:srgbClr val="FFFFFF"/>
                </a:solidFill>
                <a:latin typeface="Palatino Linotype"/>
                <a:cs typeface="Palatino Linotype"/>
              </a:rPr>
              <a:t>tượng</a:t>
            </a:r>
            <a:r>
              <a:rPr dirty="0" sz="3400" spc="-6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114">
                <a:solidFill>
                  <a:srgbClr val="FFFFFF"/>
                </a:solidFill>
                <a:latin typeface="Palatino Linotype"/>
                <a:cs typeface="Palatino Linotype"/>
              </a:rPr>
              <a:t>đặc</a:t>
            </a:r>
            <a:r>
              <a:rPr dirty="0" sz="3400" spc="-7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135">
                <a:solidFill>
                  <a:srgbClr val="FFFFFF"/>
                </a:solidFill>
                <a:latin typeface="Palatino Linotype"/>
                <a:cs typeface="Palatino Linotype"/>
              </a:rPr>
              <a:t>biệt</a:t>
            </a:r>
            <a:r>
              <a:rPr dirty="0" sz="3400" spc="-6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110">
                <a:solidFill>
                  <a:srgbClr val="FFFFFF"/>
                </a:solidFill>
                <a:latin typeface="Palatino Linotype"/>
                <a:cs typeface="Palatino Linotype"/>
              </a:rPr>
              <a:t>trong</a:t>
            </a:r>
            <a:r>
              <a:rPr dirty="0" sz="3400" spc="-7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100">
                <a:solidFill>
                  <a:srgbClr val="FFFFFF"/>
                </a:solidFill>
                <a:latin typeface="Palatino Linotype"/>
                <a:cs typeface="Palatino Linotype"/>
              </a:rPr>
              <a:t>không</a:t>
            </a:r>
            <a:r>
              <a:rPr dirty="0" sz="3400" spc="-6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105">
                <a:solidFill>
                  <a:srgbClr val="FFFFFF"/>
                </a:solidFill>
                <a:latin typeface="Palatino Linotype"/>
                <a:cs typeface="Palatino Linotype"/>
              </a:rPr>
              <a:t>gian</a:t>
            </a:r>
            <a:r>
              <a:rPr dirty="0" sz="3400" spc="-7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155">
                <a:solidFill>
                  <a:srgbClr val="FFFFFF"/>
                </a:solidFill>
                <a:latin typeface="Palatino Linotype"/>
                <a:cs typeface="Palatino Linotype"/>
              </a:rPr>
              <a:t>tên</a:t>
            </a:r>
            <a:r>
              <a:rPr dirty="0" sz="3400" spc="-6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>
                <a:solidFill>
                  <a:srgbClr val="FFFFFF"/>
                </a:solidFill>
                <a:latin typeface="Palatino Linotype"/>
                <a:cs typeface="Palatino Linotype"/>
              </a:rPr>
              <a:t>NumPy,</a:t>
            </a:r>
            <a:r>
              <a:rPr dirty="0" sz="3400" spc="-7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>
                <a:solidFill>
                  <a:srgbClr val="FFFFFF"/>
                </a:solidFill>
                <a:latin typeface="Palatino Linotype"/>
                <a:cs typeface="Palatino Linotype"/>
              </a:rPr>
              <a:t>r_</a:t>
            </a:r>
            <a:r>
              <a:rPr dirty="0" sz="3400" spc="-6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114">
                <a:solidFill>
                  <a:srgbClr val="FFFFFF"/>
                </a:solidFill>
                <a:latin typeface="Palatino Linotype"/>
                <a:cs typeface="Palatino Linotype"/>
              </a:rPr>
              <a:t>và</a:t>
            </a:r>
            <a:r>
              <a:rPr dirty="0" sz="3400" spc="-6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>
                <a:solidFill>
                  <a:srgbClr val="FFFFFF"/>
                </a:solidFill>
                <a:latin typeface="Palatino Linotype"/>
                <a:cs typeface="Palatino Linotype"/>
              </a:rPr>
              <a:t>c_,</a:t>
            </a:r>
            <a:r>
              <a:rPr dirty="0" sz="3400" spc="-7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>
                <a:solidFill>
                  <a:srgbClr val="FFFFFF"/>
                </a:solidFill>
                <a:latin typeface="Palatino Linotype"/>
                <a:cs typeface="Palatino Linotype"/>
              </a:rPr>
              <a:t>giúp</a:t>
            </a:r>
            <a:r>
              <a:rPr dirty="0" sz="3400" spc="-6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110">
                <a:solidFill>
                  <a:srgbClr val="FFFFFF"/>
                </a:solidFill>
                <a:latin typeface="Palatino Linotype"/>
                <a:cs typeface="Palatino Linotype"/>
              </a:rPr>
              <a:t>việc</a:t>
            </a:r>
            <a:r>
              <a:rPr dirty="0" sz="3400" spc="-7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135">
                <a:solidFill>
                  <a:srgbClr val="FFFFFF"/>
                </a:solidFill>
                <a:latin typeface="Palatino Linotype"/>
                <a:cs typeface="Palatino Linotype"/>
              </a:rPr>
              <a:t>xếp</a:t>
            </a:r>
            <a:r>
              <a:rPr dirty="0" sz="3400" spc="-6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110">
                <a:solidFill>
                  <a:srgbClr val="FFFFFF"/>
                </a:solidFill>
                <a:latin typeface="Palatino Linotype"/>
                <a:cs typeface="Palatino Linotype"/>
              </a:rPr>
              <a:t>chồng</a:t>
            </a:r>
            <a:r>
              <a:rPr dirty="0" sz="3400" spc="-7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140">
                <a:solidFill>
                  <a:srgbClr val="FFFFFF"/>
                </a:solidFill>
                <a:latin typeface="Palatino Linotype"/>
                <a:cs typeface="Palatino Linotype"/>
              </a:rPr>
              <a:t>các </a:t>
            </a:r>
            <a:r>
              <a:rPr dirty="0" sz="3400" spc="135">
                <a:solidFill>
                  <a:srgbClr val="FFFFFF"/>
                </a:solidFill>
                <a:latin typeface="Palatino Linotype"/>
                <a:cs typeface="Palatino Linotype"/>
              </a:rPr>
              <a:t>mảng</a:t>
            </a:r>
            <a:r>
              <a:rPr dirty="0" sz="3400" spc="-9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140">
                <a:solidFill>
                  <a:srgbClr val="FFFFFF"/>
                </a:solidFill>
                <a:latin typeface="Palatino Linotype"/>
                <a:cs typeface="Palatino Linotype"/>
              </a:rPr>
              <a:t>trở</a:t>
            </a:r>
            <a:r>
              <a:rPr dirty="0" sz="3400" spc="-8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200">
                <a:solidFill>
                  <a:srgbClr val="FFFFFF"/>
                </a:solidFill>
                <a:latin typeface="Palatino Linotype"/>
                <a:cs typeface="Palatino Linotype"/>
              </a:rPr>
              <a:t>nên</a:t>
            </a:r>
            <a:r>
              <a:rPr dirty="0" sz="3400" spc="-8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135">
                <a:solidFill>
                  <a:srgbClr val="FFFFFF"/>
                </a:solidFill>
                <a:latin typeface="Palatino Linotype"/>
                <a:cs typeface="Palatino Linotype"/>
              </a:rPr>
              <a:t>ngắn</a:t>
            </a:r>
            <a:r>
              <a:rPr dirty="0" sz="3400" spc="-8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80">
                <a:solidFill>
                  <a:srgbClr val="FFFFFF"/>
                </a:solidFill>
                <a:latin typeface="Palatino Linotype"/>
                <a:cs typeface="Palatino Linotype"/>
              </a:rPr>
              <a:t>gọn</a:t>
            </a:r>
            <a:r>
              <a:rPr dirty="0" sz="3400" spc="-9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Palatino Linotype"/>
                <a:cs typeface="Palatino Linotype"/>
              </a:rPr>
              <a:t>hơn:</a:t>
            </a:r>
            <a:endParaRPr sz="3400">
              <a:latin typeface="Palatino Linotype"/>
              <a:cs typeface="Palatino Linotype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9079700" y="4768850"/>
            <a:ext cx="691832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solidFill>
                  <a:srgbClr val="FFFFFF"/>
                </a:solidFill>
                <a:latin typeface="Lucida Sans Unicode"/>
                <a:cs typeface="Lucida Sans Unicode"/>
              </a:rPr>
              <a:t>Ngoài</a:t>
            </a:r>
            <a:r>
              <a:rPr dirty="0" sz="2100" spc="-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-20">
                <a:solidFill>
                  <a:srgbClr val="FFFFFF"/>
                </a:solidFill>
                <a:latin typeface="Lucida Sans Unicode"/>
                <a:cs typeface="Lucida Sans Unicode"/>
              </a:rPr>
              <a:t>ra,</a:t>
            </a:r>
            <a:r>
              <a:rPr dirty="0" sz="210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80">
                <a:solidFill>
                  <a:srgbClr val="FFFFFF"/>
                </a:solidFill>
                <a:latin typeface="Lucida Sans Unicode"/>
                <a:cs typeface="Lucida Sans Unicode"/>
              </a:rPr>
              <a:t>chúng</a:t>
            </a:r>
            <a:r>
              <a:rPr dirty="0" sz="210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120">
                <a:solidFill>
                  <a:srgbClr val="FFFFFF"/>
                </a:solidFill>
                <a:latin typeface="Lucida Sans Unicode"/>
                <a:cs typeface="Lucida Sans Unicode"/>
              </a:rPr>
              <a:t>có</a:t>
            </a:r>
            <a:r>
              <a:rPr dirty="0" sz="210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FFFFFF"/>
                </a:solidFill>
                <a:latin typeface="Lucida Sans Unicode"/>
                <a:cs typeface="Lucida Sans Unicode"/>
              </a:rPr>
              <a:t>th</a:t>
            </a:r>
            <a:r>
              <a:rPr dirty="0" sz="2100">
                <a:solidFill>
                  <a:srgbClr val="FFFFFF"/>
                </a:solidFill>
                <a:latin typeface="Arial"/>
                <a:cs typeface="Arial"/>
              </a:rPr>
              <a:t>ể</a:t>
            </a:r>
            <a:r>
              <a:rPr dirty="0" sz="2100" spc="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00" spc="100">
                <a:solidFill>
                  <a:srgbClr val="FFFFFF"/>
                </a:solidFill>
                <a:latin typeface="Lucida Sans Unicode"/>
                <a:cs typeface="Lucida Sans Unicode"/>
              </a:rPr>
              <a:t>d</a:t>
            </a:r>
            <a:r>
              <a:rPr dirty="0" sz="2100" spc="100">
                <a:solidFill>
                  <a:srgbClr val="FFFFFF"/>
                </a:solidFill>
                <a:latin typeface="Arial"/>
                <a:cs typeface="Arial"/>
              </a:rPr>
              <a:t>ị</a:t>
            </a:r>
            <a:r>
              <a:rPr dirty="0" sz="2100" spc="100">
                <a:solidFill>
                  <a:srgbClr val="FFFFFF"/>
                </a:solidFill>
                <a:latin typeface="Lucida Sans Unicode"/>
                <a:cs typeface="Lucida Sans Unicode"/>
              </a:rPr>
              <a:t>ch</a:t>
            </a:r>
            <a:r>
              <a:rPr dirty="0" sz="210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210">
                <a:solidFill>
                  <a:srgbClr val="FFFFFF"/>
                </a:solidFill>
                <a:latin typeface="Lucida Sans Unicode"/>
                <a:cs typeface="Lucida Sans Unicode"/>
              </a:rPr>
              <a:t>các</a:t>
            </a:r>
            <a:r>
              <a:rPr dirty="0" sz="210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FFFFFF"/>
                </a:solidFill>
                <a:latin typeface="Lucida Sans Unicode"/>
                <a:cs typeface="Lucida Sans Unicode"/>
              </a:rPr>
              <a:t>lát</a:t>
            </a:r>
            <a:r>
              <a:rPr dirty="0" sz="210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60">
                <a:solidFill>
                  <a:srgbClr val="FFFFFF"/>
                </a:solidFill>
                <a:latin typeface="Lucida Sans Unicode"/>
                <a:cs typeface="Lucida Sans Unicode"/>
              </a:rPr>
              <a:t>c</a:t>
            </a:r>
            <a:r>
              <a:rPr dirty="0" sz="2100" spc="60">
                <a:solidFill>
                  <a:srgbClr val="FFFFFF"/>
                </a:solidFill>
                <a:latin typeface="Arial"/>
                <a:cs typeface="Arial"/>
              </a:rPr>
              <a:t>ắ</a:t>
            </a:r>
            <a:r>
              <a:rPr dirty="0" sz="2100" spc="6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dirty="0" sz="2100" spc="-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65">
                <a:solidFill>
                  <a:srgbClr val="FFFFFF"/>
                </a:solidFill>
                <a:latin typeface="Lucida Sans Unicode"/>
                <a:cs typeface="Lucida Sans Unicode"/>
              </a:rPr>
              <a:t>thành</a:t>
            </a:r>
            <a:r>
              <a:rPr dirty="0" sz="210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Lucida Sans Unicode"/>
                <a:cs typeface="Lucida Sans Unicode"/>
              </a:rPr>
              <a:t>m</a:t>
            </a:r>
            <a:r>
              <a:rPr dirty="0" sz="2100" spc="-10">
                <a:solidFill>
                  <a:srgbClr val="FFFFFF"/>
                </a:solidFill>
                <a:latin typeface="Arial"/>
                <a:cs typeface="Arial"/>
              </a:rPr>
              <a:t>ả</a:t>
            </a:r>
            <a:r>
              <a:rPr dirty="0" sz="2100" spc="-10">
                <a:solidFill>
                  <a:srgbClr val="FFFFFF"/>
                </a:solidFill>
                <a:latin typeface="Lucida Sans Unicode"/>
                <a:cs typeface="Lucida Sans Unicode"/>
              </a:rPr>
              <a:t>ng:</a:t>
            </a:r>
            <a:endParaRPr sz="21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425945" y="839058"/>
            <a:ext cx="17907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65">
                <a:solidFill>
                  <a:srgbClr val="FFFFFF"/>
                </a:solidFill>
                <a:latin typeface="Lucida Sans Unicode"/>
                <a:cs typeface="Lucida Sans Unicode"/>
              </a:rPr>
              <a:t>2</a:t>
            </a:r>
            <a:endParaRPr sz="2100">
              <a:latin typeface="Lucida Sans Unicode"/>
              <a:cs typeface="Lucida Sans Unicode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10577" y="1515574"/>
            <a:ext cx="8582024" cy="856297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50"/>
              <a:t>Thao</a:t>
            </a:r>
            <a:r>
              <a:rPr dirty="0" spc="-105"/>
              <a:t> </a:t>
            </a:r>
            <a:r>
              <a:rPr dirty="0" spc="210"/>
              <a:t>tác</a:t>
            </a:r>
            <a:r>
              <a:rPr dirty="0" spc="-105"/>
              <a:t> </a:t>
            </a:r>
            <a:r>
              <a:rPr dirty="0"/>
              <a:t>M</a:t>
            </a:r>
            <a:r>
              <a:rPr dirty="0">
                <a:latin typeface="Arial"/>
                <a:cs typeface="Arial"/>
              </a:rPr>
              <a:t>ả</a:t>
            </a:r>
            <a:r>
              <a:rPr dirty="0"/>
              <a:t>ng</a:t>
            </a:r>
            <a:r>
              <a:rPr dirty="0" spc="-105"/>
              <a:t> </a:t>
            </a:r>
            <a:r>
              <a:rPr dirty="0" spc="114"/>
              <a:t>Nâng</a:t>
            </a:r>
            <a:r>
              <a:rPr dirty="0" spc="-105"/>
              <a:t> </a:t>
            </a:r>
            <a:r>
              <a:rPr dirty="0" spc="250"/>
              <a:t>cao</a:t>
            </a:r>
            <a:r>
              <a:rPr dirty="0" spc="-105"/>
              <a:t> </a:t>
            </a:r>
            <a:r>
              <a:rPr dirty="0" spc="180"/>
              <a:t>(Advanced</a:t>
            </a:r>
            <a:r>
              <a:rPr dirty="0" spc="-105"/>
              <a:t> </a:t>
            </a:r>
            <a:r>
              <a:rPr dirty="0"/>
              <a:t>Array</a:t>
            </a:r>
            <a:r>
              <a:rPr dirty="0" spc="-105"/>
              <a:t> </a:t>
            </a:r>
            <a:r>
              <a:rPr dirty="0" spc="70"/>
              <a:t>Manipulation)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425945" y="839058"/>
            <a:ext cx="17907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65">
                <a:solidFill>
                  <a:srgbClr val="FFFFFF"/>
                </a:solidFill>
                <a:latin typeface="Lucida Sans Unicode"/>
                <a:cs typeface="Lucida Sans Unicode"/>
              </a:rPr>
              <a:t>2</a:t>
            </a:r>
            <a:endParaRPr sz="2100">
              <a:latin typeface="Lucida Sans Unicode"/>
              <a:cs typeface="Lucida Sans Unicode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10577" y="1515574"/>
            <a:ext cx="8582024" cy="856297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50"/>
              <a:t>Thao</a:t>
            </a:r>
            <a:r>
              <a:rPr dirty="0" spc="-105"/>
              <a:t> </a:t>
            </a:r>
            <a:r>
              <a:rPr dirty="0" spc="210"/>
              <a:t>tác</a:t>
            </a:r>
            <a:r>
              <a:rPr dirty="0" spc="-105"/>
              <a:t> </a:t>
            </a:r>
            <a:r>
              <a:rPr dirty="0"/>
              <a:t>M</a:t>
            </a:r>
            <a:r>
              <a:rPr dirty="0">
                <a:latin typeface="Arial"/>
                <a:cs typeface="Arial"/>
              </a:rPr>
              <a:t>ả</a:t>
            </a:r>
            <a:r>
              <a:rPr dirty="0"/>
              <a:t>ng</a:t>
            </a:r>
            <a:r>
              <a:rPr dirty="0" spc="-105"/>
              <a:t> </a:t>
            </a:r>
            <a:r>
              <a:rPr dirty="0" spc="114"/>
              <a:t>Nâng</a:t>
            </a:r>
            <a:r>
              <a:rPr dirty="0" spc="-105"/>
              <a:t> </a:t>
            </a:r>
            <a:r>
              <a:rPr dirty="0" spc="250"/>
              <a:t>cao</a:t>
            </a:r>
            <a:r>
              <a:rPr dirty="0" spc="-105"/>
              <a:t> </a:t>
            </a:r>
            <a:r>
              <a:rPr dirty="0" spc="180"/>
              <a:t>(Advanced</a:t>
            </a:r>
            <a:r>
              <a:rPr dirty="0" spc="-105"/>
              <a:t> </a:t>
            </a:r>
            <a:r>
              <a:rPr dirty="0"/>
              <a:t>Array</a:t>
            </a:r>
            <a:r>
              <a:rPr dirty="0" spc="-105"/>
              <a:t> </a:t>
            </a:r>
            <a:r>
              <a:rPr dirty="0" spc="70"/>
              <a:t>Manipulation)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425945" y="839058"/>
            <a:ext cx="17907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65">
                <a:solidFill>
                  <a:srgbClr val="FFFFFF"/>
                </a:solidFill>
                <a:latin typeface="Lucida Sans Unicode"/>
                <a:cs typeface="Lucida Sans Unicode"/>
              </a:rPr>
              <a:t>2</a:t>
            </a:r>
            <a:endParaRPr sz="2100">
              <a:latin typeface="Lucida Sans Unicode"/>
              <a:cs typeface="Lucida Sans Unicode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10577" y="1515574"/>
            <a:ext cx="8582024" cy="856297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50"/>
              <a:t>Thao</a:t>
            </a:r>
            <a:r>
              <a:rPr dirty="0" spc="-105"/>
              <a:t> </a:t>
            </a:r>
            <a:r>
              <a:rPr dirty="0" spc="210"/>
              <a:t>tác</a:t>
            </a:r>
            <a:r>
              <a:rPr dirty="0" spc="-105"/>
              <a:t> </a:t>
            </a:r>
            <a:r>
              <a:rPr dirty="0"/>
              <a:t>M</a:t>
            </a:r>
            <a:r>
              <a:rPr dirty="0">
                <a:latin typeface="Arial"/>
                <a:cs typeface="Arial"/>
              </a:rPr>
              <a:t>ả</a:t>
            </a:r>
            <a:r>
              <a:rPr dirty="0"/>
              <a:t>ng</a:t>
            </a:r>
            <a:r>
              <a:rPr dirty="0" spc="-105"/>
              <a:t> </a:t>
            </a:r>
            <a:r>
              <a:rPr dirty="0" spc="114"/>
              <a:t>Nâng</a:t>
            </a:r>
            <a:r>
              <a:rPr dirty="0" spc="-105"/>
              <a:t> </a:t>
            </a:r>
            <a:r>
              <a:rPr dirty="0" spc="250"/>
              <a:t>cao</a:t>
            </a:r>
            <a:r>
              <a:rPr dirty="0" spc="-105"/>
              <a:t> </a:t>
            </a:r>
            <a:r>
              <a:rPr dirty="0" spc="180"/>
              <a:t>(Advanced</a:t>
            </a:r>
            <a:r>
              <a:rPr dirty="0" spc="-105"/>
              <a:t> </a:t>
            </a:r>
            <a:r>
              <a:rPr dirty="0"/>
              <a:t>Array</a:t>
            </a:r>
            <a:r>
              <a:rPr dirty="0" spc="-105"/>
              <a:t> </a:t>
            </a:r>
            <a:r>
              <a:rPr dirty="0" spc="70"/>
              <a:t>Manipulation)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9A898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1028699" y="541825"/>
            <a:ext cx="974090" cy="974090"/>
            <a:chOff x="1028699" y="541825"/>
            <a:chExt cx="974090" cy="974090"/>
          </a:xfrm>
        </p:grpSpPr>
        <p:sp>
          <p:nvSpPr>
            <p:cNvPr id="4" name="object 4" descr=""/>
            <p:cNvSpPr/>
            <p:nvPr/>
          </p:nvSpPr>
          <p:spPr>
            <a:xfrm>
              <a:off x="1028699" y="541825"/>
              <a:ext cx="974090" cy="974090"/>
            </a:xfrm>
            <a:custGeom>
              <a:avLst/>
              <a:gdLst/>
              <a:ahLst/>
              <a:cxnLst/>
              <a:rect l="l" t="t" r="r" b="b"/>
              <a:pathLst>
                <a:path w="974089" h="974090">
                  <a:moveTo>
                    <a:pt x="486874" y="973749"/>
                  </a:moveTo>
                  <a:lnTo>
                    <a:pt x="439985" y="971520"/>
                  </a:lnTo>
                  <a:lnTo>
                    <a:pt x="394357" y="964970"/>
                  </a:lnTo>
                  <a:lnTo>
                    <a:pt x="350194" y="954302"/>
                  </a:lnTo>
                  <a:lnTo>
                    <a:pt x="307699" y="939721"/>
                  </a:lnTo>
                  <a:lnTo>
                    <a:pt x="267078" y="921430"/>
                  </a:lnTo>
                  <a:lnTo>
                    <a:pt x="228535" y="899634"/>
                  </a:lnTo>
                  <a:lnTo>
                    <a:pt x="192272" y="874537"/>
                  </a:lnTo>
                  <a:lnTo>
                    <a:pt x="158495" y="846342"/>
                  </a:lnTo>
                  <a:lnTo>
                    <a:pt x="127407" y="815254"/>
                  </a:lnTo>
                  <a:lnTo>
                    <a:pt x="99212" y="781476"/>
                  </a:lnTo>
                  <a:lnTo>
                    <a:pt x="74114" y="745214"/>
                  </a:lnTo>
                  <a:lnTo>
                    <a:pt x="52318" y="706670"/>
                  </a:lnTo>
                  <a:lnTo>
                    <a:pt x="34028" y="666049"/>
                  </a:lnTo>
                  <a:lnTo>
                    <a:pt x="19446" y="623555"/>
                  </a:lnTo>
                  <a:lnTo>
                    <a:pt x="8779" y="579392"/>
                  </a:lnTo>
                  <a:lnTo>
                    <a:pt x="2228" y="533764"/>
                  </a:lnTo>
                  <a:lnTo>
                    <a:pt x="0" y="486874"/>
                  </a:lnTo>
                  <a:lnTo>
                    <a:pt x="2228" y="439985"/>
                  </a:lnTo>
                  <a:lnTo>
                    <a:pt x="8779" y="394357"/>
                  </a:lnTo>
                  <a:lnTo>
                    <a:pt x="19446" y="350194"/>
                  </a:lnTo>
                  <a:lnTo>
                    <a:pt x="34028" y="307699"/>
                  </a:lnTo>
                  <a:lnTo>
                    <a:pt x="52318" y="267078"/>
                  </a:lnTo>
                  <a:lnTo>
                    <a:pt x="74114" y="228535"/>
                  </a:lnTo>
                  <a:lnTo>
                    <a:pt x="99212" y="192272"/>
                  </a:lnTo>
                  <a:lnTo>
                    <a:pt x="127407" y="158495"/>
                  </a:lnTo>
                  <a:lnTo>
                    <a:pt x="158495" y="127407"/>
                  </a:lnTo>
                  <a:lnTo>
                    <a:pt x="192272" y="99212"/>
                  </a:lnTo>
                  <a:lnTo>
                    <a:pt x="228535" y="74114"/>
                  </a:lnTo>
                  <a:lnTo>
                    <a:pt x="267078" y="52318"/>
                  </a:lnTo>
                  <a:lnTo>
                    <a:pt x="307699" y="34028"/>
                  </a:lnTo>
                  <a:lnTo>
                    <a:pt x="350194" y="19446"/>
                  </a:lnTo>
                  <a:lnTo>
                    <a:pt x="394357" y="8779"/>
                  </a:lnTo>
                  <a:lnTo>
                    <a:pt x="439985" y="2228"/>
                  </a:lnTo>
                  <a:lnTo>
                    <a:pt x="486874" y="0"/>
                  </a:lnTo>
                  <a:lnTo>
                    <a:pt x="533764" y="2228"/>
                  </a:lnTo>
                  <a:lnTo>
                    <a:pt x="579392" y="8779"/>
                  </a:lnTo>
                  <a:lnTo>
                    <a:pt x="623555" y="19446"/>
                  </a:lnTo>
                  <a:lnTo>
                    <a:pt x="666049" y="34028"/>
                  </a:lnTo>
                  <a:lnTo>
                    <a:pt x="706670" y="52318"/>
                  </a:lnTo>
                  <a:lnTo>
                    <a:pt x="745214" y="74114"/>
                  </a:lnTo>
                  <a:lnTo>
                    <a:pt x="781476" y="99212"/>
                  </a:lnTo>
                  <a:lnTo>
                    <a:pt x="815254" y="127407"/>
                  </a:lnTo>
                  <a:lnTo>
                    <a:pt x="846342" y="158495"/>
                  </a:lnTo>
                  <a:lnTo>
                    <a:pt x="874537" y="192272"/>
                  </a:lnTo>
                  <a:lnTo>
                    <a:pt x="899634" y="228535"/>
                  </a:lnTo>
                  <a:lnTo>
                    <a:pt x="921430" y="267078"/>
                  </a:lnTo>
                  <a:lnTo>
                    <a:pt x="939721" y="307699"/>
                  </a:lnTo>
                  <a:lnTo>
                    <a:pt x="954302" y="350194"/>
                  </a:lnTo>
                  <a:lnTo>
                    <a:pt x="964970" y="394357"/>
                  </a:lnTo>
                  <a:lnTo>
                    <a:pt x="971520" y="439985"/>
                  </a:lnTo>
                  <a:lnTo>
                    <a:pt x="973749" y="486874"/>
                  </a:lnTo>
                  <a:lnTo>
                    <a:pt x="971520" y="533764"/>
                  </a:lnTo>
                  <a:lnTo>
                    <a:pt x="964970" y="579392"/>
                  </a:lnTo>
                  <a:lnTo>
                    <a:pt x="954302" y="623555"/>
                  </a:lnTo>
                  <a:lnTo>
                    <a:pt x="939721" y="666049"/>
                  </a:lnTo>
                  <a:lnTo>
                    <a:pt x="921430" y="706670"/>
                  </a:lnTo>
                  <a:lnTo>
                    <a:pt x="899634" y="745214"/>
                  </a:lnTo>
                  <a:lnTo>
                    <a:pt x="874537" y="781476"/>
                  </a:lnTo>
                  <a:lnTo>
                    <a:pt x="846342" y="815254"/>
                  </a:lnTo>
                  <a:lnTo>
                    <a:pt x="815254" y="846342"/>
                  </a:lnTo>
                  <a:lnTo>
                    <a:pt x="781476" y="874537"/>
                  </a:lnTo>
                  <a:lnTo>
                    <a:pt x="745214" y="899634"/>
                  </a:lnTo>
                  <a:lnTo>
                    <a:pt x="706670" y="921430"/>
                  </a:lnTo>
                  <a:lnTo>
                    <a:pt x="666049" y="939721"/>
                  </a:lnTo>
                  <a:lnTo>
                    <a:pt x="623555" y="954302"/>
                  </a:lnTo>
                  <a:lnTo>
                    <a:pt x="579392" y="964970"/>
                  </a:lnTo>
                  <a:lnTo>
                    <a:pt x="533764" y="971520"/>
                  </a:lnTo>
                  <a:lnTo>
                    <a:pt x="486874" y="973749"/>
                  </a:lnTo>
                  <a:close/>
                </a:path>
              </a:pathLst>
            </a:custGeom>
            <a:solidFill>
              <a:srgbClr val="32322F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119558" y="632682"/>
              <a:ext cx="792480" cy="792480"/>
            </a:xfrm>
            <a:custGeom>
              <a:avLst/>
              <a:gdLst/>
              <a:ahLst/>
              <a:cxnLst/>
              <a:rect l="l" t="t" r="r" b="b"/>
              <a:pathLst>
                <a:path w="792480" h="792480">
                  <a:moveTo>
                    <a:pt x="396016" y="792033"/>
                  </a:moveTo>
                  <a:lnTo>
                    <a:pt x="349832" y="789369"/>
                  </a:lnTo>
                  <a:lnTo>
                    <a:pt x="305213" y="781574"/>
                  </a:lnTo>
                  <a:lnTo>
                    <a:pt x="262456" y="768946"/>
                  </a:lnTo>
                  <a:lnTo>
                    <a:pt x="221858" y="751781"/>
                  </a:lnTo>
                  <a:lnTo>
                    <a:pt x="183716" y="730378"/>
                  </a:lnTo>
                  <a:lnTo>
                    <a:pt x="148328" y="705033"/>
                  </a:lnTo>
                  <a:lnTo>
                    <a:pt x="115990" y="676042"/>
                  </a:lnTo>
                  <a:lnTo>
                    <a:pt x="87000" y="643705"/>
                  </a:lnTo>
                  <a:lnTo>
                    <a:pt x="61655" y="608316"/>
                  </a:lnTo>
                  <a:lnTo>
                    <a:pt x="40251" y="570174"/>
                  </a:lnTo>
                  <a:lnTo>
                    <a:pt x="23087" y="529576"/>
                  </a:lnTo>
                  <a:lnTo>
                    <a:pt x="10459" y="486819"/>
                  </a:lnTo>
                  <a:lnTo>
                    <a:pt x="2664" y="442200"/>
                  </a:lnTo>
                  <a:lnTo>
                    <a:pt x="0" y="396016"/>
                  </a:lnTo>
                  <a:lnTo>
                    <a:pt x="2664" y="349832"/>
                  </a:lnTo>
                  <a:lnTo>
                    <a:pt x="10459" y="305213"/>
                  </a:lnTo>
                  <a:lnTo>
                    <a:pt x="23087" y="262456"/>
                  </a:lnTo>
                  <a:lnTo>
                    <a:pt x="40251" y="221858"/>
                  </a:lnTo>
                  <a:lnTo>
                    <a:pt x="61655" y="183716"/>
                  </a:lnTo>
                  <a:lnTo>
                    <a:pt x="87000" y="148328"/>
                  </a:lnTo>
                  <a:lnTo>
                    <a:pt x="115990" y="115990"/>
                  </a:lnTo>
                  <a:lnTo>
                    <a:pt x="148328" y="87000"/>
                  </a:lnTo>
                  <a:lnTo>
                    <a:pt x="183716" y="61655"/>
                  </a:lnTo>
                  <a:lnTo>
                    <a:pt x="221858" y="40251"/>
                  </a:lnTo>
                  <a:lnTo>
                    <a:pt x="262456" y="23087"/>
                  </a:lnTo>
                  <a:lnTo>
                    <a:pt x="305213" y="10459"/>
                  </a:lnTo>
                  <a:lnTo>
                    <a:pt x="349832" y="2664"/>
                  </a:lnTo>
                  <a:lnTo>
                    <a:pt x="396016" y="0"/>
                  </a:lnTo>
                  <a:lnTo>
                    <a:pt x="442200" y="2664"/>
                  </a:lnTo>
                  <a:lnTo>
                    <a:pt x="486819" y="10459"/>
                  </a:lnTo>
                  <a:lnTo>
                    <a:pt x="529577" y="23087"/>
                  </a:lnTo>
                  <a:lnTo>
                    <a:pt x="570175" y="40251"/>
                  </a:lnTo>
                  <a:lnTo>
                    <a:pt x="608316" y="61655"/>
                  </a:lnTo>
                  <a:lnTo>
                    <a:pt x="643705" y="87000"/>
                  </a:lnTo>
                  <a:lnTo>
                    <a:pt x="676043" y="115990"/>
                  </a:lnTo>
                  <a:lnTo>
                    <a:pt x="705033" y="148328"/>
                  </a:lnTo>
                  <a:lnTo>
                    <a:pt x="730378" y="183716"/>
                  </a:lnTo>
                  <a:lnTo>
                    <a:pt x="751782" y="221858"/>
                  </a:lnTo>
                  <a:lnTo>
                    <a:pt x="768946" y="262456"/>
                  </a:lnTo>
                  <a:lnTo>
                    <a:pt x="781574" y="305213"/>
                  </a:lnTo>
                  <a:lnTo>
                    <a:pt x="789369" y="349832"/>
                  </a:lnTo>
                  <a:lnTo>
                    <a:pt x="792033" y="396016"/>
                  </a:lnTo>
                  <a:lnTo>
                    <a:pt x="789369" y="442200"/>
                  </a:lnTo>
                  <a:lnTo>
                    <a:pt x="781574" y="486819"/>
                  </a:lnTo>
                  <a:lnTo>
                    <a:pt x="768946" y="529576"/>
                  </a:lnTo>
                  <a:lnTo>
                    <a:pt x="751782" y="570174"/>
                  </a:lnTo>
                  <a:lnTo>
                    <a:pt x="730378" y="608316"/>
                  </a:lnTo>
                  <a:lnTo>
                    <a:pt x="705033" y="643705"/>
                  </a:lnTo>
                  <a:lnTo>
                    <a:pt x="676043" y="676042"/>
                  </a:lnTo>
                  <a:lnTo>
                    <a:pt x="643705" y="705033"/>
                  </a:lnTo>
                  <a:lnTo>
                    <a:pt x="608316" y="730378"/>
                  </a:lnTo>
                  <a:lnTo>
                    <a:pt x="570175" y="751781"/>
                  </a:lnTo>
                  <a:lnTo>
                    <a:pt x="529577" y="768946"/>
                  </a:lnTo>
                  <a:lnTo>
                    <a:pt x="486819" y="781574"/>
                  </a:lnTo>
                  <a:lnTo>
                    <a:pt x="442200" y="789369"/>
                  </a:lnTo>
                  <a:lnTo>
                    <a:pt x="396016" y="792033"/>
                  </a:lnTo>
                  <a:close/>
                </a:path>
              </a:pathLst>
            </a:custGeom>
            <a:solidFill>
              <a:srgbClr val="32322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425945" y="839058"/>
            <a:ext cx="17907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65">
                <a:solidFill>
                  <a:srgbClr val="FFFFFF"/>
                </a:solidFill>
                <a:latin typeface="Lucida Sans Unicode"/>
                <a:cs typeface="Lucida Sans Unicode"/>
              </a:rPr>
              <a:t>2</a:t>
            </a:r>
            <a:endParaRPr sz="21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50"/>
              <a:t>Thao</a:t>
            </a:r>
            <a:r>
              <a:rPr dirty="0" spc="-105"/>
              <a:t> </a:t>
            </a:r>
            <a:r>
              <a:rPr dirty="0" spc="210"/>
              <a:t>tác</a:t>
            </a:r>
            <a:r>
              <a:rPr dirty="0" spc="-105"/>
              <a:t> </a:t>
            </a:r>
            <a:r>
              <a:rPr dirty="0"/>
              <a:t>M</a:t>
            </a:r>
            <a:r>
              <a:rPr dirty="0">
                <a:latin typeface="Arial"/>
                <a:cs typeface="Arial"/>
              </a:rPr>
              <a:t>ả</a:t>
            </a:r>
            <a:r>
              <a:rPr dirty="0"/>
              <a:t>ng</a:t>
            </a:r>
            <a:r>
              <a:rPr dirty="0" spc="-105"/>
              <a:t> </a:t>
            </a:r>
            <a:r>
              <a:rPr dirty="0" spc="114"/>
              <a:t>Nâng</a:t>
            </a:r>
            <a:r>
              <a:rPr dirty="0" spc="-105"/>
              <a:t> </a:t>
            </a:r>
            <a:r>
              <a:rPr dirty="0" spc="250"/>
              <a:t>cao</a:t>
            </a:r>
            <a:r>
              <a:rPr dirty="0" spc="-105"/>
              <a:t> </a:t>
            </a:r>
            <a:r>
              <a:rPr dirty="0" spc="180"/>
              <a:t>(Advanced</a:t>
            </a:r>
            <a:r>
              <a:rPr dirty="0" spc="-105"/>
              <a:t> </a:t>
            </a:r>
            <a:r>
              <a:rPr dirty="0"/>
              <a:t>Array</a:t>
            </a:r>
            <a:r>
              <a:rPr dirty="0" spc="-105"/>
              <a:t> </a:t>
            </a:r>
            <a:r>
              <a:rPr dirty="0" spc="70"/>
              <a:t>Manipulation)</a:t>
            </a:r>
          </a:p>
        </p:txBody>
      </p:sp>
      <p:sp>
        <p:nvSpPr>
          <p:cNvPr id="8" name="object 8" descr=""/>
          <p:cNvSpPr/>
          <p:nvPr/>
        </p:nvSpPr>
        <p:spPr>
          <a:xfrm>
            <a:off x="2950557" y="2218730"/>
            <a:ext cx="27305" cy="38100"/>
          </a:xfrm>
          <a:custGeom>
            <a:avLst/>
            <a:gdLst/>
            <a:ahLst/>
            <a:cxnLst/>
            <a:rect l="l" t="t" r="r" b="b"/>
            <a:pathLst>
              <a:path w="27305" h="38100">
                <a:moveTo>
                  <a:pt x="27266" y="38099"/>
                </a:moveTo>
                <a:lnTo>
                  <a:pt x="0" y="38099"/>
                </a:lnTo>
                <a:lnTo>
                  <a:pt x="0" y="0"/>
                </a:lnTo>
                <a:lnTo>
                  <a:pt x="27266" y="0"/>
                </a:lnTo>
                <a:lnTo>
                  <a:pt x="27266" y="380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5216598" y="2218730"/>
            <a:ext cx="46990" cy="38100"/>
          </a:xfrm>
          <a:custGeom>
            <a:avLst/>
            <a:gdLst/>
            <a:ahLst/>
            <a:cxnLst/>
            <a:rect l="l" t="t" r="r" b="b"/>
            <a:pathLst>
              <a:path w="46989" h="38100">
                <a:moveTo>
                  <a:pt x="46890" y="38099"/>
                </a:moveTo>
                <a:lnTo>
                  <a:pt x="0" y="38099"/>
                </a:lnTo>
                <a:lnTo>
                  <a:pt x="0" y="0"/>
                </a:lnTo>
                <a:lnTo>
                  <a:pt x="46890" y="0"/>
                </a:lnTo>
                <a:lnTo>
                  <a:pt x="46890" y="380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6975872" y="2218730"/>
            <a:ext cx="27305" cy="38100"/>
          </a:xfrm>
          <a:custGeom>
            <a:avLst/>
            <a:gdLst/>
            <a:ahLst/>
            <a:cxnLst/>
            <a:rect l="l" t="t" r="r" b="b"/>
            <a:pathLst>
              <a:path w="27304" h="38100">
                <a:moveTo>
                  <a:pt x="27266" y="38099"/>
                </a:moveTo>
                <a:lnTo>
                  <a:pt x="0" y="38099"/>
                </a:lnTo>
                <a:lnTo>
                  <a:pt x="0" y="0"/>
                </a:lnTo>
                <a:lnTo>
                  <a:pt x="27266" y="0"/>
                </a:lnTo>
                <a:lnTo>
                  <a:pt x="27266" y="380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1" name="object 1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3541" y="2571155"/>
            <a:ext cx="152400" cy="152399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3541" y="4371380"/>
            <a:ext cx="152400" cy="152399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3541" y="6171605"/>
            <a:ext cx="152400" cy="152399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3541" y="6771680"/>
            <a:ext cx="152400" cy="152399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409366" y="1663734"/>
            <a:ext cx="16863060" cy="722630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dirty="0" u="heavy" sz="3400" spc="-180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Các</a:t>
            </a:r>
            <a:r>
              <a:rPr dirty="0" u="none" sz="3400" spc="-6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u="none" sz="3400" spc="-750" b="1" i="1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dirty="0" u="heavy" sz="3400" spc="-235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3400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ếu</a:t>
            </a:r>
            <a:r>
              <a:rPr dirty="0" u="heavy" sz="3400" spc="-60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3400" spc="70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tố</a:t>
            </a:r>
            <a:r>
              <a:rPr dirty="0" u="heavy" sz="3400" spc="-55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3400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l</a:t>
            </a:r>
            <a:r>
              <a:rPr dirty="0" u="none" sz="3400" b="1" i="1">
                <a:solidFill>
                  <a:srgbClr val="FFFFFF"/>
                </a:solidFill>
                <a:latin typeface="Arial"/>
                <a:cs typeface="Arial"/>
              </a:rPr>
              <a:t>ặ</a:t>
            </a:r>
            <a:r>
              <a:rPr dirty="0" u="heavy" sz="3400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p</a:t>
            </a:r>
            <a:r>
              <a:rPr dirty="0" u="heavy" sz="3400" spc="-60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3400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lại:</a:t>
            </a:r>
            <a:r>
              <a:rPr dirty="0" u="heavy" sz="3400" spc="-60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3400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xếp</a:t>
            </a:r>
            <a:r>
              <a:rPr dirty="0" u="none" sz="3400" spc="-6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u="none" sz="3400" spc="10" b="1" i="1">
                <a:solidFill>
                  <a:srgbClr val="FFFFFF"/>
                </a:solidFill>
                <a:latin typeface="Arial"/>
                <a:cs typeface="Arial"/>
              </a:rPr>
              <a:t>g</a:t>
            </a:r>
            <a:r>
              <a:rPr dirty="0" u="none" sz="3400" spc="-555" b="1" i="1">
                <a:solidFill>
                  <a:srgbClr val="FFFFFF"/>
                </a:solidFill>
                <a:latin typeface="Arial"/>
                <a:cs typeface="Arial"/>
              </a:rPr>
              <a:t>ạ</a:t>
            </a:r>
            <a:r>
              <a:rPr dirty="0" u="heavy" sz="3400" spc="-370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3400" spc="-145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ch</a:t>
            </a:r>
            <a:r>
              <a:rPr dirty="0" u="heavy" sz="3400" spc="-60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3400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và</a:t>
            </a:r>
            <a:r>
              <a:rPr dirty="0" u="heavy" sz="3400" spc="-60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3400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l</a:t>
            </a:r>
            <a:r>
              <a:rPr dirty="0" u="none" sz="3400" b="1" i="1">
                <a:solidFill>
                  <a:srgbClr val="FFFFFF"/>
                </a:solidFill>
                <a:latin typeface="Arial"/>
                <a:cs typeface="Arial"/>
              </a:rPr>
              <a:t>ặ</a:t>
            </a:r>
            <a:r>
              <a:rPr dirty="0" u="heavy" sz="3400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p</a:t>
            </a:r>
            <a:r>
              <a:rPr dirty="0" u="heavy" sz="3400" spc="-60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3400" spc="55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lại</a:t>
            </a:r>
            <a:endParaRPr sz="3400">
              <a:latin typeface="Arial"/>
              <a:cs typeface="Arial"/>
            </a:endParaRPr>
          </a:p>
          <a:p>
            <a:pPr algn="just" marL="746125" marR="5080">
              <a:lnSpc>
                <a:spcPct val="115799"/>
              </a:lnSpc>
            </a:pPr>
            <a:r>
              <a:rPr dirty="0" sz="3400" spc="135">
                <a:solidFill>
                  <a:srgbClr val="FFFFFF"/>
                </a:solidFill>
                <a:latin typeface="Tahoma"/>
                <a:cs typeface="Tahoma"/>
              </a:rPr>
              <a:t>Hai</a:t>
            </a:r>
            <a:r>
              <a:rPr dirty="0" sz="3400" spc="-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5">
                <a:solidFill>
                  <a:srgbClr val="FFFFFF"/>
                </a:solidFill>
                <a:latin typeface="Tahoma"/>
                <a:cs typeface="Tahoma"/>
              </a:rPr>
              <a:t>công</a:t>
            </a:r>
            <a:r>
              <a:rPr dirty="0" sz="3400" spc="-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4">
                <a:solidFill>
                  <a:srgbClr val="FFFFFF"/>
                </a:solidFill>
                <a:latin typeface="Tahoma"/>
                <a:cs typeface="Tahoma"/>
              </a:rPr>
              <a:t>cụ</a:t>
            </a:r>
            <a:r>
              <a:rPr dirty="0" sz="3400" spc="-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5">
                <a:solidFill>
                  <a:srgbClr val="FFFFFF"/>
                </a:solidFill>
                <a:latin typeface="Tahoma"/>
                <a:cs typeface="Tahoma"/>
              </a:rPr>
              <a:t>hữu</a:t>
            </a:r>
            <a:r>
              <a:rPr dirty="0" sz="3400" spc="-1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0">
                <a:solidFill>
                  <a:srgbClr val="FFFFFF"/>
                </a:solidFill>
                <a:latin typeface="Tahoma"/>
                <a:cs typeface="Tahoma"/>
              </a:rPr>
              <a:t>ích</a:t>
            </a:r>
            <a:r>
              <a:rPr dirty="0" sz="3400" spc="-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để</a:t>
            </a:r>
            <a:r>
              <a:rPr dirty="0" sz="3400" spc="-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5">
                <a:solidFill>
                  <a:srgbClr val="FFFFFF"/>
                </a:solidFill>
                <a:latin typeface="Tahoma"/>
                <a:cs typeface="Tahoma"/>
              </a:rPr>
              <a:t>lặp</a:t>
            </a:r>
            <a:r>
              <a:rPr dirty="0" sz="3400" spc="-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0">
                <a:solidFill>
                  <a:srgbClr val="FFFFFF"/>
                </a:solidFill>
                <a:latin typeface="Tahoma"/>
                <a:cs typeface="Tahoma"/>
              </a:rPr>
              <a:t>lại</a:t>
            </a:r>
            <a:r>
              <a:rPr dirty="0" sz="3400" spc="-1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0">
                <a:solidFill>
                  <a:srgbClr val="FFFFFF"/>
                </a:solidFill>
                <a:latin typeface="Tahoma"/>
                <a:cs typeface="Tahoma"/>
              </a:rPr>
              <a:t>hoặc</a:t>
            </a:r>
            <a:r>
              <a:rPr dirty="0" sz="3400" spc="-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5">
                <a:solidFill>
                  <a:srgbClr val="FFFFFF"/>
                </a:solidFill>
                <a:latin typeface="Tahoma"/>
                <a:cs typeface="Tahoma"/>
              </a:rPr>
              <a:t>sao</a:t>
            </a:r>
            <a:r>
              <a:rPr dirty="0" sz="3400" spc="-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5">
                <a:solidFill>
                  <a:srgbClr val="FFFFFF"/>
                </a:solidFill>
                <a:latin typeface="Tahoma"/>
                <a:cs typeface="Tahoma"/>
              </a:rPr>
              <a:t>chép</a:t>
            </a:r>
            <a:r>
              <a:rPr dirty="0" sz="3400" spc="-1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0">
                <a:solidFill>
                  <a:srgbClr val="FFFFFF"/>
                </a:solidFill>
                <a:latin typeface="Tahoma"/>
                <a:cs typeface="Tahoma"/>
              </a:rPr>
              <a:t>các</a:t>
            </a:r>
            <a:r>
              <a:rPr dirty="0" sz="3400" spc="-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00">
                <a:solidFill>
                  <a:srgbClr val="FFFFFF"/>
                </a:solidFill>
                <a:latin typeface="Tahoma"/>
                <a:cs typeface="Tahoma"/>
              </a:rPr>
              <a:t>mảng</a:t>
            </a:r>
            <a:r>
              <a:rPr dirty="0" sz="3400" spc="-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để</a:t>
            </a:r>
            <a:r>
              <a:rPr dirty="0" sz="3400" spc="-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tạo</a:t>
            </a:r>
            <a:r>
              <a:rPr dirty="0" sz="3400" spc="-1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5">
                <a:solidFill>
                  <a:srgbClr val="FFFFFF"/>
                </a:solidFill>
                <a:latin typeface="Tahoma"/>
                <a:cs typeface="Tahoma"/>
              </a:rPr>
              <a:t>ra</a:t>
            </a:r>
            <a:r>
              <a:rPr dirty="0" sz="3400" spc="-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0">
                <a:solidFill>
                  <a:srgbClr val="FFFFFF"/>
                </a:solidFill>
                <a:latin typeface="Tahoma"/>
                <a:cs typeface="Tahoma"/>
              </a:rPr>
              <a:t>các</a:t>
            </a:r>
            <a:r>
              <a:rPr dirty="0" sz="3400" spc="-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00">
                <a:solidFill>
                  <a:srgbClr val="FFFFFF"/>
                </a:solidFill>
                <a:latin typeface="Tahoma"/>
                <a:cs typeface="Tahoma"/>
              </a:rPr>
              <a:t>mảng</a:t>
            </a:r>
            <a:r>
              <a:rPr dirty="0" sz="3400" spc="-1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lớn </a:t>
            </a:r>
            <a:r>
              <a:rPr dirty="0" sz="3400" spc="180">
                <a:solidFill>
                  <a:srgbClr val="FFFFFF"/>
                </a:solidFill>
                <a:latin typeface="Tahoma"/>
                <a:cs typeface="Tahoma"/>
              </a:rPr>
              <a:t>hơn</a:t>
            </a:r>
            <a:r>
              <a:rPr dirty="0" sz="3400" spc="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0">
                <a:solidFill>
                  <a:srgbClr val="FFFFFF"/>
                </a:solidFill>
                <a:latin typeface="Tahoma"/>
                <a:cs typeface="Tahoma"/>
              </a:rPr>
              <a:t>là</a:t>
            </a:r>
            <a:r>
              <a:rPr dirty="0" sz="3400" spc="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0">
                <a:solidFill>
                  <a:srgbClr val="FFFFFF"/>
                </a:solidFill>
                <a:latin typeface="Tahoma"/>
                <a:cs typeface="Tahoma"/>
              </a:rPr>
              <a:t>các</a:t>
            </a:r>
            <a:r>
              <a:rPr dirty="0" sz="3400" spc="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00">
                <a:solidFill>
                  <a:srgbClr val="FFFFFF"/>
                </a:solidFill>
                <a:latin typeface="Tahoma"/>
                <a:cs typeface="Tahoma"/>
              </a:rPr>
              <a:t>hàm</a:t>
            </a:r>
            <a:r>
              <a:rPr dirty="0" sz="3400" spc="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0">
                <a:solidFill>
                  <a:srgbClr val="FFFFFF"/>
                </a:solidFill>
                <a:latin typeface="Tahoma"/>
                <a:cs typeface="Tahoma"/>
              </a:rPr>
              <a:t>repeat</a:t>
            </a:r>
            <a:r>
              <a:rPr dirty="0" sz="3400" spc="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5">
                <a:solidFill>
                  <a:srgbClr val="FFFFFF"/>
                </a:solidFill>
                <a:latin typeface="Tahoma"/>
                <a:cs typeface="Tahoma"/>
              </a:rPr>
              <a:t>và</a:t>
            </a:r>
            <a:r>
              <a:rPr dirty="0" sz="3400" spc="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50">
                <a:solidFill>
                  <a:srgbClr val="FFFFFF"/>
                </a:solidFill>
                <a:latin typeface="Tahoma"/>
                <a:cs typeface="Tahoma"/>
              </a:rPr>
              <a:t>tile.</a:t>
            </a:r>
            <a:r>
              <a:rPr dirty="0" sz="3400" spc="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0">
                <a:solidFill>
                  <a:srgbClr val="FFFFFF"/>
                </a:solidFill>
                <a:latin typeface="Tahoma"/>
                <a:cs typeface="Tahoma"/>
              </a:rPr>
              <a:t>repeat</a:t>
            </a:r>
            <a:r>
              <a:rPr dirty="0" sz="3400" spc="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5">
                <a:solidFill>
                  <a:srgbClr val="FFFFFF"/>
                </a:solidFill>
                <a:latin typeface="Tahoma"/>
                <a:cs typeface="Tahoma"/>
              </a:rPr>
              <a:t>sao</a:t>
            </a:r>
            <a:r>
              <a:rPr dirty="0" sz="3400" spc="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5">
                <a:solidFill>
                  <a:srgbClr val="FFFFFF"/>
                </a:solidFill>
                <a:latin typeface="Tahoma"/>
                <a:cs typeface="Tahoma"/>
              </a:rPr>
              <a:t>chép</a:t>
            </a:r>
            <a:r>
              <a:rPr dirty="0" sz="3400" spc="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70">
                <a:solidFill>
                  <a:srgbClr val="FFFFFF"/>
                </a:solidFill>
                <a:latin typeface="Tahoma"/>
                <a:cs typeface="Tahoma"/>
              </a:rPr>
              <a:t>từng</a:t>
            </a:r>
            <a:r>
              <a:rPr dirty="0" sz="3400" spc="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5">
                <a:solidFill>
                  <a:srgbClr val="FFFFFF"/>
                </a:solidFill>
                <a:latin typeface="Tahoma"/>
                <a:cs typeface="Tahoma"/>
              </a:rPr>
              <a:t>phần</a:t>
            </a:r>
            <a:r>
              <a:rPr dirty="0" sz="3400" spc="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tử</a:t>
            </a:r>
            <a:r>
              <a:rPr dirty="0" sz="3400" spc="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5">
                <a:solidFill>
                  <a:srgbClr val="FFFFFF"/>
                </a:solidFill>
                <a:latin typeface="Tahoma"/>
                <a:cs typeface="Tahoma"/>
              </a:rPr>
              <a:t>trong</a:t>
            </a:r>
            <a:r>
              <a:rPr dirty="0" sz="3400" spc="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5">
                <a:solidFill>
                  <a:srgbClr val="FFFFFF"/>
                </a:solidFill>
                <a:latin typeface="Tahoma"/>
                <a:cs typeface="Tahoma"/>
              </a:rPr>
              <a:t>một</a:t>
            </a:r>
            <a:r>
              <a:rPr dirty="0" sz="3400" spc="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80">
                <a:solidFill>
                  <a:srgbClr val="FFFFFF"/>
                </a:solidFill>
                <a:latin typeface="Tahoma"/>
                <a:cs typeface="Tahoma"/>
              </a:rPr>
              <a:t>mảng </a:t>
            </a:r>
            <a:r>
              <a:rPr dirty="0" sz="3400" spc="155">
                <a:solidFill>
                  <a:srgbClr val="FFFFFF"/>
                </a:solidFill>
                <a:latin typeface="Tahoma"/>
                <a:cs typeface="Tahoma"/>
              </a:rPr>
              <a:t>nhiều</a:t>
            </a:r>
            <a:r>
              <a:rPr dirty="0" sz="3400" spc="-1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5">
                <a:solidFill>
                  <a:srgbClr val="FFFFFF"/>
                </a:solidFill>
                <a:latin typeface="Tahoma"/>
                <a:cs typeface="Tahoma"/>
              </a:rPr>
              <a:t>lần,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tạo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5">
                <a:solidFill>
                  <a:srgbClr val="FFFFFF"/>
                </a:solidFill>
                <a:latin typeface="Tahoma"/>
                <a:cs typeface="Tahoma"/>
              </a:rPr>
              <a:t>ra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5">
                <a:solidFill>
                  <a:srgbClr val="FFFFFF"/>
                </a:solidFill>
                <a:latin typeface="Tahoma"/>
                <a:cs typeface="Tahoma"/>
              </a:rPr>
              <a:t>một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00">
                <a:solidFill>
                  <a:srgbClr val="FFFFFF"/>
                </a:solidFill>
                <a:latin typeface="Tahoma"/>
                <a:cs typeface="Tahoma"/>
              </a:rPr>
              <a:t>mảng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lớn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35">
                <a:solidFill>
                  <a:srgbClr val="FFFFFF"/>
                </a:solidFill>
                <a:latin typeface="Tahoma"/>
                <a:cs typeface="Tahoma"/>
              </a:rPr>
              <a:t>hơn:</a:t>
            </a:r>
            <a:endParaRPr sz="3400">
              <a:latin typeface="Tahoma"/>
              <a:cs typeface="Tahoma"/>
            </a:endParaRPr>
          </a:p>
          <a:p>
            <a:pPr algn="just" marL="746125" marR="5080">
              <a:lnSpc>
                <a:spcPct val="115799"/>
              </a:lnSpc>
            </a:pPr>
            <a:r>
              <a:rPr dirty="0" sz="3400" spc="100">
                <a:solidFill>
                  <a:srgbClr val="FFFFFF"/>
                </a:solidFill>
                <a:latin typeface="Tahoma"/>
                <a:cs typeface="Tahoma"/>
              </a:rPr>
              <a:t>Theo</a:t>
            </a:r>
            <a:r>
              <a:rPr dirty="0" sz="3400" spc="-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mặc</a:t>
            </a:r>
            <a:r>
              <a:rPr dirty="0" sz="3400" spc="-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95">
                <a:solidFill>
                  <a:srgbClr val="FFFFFF"/>
                </a:solidFill>
                <a:latin typeface="Tahoma"/>
                <a:cs typeface="Tahoma"/>
              </a:rPr>
              <a:t>định,</a:t>
            </a:r>
            <a:r>
              <a:rPr dirty="0" sz="3400" spc="-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5">
                <a:solidFill>
                  <a:srgbClr val="FFFFFF"/>
                </a:solidFill>
                <a:latin typeface="Tahoma"/>
                <a:cs typeface="Tahoma"/>
              </a:rPr>
              <a:t>nếu</a:t>
            </a:r>
            <a:r>
              <a:rPr dirty="0" sz="3400" spc="-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0">
                <a:solidFill>
                  <a:srgbClr val="FFFFFF"/>
                </a:solidFill>
                <a:latin typeface="Tahoma"/>
                <a:cs typeface="Tahoma"/>
              </a:rPr>
              <a:t>bạn</a:t>
            </a:r>
            <a:r>
              <a:rPr dirty="0" sz="3400" spc="-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truyền</a:t>
            </a:r>
            <a:r>
              <a:rPr dirty="0" sz="3400" spc="-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5">
                <a:solidFill>
                  <a:srgbClr val="FFFFFF"/>
                </a:solidFill>
                <a:latin typeface="Tahoma"/>
                <a:cs typeface="Tahoma"/>
              </a:rPr>
              <a:t>một</a:t>
            </a:r>
            <a:r>
              <a:rPr dirty="0" sz="3400" spc="-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số</a:t>
            </a:r>
            <a:r>
              <a:rPr dirty="0" sz="3400" spc="-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0">
                <a:solidFill>
                  <a:srgbClr val="FFFFFF"/>
                </a:solidFill>
                <a:latin typeface="Tahoma"/>
                <a:cs typeface="Tahoma"/>
              </a:rPr>
              <a:t>nguyên,</a:t>
            </a:r>
            <a:r>
              <a:rPr dirty="0" sz="3400" spc="-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00">
                <a:solidFill>
                  <a:srgbClr val="FFFFFF"/>
                </a:solidFill>
                <a:latin typeface="Tahoma"/>
                <a:cs typeface="Tahoma"/>
              </a:rPr>
              <a:t>mỗi</a:t>
            </a:r>
            <a:r>
              <a:rPr dirty="0" sz="3400" spc="-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5">
                <a:solidFill>
                  <a:srgbClr val="FFFFFF"/>
                </a:solidFill>
                <a:latin typeface="Tahoma"/>
                <a:cs typeface="Tahoma"/>
              </a:rPr>
              <a:t>phần</a:t>
            </a:r>
            <a:r>
              <a:rPr dirty="0" sz="3400" spc="-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tử</a:t>
            </a:r>
            <a:r>
              <a:rPr dirty="0" sz="3400" spc="-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0">
                <a:solidFill>
                  <a:srgbClr val="FFFFFF"/>
                </a:solidFill>
                <a:latin typeface="Tahoma"/>
                <a:cs typeface="Tahoma"/>
              </a:rPr>
              <a:t>sẽ</a:t>
            </a:r>
            <a:r>
              <a:rPr dirty="0" sz="3400" spc="-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0">
                <a:solidFill>
                  <a:srgbClr val="FFFFFF"/>
                </a:solidFill>
                <a:latin typeface="Tahoma"/>
                <a:cs typeface="Tahoma"/>
              </a:rPr>
              <a:t>được</a:t>
            </a:r>
            <a:r>
              <a:rPr dirty="0" sz="3400" spc="-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5">
                <a:solidFill>
                  <a:srgbClr val="FFFFFF"/>
                </a:solidFill>
                <a:latin typeface="Tahoma"/>
                <a:cs typeface="Tahoma"/>
              </a:rPr>
              <a:t>lặp</a:t>
            </a:r>
            <a:r>
              <a:rPr dirty="0" sz="3400" spc="-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0">
                <a:solidFill>
                  <a:srgbClr val="FFFFFF"/>
                </a:solidFill>
                <a:latin typeface="Tahoma"/>
                <a:cs typeface="Tahoma"/>
              </a:rPr>
              <a:t>lại</a:t>
            </a:r>
            <a:r>
              <a:rPr dirty="0" sz="3400" spc="-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70">
                <a:solidFill>
                  <a:srgbClr val="FFFFFF"/>
                </a:solidFill>
                <a:latin typeface="Tahoma"/>
                <a:cs typeface="Tahoma"/>
              </a:rPr>
              <a:t>với </a:t>
            </a: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số</a:t>
            </a:r>
            <a:r>
              <a:rPr dirty="0" sz="3400" spc="1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0">
                <a:solidFill>
                  <a:srgbClr val="FFFFFF"/>
                </a:solidFill>
                <a:latin typeface="Tahoma"/>
                <a:cs typeface="Tahoma"/>
              </a:rPr>
              <a:t>lần</a:t>
            </a:r>
            <a:r>
              <a:rPr dirty="0" sz="3400" spc="1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70">
                <a:solidFill>
                  <a:srgbClr val="FFFFFF"/>
                </a:solidFill>
                <a:latin typeface="Tahoma"/>
                <a:cs typeface="Tahoma"/>
              </a:rPr>
              <a:t>tương</a:t>
            </a:r>
            <a:r>
              <a:rPr dirty="0" sz="3400" spc="1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0">
                <a:solidFill>
                  <a:srgbClr val="FFFFFF"/>
                </a:solidFill>
                <a:latin typeface="Tahoma"/>
                <a:cs typeface="Tahoma"/>
              </a:rPr>
              <a:t>ứng.</a:t>
            </a:r>
            <a:r>
              <a:rPr dirty="0" sz="3400" spc="1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00">
                <a:solidFill>
                  <a:srgbClr val="FFFFFF"/>
                </a:solidFill>
                <a:latin typeface="Tahoma"/>
                <a:cs typeface="Tahoma"/>
              </a:rPr>
              <a:t>Nếu</a:t>
            </a:r>
            <a:r>
              <a:rPr dirty="0" sz="3400" spc="1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0">
                <a:solidFill>
                  <a:srgbClr val="FFFFFF"/>
                </a:solidFill>
                <a:latin typeface="Tahoma"/>
                <a:cs typeface="Tahoma"/>
              </a:rPr>
              <a:t>bạn</a:t>
            </a:r>
            <a:r>
              <a:rPr dirty="0" sz="3400" spc="1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truyền</a:t>
            </a:r>
            <a:r>
              <a:rPr dirty="0" sz="3400" spc="1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5">
                <a:solidFill>
                  <a:srgbClr val="FFFFFF"/>
                </a:solidFill>
                <a:latin typeface="Tahoma"/>
                <a:cs typeface="Tahoma"/>
              </a:rPr>
              <a:t>một</a:t>
            </a:r>
            <a:r>
              <a:rPr dirty="0" sz="3400" spc="1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00">
                <a:solidFill>
                  <a:srgbClr val="FFFFFF"/>
                </a:solidFill>
                <a:latin typeface="Tahoma"/>
                <a:cs typeface="Tahoma"/>
              </a:rPr>
              <a:t>mảng</a:t>
            </a:r>
            <a:r>
              <a:rPr dirty="0" sz="3400" spc="1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số</a:t>
            </a:r>
            <a:r>
              <a:rPr dirty="0" sz="3400" spc="1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0">
                <a:solidFill>
                  <a:srgbClr val="FFFFFF"/>
                </a:solidFill>
                <a:latin typeface="Tahoma"/>
                <a:cs typeface="Tahoma"/>
              </a:rPr>
              <a:t>nguyên,</a:t>
            </a:r>
            <a:r>
              <a:rPr dirty="0" sz="3400" spc="1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00">
                <a:solidFill>
                  <a:srgbClr val="FFFFFF"/>
                </a:solidFill>
                <a:latin typeface="Tahoma"/>
                <a:cs typeface="Tahoma"/>
              </a:rPr>
              <a:t>mỗi</a:t>
            </a:r>
            <a:r>
              <a:rPr dirty="0" sz="3400" spc="1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5">
                <a:solidFill>
                  <a:srgbClr val="FFFFFF"/>
                </a:solidFill>
                <a:latin typeface="Tahoma"/>
                <a:cs typeface="Tahoma"/>
              </a:rPr>
              <a:t>phần</a:t>
            </a:r>
            <a:r>
              <a:rPr dirty="0" sz="3400" spc="1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tử</a:t>
            </a:r>
            <a:r>
              <a:rPr dirty="0" sz="3400" spc="1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0">
                <a:solidFill>
                  <a:srgbClr val="FFFFFF"/>
                </a:solidFill>
                <a:latin typeface="Tahoma"/>
                <a:cs typeface="Tahoma"/>
              </a:rPr>
              <a:t>có</a:t>
            </a:r>
            <a:r>
              <a:rPr dirty="0" sz="3400" spc="1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0">
                <a:solidFill>
                  <a:srgbClr val="FFFFFF"/>
                </a:solidFill>
                <a:latin typeface="Tahoma"/>
                <a:cs typeface="Tahoma"/>
              </a:rPr>
              <a:t>thể </a:t>
            </a:r>
            <a:r>
              <a:rPr dirty="0" sz="3400" spc="140">
                <a:solidFill>
                  <a:srgbClr val="FFFFFF"/>
                </a:solidFill>
                <a:latin typeface="Tahoma"/>
                <a:cs typeface="Tahoma"/>
              </a:rPr>
              <a:t>được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5">
                <a:solidFill>
                  <a:srgbClr val="FFFFFF"/>
                </a:solidFill>
                <a:latin typeface="Tahoma"/>
                <a:cs typeface="Tahoma"/>
              </a:rPr>
              <a:t>lặp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0">
                <a:solidFill>
                  <a:srgbClr val="FFFFFF"/>
                </a:solidFill>
                <a:latin typeface="Tahoma"/>
                <a:cs typeface="Tahoma"/>
              </a:rPr>
              <a:t>lại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95">
                <a:solidFill>
                  <a:srgbClr val="FFFFFF"/>
                </a:solidFill>
                <a:latin typeface="Tahoma"/>
                <a:cs typeface="Tahoma"/>
              </a:rPr>
              <a:t>với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số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0">
                <a:solidFill>
                  <a:srgbClr val="FFFFFF"/>
                </a:solidFill>
                <a:latin typeface="Tahoma"/>
                <a:cs typeface="Tahoma"/>
              </a:rPr>
              <a:t>lần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0">
                <a:solidFill>
                  <a:srgbClr val="FFFFFF"/>
                </a:solidFill>
                <a:latin typeface="Tahoma"/>
                <a:cs typeface="Tahoma"/>
              </a:rPr>
              <a:t>khác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5">
                <a:solidFill>
                  <a:srgbClr val="FFFFFF"/>
                </a:solidFill>
                <a:latin typeface="Tahoma"/>
                <a:cs typeface="Tahoma"/>
              </a:rPr>
              <a:t>nhau</a:t>
            </a:r>
            <a:endParaRPr sz="3400">
              <a:latin typeface="Tahoma"/>
              <a:cs typeface="Tahoma"/>
            </a:endParaRPr>
          </a:p>
          <a:p>
            <a:pPr algn="just" marL="746125">
              <a:lnSpc>
                <a:spcPct val="100000"/>
              </a:lnSpc>
              <a:spcBef>
                <a:spcPts val="645"/>
              </a:spcBef>
            </a:pPr>
            <a:r>
              <a:rPr dirty="0" sz="3400" spc="229">
                <a:solidFill>
                  <a:srgbClr val="FFFFFF"/>
                </a:solidFill>
                <a:latin typeface="Tahoma"/>
                <a:cs typeface="Tahoma"/>
              </a:rPr>
              <a:t>Mảng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4">
                <a:solidFill>
                  <a:srgbClr val="FFFFFF"/>
                </a:solidFill>
                <a:latin typeface="Tahoma"/>
                <a:cs typeface="Tahoma"/>
              </a:rPr>
              <a:t>đa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chiều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0">
                <a:solidFill>
                  <a:srgbClr val="FFFFFF"/>
                </a:solidFill>
                <a:latin typeface="Tahoma"/>
                <a:cs typeface="Tahoma"/>
              </a:rPr>
              <a:t>có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thể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0">
                <a:solidFill>
                  <a:srgbClr val="FFFFFF"/>
                </a:solidFill>
                <a:latin typeface="Tahoma"/>
                <a:cs typeface="Tahoma"/>
              </a:rPr>
              <a:t>có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0">
                <a:solidFill>
                  <a:srgbClr val="FFFFFF"/>
                </a:solidFill>
                <a:latin typeface="Tahoma"/>
                <a:cs typeface="Tahoma"/>
              </a:rPr>
              <a:t>các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5">
                <a:solidFill>
                  <a:srgbClr val="FFFFFF"/>
                </a:solidFill>
                <a:latin typeface="Tahoma"/>
                <a:cs typeface="Tahoma"/>
              </a:rPr>
              <a:t>phần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tử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0">
                <a:solidFill>
                  <a:srgbClr val="FFFFFF"/>
                </a:solidFill>
                <a:latin typeface="Tahoma"/>
                <a:cs typeface="Tahoma"/>
              </a:rPr>
              <a:t>được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5">
                <a:solidFill>
                  <a:srgbClr val="FFFFFF"/>
                </a:solidFill>
                <a:latin typeface="Tahoma"/>
                <a:cs typeface="Tahoma"/>
              </a:rPr>
              <a:t>lặp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0">
                <a:solidFill>
                  <a:srgbClr val="FFFFFF"/>
                </a:solidFill>
                <a:latin typeface="Tahoma"/>
                <a:cs typeface="Tahoma"/>
              </a:rPr>
              <a:t>lại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5">
                <a:solidFill>
                  <a:srgbClr val="FFFFFF"/>
                </a:solidFill>
                <a:latin typeface="Tahoma"/>
                <a:cs typeface="Tahoma"/>
              </a:rPr>
              <a:t>dọc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5">
                <a:solidFill>
                  <a:srgbClr val="FFFFFF"/>
                </a:solidFill>
                <a:latin typeface="Tahoma"/>
                <a:cs typeface="Tahoma"/>
              </a:rPr>
              <a:t>theo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5">
                <a:solidFill>
                  <a:srgbClr val="FFFFFF"/>
                </a:solidFill>
                <a:latin typeface="Tahoma"/>
                <a:cs typeface="Tahoma"/>
              </a:rPr>
              <a:t>một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4">
                <a:solidFill>
                  <a:srgbClr val="FFFFFF"/>
                </a:solidFill>
                <a:latin typeface="Tahoma"/>
                <a:cs typeface="Tahoma"/>
              </a:rPr>
              <a:t>trục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4">
                <a:solidFill>
                  <a:srgbClr val="FFFFFF"/>
                </a:solidFill>
                <a:latin typeface="Tahoma"/>
                <a:cs typeface="Tahoma"/>
              </a:rPr>
              <a:t>cụ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-20">
                <a:solidFill>
                  <a:srgbClr val="FFFFFF"/>
                </a:solidFill>
                <a:latin typeface="Tahoma"/>
                <a:cs typeface="Tahoma"/>
              </a:rPr>
              <a:t>thể:</a:t>
            </a:r>
            <a:endParaRPr sz="3400">
              <a:latin typeface="Tahoma"/>
              <a:cs typeface="Tahoma"/>
            </a:endParaRPr>
          </a:p>
          <a:p>
            <a:pPr algn="just" marL="746125" marR="5080">
              <a:lnSpc>
                <a:spcPct val="115799"/>
              </a:lnSpc>
            </a:pPr>
            <a:r>
              <a:rPr dirty="0" sz="3400" spc="160">
                <a:solidFill>
                  <a:srgbClr val="FFFFFF"/>
                </a:solidFill>
                <a:latin typeface="Tahoma"/>
                <a:cs typeface="Tahoma"/>
              </a:rPr>
              <a:t>Lưu</a:t>
            </a:r>
            <a:r>
              <a:rPr dirty="0" sz="3400" spc="5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>
                <a:solidFill>
                  <a:srgbClr val="FFFFFF"/>
                </a:solidFill>
                <a:latin typeface="Tahoma"/>
                <a:cs typeface="Tahoma"/>
              </a:rPr>
              <a:t>ý</a:t>
            </a:r>
            <a:r>
              <a:rPr dirty="0" sz="3400" spc="5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5">
                <a:solidFill>
                  <a:srgbClr val="FFFFFF"/>
                </a:solidFill>
                <a:latin typeface="Tahoma"/>
                <a:cs typeface="Tahoma"/>
              </a:rPr>
              <a:t>rằng</a:t>
            </a:r>
            <a:r>
              <a:rPr dirty="0" sz="3400" spc="5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5">
                <a:solidFill>
                  <a:srgbClr val="FFFFFF"/>
                </a:solidFill>
                <a:latin typeface="Tahoma"/>
                <a:cs typeface="Tahoma"/>
              </a:rPr>
              <a:t>nếu</a:t>
            </a:r>
            <a:r>
              <a:rPr dirty="0" sz="3400" spc="5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75">
                <a:solidFill>
                  <a:srgbClr val="FFFFFF"/>
                </a:solidFill>
                <a:latin typeface="Tahoma"/>
                <a:cs typeface="Tahoma"/>
              </a:rPr>
              <a:t>không</a:t>
            </a:r>
            <a:r>
              <a:rPr dirty="0" sz="3400" spc="5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0">
                <a:solidFill>
                  <a:srgbClr val="FFFFFF"/>
                </a:solidFill>
                <a:latin typeface="Tahoma"/>
                <a:cs typeface="Tahoma"/>
              </a:rPr>
              <a:t>có</a:t>
            </a:r>
            <a:r>
              <a:rPr dirty="0" sz="3400" spc="5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4">
                <a:solidFill>
                  <a:srgbClr val="FFFFFF"/>
                </a:solidFill>
                <a:latin typeface="Tahoma"/>
                <a:cs typeface="Tahoma"/>
              </a:rPr>
              <a:t>trục</a:t>
            </a:r>
            <a:r>
              <a:rPr dirty="0" sz="3400" spc="5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0">
                <a:solidFill>
                  <a:srgbClr val="FFFFFF"/>
                </a:solidFill>
                <a:latin typeface="Tahoma"/>
                <a:cs typeface="Tahoma"/>
              </a:rPr>
              <a:t>nào</a:t>
            </a:r>
            <a:r>
              <a:rPr dirty="0" sz="3400" spc="5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0">
                <a:solidFill>
                  <a:srgbClr val="FFFFFF"/>
                </a:solidFill>
                <a:latin typeface="Tahoma"/>
                <a:cs typeface="Tahoma"/>
              </a:rPr>
              <a:t>được</a:t>
            </a:r>
            <a:r>
              <a:rPr dirty="0" sz="3400" spc="5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90">
                <a:solidFill>
                  <a:srgbClr val="FFFFFF"/>
                </a:solidFill>
                <a:latin typeface="Tahoma"/>
                <a:cs typeface="Tahoma"/>
              </a:rPr>
              <a:t>truyền,</a:t>
            </a:r>
            <a:r>
              <a:rPr dirty="0" sz="3400" spc="5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00">
                <a:solidFill>
                  <a:srgbClr val="FFFFFF"/>
                </a:solidFill>
                <a:latin typeface="Tahoma"/>
                <a:cs typeface="Tahoma"/>
              </a:rPr>
              <a:t>mảng</a:t>
            </a:r>
            <a:r>
              <a:rPr dirty="0" sz="3400" spc="5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0">
                <a:solidFill>
                  <a:srgbClr val="FFFFFF"/>
                </a:solidFill>
                <a:latin typeface="Tahoma"/>
                <a:cs typeface="Tahoma"/>
              </a:rPr>
              <a:t>sẽ</a:t>
            </a:r>
            <a:r>
              <a:rPr dirty="0" sz="3400" spc="5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0">
                <a:solidFill>
                  <a:srgbClr val="FFFFFF"/>
                </a:solidFill>
                <a:latin typeface="Tahoma"/>
                <a:cs typeface="Tahoma"/>
              </a:rPr>
              <a:t>được</a:t>
            </a:r>
            <a:r>
              <a:rPr dirty="0" sz="3400" spc="5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70">
                <a:solidFill>
                  <a:srgbClr val="FFFFFF"/>
                </a:solidFill>
                <a:latin typeface="Tahoma"/>
                <a:cs typeface="Tahoma"/>
              </a:rPr>
              <a:t>làm</a:t>
            </a:r>
            <a:r>
              <a:rPr dirty="0" sz="3400" spc="5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5">
                <a:solidFill>
                  <a:srgbClr val="FFFFFF"/>
                </a:solidFill>
                <a:latin typeface="Tahoma"/>
                <a:cs typeface="Tahoma"/>
              </a:rPr>
              <a:t>phẳng </a:t>
            </a:r>
            <a:r>
              <a:rPr dirty="0" sz="3400" spc="90">
                <a:solidFill>
                  <a:srgbClr val="FFFFFF"/>
                </a:solidFill>
                <a:latin typeface="Tahoma"/>
                <a:cs typeface="Tahoma"/>
              </a:rPr>
              <a:t>trước,</a:t>
            </a:r>
            <a:r>
              <a:rPr dirty="0" sz="3400" spc="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5">
                <a:solidFill>
                  <a:srgbClr val="FFFFFF"/>
                </a:solidFill>
                <a:latin typeface="Tahoma"/>
                <a:cs typeface="Tahoma"/>
              </a:rPr>
              <a:t>điều</a:t>
            </a: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5">
                <a:solidFill>
                  <a:srgbClr val="FFFFFF"/>
                </a:solidFill>
                <a:latin typeface="Tahoma"/>
                <a:cs typeface="Tahoma"/>
              </a:rPr>
              <a:t>này</a:t>
            </a:r>
            <a:r>
              <a:rPr dirty="0" sz="3400" spc="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0">
                <a:solidFill>
                  <a:srgbClr val="FFFFFF"/>
                </a:solidFill>
                <a:latin typeface="Tahoma"/>
                <a:cs typeface="Tahoma"/>
              </a:rPr>
              <a:t>có</a:t>
            </a: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thể</a:t>
            </a: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75">
                <a:solidFill>
                  <a:srgbClr val="FFFFFF"/>
                </a:solidFill>
                <a:latin typeface="Tahoma"/>
                <a:cs typeface="Tahoma"/>
              </a:rPr>
              <a:t>không</a:t>
            </a:r>
            <a:r>
              <a:rPr dirty="0" sz="3400" spc="145">
                <a:solidFill>
                  <a:srgbClr val="FFFFFF"/>
                </a:solidFill>
                <a:latin typeface="Tahoma"/>
                <a:cs typeface="Tahoma"/>
              </a:rPr>
              <a:t> phải</a:t>
            </a: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0">
                <a:solidFill>
                  <a:srgbClr val="FFFFFF"/>
                </a:solidFill>
                <a:latin typeface="Tahoma"/>
                <a:cs typeface="Tahoma"/>
              </a:rPr>
              <a:t>là</a:t>
            </a: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5">
                <a:solidFill>
                  <a:srgbClr val="FFFFFF"/>
                </a:solidFill>
                <a:latin typeface="Tahoma"/>
                <a:cs typeface="Tahoma"/>
              </a:rPr>
              <a:t>điều</a:t>
            </a:r>
            <a:r>
              <a:rPr dirty="0" sz="3400" spc="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0">
                <a:solidFill>
                  <a:srgbClr val="FFFFFF"/>
                </a:solidFill>
                <a:latin typeface="Tahoma"/>
                <a:cs typeface="Tahoma"/>
              </a:rPr>
              <a:t>bạn</a:t>
            </a: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20">
                <a:solidFill>
                  <a:srgbClr val="FFFFFF"/>
                </a:solidFill>
                <a:latin typeface="Tahoma"/>
                <a:cs typeface="Tahoma"/>
              </a:rPr>
              <a:t>mong</a:t>
            </a: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 muốn.</a:t>
            </a:r>
            <a:r>
              <a:rPr dirty="0" sz="3400" spc="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5">
                <a:solidFill>
                  <a:srgbClr val="FFFFFF"/>
                </a:solidFill>
                <a:latin typeface="Tahoma"/>
                <a:cs typeface="Tahoma"/>
              </a:rPr>
              <a:t>Tương</a:t>
            </a: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55">
                <a:solidFill>
                  <a:srgbClr val="FFFFFF"/>
                </a:solidFill>
                <a:latin typeface="Tahoma"/>
                <a:cs typeface="Tahoma"/>
              </a:rPr>
              <a:t>tự,</a:t>
            </a: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0">
                <a:solidFill>
                  <a:srgbClr val="FFFFFF"/>
                </a:solidFill>
                <a:latin typeface="Tahoma"/>
                <a:cs typeface="Tahoma"/>
              </a:rPr>
              <a:t>bạn</a:t>
            </a:r>
            <a:r>
              <a:rPr dirty="0" sz="3400" spc="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95">
                <a:solidFill>
                  <a:srgbClr val="FFFFFF"/>
                </a:solidFill>
                <a:latin typeface="Tahoma"/>
                <a:cs typeface="Tahoma"/>
              </a:rPr>
              <a:t>có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thể</a:t>
            </a:r>
            <a:r>
              <a:rPr dirty="0" sz="3400" spc="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truyền</a:t>
            </a:r>
            <a:r>
              <a:rPr dirty="0" sz="3400" spc="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5">
                <a:solidFill>
                  <a:srgbClr val="FFFFFF"/>
                </a:solidFill>
                <a:latin typeface="Tahoma"/>
                <a:cs typeface="Tahoma"/>
              </a:rPr>
              <a:t>một</a:t>
            </a:r>
            <a:r>
              <a:rPr dirty="0" sz="3400" spc="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00">
                <a:solidFill>
                  <a:srgbClr val="FFFFFF"/>
                </a:solidFill>
                <a:latin typeface="Tahoma"/>
                <a:cs typeface="Tahoma"/>
              </a:rPr>
              <a:t>mảng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số</a:t>
            </a:r>
            <a:r>
              <a:rPr dirty="0" sz="3400" spc="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nguyên</a:t>
            </a:r>
            <a:r>
              <a:rPr dirty="0" sz="3400" spc="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0">
                <a:solidFill>
                  <a:srgbClr val="FFFFFF"/>
                </a:solidFill>
                <a:latin typeface="Tahoma"/>
                <a:cs typeface="Tahoma"/>
              </a:rPr>
              <a:t>khi</a:t>
            </a:r>
            <a:r>
              <a:rPr dirty="0" sz="3400" spc="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5">
                <a:solidFill>
                  <a:srgbClr val="FFFFFF"/>
                </a:solidFill>
                <a:latin typeface="Tahoma"/>
                <a:cs typeface="Tahoma"/>
              </a:rPr>
              <a:t>lặp</a:t>
            </a:r>
            <a:r>
              <a:rPr dirty="0" sz="3400" spc="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0">
                <a:solidFill>
                  <a:srgbClr val="FFFFFF"/>
                </a:solidFill>
                <a:latin typeface="Tahoma"/>
                <a:cs typeface="Tahoma"/>
              </a:rPr>
              <a:t>lại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5">
                <a:solidFill>
                  <a:srgbClr val="FFFFFF"/>
                </a:solidFill>
                <a:latin typeface="Tahoma"/>
                <a:cs typeface="Tahoma"/>
              </a:rPr>
              <a:t>một</a:t>
            </a:r>
            <a:r>
              <a:rPr dirty="0" sz="3400" spc="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00">
                <a:solidFill>
                  <a:srgbClr val="FFFFFF"/>
                </a:solidFill>
                <a:latin typeface="Tahoma"/>
                <a:cs typeface="Tahoma"/>
              </a:rPr>
              <a:t>mảng</a:t>
            </a:r>
            <a:r>
              <a:rPr dirty="0" sz="3400" spc="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4">
                <a:solidFill>
                  <a:srgbClr val="FFFFFF"/>
                </a:solidFill>
                <a:latin typeface="Tahoma"/>
                <a:cs typeface="Tahoma"/>
              </a:rPr>
              <a:t>đa</a:t>
            </a:r>
            <a:r>
              <a:rPr dirty="0" sz="3400" spc="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chiều để</a:t>
            </a:r>
            <a:r>
              <a:rPr dirty="0" sz="3400" spc="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5">
                <a:solidFill>
                  <a:srgbClr val="FFFFFF"/>
                </a:solidFill>
                <a:latin typeface="Tahoma"/>
                <a:cs typeface="Tahoma"/>
              </a:rPr>
              <a:t>lặp</a:t>
            </a:r>
            <a:r>
              <a:rPr dirty="0" sz="3400" spc="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0">
                <a:solidFill>
                  <a:srgbClr val="FFFFFF"/>
                </a:solidFill>
                <a:latin typeface="Tahoma"/>
                <a:cs typeface="Tahoma"/>
              </a:rPr>
              <a:t>lại</a:t>
            </a:r>
            <a:r>
              <a:rPr dirty="0" sz="3400" spc="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70">
                <a:solidFill>
                  <a:srgbClr val="FFFFFF"/>
                </a:solidFill>
                <a:latin typeface="Tahoma"/>
                <a:cs typeface="Tahoma"/>
              </a:rPr>
              <a:t>một </a:t>
            </a:r>
            <a:r>
              <a:rPr dirty="0" sz="3400" spc="90">
                <a:solidFill>
                  <a:srgbClr val="FFFFFF"/>
                </a:solidFill>
                <a:latin typeface="Tahoma"/>
                <a:cs typeface="Tahoma"/>
              </a:rPr>
              <a:t>lát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70">
                <a:solidFill>
                  <a:srgbClr val="FFFFFF"/>
                </a:solidFill>
                <a:latin typeface="Tahoma"/>
                <a:cs typeface="Tahoma"/>
              </a:rPr>
              <a:t>cắt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5">
                <a:solidFill>
                  <a:srgbClr val="FFFFFF"/>
                </a:solidFill>
                <a:latin typeface="Tahoma"/>
                <a:cs typeface="Tahoma"/>
              </a:rPr>
              <a:t>nhất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định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95">
                <a:solidFill>
                  <a:srgbClr val="FFFFFF"/>
                </a:solidFill>
                <a:latin typeface="Tahoma"/>
                <a:cs typeface="Tahoma"/>
              </a:rPr>
              <a:t>với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số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0">
                <a:solidFill>
                  <a:srgbClr val="FFFFFF"/>
                </a:solidFill>
                <a:latin typeface="Tahoma"/>
                <a:cs typeface="Tahoma"/>
              </a:rPr>
              <a:t>lần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0">
                <a:solidFill>
                  <a:srgbClr val="FFFFFF"/>
                </a:solidFill>
                <a:latin typeface="Tahoma"/>
                <a:cs typeface="Tahoma"/>
              </a:rPr>
              <a:t>khác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0">
                <a:solidFill>
                  <a:srgbClr val="FFFFFF"/>
                </a:solidFill>
                <a:latin typeface="Tahoma"/>
                <a:cs typeface="Tahoma"/>
              </a:rPr>
              <a:t>nhau:</a:t>
            </a:r>
            <a:endParaRPr sz="3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9A898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1028699" y="541825"/>
            <a:ext cx="974090" cy="974090"/>
            <a:chOff x="1028699" y="541825"/>
            <a:chExt cx="974090" cy="974090"/>
          </a:xfrm>
        </p:grpSpPr>
        <p:sp>
          <p:nvSpPr>
            <p:cNvPr id="4" name="object 4" descr=""/>
            <p:cNvSpPr/>
            <p:nvPr/>
          </p:nvSpPr>
          <p:spPr>
            <a:xfrm>
              <a:off x="1028699" y="541825"/>
              <a:ext cx="974090" cy="974090"/>
            </a:xfrm>
            <a:custGeom>
              <a:avLst/>
              <a:gdLst/>
              <a:ahLst/>
              <a:cxnLst/>
              <a:rect l="l" t="t" r="r" b="b"/>
              <a:pathLst>
                <a:path w="974089" h="974090">
                  <a:moveTo>
                    <a:pt x="486874" y="973749"/>
                  </a:moveTo>
                  <a:lnTo>
                    <a:pt x="439985" y="971520"/>
                  </a:lnTo>
                  <a:lnTo>
                    <a:pt x="394357" y="964970"/>
                  </a:lnTo>
                  <a:lnTo>
                    <a:pt x="350194" y="954302"/>
                  </a:lnTo>
                  <a:lnTo>
                    <a:pt x="307699" y="939721"/>
                  </a:lnTo>
                  <a:lnTo>
                    <a:pt x="267078" y="921430"/>
                  </a:lnTo>
                  <a:lnTo>
                    <a:pt x="228535" y="899634"/>
                  </a:lnTo>
                  <a:lnTo>
                    <a:pt x="192272" y="874537"/>
                  </a:lnTo>
                  <a:lnTo>
                    <a:pt x="158495" y="846342"/>
                  </a:lnTo>
                  <a:lnTo>
                    <a:pt x="127407" y="815254"/>
                  </a:lnTo>
                  <a:lnTo>
                    <a:pt x="99212" y="781476"/>
                  </a:lnTo>
                  <a:lnTo>
                    <a:pt x="74114" y="745214"/>
                  </a:lnTo>
                  <a:lnTo>
                    <a:pt x="52318" y="706670"/>
                  </a:lnTo>
                  <a:lnTo>
                    <a:pt x="34028" y="666049"/>
                  </a:lnTo>
                  <a:lnTo>
                    <a:pt x="19446" y="623555"/>
                  </a:lnTo>
                  <a:lnTo>
                    <a:pt x="8779" y="579392"/>
                  </a:lnTo>
                  <a:lnTo>
                    <a:pt x="2228" y="533764"/>
                  </a:lnTo>
                  <a:lnTo>
                    <a:pt x="0" y="486874"/>
                  </a:lnTo>
                  <a:lnTo>
                    <a:pt x="2228" y="439985"/>
                  </a:lnTo>
                  <a:lnTo>
                    <a:pt x="8779" y="394357"/>
                  </a:lnTo>
                  <a:lnTo>
                    <a:pt x="19446" y="350194"/>
                  </a:lnTo>
                  <a:lnTo>
                    <a:pt x="34028" y="307699"/>
                  </a:lnTo>
                  <a:lnTo>
                    <a:pt x="52318" y="267078"/>
                  </a:lnTo>
                  <a:lnTo>
                    <a:pt x="74114" y="228535"/>
                  </a:lnTo>
                  <a:lnTo>
                    <a:pt x="99212" y="192272"/>
                  </a:lnTo>
                  <a:lnTo>
                    <a:pt x="127407" y="158495"/>
                  </a:lnTo>
                  <a:lnTo>
                    <a:pt x="158495" y="127407"/>
                  </a:lnTo>
                  <a:lnTo>
                    <a:pt x="192272" y="99212"/>
                  </a:lnTo>
                  <a:lnTo>
                    <a:pt x="228535" y="74114"/>
                  </a:lnTo>
                  <a:lnTo>
                    <a:pt x="267078" y="52318"/>
                  </a:lnTo>
                  <a:lnTo>
                    <a:pt x="307699" y="34028"/>
                  </a:lnTo>
                  <a:lnTo>
                    <a:pt x="350194" y="19446"/>
                  </a:lnTo>
                  <a:lnTo>
                    <a:pt x="394357" y="8779"/>
                  </a:lnTo>
                  <a:lnTo>
                    <a:pt x="439985" y="2228"/>
                  </a:lnTo>
                  <a:lnTo>
                    <a:pt x="486874" y="0"/>
                  </a:lnTo>
                  <a:lnTo>
                    <a:pt x="533764" y="2228"/>
                  </a:lnTo>
                  <a:lnTo>
                    <a:pt x="579392" y="8779"/>
                  </a:lnTo>
                  <a:lnTo>
                    <a:pt x="623555" y="19446"/>
                  </a:lnTo>
                  <a:lnTo>
                    <a:pt x="666049" y="34028"/>
                  </a:lnTo>
                  <a:lnTo>
                    <a:pt x="706670" y="52318"/>
                  </a:lnTo>
                  <a:lnTo>
                    <a:pt x="745214" y="74114"/>
                  </a:lnTo>
                  <a:lnTo>
                    <a:pt x="781476" y="99212"/>
                  </a:lnTo>
                  <a:lnTo>
                    <a:pt x="815254" y="127407"/>
                  </a:lnTo>
                  <a:lnTo>
                    <a:pt x="846342" y="158495"/>
                  </a:lnTo>
                  <a:lnTo>
                    <a:pt x="874537" y="192272"/>
                  </a:lnTo>
                  <a:lnTo>
                    <a:pt x="899634" y="228535"/>
                  </a:lnTo>
                  <a:lnTo>
                    <a:pt x="921430" y="267078"/>
                  </a:lnTo>
                  <a:lnTo>
                    <a:pt x="939721" y="307699"/>
                  </a:lnTo>
                  <a:lnTo>
                    <a:pt x="954302" y="350194"/>
                  </a:lnTo>
                  <a:lnTo>
                    <a:pt x="964970" y="394357"/>
                  </a:lnTo>
                  <a:lnTo>
                    <a:pt x="971520" y="439985"/>
                  </a:lnTo>
                  <a:lnTo>
                    <a:pt x="973749" y="486874"/>
                  </a:lnTo>
                  <a:lnTo>
                    <a:pt x="971520" y="533764"/>
                  </a:lnTo>
                  <a:lnTo>
                    <a:pt x="964970" y="579392"/>
                  </a:lnTo>
                  <a:lnTo>
                    <a:pt x="954302" y="623555"/>
                  </a:lnTo>
                  <a:lnTo>
                    <a:pt x="939721" y="666049"/>
                  </a:lnTo>
                  <a:lnTo>
                    <a:pt x="921430" y="706670"/>
                  </a:lnTo>
                  <a:lnTo>
                    <a:pt x="899634" y="745214"/>
                  </a:lnTo>
                  <a:lnTo>
                    <a:pt x="874537" y="781476"/>
                  </a:lnTo>
                  <a:lnTo>
                    <a:pt x="846342" y="815254"/>
                  </a:lnTo>
                  <a:lnTo>
                    <a:pt x="815254" y="846342"/>
                  </a:lnTo>
                  <a:lnTo>
                    <a:pt x="781476" y="874537"/>
                  </a:lnTo>
                  <a:lnTo>
                    <a:pt x="745214" y="899634"/>
                  </a:lnTo>
                  <a:lnTo>
                    <a:pt x="706670" y="921430"/>
                  </a:lnTo>
                  <a:lnTo>
                    <a:pt x="666049" y="939721"/>
                  </a:lnTo>
                  <a:lnTo>
                    <a:pt x="623555" y="954302"/>
                  </a:lnTo>
                  <a:lnTo>
                    <a:pt x="579392" y="964970"/>
                  </a:lnTo>
                  <a:lnTo>
                    <a:pt x="533764" y="971520"/>
                  </a:lnTo>
                  <a:lnTo>
                    <a:pt x="486874" y="973749"/>
                  </a:lnTo>
                  <a:close/>
                </a:path>
              </a:pathLst>
            </a:custGeom>
            <a:solidFill>
              <a:srgbClr val="32322F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119558" y="632682"/>
              <a:ext cx="792480" cy="792480"/>
            </a:xfrm>
            <a:custGeom>
              <a:avLst/>
              <a:gdLst/>
              <a:ahLst/>
              <a:cxnLst/>
              <a:rect l="l" t="t" r="r" b="b"/>
              <a:pathLst>
                <a:path w="792480" h="792480">
                  <a:moveTo>
                    <a:pt x="396016" y="792033"/>
                  </a:moveTo>
                  <a:lnTo>
                    <a:pt x="349832" y="789369"/>
                  </a:lnTo>
                  <a:lnTo>
                    <a:pt x="305213" y="781574"/>
                  </a:lnTo>
                  <a:lnTo>
                    <a:pt x="262456" y="768946"/>
                  </a:lnTo>
                  <a:lnTo>
                    <a:pt x="221858" y="751781"/>
                  </a:lnTo>
                  <a:lnTo>
                    <a:pt x="183716" y="730378"/>
                  </a:lnTo>
                  <a:lnTo>
                    <a:pt x="148328" y="705033"/>
                  </a:lnTo>
                  <a:lnTo>
                    <a:pt x="115990" y="676042"/>
                  </a:lnTo>
                  <a:lnTo>
                    <a:pt x="87000" y="643705"/>
                  </a:lnTo>
                  <a:lnTo>
                    <a:pt x="61655" y="608316"/>
                  </a:lnTo>
                  <a:lnTo>
                    <a:pt x="40251" y="570174"/>
                  </a:lnTo>
                  <a:lnTo>
                    <a:pt x="23087" y="529576"/>
                  </a:lnTo>
                  <a:lnTo>
                    <a:pt x="10459" y="486819"/>
                  </a:lnTo>
                  <a:lnTo>
                    <a:pt x="2664" y="442200"/>
                  </a:lnTo>
                  <a:lnTo>
                    <a:pt x="0" y="396016"/>
                  </a:lnTo>
                  <a:lnTo>
                    <a:pt x="2664" y="349832"/>
                  </a:lnTo>
                  <a:lnTo>
                    <a:pt x="10459" y="305213"/>
                  </a:lnTo>
                  <a:lnTo>
                    <a:pt x="23087" y="262456"/>
                  </a:lnTo>
                  <a:lnTo>
                    <a:pt x="40251" y="221858"/>
                  </a:lnTo>
                  <a:lnTo>
                    <a:pt x="61655" y="183716"/>
                  </a:lnTo>
                  <a:lnTo>
                    <a:pt x="87000" y="148328"/>
                  </a:lnTo>
                  <a:lnTo>
                    <a:pt x="115990" y="115990"/>
                  </a:lnTo>
                  <a:lnTo>
                    <a:pt x="148328" y="87000"/>
                  </a:lnTo>
                  <a:lnTo>
                    <a:pt x="183716" y="61655"/>
                  </a:lnTo>
                  <a:lnTo>
                    <a:pt x="221858" y="40251"/>
                  </a:lnTo>
                  <a:lnTo>
                    <a:pt x="262456" y="23087"/>
                  </a:lnTo>
                  <a:lnTo>
                    <a:pt x="305213" y="10459"/>
                  </a:lnTo>
                  <a:lnTo>
                    <a:pt x="349832" y="2664"/>
                  </a:lnTo>
                  <a:lnTo>
                    <a:pt x="396016" y="0"/>
                  </a:lnTo>
                  <a:lnTo>
                    <a:pt x="442200" y="2664"/>
                  </a:lnTo>
                  <a:lnTo>
                    <a:pt x="486819" y="10459"/>
                  </a:lnTo>
                  <a:lnTo>
                    <a:pt x="529577" y="23087"/>
                  </a:lnTo>
                  <a:lnTo>
                    <a:pt x="570175" y="40251"/>
                  </a:lnTo>
                  <a:lnTo>
                    <a:pt x="608316" y="61655"/>
                  </a:lnTo>
                  <a:lnTo>
                    <a:pt x="643705" y="87000"/>
                  </a:lnTo>
                  <a:lnTo>
                    <a:pt x="676043" y="115990"/>
                  </a:lnTo>
                  <a:lnTo>
                    <a:pt x="705033" y="148328"/>
                  </a:lnTo>
                  <a:lnTo>
                    <a:pt x="730378" y="183716"/>
                  </a:lnTo>
                  <a:lnTo>
                    <a:pt x="751782" y="221858"/>
                  </a:lnTo>
                  <a:lnTo>
                    <a:pt x="768946" y="262456"/>
                  </a:lnTo>
                  <a:lnTo>
                    <a:pt x="781574" y="305213"/>
                  </a:lnTo>
                  <a:lnTo>
                    <a:pt x="789369" y="349832"/>
                  </a:lnTo>
                  <a:lnTo>
                    <a:pt x="792033" y="396016"/>
                  </a:lnTo>
                  <a:lnTo>
                    <a:pt x="789369" y="442200"/>
                  </a:lnTo>
                  <a:lnTo>
                    <a:pt x="781574" y="486819"/>
                  </a:lnTo>
                  <a:lnTo>
                    <a:pt x="768946" y="529576"/>
                  </a:lnTo>
                  <a:lnTo>
                    <a:pt x="751782" y="570174"/>
                  </a:lnTo>
                  <a:lnTo>
                    <a:pt x="730378" y="608316"/>
                  </a:lnTo>
                  <a:lnTo>
                    <a:pt x="705033" y="643705"/>
                  </a:lnTo>
                  <a:lnTo>
                    <a:pt x="676043" y="676042"/>
                  </a:lnTo>
                  <a:lnTo>
                    <a:pt x="643705" y="705033"/>
                  </a:lnTo>
                  <a:lnTo>
                    <a:pt x="608316" y="730378"/>
                  </a:lnTo>
                  <a:lnTo>
                    <a:pt x="570175" y="751781"/>
                  </a:lnTo>
                  <a:lnTo>
                    <a:pt x="529577" y="768946"/>
                  </a:lnTo>
                  <a:lnTo>
                    <a:pt x="486819" y="781574"/>
                  </a:lnTo>
                  <a:lnTo>
                    <a:pt x="442200" y="789369"/>
                  </a:lnTo>
                  <a:lnTo>
                    <a:pt x="396016" y="792033"/>
                  </a:lnTo>
                  <a:close/>
                </a:path>
              </a:pathLst>
            </a:custGeom>
            <a:solidFill>
              <a:srgbClr val="32322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425945" y="839058"/>
            <a:ext cx="17907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65">
                <a:solidFill>
                  <a:srgbClr val="FFFFFF"/>
                </a:solidFill>
                <a:latin typeface="Lucida Sans Unicode"/>
                <a:cs typeface="Lucida Sans Unicode"/>
              </a:rPr>
              <a:t>2</a:t>
            </a:r>
            <a:endParaRPr sz="21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50"/>
              <a:t>Thao</a:t>
            </a:r>
            <a:r>
              <a:rPr dirty="0" spc="-105"/>
              <a:t> </a:t>
            </a:r>
            <a:r>
              <a:rPr dirty="0" spc="210"/>
              <a:t>tác</a:t>
            </a:r>
            <a:r>
              <a:rPr dirty="0" spc="-105"/>
              <a:t> </a:t>
            </a:r>
            <a:r>
              <a:rPr dirty="0"/>
              <a:t>M</a:t>
            </a:r>
            <a:r>
              <a:rPr dirty="0">
                <a:latin typeface="Arial"/>
                <a:cs typeface="Arial"/>
              </a:rPr>
              <a:t>ả</a:t>
            </a:r>
            <a:r>
              <a:rPr dirty="0"/>
              <a:t>ng</a:t>
            </a:r>
            <a:r>
              <a:rPr dirty="0" spc="-105"/>
              <a:t> </a:t>
            </a:r>
            <a:r>
              <a:rPr dirty="0" spc="114"/>
              <a:t>Nâng</a:t>
            </a:r>
            <a:r>
              <a:rPr dirty="0" spc="-105"/>
              <a:t> </a:t>
            </a:r>
            <a:r>
              <a:rPr dirty="0" spc="250"/>
              <a:t>cao</a:t>
            </a:r>
            <a:r>
              <a:rPr dirty="0" spc="-105"/>
              <a:t> </a:t>
            </a:r>
            <a:r>
              <a:rPr dirty="0" spc="180"/>
              <a:t>(Advanced</a:t>
            </a:r>
            <a:r>
              <a:rPr dirty="0" spc="-105"/>
              <a:t> </a:t>
            </a:r>
            <a:r>
              <a:rPr dirty="0"/>
              <a:t>Array</a:t>
            </a:r>
            <a:r>
              <a:rPr dirty="0" spc="-105"/>
              <a:t> </a:t>
            </a:r>
            <a:r>
              <a:rPr dirty="0" spc="70"/>
              <a:t>Manipulation)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1502874" y="2673978"/>
            <a:ext cx="13248640" cy="4225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799"/>
              </a:lnSpc>
              <a:spcBef>
                <a:spcPts val="100"/>
              </a:spcBef>
            </a:pPr>
            <a:r>
              <a:rPr dirty="0" sz="3400" spc="204">
                <a:solidFill>
                  <a:srgbClr val="FFFFFF"/>
                </a:solidFill>
                <a:latin typeface="Tahoma"/>
                <a:cs typeface="Tahoma"/>
              </a:rPr>
              <a:t>Mặt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0">
                <a:solidFill>
                  <a:srgbClr val="FFFFFF"/>
                </a:solidFill>
                <a:latin typeface="Tahoma"/>
                <a:cs typeface="Tahoma"/>
              </a:rPr>
              <a:t>khác,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0">
                <a:solidFill>
                  <a:srgbClr val="FFFFFF"/>
                </a:solidFill>
                <a:latin typeface="Tahoma"/>
                <a:cs typeface="Tahoma"/>
              </a:rPr>
              <a:t>tile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0">
                <a:solidFill>
                  <a:srgbClr val="FFFFFF"/>
                </a:solidFill>
                <a:latin typeface="Tahoma"/>
                <a:cs typeface="Tahoma"/>
              </a:rPr>
              <a:t>là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5">
                <a:solidFill>
                  <a:srgbClr val="FFFFFF"/>
                </a:solidFill>
                <a:latin typeface="Tahoma"/>
                <a:cs typeface="Tahoma"/>
              </a:rPr>
              <a:t>một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0">
                <a:solidFill>
                  <a:srgbClr val="FFFFFF"/>
                </a:solidFill>
                <a:latin typeface="Tahoma"/>
                <a:cs typeface="Tahoma"/>
              </a:rPr>
              <a:t>lối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85">
                <a:solidFill>
                  <a:srgbClr val="FFFFFF"/>
                </a:solidFill>
                <a:latin typeface="Tahoma"/>
                <a:cs typeface="Tahoma"/>
              </a:rPr>
              <a:t>tắt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để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0">
                <a:solidFill>
                  <a:srgbClr val="FFFFFF"/>
                </a:solidFill>
                <a:latin typeface="Tahoma"/>
                <a:cs typeface="Tahoma"/>
              </a:rPr>
              <a:t>xếp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0">
                <a:solidFill>
                  <a:srgbClr val="FFFFFF"/>
                </a:solidFill>
                <a:latin typeface="Tahoma"/>
                <a:cs typeface="Tahoma"/>
              </a:rPr>
              <a:t>chồng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0">
                <a:solidFill>
                  <a:srgbClr val="FFFFFF"/>
                </a:solidFill>
                <a:latin typeface="Tahoma"/>
                <a:cs typeface="Tahoma"/>
              </a:rPr>
              <a:t>các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0">
                <a:solidFill>
                  <a:srgbClr val="FFFFFF"/>
                </a:solidFill>
                <a:latin typeface="Tahoma"/>
                <a:cs typeface="Tahoma"/>
              </a:rPr>
              <a:t>bản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5">
                <a:solidFill>
                  <a:srgbClr val="FFFFFF"/>
                </a:solidFill>
                <a:latin typeface="Tahoma"/>
                <a:cs typeface="Tahoma"/>
              </a:rPr>
              <a:t>sao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0">
                <a:solidFill>
                  <a:srgbClr val="FFFFFF"/>
                </a:solidFill>
                <a:latin typeface="Tahoma"/>
                <a:cs typeface="Tahoma"/>
              </a:rPr>
              <a:t>của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70">
                <a:solidFill>
                  <a:srgbClr val="FFFFFF"/>
                </a:solidFill>
                <a:latin typeface="Tahoma"/>
                <a:cs typeface="Tahoma"/>
              </a:rPr>
              <a:t>một </a:t>
            </a:r>
            <a:r>
              <a:rPr dirty="0" sz="3400" spc="200">
                <a:solidFill>
                  <a:srgbClr val="FFFFFF"/>
                </a:solidFill>
                <a:latin typeface="Tahoma"/>
                <a:cs typeface="Tahoma"/>
              </a:rPr>
              <a:t>mảng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5">
                <a:solidFill>
                  <a:srgbClr val="FFFFFF"/>
                </a:solidFill>
                <a:latin typeface="Tahoma"/>
                <a:cs typeface="Tahoma"/>
              </a:rPr>
              <a:t>dọc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5">
                <a:solidFill>
                  <a:srgbClr val="FFFFFF"/>
                </a:solidFill>
                <a:latin typeface="Tahoma"/>
                <a:cs typeface="Tahoma"/>
              </a:rPr>
              <a:t>theo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5">
                <a:solidFill>
                  <a:srgbClr val="FFFFFF"/>
                </a:solidFill>
                <a:latin typeface="Tahoma"/>
                <a:cs typeface="Tahoma"/>
              </a:rPr>
              <a:t>một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5">
                <a:solidFill>
                  <a:srgbClr val="FFFFFF"/>
                </a:solidFill>
                <a:latin typeface="Tahoma"/>
                <a:cs typeface="Tahoma"/>
              </a:rPr>
              <a:t>trục.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0">
                <a:solidFill>
                  <a:srgbClr val="FFFFFF"/>
                </a:solidFill>
                <a:latin typeface="Tahoma"/>
                <a:cs typeface="Tahoma"/>
              </a:rPr>
              <a:t>Về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0">
                <a:solidFill>
                  <a:srgbClr val="FFFFFF"/>
                </a:solidFill>
                <a:latin typeface="Tahoma"/>
                <a:cs typeface="Tahoma"/>
              </a:rPr>
              <a:t>mặt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trực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0">
                <a:solidFill>
                  <a:srgbClr val="FFFFFF"/>
                </a:solidFill>
                <a:latin typeface="Tahoma"/>
                <a:cs typeface="Tahoma"/>
              </a:rPr>
              <a:t>quan,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0">
                <a:solidFill>
                  <a:srgbClr val="FFFFFF"/>
                </a:solidFill>
                <a:latin typeface="Tahoma"/>
                <a:cs typeface="Tahoma"/>
              </a:rPr>
              <a:t>bạn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0">
                <a:solidFill>
                  <a:srgbClr val="FFFFFF"/>
                </a:solidFill>
                <a:latin typeface="Tahoma"/>
                <a:cs typeface="Tahoma"/>
              </a:rPr>
              <a:t>có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thể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5">
                <a:solidFill>
                  <a:srgbClr val="FFFFFF"/>
                </a:solidFill>
                <a:latin typeface="Tahoma"/>
                <a:cs typeface="Tahoma"/>
              </a:rPr>
              <a:t>hình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70">
                <a:solidFill>
                  <a:srgbClr val="FFFFFF"/>
                </a:solidFill>
                <a:latin typeface="Tahoma"/>
                <a:cs typeface="Tahoma"/>
              </a:rPr>
              <a:t>dung </a:t>
            </a:r>
            <a:r>
              <a:rPr dirty="0" sz="3400" spc="190">
                <a:solidFill>
                  <a:srgbClr val="FFFFFF"/>
                </a:solidFill>
                <a:latin typeface="Tahoma"/>
                <a:cs typeface="Tahoma"/>
              </a:rPr>
              <a:t>nó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70">
                <a:solidFill>
                  <a:srgbClr val="FFFFFF"/>
                </a:solidFill>
                <a:latin typeface="Tahoma"/>
                <a:cs typeface="Tahoma"/>
              </a:rPr>
              <a:t>tương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tự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5">
                <a:solidFill>
                  <a:srgbClr val="FFFFFF"/>
                </a:solidFill>
                <a:latin typeface="Tahoma"/>
                <a:cs typeface="Tahoma"/>
              </a:rPr>
              <a:t>như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70">
                <a:solidFill>
                  <a:srgbClr val="FFFFFF"/>
                </a:solidFill>
                <a:latin typeface="Tahoma"/>
                <a:cs typeface="Tahoma"/>
              </a:rPr>
              <a:t>việc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0">
                <a:solidFill>
                  <a:srgbClr val="FFFFFF"/>
                </a:solidFill>
                <a:latin typeface="Tahoma"/>
                <a:cs typeface="Tahoma"/>
              </a:rPr>
              <a:t>"xếp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95">
                <a:solidFill>
                  <a:srgbClr val="FFFFFF"/>
                </a:solidFill>
                <a:latin typeface="Tahoma"/>
                <a:cs typeface="Tahoma"/>
              </a:rPr>
              <a:t>gạch"</a:t>
            </a:r>
            <a:endParaRPr sz="3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3400">
              <a:latin typeface="Tahoma"/>
              <a:cs typeface="Tahoma"/>
            </a:endParaRPr>
          </a:p>
          <a:p>
            <a:pPr marL="12700" marR="29209">
              <a:lnSpc>
                <a:spcPct val="115799"/>
              </a:lnSpc>
            </a:pP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Đối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số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0">
                <a:solidFill>
                  <a:srgbClr val="FFFFFF"/>
                </a:solidFill>
                <a:latin typeface="Tahoma"/>
                <a:cs typeface="Tahoma"/>
              </a:rPr>
              <a:t>thứ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hai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0">
                <a:solidFill>
                  <a:srgbClr val="FFFFFF"/>
                </a:solidFill>
                <a:latin typeface="Tahoma"/>
                <a:cs typeface="Tahoma"/>
              </a:rPr>
              <a:t>là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số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-20">
                <a:solidFill>
                  <a:srgbClr val="FFFFFF"/>
                </a:solidFill>
                <a:latin typeface="Tahoma"/>
                <a:cs typeface="Tahoma"/>
              </a:rPr>
              <a:t>ô;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95">
                <a:solidFill>
                  <a:srgbClr val="FFFFFF"/>
                </a:solidFill>
                <a:latin typeface="Tahoma"/>
                <a:cs typeface="Tahoma"/>
              </a:rPr>
              <a:t>với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số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4">
                <a:solidFill>
                  <a:srgbClr val="FFFFFF"/>
                </a:solidFill>
                <a:latin typeface="Tahoma"/>
                <a:cs typeface="Tahoma"/>
              </a:rPr>
              <a:t>vô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5">
                <a:solidFill>
                  <a:srgbClr val="FFFFFF"/>
                </a:solidFill>
                <a:latin typeface="Tahoma"/>
                <a:cs typeface="Tahoma"/>
              </a:rPr>
              <a:t>hướng,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70">
                <a:solidFill>
                  <a:srgbClr val="FFFFFF"/>
                </a:solidFill>
                <a:latin typeface="Tahoma"/>
                <a:cs typeface="Tahoma"/>
              </a:rPr>
              <a:t>việc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0">
                <a:solidFill>
                  <a:srgbClr val="FFFFFF"/>
                </a:solidFill>
                <a:latin typeface="Tahoma"/>
                <a:cs typeface="Tahoma"/>
              </a:rPr>
              <a:t>xếp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0">
                <a:solidFill>
                  <a:srgbClr val="FFFFFF"/>
                </a:solidFill>
                <a:latin typeface="Tahoma"/>
                <a:cs typeface="Tahoma"/>
              </a:rPr>
              <a:t>gạch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0">
                <a:solidFill>
                  <a:srgbClr val="FFFFFF"/>
                </a:solidFill>
                <a:latin typeface="Tahoma"/>
                <a:cs typeface="Tahoma"/>
              </a:rPr>
              <a:t>được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0">
                <a:solidFill>
                  <a:srgbClr val="FFFFFF"/>
                </a:solidFill>
                <a:latin typeface="Tahoma"/>
                <a:cs typeface="Tahoma"/>
              </a:rPr>
              <a:t>thực </a:t>
            </a:r>
            <a:r>
              <a:rPr dirty="0" sz="3400" spc="145">
                <a:solidFill>
                  <a:srgbClr val="FFFFFF"/>
                </a:solidFill>
                <a:latin typeface="Tahoma"/>
                <a:cs typeface="Tahoma"/>
              </a:rPr>
              <a:t>hiện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5">
                <a:solidFill>
                  <a:srgbClr val="FFFFFF"/>
                </a:solidFill>
                <a:latin typeface="Tahoma"/>
                <a:cs typeface="Tahoma"/>
              </a:rPr>
              <a:t>theo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70">
                <a:solidFill>
                  <a:srgbClr val="FFFFFF"/>
                </a:solidFill>
                <a:latin typeface="Tahoma"/>
                <a:cs typeface="Tahoma"/>
              </a:rPr>
              <a:t>từng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0">
                <a:solidFill>
                  <a:srgbClr val="FFFFFF"/>
                </a:solidFill>
                <a:latin typeface="Tahoma"/>
                <a:cs typeface="Tahoma"/>
              </a:rPr>
              <a:t>hàng,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95">
                <a:solidFill>
                  <a:srgbClr val="FFFFFF"/>
                </a:solidFill>
                <a:latin typeface="Tahoma"/>
                <a:cs typeface="Tahoma"/>
              </a:rPr>
              <a:t>thay</a:t>
            </a:r>
            <a:r>
              <a:rPr dirty="0" sz="34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0">
                <a:solidFill>
                  <a:srgbClr val="FFFFFF"/>
                </a:solidFill>
                <a:latin typeface="Tahoma"/>
                <a:cs typeface="Tahoma"/>
              </a:rPr>
              <a:t>vì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70">
                <a:solidFill>
                  <a:srgbClr val="FFFFFF"/>
                </a:solidFill>
                <a:latin typeface="Tahoma"/>
                <a:cs typeface="Tahoma"/>
              </a:rPr>
              <a:t>từng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>
                <a:solidFill>
                  <a:srgbClr val="FFFFFF"/>
                </a:solidFill>
                <a:latin typeface="Tahoma"/>
                <a:cs typeface="Tahoma"/>
              </a:rPr>
              <a:t>cột.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Đối</a:t>
            </a:r>
            <a:r>
              <a:rPr dirty="0" sz="34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số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0">
                <a:solidFill>
                  <a:srgbClr val="FFFFFF"/>
                </a:solidFill>
                <a:latin typeface="Tahoma"/>
                <a:cs typeface="Tahoma"/>
              </a:rPr>
              <a:t>thứ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hai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0">
                <a:solidFill>
                  <a:srgbClr val="FFFFFF"/>
                </a:solidFill>
                <a:latin typeface="Tahoma"/>
                <a:cs typeface="Tahoma"/>
              </a:rPr>
              <a:t>của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00">
                <a:solidFill>
                  <a:srgbClr val="FFFFFF"/>
                </a:solidFill>
                <a:latin typeface="Tahoma"/>
                <a:cs typeface="Tahoma"/>
              </a:rPr>
              <a:t>hàm</a:t>
            </a:r>
            <a:r>
              <a:rPr dirty="0" sz="34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80">
                <a:solidFill>
                  <a:srgbClr val="FFFFFF"/>
                </a:solidFill>
                <a:latin typeface="Tahoma"/>
                <a:cs typeface="Tahoma"/>
              </a:rPr>
              <a:t>tile </a:t>
            </a:r>
            <a:r>
              <a:rPr dirty="0" sz="3400" spc="120">
                <a:solidFill>
                  <a:srgbClr val="FFFFFF"/>
                </a:solidFill>
                <a:latin typeface="Tahoma"/>
                <a:cs typeface="Tahoma"/>
              </a:rPr>
              <a:t>có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thể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0">
                <a:solidFill>
                  <a:srgbClr val="FFFFFF"/>
                </a:solidFill>
                <a:latin typeface="Tahoma"/>
                <a:cs typeface="Tahoma"/>
              </a:rPr>
              <a:t>là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5">
                <a:solidFill>
                  <a:srgbClr val="FFFFFF"/>
                </a:solidFill>
                <a:latin typeface="Tahoma"/>
                <a:cs typeface="Tahoma"/>
              </a:rPr>
              <a:t>một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00">
                <a:solidFill>
                  <a:srgbClr val="FFFFFF"/>
                </a:solidFill>
                <a:latin typeface="Tahoma"/>
                <a:cs typeface="Tahoma"/>
              </a:rPr>
              <a:t>bộ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5">
                <a:solidFill>
                  <a:srgbClr val="FFFFFF"/>
                </a:solidFill>
                <a:latin typeface="Tahoma"/>
                <a:cs typeface="Tahoma"/>
              </a:rPr>
              <a:t>chỉ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0">
                <a:solidFill>
                  <a:srgbClr val="FFFFFF"/>
                </a:solidFill>
                <a:latin typeface="Tahoma"/>
                <a:cs typeface="Tahoma"/>
              </a:rPr>
              <a:t>ra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90">
                <a:solidFill>
                  <a:srgbClr val="FFFFFF"/>
                </a:solidFill>
                <a:latin typeface="Tahoma"/>
                <a:cs typeface="Tahoma"/>
              </a:rPr>
              <a:t>cách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00">
                <a:solidFill>
                  <a:srgbClr val="FFFFFF"/>
                </a:solidFill>
                <a:latin typeface="Tahoma"/>
                <a:cs typeface="Tahoma"/>
              </a:rPr>
              <a:t>bố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0">
                <a:solidFill>
                  <a:srgbClr val="FFFFFF"/>
                </a:solidFill>
                <a:latin typeface="Tahoma"/>
                <a:cs typeface="Tahoma"/>
              </a:rPr>
              <a:t>trí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0">
                <a:solidFill>
                  <a:srgbClr val="FFFFFF"/>
                </a:solidFill>
                <a:latin typeface="Tahoma"/>
                <a:cs typeface="Tahoma"/>
              </a:rPr>
              <a:t>của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0">
                <a:solidFill>
                  <a:srgbClr val="FFFFFF"/>
                </a:solidFill>
                <a:latin typeface="Tahoma"/>
                <a:cs typeface="Tahoma"/>
              </a:rPr>
              <a:t>"việc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0">
                <a:solidFill>
                  <a:srgbClr val="FFFFFF"/>
                </a:solidFill>
                <a:latin typeface="Tahoma"/>
                <a:cs typeface="Tahoma"/>
              </a:rPr>
              <a:t>xếp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85">
                <a:solidFill>
                  <a:srgbClr val="FFFFFF"/>
                </a:solidFill>
                <a:latin typeface="Tahoma"/>
                <a:cs typeface="Tahoma"/>
              </a:rPr>
              <a:t>gạch"</a:t>
            </a:r>
            <a:endParaRPr sz="3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9A898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1028699" y="541825"/>
            <a:ext cx="974090" cy="974090"/>
            <a:chOff x="1028699" y="541825"/>
            <a:chExt cx="974090" cy="974090"/>
          </a:xfrm>
        </p:grpSpPr>
        <p:sp>
          <p:nvSpPr>
            <p:cNvPr id="4" name="object 4" descr=""/>
            <p:cNvSpPr/>
            <p:nvPr/>
          </p:nvSpPr>
          <p:spPr>
            <a:xfrm>
              <a:off x="1028699" y="541825"/>
              <a:ext cx="974090" cy="974090"/>
            </a:xfrm>
            <a:custGeom>
              <a:avLst/>
              <a:gdLst/>
              <a:ahLst/>
              <a:cxnLst/>
              <a:rect l="l" t="t" r="r" b="b"/>
              <a:pathLst>
                <a:path w="974089" h="974090">
                  <a:moveTo>
                    <a:pt x="486874" y="973749"/>
                  </a:moveTo>
                  <a:lnTo>
                    <a:pt x="439985" y="971520"/>
                  </a:lnTo>
                  <a:lnTo>
                    <a:pt x="394357" y="964970"/>
                  </a:lnTo>
                  <a:lnTo>
                    <a:pt x="350194" y="954302"/>
                  </a:lnTo>
                  <a:lnTo>
                    <a:pt x="307699" y="939721"/>
                  </a:lnTo>
                  <a:lnTo>
                    <a:pt x="267078" y="921430"/>
                  </a:lnTo>
                  <a:lnTo>
                    <a:pt x="228535" y="899634"/>
                  </a:lnTo>
                  <a:lnTo>
                    <a:pt x="192272" y="874537"/>
                  </a:lnTo>
                  <a:lnTo>
                    <a:pt x="158495" y="846342"/>
                  </a:lnTo>
                  <a:lnTo>
                    <a:pt x="127407" y="815254"/>
                  </a:lnTo>
                  <a:lnTo>
                    <a:pt x="99212" y="781476"/>
                  </a:lnTo>
                  <a:lnTo>
                    <a:pt x="74114" y="745214"/>
                  </a:lnTo>
                  <a:lnTo>
                    <a:pt x="52318" y="706670"/>
                  </a:lnTo>
                  <a:lnTo>
                    <a:pt x="34028" y="666049"/>
                  </a:lnTo>
                  <a:lnTo>
                    <a:pt x="19446" y="623555"/>
                  </a:lnTo>
                  <a:lnTo>
                    <a:pt x="8779" y="579392"/>
                  </a:lnTo>
                  <a:lnTo>
                    <a:pt x="2228" y="533764"/>
                  </a:lnTo>
                  <a:lnTo>
                    <a:pt x="0" y="486874"/>
                  </a:lnTo>
                  <a:lnTo>
                    <a:pt x="2228" y="439985"/>
                  </a:lnTo>
                  <a:lnTo>
                    <a:pt x="8779" y="394357"/>
                  </a:lnTo>
                  <a:lnTo>
                    <a:pt x="19446" y="350194"/>
                  </a:lnTo>
                  <a:lnTo>
                    <a:pt x="34028" y="307699"/>
                  </a:lnTo>
                  <a:lnTo>
                    <a:pt x="52318" y="267078"/>
                  </a:lnTo>
                  <a:lnTo>
                    <a:pt x="74114" y="228535"/>
                  </a:lnTo>
                  <a:lnTo>
                    <a:pt x="99212" y="192272"/>
                  </a:lnTo>
                  <a:lnTo>
                    <a:pt x="127407" y="158495"/>
                  </a:lnTo>
                  <a:lnTo>
                    <a:pt x="158495" y="127407"/>
                  </a:lnTo>
                  <a:lnTo>
                    <a:pt x="192272" y="99212"/>
                  </a:lnTo>
                  <a:lnTo>
                    <a:pt x="228535" y="74114"/>
                  </a:lnTo>
                  <a:lnTo>
                    <a:pt x="267078" y="52318"/>
                  </a:lnTo>
                  <a:lnTo>
                    <a:pt x="307699" y="34028"/>
                  </a:lnTo>
                  <a:lnTo>
                    <a:pt x="350194" y="19446"/>
                  </a:lnTo>
                  <a:lnTo>
                    <a:pt x="394357" y="8779"/>
                  </a:lnTo>
                  <a:lnTo>
                    <a:pt x="439985" y="2228"/>
                  </a:lnTo>
                  <a:lnTo>
                    <a:pt x="486874" y="0"/>
                  </a:lnTo>
                  <a:lnTo>
                    <a:pt x="533764" y="2228"/>
                  </a:lnTo>
                  <a:lnTo>
                    <a:pt x="579392" y="8779"/>
                  </a:lnTo>
                  <a:lnTo>
                    <a:pt x="623555" y="19446"/>
                  </a:lnTo>
                  <a:lnTo>
                    <a:pt x="666049" y="34028"/>
                  </a:lnTo>
                  <a:lnTo>
                    <a:pt x="706670" y="52318"/>
                  </a:lnTo>
                  <a:lnTo>
                    <a:pt x="745214" y="74114"/>
                  </a:lnTo>
                  <a:lnTo>
                    <a:pt x="781476" y="99212"/>
                  </a:lnTo>
                  <a:lnTo>
                    <a:pt x="815254" y="127407"/>
                  </a:lnTo>
                  <a:lnTo>
                    <a:pt x="846342" y="158495"/>
                  </a:lnTo>
                  <a:lnTo>
                    <a:pt x="874537" y="192272"/>
                  </a:lnTo>
                  <a:lnTo>
                    <a:pt x="899634" y="228535"/>
                  </a:lnTo>
                  <a:lnTo>
                    <a:pt x="921430" y="267078"/>
                  </a:lnTo>
                  <a:lnTo>
                    <a:pt x="939721" y="307699"/>
                  </a:lnTo>
                  <a:lnTo>
                    <a:pt x="954302" y="350194"/>
                  </a:lnTo>
                  <a:lnTo>
                    <a:pt x="964970" y="394357"/>
                  </a:lnTo>
                  <a:lnTo>
                    <a:pt x="971520" y="439985"/>
                  </a:lnTo>
                  <a:lnTo>
                    <a:pt x="973749" y="486874"/>
                  </a:lnTo>
                  <a:lnTo>
                    <a:pt x="971520" y="533764"/>
                  </a:lnTo>
                  <a:lnTo>
                    <a:pt x="964970" y="579392"/>
                  </a:lnTo>
                  <a:lnTo>
                    <a:pt x="954302" y="623555"/>
                  </a:lnTo>
                  <a:lnTo>
                    <a:pt x="939721" y="666049"/>
                  </a:lnTo>
                  <a:lnTo>
                    <a:pt x="921430" y="706670"/>
                  </a:lnTo>
                  <a:lnTo>
                    <a:pt x="899634" y="745214"/>
                  </a:lnTo>
                  <a:lnTo>
                    <a:pt x="874537" y="781476"/>
                  </a:lnTo>
                  <a:lnTo>
                    <a:pt x="846342" y="815254"/>
                  </a:lnTo>
                  <a:lnTo>
                    <a:pt x="815254" y="846342"/>
                  </a:lnTo>
                  <a:lnTo>
                    <a:pt x="781476" y="874537"/>
                  </a:lnTo>
                  <a:lnTo>
                    <a:pt x="745214" y="899634"/>
                  </a:lnTo>
                  <a:lnTo>
                    <a:pt x="706670" y="921430"/>
                  </a:lnTo>
                  <a:lnTo>
                    <a:pt x="666049" y="939721"/>
                  </a:lnTo>
                  <a:lnTo>
                    <a:pt x="623555" y="954302"/>
                  </a:lnTo>
                  <a:lnTo>
                    <a:pt x="579392" y="964970"/>
                  </a:lnTo>
                  <a:lnTo>
                    <a:pt x="533764" y="971520"/>
                  </a:lnTo>
                  <a:lnTo>
                    <a:pt x="486874" y="973749"/>
                  </a:lnTo>
                  <a:close/>
                </a:path>
              </a:pathLst>
            </a:custGeom>
            <a:solidFill>
              <a:srgbClr val="32322F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119558" y="632682"/>
              <a:ext cx="792480" cy="792480"/>
            </a:xfrm>
            <a:custGeom>
              <a:avLst/>
              <a:gdLst/>
              <a:ahLst/>
              <a:cxnLst/>
              <a:rect l="l" t="t" r="r" b="b"/>
              <a:pathLst>
                <a:path w="792480" h="792480">
                  <a:moveTo>
                    <a:pt x="396016" y="792033"/>
                  </a:moveTo>
                  <a:lnTo>
                    <a:pt x="349832" y="789369"/>
                  </a:lnTo>
                  <a:lnTo>
                    <a:pt x="305213" y="781574"/>
                  </a:lnTo>
                  <a:lnTo>
                    <a:pt x="262456" y="768946"/>
                  </a:lnTo>
                  <a:lnTo>
                    <a:pt x="221858" y="751781"/>
                  </a:lnTo>
                  <a:lnTo>
                    <a:pt x="183716" y="730378"/>
                  </a:lnTo>
                  <a:lnTo>
                    <a:pt x="148328" y="705033"/>
                  </a:lnTo>
                  <a:lnTo>
                    <a:pt x="115990" y="676042"/>
                  </a:lnTo>
                  <a:lnTo>
                    <a:pt x="87000" y="643705"/>
                  </a:lnTo>
                  <a:lnTo>
                    <a:pt x="61655" y="608316"/>
                  </a:lnTo>
                  <a:lnTo>
                    <a:pt x="40251" y="570174"/>
                  </a:lnTo>
                  <a:lnTo>
                    <a:pt x="23087" y="529576"/>
                  </a:lnTo>
                  <a:lnTo>
                    <a:pt x="10459" y="486819"/>
                  </a:lnTo>
                  <a:lnTo>
                    <a:pt x="2664" y="442200"/>
                  </a:lnTo>
                  <a:lnTo>
                    <a:pt x="0" y="396016"/>
                  </a:lnTo>
                  <a:lnTo>
                    <a:pt x="2664" y="349832"/>
                  </a:lnTo>
                  <a:lnTo>
                    <a:pt x="10459" y="305213"/>
                  </a:lnTo>
                  <a:lnTo>
                    <a:pt x="23087" y="262456"/>
                  </a:lnTo>
                  <a:lnTo>
                    <a:pt x="40251" y="221858"/>
                  </a:lnTo>
                  <a:lnTo>
                    <a:pt x="61655" y="183716"/>
                  </a:lnTo>
                  <a:lnTo>
                    <a:pt x="87000" y="148328"/>
                  </a:lnTo>
                  <a:lnTo>
                    <a:pt x="115990" y="115990"/>
                  </a:lnTo>
                  <a:lnTo>
                    <a:pt x="148328" y="87000"/>
                  </a:lnTo>
                  <a:lnTo>
                    <a:pt x="183716" y="61655"/>
                  </a:lnTo>
                  <a:lnTo>
                    <a:pt x="221858" y="40251"/>
                  </a:lnTo>
                  <a:lnTo>
                    <a:pt x="262456" y="23087"/>
                  </a:lnTo>
                  <a:lnTo>
                    <a:pt x="305213" y="10459"/>
                  </a:lnTo>
                  <a:lnTo>
                    <a:pt x="349832" y="2664"/>
                  </a:lnTo>
                  <a:lnTo>
                    <a:pt x="396016" y="0"/>
                  </a:lnTo>
                  <a:lnTo>
                    <a:pt x="442200" y="2664"/>
                  </a:lnTo>
                  <a:lnTo>
                    <a:pt x="486819" y="10459"/>
                  </a:lnTo>
                  <a:lnTo>
                    <a:pt x="529577" y="23087"/>
                  </a:lnTo>
                  <a:lnTo>
                    <a:pt x="570175" y="40251"/>
                  </a:lnTo>
                  <a:lnTo>
                    <a:pt x="608316" y="61655"/>
                  </a:lnTo>
                  <a:lnTo>
                    <a:pt x="643705" y="87000"/>
                  </a:lnTo>
                  <a:lnTo>
                    <a:pt x="676043" y="115990"/>
                  </a:lnTo>
                  <a:lnTo>
                    <a:pt x="705033" y="148328"/>
                  </a:lnTo>
                  <a:lnTo>
                    <a:pt x="730378" y="183716"/>
                  </a:lnTo>
                  <a:lnTo>
                    <a:pt x="751782" y="221858"/>
                  </a:lnTo>
                  <a:lnTo>
                    <a:pt x="768946" y="262456"/>
                  </a:lnTo>
                  <a:lnTo>
                    <a:pt x="781574" y="305213"/>
                  </a:lnTo>
                  <a:lnTo>
                    <a:pt x="789369" y="349832"/>
                  </a:lnTo>
                  <a:lnTo>
                    <a:pt x="792033" y="396016"/>
                  </a:lnTo>
                  <a:lnTo>
                    <a:pt x="789369" y="442200"/>
                  </a:lnTo>
                  <a:lnTo>
                    <a:pt x="781574" y="486819"/>
                  </a:lnTo>
                  <a:lnTo>
                    <a:pt x="768946" y="529576"/>
                  </a:lnTo>
                  <a:lnTo>
                    <a:pt x="751782" y="570174"/>
                  </a:lnTo>
                  <a:lnTo>
                    <a:pt x="730378" y="608316"/>
                  </a:lnTo>
                  <a:lnTo>
                    <a:pt x="705033" y="643705"/>
                  </a:lnTo>
                  <a:lnTo>
                    <a:pt x="676043" y="676042"/>
                  </a:lnTo>
                  <a:lnTo>
                    <a:pt x="643705" y="705033"/>
                  </a:lnTo>
                  <a:lnTo>
                    <a:pt x="608316" y="730378"/>
                  </a:lnTo>
                  <a:lnTo>
                    <a:pt x="570175" y="751781"/>
                  </a:lnTo>
                  <a:lnTo>
                    <a:pt x="529577" y="768946"/>
                  </a:lnTo>
                  <a:lnTo>
                    <a:pt x="486819" y="781574"/>
                  </a:lnTo>
                  <a:lnTo>
                    <a:pt x="442200" y="789369"/>
                  </a:lnTo>
                  <a:lnTo>
                    <a:pt x="396016" y="792033"/>
                  </a:lnTo>
                  <a:close/>
                </a:path>
              </a:pathLst>
            </a:custGeom>
            <a:solidFill>
              <a:srgbClr val="32322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425945" y="839058"/>
            <a:ext cx="17907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65">
                <a:solidFill>
                  <a:srgbClr val="FFFFFF"/>
                </a:solidFill>
                <a:latin typeface="Lucida Sans Unicode"/>
                <a:cs typeface="Lucida Sans Unicode"/>
              </a:rPr>
              <a:t>2</a:t>
            </a:r>
            <a:endParaRPr sz="21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50"/>
              <a:t>Thao</a:t>
            </a:r>
            <a:r>
              <a:rPr dirty="0" spc="-105"/>
              <a:t> </a:t>
            </a:r>
            <a:r>
              <a:rPr dirty="0" spc="210"/>
              <a:t>tác</a:t>
            </a:r>
            <a:r>
              <a:rPr dirty="0" spc="-105"/>
              <a:t> </a:t>
            </a:r>
            <a:r>
              <a:rPr dirty="0"/>
              <a:t>M</a:t>
            </a:r>
            <a:r>
              <a:rPr dirty="0">
                <a:latin typeface="Arial"/>
                <a:cs typeface="Arial"/>
              </a:rPr>
              <a:t>ả</a:t>
            </a:r>
            <a:r>
              <a:rPr dirty="0"/>
              <a:t>ng</a:t>
            </a:r>
            <a:r>
              <a:rPr dirty="0" spc="-105"/>
              <a:t> </a:t>
            </a:r>
            <a:r>
              <a:rPr dirty="0" spc="114"/>
              <a:t>Nâng</a:t>
            </a:r>
            <a:r>
              <a:rPr dirty="0" spc="-105"/>
              <a:t> </a:t>
            </a:r>
            <a:r>
              <a:rPr dirty="0" spc="250"/>
              <a:t>cao</a:t>
            </a:r>
            <a:r>
              <a:rPr dirty="0" spc="-105"/>
              <a:t> </a:t>
            </a:r>
            <a:r>
              <a:rPr dirty="0" spc="180"/>
              <a:t>(Advanced</a:t>
            </a:r>
            <a:r>
              <a:rPr dirty="0" spc="-105"/>
              <a:t> </a:t>
            </a:r>
            <a:r>
              <a:rPr dirty="0"/>
              <a:t>Array</a:t>
            </a:r>
            <a:r>
              <a:rPr dirty="0" spc="-105"/>
              <a:t> </a:t>
            </a:r>
            <a:r>
              <a:rPr dirty="0" spc="70"/>
              <a:t>Manipulation)</a:t>
            </a:r>
          </a:p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87049" y="2571155"/>
            <a:ext cx="152400" cy="15239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87049" y="4371380"/>
            <a:ext cx="152400" cy="152399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87049" y="5571530"/>
            <a:ext cx="152400" cy="152399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87049" y="6171605"/>
            <a:ext cx="152400" cy="152399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87049" y="7971830"/>
            <a:ext cx="152400" cy="152399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1502874" y="1663734"/>
            <a:ext cx="15423515" cy="722630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dirty="0" u="heavy" sz="3400" spc="-85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Tương</a:t>
            </a:r>
            <a:r>
              <a:rPr dirty="0" u="heavy" sz="3400" spc="-155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3400" spc="-30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đương</a:t>
            </a:r>
            <a:r>
              <a:rPr dirty="0" u="heavy" sz="3400" spc="-60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3400" spc="-45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chỉ</a:t>
            </a:r>
            <a:r>
              <a:rPr dirty="0" u="heavy" sz="3400" spc="-195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3400" spc="-204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số</a:t>
            </a:r>
            <a:r>
              <a:rPr dirty="0" u="heavy" sz="3400" spc="-65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3400" spc="50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ưa</a:t>
            </a:r>
            <a:r>
              <a:rPr dirty="0" u="heavy" sz="3400" spc="-220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3400" spc="-20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thích:</a:t>
            </a:r>
            <a:r>
              <a:rPr dirty="0" u="heavy" sz="3400" spc="-215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3400" spc="210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l</a:t>
            </a:r>
            <a:r>
              <a:rPr dirty="0" u="heavy" sz="3400" spc="204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ấ</a:t>
            </a:r>
            <a:r>
              <a:rPr dirty="0" u="heavy" sz="3400" spc="-455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y</a:t>
            </a:r>
            <a:r>
              <a:rPr dirty="0" u="heavy" sz="3400" spc="310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3400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và</a:t>
            </a:r>
            <a:r>
              <a:rPr dirty="0" u="heavy" sz="3400" spc="-220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3400" spc="75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đặt</a:t>
            </a:r>
            <a:endParaRPr sz="3400">
              <a:latin typeface="Arial"/>
              <a:cs typeface="Arial"/>
            </a:endParaRPr>
          </a:p>
          <a:p>
            <a:pPr algn="just" marL="746125" marR="65405">
              <a:lnSpc>
                <a:spcPct val="115799"/>
              </a:lnSpc>
            </a:pPr>
            <a:r>
              <a:rPr dirty="0" sz="3400" spc="229">
                <a:solidFill>
                  <a:srgbClr val="FFFFFF"/>
                </a:solidFill>
                <a:latin typeface="Tahoma"/>
                <a:cs typeface="Tahoma"/>
              </a:rPr>
              <a:t>Như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0">
                <a:solidFill>
                  <a:srgbClr val="FFFFFF"/>
                </a:solidFill>
                <a:latin typeface="Tahoma"/>
                <a:cs typeface="Tahoma"/>
              </a:rPr>
              <a:t>bạn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0">
                <a:solidFill>
                  <a:srgbClr val="FFFFFF"/>
                </a:solidFill>
                <a:latin typeface="Tahoma"/>
                <a:cs typeface="Tahoma"/>
              </a:rPr>
              <a:t>có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thể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80">
                <a:solidFill>
                  <a:srgbClr val="FFFFFF"/>
                </a:solidFill>
                <a:latin typeface="Tahoma"/>
                <a:cs typeface="Tahoma"/>
              </a:rPr>
              <a:t>nhớ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0">
                <a:solidFill>
                  <a:srgbClr val="FFFFFF"/>
                </a:solidFill>
                <a:latin typeface="Tahoma"/>
                <a:cs typeface="Tahoma"/>
              </a:rPr>
              <a:t>lại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từ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75">
                <a:solidFill>
                  <a:srgbClr val="FFFFFF"/>
                </a:solidFill>
                <a:latin typeface="Tahoma"/>
                <a:cs typeface="Tahoma"/>
              </a:rPr>
              <a:t>Chương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>
                <a:solidFill>
                  <a:srgbClr val="FFFFFF"/>
                </a:solidFill>
                <a:latin typeface="Tahoma"/>
                <a:cs typeface="Tahoma"/>
              </a:rPr>
              <a:t>4,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5">
                <a:solidFill>
                  <a:srgbClr val="FFFFFF"/>
                </a:solidFill>
                <a:latin typeface="Tahoma"/>
                <a:cs typeface="Tahoma"/>
              </a:rPr>
              <a:t>một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90">
                <a:solidFill>
                  <a:srgbClr val="FFFFFF"/>
                </a:solidFill>
                <a:latin typeface="Tahoma"/>
                <a:cs typeface="Tahoma"/>
              </a:rPr>
              <a:t>cách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để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75">
                <a:solidFill>
                  <a:srgbClr val="FFFFFF"/>
                </a:solidFill>
                <a:latin typeface="Tahoma"/>
                <a:cs typeface="Tahoma"/>
              </a:rPr>
              <a:t>lấy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5">
                <a:solidFill>
                  <a:srgbClr val="FFFFFF"/>
                </a:solidFill>
                <a:latin typeface="Tahoma"/>
                <a:cs typeface="Tahoma"/>
              </a:rPr>
              <a:t>và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0">
                <a:solidFill>
                  <a:srgbClr val="FFFFFF"/>
                </a:solidFill>
                <a:latin typeface="Tahoma"/>
                <a:cs typeface="Tahoma"/>
              </a:rPr>
              <a:t>thiết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5">
                <a:solidFill>
                  <a:srgbClr val="FFFFFF"/>
                </a:solidFill>
                <a:latin typeface="Tahoma"/>
                <a:cs typeface="Tahoma"/>
              </a:rPr>
              <a:t>lập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0">
                <a:solidFill>
                  <a:srgbClr val="FFFFFF"/>
                </a:solidFill>
                <a:latin typeface="Tahoma"/>
                <a:cs typeface="Tahoma"/>
              </a:rPr>
              <a:t>các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0">
                <a:solidFill>
                  <a:srgbClr val="FFFFFF"/>
                </a:solidFill>
                <a:latin typeface="Tahoma"/>
                <a:cs typeface="Tahoma"/>
              </a:rPr>
              <a:t>tập </a:t>
            </a:r>
            <a:r>
              <a:rPr dirty="0" sz="3400" spc="185">
                <a:solidFill>
                  <a:srgbClr val="FFFFFF"/>
                </a:solidFill>
                <a:latin typeface="Tahoma"/>
                <a:cs typeface="Tahoma"/>
              </a:rPr>
              <a:t>hợp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0">
                <a:solidFill>
                  <a:srgbClr val="FFFFFF"/>
                </a:solidFill>
                <a:latin typeface="Tahoma"/>
                <a:cs typeface="Tahoma"/>
              </a:rPr>
              <a:t>con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0">
                <a:solidFill>
                  <a:srgbClr val="FFFFFF"/>
                </a:solidFill>
                <a:latin typeface="Tahoma"/>
                <a:cs typeface="Tahoma"/>
              </a:rPr>
              <a:t>của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00">
                <a:solidFill>
                  <a:srgbClr val="FFFFFF"/>
                </a:solidFill>
                <a:latin typeface="Tahoma"/>
                <a:cs typeface="Tahoma"/>
              </a:rPr>
              <a:t>mảng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0">
                <a:solidFill>
                  <a:srgbClr val="FFFFFF"/>
                </a:solidFill>
                <a:latin typeface="Tahoma"/>
                <a:cs typeface="Tahoma"/>
              </a:rPr>
              <a:t>là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5">
                <a:solidFill>
                  <a:srgbClr val="FFFFFF"/>
                </a:solidFill>
                <a:latin typeface="Tahoma"/>
                <a:cs typeface="Tahoma"/>
              </a:rPr>
              <a:t>lập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5">
                <a:solidFill>
                  <a:srgbClr val="FFFFFF"/>
                </a:solidFill>
                <a:latin typeface="Tahoma"/>
                <a:cs typeface="Tahoma"/>
              </a:rPr>
              <a:t>chỉ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80">
                <a:solidFill>
                  <a:srgbClr val="FFFFFF"/>
                </a:solidFill>
                <a:latin typeface="Tahoma"/>
                <a:cs typeface="Tahoma"/>
              </a:rPr>
              <a:t>mục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0">
                <a:solidFill>
                  <a:srgbClr val="FFFFFF"/>
                </a:solidFill>
                <a:latin typeface="Tahoma"/>
                <a:cs typeface="Tahoma"/>
              </a:rPr>
              <a:t>phức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tạp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70">
                <a:solidFill>
                  <a:srgbClr val="FFFFFF"/>
                </a:solidFill>
                <a:latin typeface="Tahoma"/>
                <a:cs typeface="Tahoma"/>
              </a:rPr>
              <a:t>bằng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90">
                <a:solidFill>
                  <a:srgbClr val="FFFFFF"/>
                </a:solidFill>
                <a:latin typeface="Tahoma"/>
                <a:cs typeface="Tahoma"/>
              </a:rPr>
              <a:t>cách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0">
                <a:solidFill>
                  <a:srgbClr val="FFFFFF"/>
                </a:solidFill>
                <a:latin typeface="Tahoma"/>
                <a:cs typeface="Tahoma"/>
              </a:rPr>
              <a:t>sử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0">
                <a:solidFill>
                  <a:srgbClr val="FFFFFF"/>
                </a:solidFill>
                <a:latin typeface="Tahoma"/>
                <a:cs typeface="Tahoma"/>
              </a:rPr>
              <a:t>dụng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0">
                <a:solidFill>
                  <a:srgbClr val="FFFFFF"/>
                </a:solidFill>
                <a:latin typeface="Tahoma"/>
                <a:cs typeface="Tahoma"/>
              </a:rPr>
              <a:t>các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80">
                <a:solidFill>
                  <a:srgbClr val="FFFFFF"/>
                </a:solidFill>
                <a:latin typeface="Tahoma"/>
                <a:cs typeface="Tahoma"/>
              </a:rPr>
              <a:t>mảng </a:t>
            </a: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số</a:t>
            </a:r>
            <a:r>
              <a:rPr dirty="0" sz="3400" spc="-1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75">
                <a:solidFill>
                  <a:srgbClr val="FFFFFF"/>
                </a:solidFill>
                <a:latin typeface="Tahoma"/>
                <a:cs typeface="Tahoma"/>
              </a:rPr>
              <a:t>nguyên:</a:t>
            </a:r>
            <a:endParaRPr sz="3400">
              <a:latin typeface="Tahoma"/>
              <a:cs typeface="Tahoma"/>
            </a:endParaRPr>
          </a:p>
          <a:p>
            <a:pPr algn="just" marL="746125" marR="147955">
              <a:lnSpc>
                <a:spcPct val="115799"/>
              </a:lnSpc>
            </a:pP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Có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5">
                <a:solidFill>
                  <a:srgbClr val="FFFFFF"/>
                </a:solidFill>
                <a:latin typeface="Tahoma"/>
                <a:cs typeface="Tahoma"/>
              </a:rPr>
              <a:t>những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0">
                <a:solidFill>
                  <a:srgbClr val="FFFFFF"/>
                </a:solidFill>
                <a:latin typeface="Tahoma"/>
                <a:cs typeface="Tahoma"/>
              </a:rPr>
              <a:t>phương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70">
                <a:solidFill>
                  <a:srgbClr val="FFFFFF"/>
                </a:solidFill>
                <a:latin typeface="Tahoma"/>
                <a:cs typeface="Tahoma"/>
              </a:rPr>
              <a:t>pháp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5">
                <a:solidFill>
                  <a:srgbClr val="FFFFFF"/>
                </a:solidFill>
                <a:latin typeface="Tahoma"/>
                <a:cs typeface="Tahoma"/>
              </a:rPr>
              <a:t>ndarray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95">
                <a:solidFill>
                  <a:srgbClr val="FFFFFF"/>
                </a:solidFill>
                <a:latin typeface="Tahoma"/>
                <a:cs typeface="Tahoma"/>
              </a:rPr>
              <a:t>thay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thế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5">
                <a:solidFill>
                  <a:srgbClr val="FFFFFF"/>
                </a:solidFill>
                <a:latin typeface="Tahoma"/>
                <a:cs typeface="Tahoma"/>
              </a:rPr>
              <a:t>hữu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0">
                <a:solidFill>
                  <a:srgbClr val="FFFFFF"/>
                </a:solidFill>
                <a:latin typeface="Tahoma"/>
                <a:cs typeface="Tahoma"/>
              </a:rPr>
              <a:t>ích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5">
                <a:solidFill>
                  <a:srgbClr val="FFFFFF"/>
                </a:solidFill>
                <a:latin typeface="Tahoma"/>
                <a:cs typeface="Tahoma"/>
              </a:rPr>
              <a:t>trong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70">
                <a:solidFill>
                  <a:srgbClr val="FFFFFF"/>
                </a:solidFill>
                <a:latin typeface="Tahoma"/>
                <a:cs typeface="Tahoma"/>
              </a:rPr>
              <a:t>trường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85">
                <a:solidFill>
                  <a:srgbClr val="FFFFFF"/>
                </a:solidFill>
                <a:latin typeface="Tahoma"/>
                <a:cs typeface="Tahoma"/>
              </a:rPr>
              <a:t>hợp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5">
                <a:solidFill>
                  <a:srgbClr val="FFFFFF"/>
                </a:solidFill>
                <a:latin typeface="Tahoma"/>
                <a:cs typeface="Tahoma"/>
              </a:rPr>
              <a:t>đặc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biệt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5">
                <a:solidFill>
                  <a:srgbClr val="FFFFFF"/>
                </a:solidFill>
                <a:latin typeface="Tahoma"/>
                <a:cs typeface="Tahoma"/>
              </a:rPr>
              <a:t>chỉ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0">
                <a:solidFill>
                  <a:srgbClr val="FFFFFF"/>
                </a:solidFill>
                <a:latin typeface="Tahoma"/>
                <a:cs typeface="Tahoma"/>
              </a:rPr>
              <a:t>thực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5">
                <a:solidFill>
                  <a:srgbClr val="FFFFFF"/>
                </a:solidFill>
                <a:latin typeface="Tahoma"/>
                <a:cs typeface="Tahoma"/>
              </a:rPr>
              <a:t>hiện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0">
                <a:solidFill>
                  <a:srgbClr val="FFFFFF"/>
                </a:solidFill>
                <a:latin typeface="Tahoma"/>
                <a:cs typeface="Tahoma"/>
              </a:rPr>
              <a:t>lựa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chọn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5">
                <a:solidFill>
                  <a:srgbClr val="FFFFFF"/>
                </a:solidFill>
                <a:latin typeface="Tahoma"/>
                <a:cs typeface="Tahoma"/>
              </a:rPr>
              <a:t>trên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5">
                <a:solidFill>
                  <a:srgbClr val="FFFFFF"/>
                </a:solidFill>
                <a:latin typeface="Tahoma"/>
                <a:cs typeface="Tahoma"/>
              </a:rPr>
              <a:t>một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4">
                <a:solidFill>
                  <a:srgbClr val="FFFFFF"/>
                </a:solidFill>
                <a:latin typeface="Tahoma"/>
                <a:cs typeface="Tahoma"/>
              </a:rPr>
              <a:t>trục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0">
                <a:solidFill>
                  <a:srgbClr val="FFFFFF"/>
                </a:solidFill>
                <a:latin typeface="Tahoma"/>
                <a:cs typeface="Tahoma"/>
              </a:rPr>
              <a:t>duy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4">
                <a:solidFill>
                  <a:srgbClr val="FFFFFF"/>
                </a:solidFill>
                <a:latin typeface="Tahoma"/>
                <a:cs typeface="Tahoma"/>
              </a:rPr>
              <a:t>nhất</a:t>
            </a:r>
            <a:endParaRPr sz="3400">
              <a:latin typeface="Tahoma"/>
              <a:cs typeface="Tahoma"/>
            </a:endParaRPr>
          </a:p>
          <a:p>
            <a:pPr algn="just" marL="746125">
              <a:lnSpc>
                <a:spcPct val="100000"/>
              </a:lnSpc>
              <a:spcBef>
                <a:spcPts val="645"/>
              </a:spcBef>
            </a:pPr>
            <a:r>
              <a:rPr dirty="0" sz="3400" spc="105">
                <a:solidFill>
                  <a:srgbClr val="FFFFFF"/>
                </a:solidFill>
                <a:latin typeface="Tahoma"/>
                <a:cs typeface="Tahoma"/>
              </a:rPr>
              <a:t>Để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0">
                <a:solidFill>
                  <a:srgbClr val="FFFFFF"/>
                </a:solidFill>
                <a:latin typeface="Tahoma"/>
                <a:cs typeface="Tahoma"/>
              </a:rPr>
              <a:t>sử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0">
                <a:solidFill>
                  <a:srgbClr val="FFFFFF"/>
                </a:solidFill>
                <a:latin typeface="Tahoma"/>
                <a:cs typeface="Tahoma"/>
              </a:rPr>
              <a:t>dụng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5">
                <a:solidFill>
                  <a:srgbClr val="FFFFFF"/>
                </a:solidFill>
                <a:latin typeface="Tahoma"/>
                <a:cs typeface="Tahoma"/>
              </a:rPr>
              <a:t>theo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0">
                <a:solidFill>
                  <a:srgbClr val="FFFFFF"/>
                </a:solidFill>
                <a:latin typeface="Tahoma"/>
                <a:cs typeface="Tahoma"/>
              </a:rPr>
              <a:t>các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4">
                <a:solidFill>
                  <a:srgbClr val="FFFFFF"/>
                </a:solidFill>
                <a:latin typeface="Tahoma"/>
                <a:cs typeface="Tahoma"/>
              </a:rPr>
              <a:t>trục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0">
                <a:solidFill>
                  <a:srgbClr val="FFFFFF"/>
                </a:solidFill>
                <a:latin typeface="Tahoma"/>
                <a:cs typeface="Tahoma"/>
              </a:rPr>
              <a:t>khác,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0">
                <a:solidFill>
                  <a:srgbClr val="FFFFFF"/>
                </a:solidFill>
                <a:latin typeface="Tahoma"/>
                <a:cs typeface="Tahoma"/>
              </a:rPr>
              <a:t>bạn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0">
                <a:solidFill>
                  <a:srgbClr val="FFFFFF"/>
                </a:solidFill>
                <a:latin typeface="Tahoma"/>
                <a:cs typeface="Tahoma"/>
              </a:rPr>
              <a:t>có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thể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truyền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từ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khóa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80">
                <a:solidFill>
                  <a:srgbClr val="FFFFFF"/>
                </a:solidFill>
                <a:latin typeface="Tahoma"/>
                <a:cs typeface="Tahoma"/>
              </a:rPr>
              <a:t>axis</a:t>
            </a:r>
            <a:endParaRPr sz="3400">
              <a:latin typeface="Tahoma"/>
              <a:cs typeface="Tahoma"/>
            </a:endParaRPr>
          </a:p>
          <a:p>
            <a:pPr algn="just" marL="746125" marR="257810">
              <a:lnSpc>
                <a:spcPct val="115799"/>
              </a:lnSpc>
            </a:pPr>
            <a:r>
              <a:rPr dirty="0" sz="3400" spc="155">
                <a:solidFill>
                  <a:srgbClr val="FFFFFF"/>
                </a:solidFill>
                <a:latin typeface="Tahoma"/>
                <a:cs typeface="Tahoma"/>
              </a:rPr>
              <a:t>put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75">
                <a:solidFill>
                  <a:srgbClr val="FFFFFF"/>
                </a:solidFill>
                <a:latin typeface="Tahoma"/>
                <a:cs typeface="Tahoma"/>
              </a:rPr>
              <a:t>không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0">
                <a:solidFill>
                  <a:srgbClr val="FFFFFF"/>
                </a:solidFill>
                <a:latin typeface="Tahoma"/>
                <a:cs typeface="Tahoma"/>
              </a:rPr>
              <a:t>chấp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5">
                <a:solidFill>
                  <a:srgbClr val="FFFFFF"/>
                </a:solidFill>
                <a:latin typeface="Tahoma"/>
                <a:cs typeface="Tahoma"/>
              </a:rPr>
              <a:t>nhận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0">
                <a:solidFill>
                  <a:srgbClr val="FFFFFF"/>
                </a:solidFill>
                <a:latin typeface="Tahoma"/>
                <a:cs typeface="Tahoma"/>
              </a:rPr>
              <a:t>đối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số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4">
                <a:solidFill>
                  <a:srgbClr val="FFFFFF"/>
                </a:solidFill>
                <a:latin typeface="Tahoma"/>
                <a:cs typeface="Tahoma"/>
              </a:rPr>
              <a:t>trục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04">
                <a:solidFill>
                  <a:srgbClr val="FFFFFF"/>
                </a:solidFill>
                <a:latin typeface="Tahoma"/>
                <a:cs typeface="Tahoma"/>
              </a:rPr>
              <a:t>mà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95">
                <a:solidFill>
                  <a:srgbClr val="FFFFFF"/>
                </a:solidFill>
                <a:latin typeface="Tahoma"/>
                <a:cs typeface="Tahoma"/>
              </a:rPr>
              <a:t>thay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0">
                <a:solidFill>
                  <a:srgbClr val="FFFFFF"/>
                </a:solidFill>
                <a:latin typeface="Tahoma"/>
                <a:cs typeface="Tahoma"/>
              </a:rPr>
              <a:t>vào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5">
                <a:solidFill>
                  <a:srgbClr val="FFFFFF"/>
                </a:solidFill>
                <a:latin typeface="Tahoma"/>
                <a:cs typeface="Tahoma"/>
              </a:rPr>
              <a:t>đó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5">
                <a:solidFill>
                  <a:srgbClr val="FFFFFF"/>
                </a:solidFill>
                <a:latin typeface="Tahoma"/>
                <a:cs typeface="Tahoma"/>
              </a:rPr>
              <a:t>lập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5">
                <a:solidFill>
                  <a:srgbClr val="FFFFFF"/>
                </a:solidFill>
                <a:latin typeface="Tahoma"/>
                <a:cs typeface="Tahoma"/>
              </a:rPr>
              <a:t>chỉ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80">
                <a:solidFill>
                  <a:srgbClr val="FFFFFF"/>
                </a:solidFill>
                <a:latin typeface="Tahoma"/>
                <a:cs typeface="Tahoma"/>
              </a:rPr>
              <a:t>mục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0">
                <a:solidFill>
                  <a:srgbClr val="FFFFFF"/>
                </a:solidFill>
                <a:latin typeface="Tahoma"/>
                <a:cs typeface="Tahoma"/>
              </a:rPr>
              <a:t>vào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5">
                <a:solidFill>
                  <a:srgbClr val="FFFFFF"/>
                </a:solidFill>
                <a:latin typeface="Tahoma"/>
                <a:cs typeface="Tahoma"/>
              </a:rPr>
              <a:t>phiên </a:t>
            </a:r>
            <a:r>
              <a:rPr dirty="0" sz="3400" spc="160">
                <a:solidFill>
                  <a:srgbClr val="FFFFFF"/>
                </a:solidFill>
                <a:latin typeface="Tahoma"/>
                <a:cs typeface="Tahoma"/>
              </a:rPr>
              <a:t>bản</a:t>
            </a:r>
            <a:r>
              <a:rPr dirty="0" sz="3400" spc="-1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75">
                <a:solidFill>
                  <a:srgbClr val="FFFFFF"/>
                </a:solidFill>
                <a:latin typeface="Tahoma"/>
                <a:cs typeface="Tahoma"/>
              </a:rPr>
              <a:t>phẳng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75">
                <a:solidFill>
                  <a:srgbClr val="FFFFFF"/>
                </a:solidFill>
                <a:latin typeface="Tahoma"/>
                <a:cs typeface="Tahoma"/>
              </a:rPr>
              <a:t>(một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85">
                <a:solidFill>
                  <a:srgbClr val="FFFFFF"/>
                </a:solidFill>
                <a:latin typeface="Tahoma"/>
                <a:cs typeface="Tahoma"/>
              </a:rPr>
              <a:t>chiều,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5">
                <a:solidFill>
                  <a:srgbClr val="FFFFFF"/>
                </a:solidFill>
                <a:latin typeface="Tahoma"/>
                <a:cs typeface="Tahoma"/>
              </a:rPr>
              <a:t>theo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0">
                <a:solidFill>
                  <a:srgbClr val="FFFFFF"/>
                </a:solidFill>
                <a:latin typeface="Tahoma"/>
                <a:cs typeface="Tahoma"/>
              </a:rPr>
              <a:t>thứ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tự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-105">
                <a:solidFill>
                  <a:srgbClr val="FFFFFF"/>
                </a:solidFill>
                <a:latin typeface="Tahoma"/>
                <a:cs typeface="Tahoma"/>
              </a:rPr>
              <a:t>C)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0">
                <a:solidFill>
                  <a:srgbClr val="FFFFFF"/>
                </a:solidFill>
                <a:latin typeface="Tahoma"/>
                <a:cs typeface="Tahoma"/>
              </a:rPr>
              <a:t>của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0">
                <a:solidFill>
                  <a:srgbClr val="FFFFFF"/>
                </a:solidFill>
                <a:latin typeface="Tahoma"/>
                <a:cs typeface="Tahoma"/>
              </a:rPr>
              <a:t>mảng.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75">
                <a:solidFill>
                  <a:srgbClr val="FFFFFF"/>
                </a:solidFill>
                <a:latin typeface="Tahoma"/>
                <a:cs typeface="Tahoma"/>
              </a:rPr>
              <a:t>Do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5">
                <a:solidFill>
                  <a:srgbClr val="FFFFFF"/>
                </a:solidFill>
                <a:latin typeface="Tahoma"/>
                <a:cs typeface="Tahoma"/>
              </a:rPr>
              <a:t>đó,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0">
                <a:solidFill>
                  <a:srgbClr val="FFFFFF"/>
                </a:solidFill>
                <a:latin typeface="Tahoma"/>
                <a:cs typeface="Tahoma"/>
              </a:rPr>
              <a:t>khi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0">
                <a:solidFill>
                  <a:srgbClr val="FFFFFF"/>
                </a:solidFill>
                <a:latin typeface="Tahoma"/>
                <a:cs typeface="Tahoma"/>
              </a:rPr>
              <a:t>bạn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0">
                <a:solidFill>
                  <a:srgbClr val="FFFFFF"/>
                </a:solidFill>
                <a:latin typeface="Tahoma"/>
                <a:cs typeface="Tahoma"/>
              </a:rPr>
              <a:t>cần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75">
                <a:solidFill>
                  <a:srgbClr val="FFFFFF"/>
                </a:solidFill>
                <a:latin typeface="Tahoma"/>
                <a:cs typeface="Tahoma"/>
              </a:rPr>
              <a:t>đặt </a:t>
            </a:r>
            <a:r>
              <a:rPr dirty="0" sz="3400" spc="60">
                <a:solidFill>
                  <a:srgbClr val="FFFFFF"/>
                </a:solidFill>
                <a:latin typeface="Tahoma"/>
                <a:cs typeface="Tahoma"/>
              </a:rPr>
              <a:t>các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5">
                <a:solidFill>
                  <a:srgbClr val="FFFFFF"/>
                </a:solidFill>
                <a:latin typeface="Tahoma"/>
                <a:cs typeface="Tahoma"/>
              </a:rPr>
              <a:t>phần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tử</a:t>
            </a:r>
            <a:endParaRPr sz="3400">
              <a:latin typeface="Tahoma"/>
              <a:cs typeface="Tahoma"/>
            </a:endParaRPr>
          </a:p>
          <a:p>
            <a:pPr algn="just" marL="746125" marR="5080">
              <a:lnSpc>
                <a:spcPct val="115799"/>
              </a:lnSpc>
            </a:pPr>
            <a:r>
              <a:rPr dirty="0" sz="3400" spc="170">
                <a:solidFill>
                  <a:srgbClr val="FFFFFF"/>
                </a:solidFill>
                <a:latin typeface="Tahoma"/>
                <a:cs typeface="Tahoma"/>
              </a:rPr>
              <a:t>bằng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00">
                <a:solidFill>
                  <a:srgbClr val="FFFFFF"/>
                </a:solidFill>
                <a:latin typeface="Tahoma"/>
                <a:cs typeface="Tahoma"/>
              </a:rPr>
              <a:t>mảng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5">
                <a:solidFill>
                  <a:srgbClr val="FFFFFF"/>
                </a:solidFill>
                <a:latin typeface="Tahoma"/>
                <a:cs typeface="Tahoma"/>
              </a:rPr>
              <a:t>chỉ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80">
                <a:solidFill>
                  <a:srgbClr val="FFFFFF"/>
                </a:solidFill>
                <a:latin typeface="Tahoma"/>
                <a:cs typeface="Tahoma"/>
              </a:rPr>
              <a:t>mục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5">
                <a:solidFill>
                  <a:srgbClr val="FFFFFF"/>
                </a:solidFill>
                <a:latin typeface="Tahoma"/>
                <a:cs typeface="Tahoma"/>
              </a:rPr>
              <a:t>trên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0">
                <a:solidFill>
                  <a:srgbClr val="FFFFFF"/>
                </a:solidFill>
                <a:latin typeface="Tahoma"/>
                <a:cs typeface="Tahoma"/>
              </a:rPr>
              <a:t>các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4">
                <a:solidFill>
                  <a:srgbClr val="FFFFFF"/>
                </a:solidFill>
                <a:latin typeface="Tahoma"/>
                <a:cs typeface="Tahoma"/>
              </a:rPr>
              <a:t>trục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0">
                <a:solidFill>
                  <a:srgbClr val="FFFFFF"/>
                </a:solidFill>
                <a:latin typeface="Tahoma"/>
                <a:cs typeface="Tahoma"/>
              </a:rPr>
              <a:t>khác,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4">
                <a:solidFill>
                  <a:srgbClr val="FFFFFF"/>
                </a:solidFill>
                <a:latin typeface="Tahoma"/>
                <a:cs typeface="Tahoma"/>
              </a:rPr>
              <a:t>tốt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5">
                <a:solidFill>
                  <a:srgbClr val="FFFFFF"/>
                </a:solidFill>
                <a:latin typeface="Tahoma"/>
                <a:cs typeface="Tahoma"/>
              </a:rPr>
              <a:t>nhất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5">
                <a:solidFill>
                  <a:srgbClr val="FFFFFF"/>
                </a:solidFill>
                <a:latin typeface="Tahoma"/>
                <a:cs typeface="Tahoma"/>
              </a:rPr>
              <a:t>nên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0">
                <a:solidFill>
                  <a:srgbClr val="FFFFFF"/>
                </a:solidFill>
                <a:latin typeface="Tahoma"/>
                <a:cs typeface="Tahoma"/>
              </a:rPr>
              <a:t>sử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0">
                <a:solidFill>
                  <a:srgbClr val="FFFFFF"/>
                </a:solidFill>
                <a:latin typeface="Tahoma"/>
                <a:cs typeface="Tahoma"/>
              </a:rPr>
              <a:t>dụng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5">
                <a:solidFill>
                  <a:srgbClr val="FFFFFF"/>
                </a:solidFill>
                <a:latin typeface="Tahoma"/>
                <a:cs typeface="Tahoma"/>
              </a:rPr>
              <a:t>lập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5">
                <a:solidFill>
                  <a:srgbClr val="FFFFFF"/>
                </a:solidFill>
                <a:latin typeface="Tahoma"/>
                <a:cs typeface="Tahoma"/>
              </a:rPr>
              <a:t>chỉ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5">
                <a:solidFill>
                  <a:srgbClr val="FFFFFF"/>
                </a:solidFill>
                <a:latin typeface="Tahoma"/>
                <a:cs typeface="Tahoma"/>
              </a:rPr>
              <a:t>mục </a:t>
            </a:r>
            <a:r>
              <a:rPr dirty="0" sz="3400" spc="175">
                <a:solidFill>
                  <a:srgbClr val="FFFFFF"/>
                </a:solidFill>
                <a:latin typeface="Tahoma"/>
                <a:cs typeface="Tahoma"/>
              </a:rPr>
              <a:t>dựa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5">
                <a:solidFill>
                  <a:srgbClr val="FFFFFF"/>
                </a:solidFill>
                <a:latin typeface="Tahoma"/>
                <a:cs typeface="Tahoma"/>
              </a:rPr>
              <a:t>trên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-25">
                <a:solidFill>
                  <a:srgbClr val="FFFFFF"/>
                </a:solidFill>
                <a:latin typeface="Tahoma"/>
                <a:cs typeface="Tahoma"/>
              </a:rPr>
              <a:t>[].</a:t>
            </a:r>
            <a:endParaRPr sz="3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425945" y="839058"/>
            <a:ext cx="17907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65">
                <a:solidFill>
                  <a:srgbClr val="FFFFFF"/>
                </a:solidFill>
                <a:latin typeface="Lucida Sans Unicode"/>
                <a:cs typeface="Lucida Sans Unicode"/>
              </a:rPr>
              <a:t>2</a:t>
            </a:r>
            <a:endParaRPr sz="2100">
              <a:latin typeface="Lucida Sans Unicode"/>
              <a:cs typeface="Lucida Sans Unicode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10577" y="1515574"/>
            <a:ext cx="8582024" cy="856297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50"/>
              <a:t>Thao</a:t>
            </a:r>
            <a:r>
              <a:rPr dirty="0" spc="-105"/>
              <a:t> </a:t>
            </a:r>
            <a:r>
              <a:rPr dirty="0" spc="210"/>
              <a:t>tác</a:t>
            </a:r>
            <a:r>
              <a:rPr dirty="0" spc="-105"/>
              <a:t> </a:t>
            </a:r>
            <a:r>
              <a:rPr dirty="0"/>
              <a:t>M</a:t>
            </a:r>
            <a:r>
              <a:rPr dirty="0">
                <a:latin typeface="Arial"/>
                <a:cs typeface="Arial"/>
              </a:rPr>
              <a:t>ả</a:t>
            </a:r>
            <a:r>
              <a:rPr dirty="0"/>
              <a:t>ng</a:t>
            </a:r>
            <a:r>
              <a:rPr dirty="0" spc="-105"/>
              <a:t> </a:t>
            </a:r>
            <a:r>
              <a:rPr dirty="0" spc="114"/>
              <a:t>Nâng</a:t>
            </a:r>
            <a:r>
              <a:rPr dirty="0" spc="-105"/>
              <a:t> </a:t>
            </a:r>
            <a:r>
              <a:rPr dirty="0" spc="250"/>
              <a:t>cao</a:t>
            </a:r>
            <a:r>
              <a:rPr dirty="0" spc="-105"/>
              <a:t> </a:t>
            </a:r>
            <a:r>
              <a:rPr dirty="0" spc="180"/>
              <a:t>(Advanced</a:t>
            </a:r>
            <a:r>
              <a:rPr dirty="0" spc="-105"/>
              <a:t> </a:t>
            </a:r>
            <a:r>
              <a:rPr dirty="0"/>
              <a:t>Array</a:t>
            </a:r>
            <a:r>
              <a:rPr dirty="0" spc="-105"/>
              <a:t> </a:t>
            </a:r>
            <a:r>
              <a:rPr dirty="0" spc="70"/>
              <a:t>Manipulation)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45081" y="147891"/>
            <a:ext cx="17505680" cy="1367790"/>
            <a:chOff x="345081" y="147891"/>
            <a:chExt cx="17505680" cy="136779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5081" y="147891"/>
              <a:ext cx="17505549" cy="1367683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1028699" y="541825"/>
              <a:ext cx="974090" cy="974090"/>
            </a:xfrm>
            <a:custGeom>
              <a:avLst/>
              <a:gdLst/>
              <a:ahLst/>
              <a:cxnLst/>
              <a:rect l="l" t="t" r="r" b="b"/>
              <a:pathLst>
                <a:path w="974089" h="974090">
                  <a:moveTo>
                    <a:pt x="486874" y="973749"/>
                  </a:moveTo>
                  <a:lnTo>
                    <a:pt x="439985" y="971520"/>
                  </a:lnTo>
                  <a:lnTo>
                    <a:pt x="394357" y="964970"/>
                  </a:lnTo>
                  <a:lnTo>
                    <a:pt x="350194" y="954302"/>
                  </a:lnTo>
                  <a:lnTo>
                    <a:pt x="307699" y="939721"/>
                  </a:lnTo>
                  <a:lnTo>
                    <a:pt x="267078" y="921430"/>
                  </a:lnTo>
                  <a:lnTo>
                    <a:pt x="228535" y="899634"/>
                  </a:lnTo>
                  <a:lnTo>
                    <a:pt x="192272" y="874537"/>
                  </a:lnTo>
                  <a:lnTo>
                    <a:pt x="158495" y="846342"/>
                  </a:lnTo>
                  <a:lnTo>
                    <a:pt x="127407" y="815254"/>
                  </a:lnTo>
                  <a:lnTo>
                    <a:pt x="99212" y="781476"/>
                  </a:lnTo>
                  <a:lnTo>
                    <a:pt x="74114" y="745214"/>
                  </a:lnTo>
                  <a:lnTo>
                    <a:pt x="52318" y="706670"/>
                  </a:lnTo>
                  <a:lnTo>
                    <a:pt x="34028" y="666049"/>
                  </a:lnTo>
                  <a:lnTo>
                    <a:pt x="19446" y="623555"/>
                  </a:lnTo>
                  <a:lnTo>
                    <a:pt x="8779" y="579392"/>
                  </a:lnTo>
                  <a:lnTo>
                    <a:pt x="2228" y="533764"/>
                  </a:lnTo>
                  <a:lnTo>
                    <a:pt x="0" y="486874"/>
                  </a:lnTo>
                  <a:lnTo>
                    <a:pt x="2228" y="439985"/>
                  </a:lnTo>
                  <a:lnTo>
                    <a:pt x="8779" y="394357"/>
                  </a:lnTo>
                  <a:lnTo>
                    <a:pt x="19446" y="350194"/>
                  </a:lnTo>
                  <a:lnTo>
                    <a:pt x="34028" y="307699"/>
                  </a:lnTo>
                  <a:lnTo>
                    <a:pt x="52318" y="267078"/>
                  </a:lnTo>
                  <a:lnTo>
                    <a:pt x="74114" y="228535"/>
                  </a:lnTo>
                  <a:lnTo>
                    <a:pt x="99212" y="192272"/>
                  </a:lnTo>
                  <a:lnTo>
                    <a:pt x="127407" y="158495"/>
                  </a:lnTo>
                  <a:lnTo>
                    <a:pt x="158495" y="127407"/>
                  </a:lnTo>
                  <a:lnTo>
                    <a:pt x="192272" y="99212"/>
                  </a:lnTo>
                  <a:lnTo>
                    <a:pt x="228535" y="74114"/>
                  </a:lnTo>
                  <a:lnTo>
                    <a:pt x="267078" y="52318"/>
                  </a:lnTo>
                  <a:lnTo>
                    <a:pt x="307699" y="34028"/>
                  </a:lnTo>
                  <a:lnTo>
                    <a:pt x="350194" y="19446"/>
                  </a:lnTo>
                  <a:lnTo>
                    <a:pt x="394357" y="8779"/>
                  </a:lnTo>
                  <a:lnTo>
                    <a:pt x="439985" y="2228"/>
                  </a:lnTo>
                  <a:lnTo>
                    <a:pt x="486874" y="0"/>
                  </a:lnTo>
                  <a:lnTo>
                    <a:pt x="533764" y="2228"/>
                  </a:lnTo>
                  <a:lnTo>
                    <a:pt x="579392" y="8779"/>
                  </a:lnTo>
                  <a:lnTo>
                    <a:pt x="623555" y="19446"/>
                  </a:lnTo>
                  <a:lnTo>
                    <a:pt x="666049" y="34028"/>
                  </a:lnTo>
                  <a:lnTo>
                    <a:pt x="706670" y="52318"/>
                  </a:lnTo>
                  <a:lnTo>
                    <a:pt x="745214" y="74114"/>
                  </a:lnTo>
                  <a:lnTo>
                    <a:pt x="781476" y="99212"/>
                  </a:lnTo>
                  <a:lnTo>
                    <a:pt x="815254" y="127407"/>
                  </a:lnTo>
                  <a:lnTo>
                    <a:pt x="846342" y="158495"/>
                  </a:lnTo>
                  <a:lnTo>
                    <a:pt x="874537" y="192272"/>
                  </a:lnTo>
                  <a:lnTo>
                    <a:pt x="899634" y="228535"/>
                  </a:lnTo>
                  <a:lnTo>
                    <a:pt x="921430" y="267078"/>
                  </a:lnTo>
                  <a:lnTo>
                    <a:pt x="939721" y="307699"/>
                  </a:lnTo>
                  <a:lnTo>
                    <a:pt x="954302" y="350194"/>
                  </a:lnTo>
                  <a:lnTo>
                    <a:pt x="964970" y="394357"/>
                  </a:lnTo>
                  <a:lnTo>
                    <a:pt x="971520" y="439985"/>
                  </a:lnTo>
                  <a:lnTo>
                    <a:pt x="973749" y="486874"/>
                  </a:lnTo>
                  <a:lnTo>
                    <a:pt x="971520" y="533764"/>
                  </a:lnTo>
                  <a:lnTo>
                    <a:pt x="964970" y="579392"/>
                  </a:lnTo>
                  <a:lnTo>
                    <a:pt x="954302" y="623555"/>
                  </a:lnTo>
                  <a:lnTo>
                    <a:pt x="939721" y="666049"/>
                  </a:lnTo>
                  <a:lnTo>
                    <a:pt x="921430" y="706670"/>
                  </a:lnTo>
                  <a:lnTo>
                    <a:pt x="899634" y="745214"/>
                  </a:lnTo>
                  <a:lnTo>
                    <a:pt x="874537" y="781476"/>
                  </a:lnTo>
                  <a:lnTo>
                    <a:pt x="846342" y="815254"/>
                  </a:lnTo>
                  <a:lnTo>
                    <a:pt x="815254" y="846342"/>
                  </a:lnTo>
                  <a:lnTo>
                    <a:pt x="781476" y="874537"/>
                  </a:lnTo>
                  <a:lnTo>
                    <a:pt x="745214" y="899634"/>
                  </a:lnTo>
                  <a:lnTo>
                    <a:pt x="706670" y="921430"/>
                  </a:lnTo>
                  <a:lnTo>
                    <a:pt x="666049" y="939721"/>
                  </a:lnTo>
                  <a:lnTo>
                    <a:pt x="623555" y="954302"/>
                  </a:lnTo>
                  <a:lnTo>
                    <a:pt x="579392" y="964970"/>
                  </a:lnTo>
                  <a:lnTo>
                    <a:pt x="533764" y="971520"/>
                  </a:lnTo>
                  <a:lnTo>
                    <a:pt x="486874" y="973749"/>
                  </a:lnTo>
                  <a:close/>
                </a:path>
              </a:pathLst>
            </a:custGeom>
            <a:solidFill>
              <a:srgbClr val="32322F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119558" y="632682"/>
              <a:ext cx="792480" cy="792480"/>
            </a:xfrm>
            <a:custGeom>
              <a:avLst/>
              <a:gdLst/>
              <a:ahLst/>
              <a:cxnLst/>
              <a:rect l="l" t="t" r="r" b="b"/>
              <a:pathLst>
                <a:path w="792480" h="792480">
                  <a:moveTo>
                    <a:pt x="396016" y="792033"/>
                  </a:moveTo>
                  <a:lnTo>
                    <a:pt x="349832" y="789369"/>
                  </a:lnTo>
                  <a:lnTo>
                    <a:pt x="305213" y="781574"/>
                  </a:lnTo>
                  <a:lnTo>
                    <a:pt x="262456" y="768946"/>
                  </a:lnTo>
                  <a:lnTo>
                    <a:pt x="221858" y="751781"/>
                  </a:lnTo>
                  <a:lnTo>
                    <a:pt x="183716" y="730378"/>
                  </a:lnTo>
                  <a:lnTo>
                    <a:pt x="148328" y="705033"/>
                  </a:lnTo>
                  <a:lnTo>
                    <a:pt x="115990" y="676042"/>
                  </a:lnTo>
                  <a:lnTo>
                    <a:pt x="87000" y="643705"/>
                  </a:lnTo>
                  <a:lnTo>
                    <a:pt x="61655" y="608316"/>
                  </a:lnTo>
                  <a:lnTo>
                    <a:pt x="40251" y="570174"/>
                  </a:lnTo>
                  <a:lnTo>
                    <a:pt x="23087" y="529576"/>
                  </a:lnTo>
                  <a:lnTo>
                    <a:pt x="10459" y="486819"/>
                  </a:lnTo>
                  <a:lnTo>
                    <a:pt x="2664" y="442200"/>
                  </a:lnTo>
                  <a:lnTo>
                    <a:pt x="0" y="396016"/>
                  </a:lnTo>
                  <a:lnTo>
                    <a:pt x="2664" y="349832"/>
                  </a:lnTo>
                  <a:lnTo>
                    <a:pt x="10459" y="305213"/>
                  </a:lnTo>
                  <a:lnTo>
                    <a:pt x="23087" y="262456"/>
                  </a:lnTo>
                  <a:lnTo>
                    <a:pt x="40251" y="221858"/>
                  </a:lnTo>
                  <a:lnTo>
                    <a:pt x="61655" y="183716"/>
                  </a:lnTo>
                  <a:lnTo>
                    <a:pt x="87000" y="148328"/>
                  </a:lnTo>
                  <a:lnTo>
                    <a:pt x="115990" y="115990"/>
                  </a:lnTo>
                  <a:lnTo>
                    <a:pt x="148328" y="87000"/>
                  </a:lnTo>
                  <a:lnTo>
                    <a:pt x="183716" y="61655"/>
                  </a:lnTo>
                  <a:lnTo>
                    <a:pt x="221858" y="40251"/>
                  </a:lnTo>
                  <a:lnTo>
                    <a:pt x="262456" y="23087"/>
                  </a:lnTo>
                  <a:lnTo>
                    <a:pt x="305213" y="10459"/>
                  </a:lnTo>
                  <a:lnTo>
                    <a:pt x="349832" y="2664"/>
                  </a:lnTo>
                  <a:lnTo>
                    <a:pt x="396016" y="0"/>
                  </a:lnTo>
                  <a:lnTo>
                    <a:pt x="442200" y="2664"/>
                  </a:lnTo>
                  <a:lnTo>
                    <a:pt x="486819" y="10459"/>
                  </a:lnTo>
                  <a:lnTo>
                    <a:pt x="529577" y="23087"/>
                  </a:lnTo>
                  <a:lnTo>
                    <a:pt x="570175" y="40251"/>
                  </a:lnTo>
                  <a:lnTo>
                    <a:pt x="608316" y="61655"/>
                  </a:lnTo>
                  <a:lnTo>
                    <a:pt x="643705" y="87000"/>
                  </a:lnTo>
                  <a:lnTo>
                    <a:pt x="676043" y="115990"/>
                  </a:lnTo>
                  <a:lnTo>
                    <a:pt x="705033" y="148328"/>
                  </a:lnTo>
                  <a:lnTo>
                    <a:pt x="730378" y="183716"/>
                  </a:lnTo>
                  <a:lnTo>
                    <a:pt x="751782" y="221858"/>
                  </a:lnTo>
                  <a:lnTo>
                    <a:pt x="768946" y="262456"/>
                  </a:lnTo>
                  <a:lnTo>
                    <a:pt x="781574" y="305213"/>
                  </a:lnTo>
                  <a:lnTo>
                    <a:pt x="789369" y="349832"/>
                  </a:lnTo>
                  <a:lnTo>
                    <a:pt x="792033" y="396016"/>
                  </a:lnTo>
                  <a:lnTo>
                    <a:pt x="789369" y="442200"/>
                  </a:lnTo>
                  <a:lnTo>
                    <a:pt x="781574" y="486819"/>
                  </a:lnTo>
                  <a:lnTo>
                    <a:pt x="768946" y="529576"/>
                  </a:lnTo>
                  <a:lnTo>
                    <a:pt x="751782" y="570174"/>
                  </a:lnTo>
                  <a:lnTo>
                    <a:pt x="730378" y="608316"/>
                  </a:lnTo>
                  <a:lnTo>
                    <a:pt x="705033" y="643705"/>
                  </a:lnTo>
                  <a:lnTo>
                    <a:pt x="676043" y="676042"/>
                  </a:lnTo>
                  <a:lnTo>
                    <a:pt x="643705" y="705033"/>
                  </a:lnTo>
                  <a:lnTo>
                    <a:pt x="608316" y="730378"/>
                  </a:lnTo>
                  <a:lnTo>
                    <a:pt x="570175" y="751781"/>
                  </a:lnTo>
                  <a:lnTo>
                    <a:pt x="529577" y="768946"/>
                  </a:lnTo>
                  <a:lnTo>
                    <a:pt x="486819" y="781574"/>
                  </a:lnTo>
                  <a:lnTo>
                    <a:pt x="442200" y="789369"/>
                  </a:lnTo>
                  <a:lnTo>
                    <a:pt x="396016" y="792033"/>
                  </a:lnTo>
                  <a:close/>
                </a:path>
              </a:pathLst>
            </a:custGeom>
            <a:solidFill>
              <a:srgbClr val="32322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424010" y="839058"/>
            <a:ext cx="18288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50">
                <a:solidFill>
                  <a:srgbClr val="FFFFFF"/>
                </a:solidFill>
                <a:latin typeface="Lucida Sans Unicode"/>
                <a:cs typeface="Lucida Sans Unicode"/>
              </a:rPr>
              <a:t>3</a:t>
            </a:r>
            <a:endParaRPr sz="21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4"/>
              <a:t>3.</a:t>
            </a:r>
            <a:r>
              <a:rPr dirty="0" spc="-145"/>
              <a:t> </a:t>
            </a:r>
            <a:r>
              <a:rPr dirty="0" spc="95"/>
              <a:t>Broadcasting</a:t>
            </a:r>
          </a:p>
        </p:txBody>
      </p:sp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08735" y="2434827"/>
            <a:ext cx="152400" cy="15239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08735" y="3634977"/>
            <a:ext cx="152400" cy="152399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08735" y="4835126"/>
            <a:ext cx="152400" cy="152399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87049" y="7749142"/>
            <a:ext cx="152400" cy="152399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87049" y="8349217"/>
            <a:ext cx="152400" cy="152399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1502874" y="2127480"/>
            <a:ext cx="16693515" cy="65398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8275" marR="268605">
              <a:lnSpc>
                <a:spcPct val="115799"/>
              </a:lnSpc>
              <a:spcBef>
                <a:spcPts val="100"/>
              </a:spcBef>
            </a:pPr>
            <a:r>
              <a:rPr dirty="0" sz="3400" spc="135">
                <a:solidFill>
                  <a:srgbClr val="FFFFFF"/>
                </a:solidFill>
                <a:latin typeface="Tahoma"/>
                <a:cs typeface="Tahoma"/>
              </a:rPr>
              <a:t>Broadcasting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0">
                <a:solidFill>
                  <a:srgbClr val="FFFFFF"/>
                </a:solidFill>
                <a:latin typeface="Tahoma"/>
                <a:cs typeface="Tahoma"/>
              </a:rPr>
              <a:t>là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0">
                <a:solidFill>
                  <a:srgbClr val="FFFFFF"/>
                </a:solidFill>
                <a:latin typeface="Tahoma"/>
                <a:cs typeface="Tahoma"/>
              </a:rPr>
              <a:t>quy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70">
                <a:solidFill>
                  <a:srgbClr val="FFFFFF"/>
                </a:solidFill>
                <a:latin typeface="Tahoma"/>
                <a:cs typeface="Tahoma"/>
              </a:rPr>
              <a:t>tắc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5">
                <a:solidFill>
                  <a:srgbClr val="FFFFFF"/>
                </a:solidFill>
                <a:latin typeface="Tahoma"/>
                <a:cs typeface="Tahoma"/>
              </a:rPr>
              <a:t>điều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0">
                <a:solidFill>
                  <a:srgbClr val="FFFFFF"/>
                </a:solidFill>
                <a:latin typeface="Tahoma"/>
                <a:cs typeface="Tahoma"/>
              </a:rPr>
              <a:t>chỉnh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90">
                <a:solidFill>
                  <a:srgbClr val="FFFFFF"/>
                </a:solidFill>
                <a:latin typeface="Tahoma"/>
                <a:cs typeface="Tahoma"/>
              </a:rPr>
              <a:t>cách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0">
                <a:solidFill>
                  <a:srgbClr val="FFFFFF"/>
                </a:solidFill>
                <a:latin typeface="Tahoma"/>
                <a:cs typeface="Tahoma"/>
              </a:rPr>
              <a:t>các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75">
                <a:solidFill>
                  <a:srgbClr val="FFFFFF"/>
                </a:solidFill>
                <a:latin typeface="Tahoma"/>
                <a:cs typeface="Tahoma"/>
              </a:rPr>
              <a:t>phép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0">
                <a:solidFill>
                  <a:srgbClr val="FFFFFF"/>
                </a:solidFill>
                <a:latin typeface="Tahoma"/>
                <a:cs typeface="Tahoma"/>
              </a:rPr>
              <a:t>toán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0">
                <a:solidFill>
                  <a:srgbClr val="FFFFFF"/>
                </a:solidFill>
                <a:latin typeface="Tahoma"/>
                <a:cs typeface="Tahoma"/>
              </a:rPr>
              <a:t>hoạt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80">
                <a:solidFill>
                  <a:srgbClr val="FFFFFF"/>
                </a:solidFill>
                <a:latin typeface="Tahoma"/>
                <a:cs typeface="Tahoma"/>
              </a:rPr>
              <a:t>động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5">
                <a:solidFill>
                  <a:srgbClr val="FFFFFF"/>
                </a:solidFill>
                <a:latin typeface="Tahoma"/>
                <a:cs typeface="Tahoma"/>
              </a:rPr>
              <a:t>giữa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0">
                <a:solidFill>
                  <a:srgbClr val="FFFFFF"/>
                </a:solidFill>
                <a:latin typeface="Tahoma"/>
                <a:cs typeface="Tahoma"/>
              </a:rPr>
              <a:t>các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80">
                <a:solidFill>
                  <a:srgbClr val="FFFFFF"/>
                </a:solidFill>
                <a:latin typeface="Tahoma"/>
                <a:cs typeface="Tahoma"/>
              </a:rPr>
              <a:t>mảng </a:t>
            </a:r>
            <a:r>
              <a:rPr dirty="0" sz="3400" spc="120">
                <a:solidFill>
                  <a:srgbClr val="FFFFFF"/>
                </a:solidFill>
                <a:latin typeface="Tahoma"/>
                <a:cs typeface="Tahoma"/>
              </a:rPr>
              <a:t>có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5">
                <a:solidFill>
                  <a:srgbClr val="FFFFFF"/>
                </a:solidFill>
                <a:latin typeface="Tahoma"/>
                <a:cs typeface="Tahoma"/>
              </a:rPr>
              <a:t>hình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70">
                <a:solidFill>
                  <a:srgbClr val="FFFFFF"/>
                </a:solidFill>
                <a:latin typeface="Tahoma"/>
                <a:cs typeface="Tahoma"/>
              </a:rPr>
              <a:t>dạng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0">
                <a:solidFill>
                  <a:srgbClr val="FFFFFF"/>
                </a:solidFill>
                <a:latin typeface="Tahoma"/>
                <a:cs typeface="Tahoma"/>
              </a:rPr>
              <a:t>khác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95">
                <a:solidFill>
                  <a:srgbClr val="FFFFFF"/>
                </a:solidFill>
                <a:latin typeface="Tahoma"/>
                <a:cs typeface="Tahoma"/>
              </a:rPr>
              <a:t>nhau.</a:t>
            </a:r>
            <a:endParaRPr sz="3400">
              <a:latin typeface="Tahoma"/>
              <a:cs typeface="Tahoma"/>
            </a:endParaRPr>
          </a:p>
          <a:p>
            <a:pPr marL="168275" marR="5080">
              <a:lnSpc>
                <a:spcPct val="115799"/>
              </a:lnSpc>
            </a:pP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Quy</a:t>
            </a:r>
            <a:r>
              <a:rPr dirty="0" sz="3400" spc="-1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>
                <a:solidFill>
                  <a:srgbClr val="FFFFFF"/>
                </a:solidFill>
                <a:latin typeface="Tahoma"/>
                <a:cs typeface="Tahoma"/>
              </a:rPr>
              <a:t>tắc:</a:t>
            </a:r>
            <a:r>
              <a:rPr dirty="0" sz="3400" spc="-1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5">
                <a:solidFill>
                  <a:srgbClr val="FFFFFF"/>
                </a:solidFill>
                <a:latin typeface="Tahoma"/>
                <a:cs typeface="Tahoma"/>
              </a:rPr>
              <a:t>Hai</a:t>
            </a:r>
            <a:r>
              <a:rPr dirty="0" sz="3400" spc="-1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00">
                <a:solidFill>
                  <a:srgbClr val="FFFFFF"/>
                </a:solidFill>
                <a:latin typeface="Tahoma"/>
                <a:cs typeface="Tahoma"/>
              </a:rPr>
              <a:t>mảng</a:t>
            </a:r>
            <a:r>
              <a:rPr dirty="0" sz="3400" spc="-1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70">
                <a:solidFill>
                  <a:srgbClr val="FFFFFF"/>
                </a:solidFill>
                <a:latin typeface="Tahoma"/>
                <a:cs typeface="Tahoma"/>
              </a:rPr>
              <a:t>tương</a:t>
            </a:r>
            <a:r>
              <a:rPr dirty="0" sz="3400" spc="-1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4">
                <a:solidFill>
                  <a:srgbClr val="FFFFFF"/>
                </a:solidFill>
                <a:latin typeface="Tahoma"/>
                <a:cs typeface="Tahoma"/>
              </a:rPr>
              <a:t>thích</a:t>
            </a:r>
            <a:r>
              <a:rPr dirty="0" sz="3400" spc="-1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để</a:t>
            </a:r>
            <a:r>
              <a:rPr dirty="0" sz="3400" spc="-1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0">
                <a:solidFill>
                  <a:srgbClr val="FFFFFF"/>
                </a:solidFill>
                <a:latin typeface="Tahoma"/>
                <a:cs typeface="Tahoma"/>
              </a:rPr>
              <a:t>"broadcast"</a:t>
            </a:r>
            <a:r>
              <a:rPr dirty="0" sz="3400" spc="-1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90">
                <a:solidFill>
                  <a:srgbClr val="FFFFFF"/>
                </a:solidFill>
                <a:latin typeface="Tahoma"/>
                <a:cs typeface="Tahoma"/>
              </a:rPr>
              <a:t>nếu,</a:t>
            </a:r>
            <a:r>
              <a:rPr dirty="0" sz="3400" spc="-1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0">
                <a:solidFill>
                  <a:srgbClr val="FFFFFF"/>
                </a:solidFill>
                <a:latin typeface="Tahoma"/>
                <a:cs typeface="Tahoma"/>
              </a:rPr>
              <a:t>đối</a:t>
            </a:r>
            <a:r>
              <a:rPr dirty="0" sz="3400" spc="-1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95">
                <a:solidFill>
                  <a:srgbClr val="FFFFFF"/>
                </a:solidFill>
                <a:latin typeface="Tahoma"/>
                <a:cs typeface="Tahoma"/>
              </a:rPr>
              <a:t>với</a:t>
            </a:r>
            <a:r>
              <a:rPr dirty="0" sz="3400" spc="-1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00">
                <a:solidFill>
                  <a:srgbClr val="FFFFFF"/>
                </a:solidFill>
                <a:latin typeface="Tahoma"/>
                <a:cs typeface="Tahoma"/>
              </a:rPr>
              <a:t>mỗi</a:t>
            </a:r>
            <a:r>
              <a:rPr dirty="0" sz="3400" spc="-1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chiều</a:t>
            </a:r>
            <a:r>
              <a:rPr dirty="0" sz="3400" spc="-1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>
                <a:solidFill>
                  <a:srgbClr val="FFFFFF"/>
                </a:solidFill>
                <a:latin typeface="Tahoma"/>
                <a:cs typeface="Tahoma"/>
              </a:rPr>
              <a:t>(xét</a:t>
            </a:r>
            <a:r>
              <a:rPr dirty="0" sz="3400" spc="-1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từ</a:t>
            </a:r>
            <a:r>
              <a:rPr dirty="0" sz="3400" spc="-1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-10">
                <a:solidFill>
                  <a:srgbClr val="FFFFFF"/>
                </a:solidFill>
                <a:latin typeface="Tahoma"/>
                <a:cs typeface="Tahoma"/>
              </a:rPr>
              <a:t>cuối), </a:t>
            </a:r>
            <a:r>
              <a:rPr dirty="0" sz="3400" spc="165">
                <a:solidFill>
                  <a:srgbClr val="FFFFFF"/>
                </a:solidFill>
                <a:latin typeface="Tahoma"/>
                <a:cs typeface="Tahoma"/>
              </a:rPr>
              <a:t>độ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0">
                <a:solidFill>
                  <a:srgbClr val="FFFFFF"/>
                </a:solidFill>
                <a:latin typeface="Tahoma"/>
                <a:cs typeface="Tahoma"/>
              </a:rPr>
              <a:t>dài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0">
                <a:solidFill>
                  <a:srgbClr val="FFFFFF"/>
                </a:solidFill>
                <a:latin typeface="Tahoma"/>
                <a:cs typeface="Tahoma"/>
              </a:rPr>
              <a:t>của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0">
                <a:solidFill>
                  <a:srgbClr val="FFFFFF"/>
                </a:solidFill>
                <a:latin typeface="Tahoma"/>
                <a:cs typeface="Tahoma"/>
              </a:rPr>
              <a:t>các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4">
                <a:solidFill>
                  <a:srgbClr val="FFFFFF"/>
                </a:solidFill>
                <a:latin typeface="Tahoma"/>
                <a:cs typeface="Tahoma"/>
              </a:rPr>
              <a:t>trục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0">
                <a:solidFill>
                  <a:srgbClr val="FFFFFF"/>
                </a:solidFill>
                <a:latin typeface="Tahoma"/>
                <a:cs typeface="Tahoma"/>
              </a:rPr>
              <a:t>hoặc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0">
                <a:solidFill>
                  <a:srgbClr val="FFFFFF"/>
                </a:solidFill>
                <a:latin typeface="Tahoma"/>
                <a:cs typeface="Tahoma"/>
              </a:rPr>
              <a:t>là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70">
                <a:solidFill>
                  <a:srgbClr val="FFFFFF"/>
                </a:solidFill>
                <a:latin typeface="Tahoma"/>
                <a:cs typeface="Tahoma"/>
              </a:rPr>
              <a:t>bằng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5">
                <a:solidFill>
                  <a:srgbClr val="FFFFFF"/>
                </a:solidFill>
                <a:latin typeface="Tahoma"/>
                <a:cs typeface="Tahoma"/>
              </a:rPr>
              <a:t>nhau,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0">
                <a:solidFill>
                  <a:srgbClr val="FFFFFF"/>
                </a:solidFill>
                <a:latin typeface="Tahoma"/>
                <a:cs typeface="Tahoma"/>
              </a:rPr>
              <a:t>hoặc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5">
                <a:solidFill>
                  <a:srgbClr val="FFFFFF"/>
                </a:solidFill>
                <a:latin typeface="Tahoma"/>
                <a:cs typeface="Tahoma"/>
              </a:rPr>
              <a:t>một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0">
                <a:solidFill>
                  <a:srgbClr val="FFFFFF"/>
                </a:solidFill>
                <a:latin typeface="Tahoma"/>
                <a:cs typeface="Tahoma"/>
              </a:rPr>
              <a:t>trong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hai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70">
                <a:solidFill>
                  <a:srgbClr val="FFFFFF"/>
                </a:solidFill>
                <a:latin typeface="Tahoma"/>
                <a:cs typeface="Tahoma"/>
              </a:rPr>
              <a:t>bằng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-25">
                <a:solidFill>
                  <a:srgbClr val="FFFFFF"/>
                </a:solidFill>
                <a:latin typeface="Tahoma"/>
                <a:cs typeface="Tahoma"/>
              </a:rPr>
              <a:t>1.</a:t>
            </a:r>
            <a:endParaRPr sz="3400">
              <a:latin typeface="Tahoma"/>
              <a:cs typeface="Tahoma"/>
            </a:endParaRPr>
          </a:p>
          <a:p>
            <a:pPr algn="just" marL="168275" marR="427990">
              <a:lnSpc>
                <a:spcPct val="115799"/>
              </a:lnSpc>
            </a:pPr>
            <a:r>
              <a:rPr dirty="0" sz="3400" spc="135">
                <a:solidFill>
                  <a:srgbClr val="FFFFFF"/>
                </a:solidFill>
                <a:latin typeface="Tahoma"/>
                <a:cs typeface="Tahoma"/>
              </a:rPr>
              <a:t>Broadcasting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5">
                <a:solidFill>
                  <a:srgbClr val="FFFFFF"/>
                </a:solidFill>
                <a:latin typeface="Tahoma"/>
                <a:cs typeface="Tahoma"/>
              </a:rPr>
              <a:t>điều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0">
                <a:solidFill>
                  <a:srgbClr val="FFFFFF"/>
                </a:solidFill>
                <a:latin typeface="Tahoma"/>
                <a:cs typeface="Tahoma"/>
              </a:rPr>
              <a:t>chỉnh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90">
                <a:solidFill>
                  <a:srgbClr val="FFFFFF"/>
                </a:solidFill>
                <a:latin typeface="Tahoma"/>
                <a:cs typeface="Tahoma"/>
              </a:rPr>
              <a:t>cách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0">
                <a:solidFill>
                  <a:srgbClr val="FFFFFF"/>
                </a:solidFill>
                <a:latin typeface="Tahoma"/>
                <a:cs typeface="Tahoma"/>
              </a:rPr>
              <a:t>thức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0">
                <a:solidFill>
                  <a:srgbClr val="FFFFFF"/>
                </a:solidFill>
                <a:latin typeface="Tahoma"/>
                <a:cs typeface="Tahoma"/>
              </a:rPr>
              <a:t>hoạt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80">
                <a:solidFill>
                  <a:srgbClr val="FFFFFF"/>
                </a:solidFill>
                <a:latin typeface="Tahoma"/>
                <a:cs typeface="Tahoma"/>
              </a:rPr>
              <a:t>động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5">
                <a:solidFill>
                  <a:srgbClr val="FFFFFF"/>
                </a:solidFill>
                <a:latin typeface="Tahoma"/>
                <a:cs typeface="Tahoma"/>
              </a:rPr>
              <a:t>giữa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0">
                <a:solidFill>
                  <a:srgbClr val="FFFFFF"/>
                </a:solidFill>
                <a:latin typeface="Tahoma"/>
                <a:cs typeface="Tahoma"/>
              </a:rPr>
              <a:t>các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00">
                <a:solidFill>
                  <a:srgbClr val="FFFFFF"/>
                </a:solidFill>
                <a:latin typeface="Tahoma"/>
                <a:cs typeface="Tahoma"/>
              </a:rPr>
              <a:t>mảng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0">
                <a:solidFill>
                  <a:srgbClr val="FFFFFF"/>
                </a:solidFill>
                <a:latin typeface="Tahoma"/>
                <a:cs typeface="Tahoma"/>
              </a:rPr>
              <a:t>có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5">
                <a:solidFill>
                  <a:srgbClr val="FFFFFF"/>
                </a:solidFill>
                <a:latin typeface="Tahoma"/>
                <a:cs typeface="Tahoma"/>
              </a:rPr>
              <a:t>hình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70">
                <a:solidFill>
                  <a:srgbClr val="FFFFFF"/>
                </a:solidFill>
                <a:latin typeface="Tahoma"/>
                <a:cs typeface="Tahoma"/>
              </a:rPr>
              <a:t>dạng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90">
                <a:solidFill>
                  <a:srgbClr val="FFFFFF"/>
                </a:solidFill>
                <a:latin typeface="Tahoma"/>
                <a:cs typeface="Tahoma"/>
              </a:rPr>
              <a:t>khác </a:t>
            </a:r>
            <a:r>
              <a:rPr dirty="0" sz="3400" spc="105">
                <a:solidFill>
                  <a:srgbClr val="FFFFFF"/>
                </a:solidFill>
                <a:latin typeface="Tahoma"/>
                <a:cs typeface="Tahoma"/>
              </a:rPr>
              <a:t>nhau.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75">
                <a:solidFill>
                  <a:srgbClr val="FFFFFF"/>
                </a:solidFill>
                <a:latin typeface="Tahoma"/>
                <a:cs typeface="Tahoma"/>
              </a:rPr>
              <a:t>Đây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0">
                <a:solidFill>
                  <a:srgbClr val="FFFFFF"/>
                </a:solidFill>
                <a:latin typeface="Tahoma"/>
                <a:cs typeface="Tahoma"/>
              </a:rPr>
              <a:t>có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thể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0">
                <a:solidFill>
                  <a:srgbClr val="FFFFFF"/>
                </a:solidFill>
                <a:latin typeface="Tahoma"/>
                <a:cs typeface="Tahoma"/>
              </a:rPr>
              <a:t>là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5">
                <a:solidFill>
                  <a:srgbClr val="FFFFFF"/>
                </a:solidFill>
                <a:latin typeface="Tahoma"/>
                <a:cs typeface="Tahoma"/>
              </a:rPr>
              <a:t>một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5">
                <a:solidFill>
                  <a:srgbClr val="FFFFFF"/>
                </a:solidFill>
                <a:latin typeface="Tahoma"/>
                <a:cs typeface="Tahoma"/>
              </a:rPr>
              <a:t>tính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5">
                <a:solidFill>
                  <a:srgbClr val="FFFFFF"/>
                </a:solidFill>
                <a:latin typeface="Tahoma"/>
                <a:cs typeface="Tahoma"/>
              </a:rPr>
              <a:t>năng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5">
                <a:solidFill>
                  <a:srgbClr val="FFFFFF"/>
                </a:solidFill>
                <a:latin typeface="Tahoma"/>
                <a:cs typeface="Tahoma"/>
              </a:rPr>
              <a:t>mạnh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0">
                <a:solidFill>
                  <a:srgbClr val="FFFFFF"/>
                </a:solidFill>
                <a:latin typeface="Tahoma"/>
                <a:cs typeface="Tahoma"/>
              </a:rPr>
              <a:t>mẽ,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5">
                <a:solidFill>
                  <a:srgbClr val="FFFFFF"/>
                </a:solidFill>
                <a:latin typeface="Tahoma"/>
                <a:cs typeface="Tahoma"/>
              </a:rPr>
              <a:t>nhưng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cũng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0">
                <a:solidFill>
                  <a:srgbClr val="FFFFFF"/>
                </a:solidFill>
                <a:latin typeface="Tahoma"/>
                <a:cs typeface="Tahoma"/>
              </a:rPr>
              <a:t>có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thể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0">
                <a:solidFill>
                  <a:srgbClr val="FFFFFF"/>
                </a:solidFill>
                <a:latin typeface="Tahoma"/>
                <a:cs typeface="Tahoma"/>
              </a:rPr>
              <a:t>gây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5">
                <a:solidFill>
                  <a:srgbClr val="FFFFFF"/>
                </a:solidFill>
                <a:latin typeface="Tahoma"/>
                <a:cs typeface="Tahoma"/>
              </a:rPr>
              <a:t>nhầm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45">
                <a:solidFill>
                  <a:srgbClr val="FFFFFF"/>
                </a:solidFill>
                <a:latin typeface="Tahoma"/>
                <a:cs typeface="Tahoma"/>
              </a:rPr>
              <a:t>lẫn, </a:t>
            </a:r>
            <a:r>
              <a:rPr dirty="0" sz="3400" spc="130">
                <a:solidFill>
                  <a:srgbClr val="FFFFFF"/>
                </a:solidFill>
                <a:latin typeface="Tahoma"/>
                <a:cs typeface="Tahoma"/>
              </a:rPr>
              <a:t>ngay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70">
                <a:solidFill>
                  <a:srgbClr val="FFFFFF"/>
                </a:solidFill>
                <a:latin typeface="Tahoma"/>
                <a:cs typeface="Tahoma"/>
              </a:rPr>
              <a:t>cả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95">
                <a:solidFill>
                  <a:srgbClr val="FFFFFF"/>
                </a:solidFill>
                <a:latin typeface="Tahoma"/>
                <a:cs typeface="Tahoma"/>
              </a:rPr>
              <a:t>với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75">
                <a:solidFill>
                  <a:srgbClr val="FFFFFF"/>
                </a:solidFill>
                <a:latin typeface="Tahoma"/>
                <a:cs typeface="Tahoma"/>
              </a:rPr>
              <a:t>người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0">
                <a:solidFill>
                  <a:srgbClr val="FFFFFF"/>
                </a:solidFill>
                <a:latin typeface="Tahoma"/>
                <a:cs typeface="Tahoma"/>
              </a:rPr>
              <a:t>dùng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0">
                <a:solidFill>
                  <a:srgbClr val="FFFFFF"/>
                </a:solidFill>
                <a:latin typeface="Tahoma"/>
                <a:cs typeface="Tahoma"/>
              </a:rPr>
              <a:t>có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5">
                <a:solidFill>
                  <a:srgbClr val="FFFFFF"/>
                </a:solidFill>
                <a:latin typeface="Tahoma"/>
                <a:cs typeface="Tahoma"/>
              </a:rPr>
              <a:t>kinh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nghiệm.</a:t>
            </a:r>
            <a:endParaRPr sz="3400">
              <a:latin typeface="Tahoma"/>
              <a:cs typeface="Tahoma"/>
            </a:endParaRPr>
          </a:p>
          <a:p>
            <a:pPr marL="746125" marR="10293985" indent="-734060">
              <a:lnSpc>
                <a:spcPct val="115799"/>
              </a:lnSpc>
              <a:spcBef>
                <a:spcPts val="4045"/>
              </a:spcBef>
            </a:pPr>
            <a:r>
              <a:rPr dirty="0" sz="3400" spc="-110">
                <a:solidFill>
                  <a:srgbClr val="FFFFFF"/>
                </a:solidFill>
                <a:latin typeface="Palatino Linotype"/>
                <a:cs typeface="Palatino Linotype"/>
              </a:rPr>
              <a:t>Có</a:t>
            </a:r>
            <a:r>
              <a:rPr dirty="0" sz="3400" spc="-9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185">
                <a:solidFill>
                  <a:srgbClr val="FFFFFF"/>
                </a:solidFill>
                <a:latin typeface="Palatino Linotype"/>
                <a:cs typeface="Palatino Linotype"/>
              </a:rPr>
              <a:t>2</a:t>
            </a:r>
            <a:r>
              <a:rPr dirty="0" sz="3400" spc="-8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135">
                <a:solidFill>
                  <a:srgbClr val="FFFFFF"/>
                </a:solidFill>
                <a:latin typeface="Palatino Linotype"/>
                <a:cs typeface="Palatino Linotype"/>
              </a:rPr>
              <a:t>nội</a:t>
            </a:r>
            <a:r>
              <a:rPr dirty="0" sz="3400" spc="-8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55">
                <a:solidFill>
                  <a:srgbClr val="FFFFFF"/>
                </a:solidFill>
                <a:latin typeface="Palatino Linotype"/>
                <a:cs typeface="Palatino Linotype"/>
              </a:rPr>
              <a:t>dung</a:t>
            </a:r>
            <a:r>
              <a:rPr dirty="0" sz="3400" spc="-9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185">
                <a:solidFill>
                  <a:srgbClr val="FFFFFF"/>
                </a:solidFill>
                <a:latin typeface="Palatino Linotype"/>
                <a:cs typeface="Palatino Linotype"/>
              </a:rPr>
              <a:t>cần</a:t>
            </a:r>
            <a:r>
              <a:rPr dirty="0" sz="3400" spc="-8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90">
                <a:solidFill>
                  <a:srgbClr val="FFFFFF"/>
                </a:solidFill>
                <a:latin typeface="Palatino Linotype"/>
                <a:cs typeface="Palatino Linotype"/>
              </a:rPr>
              <a:t>đạt</a:t>
            </a:r>
            <a:r>
              <a:rPr dirty="0" sz="3400" spc="-8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70">
                <a:solidFill>
                  <a:srgbClr val="FFFFFF"/>
                </a:solidFill>
                <a:latin typeface="Palatino Linotype"/>
                <a:cs typeface="Palatino Linotype"/>
              </a:rPr>
              <a:t>được: </a:t>
            </a:r>
            <a:r>
              <a:rPr dirty="0" sz="3400" spc="110">
                <a:solidFill>
                  <a:srgbClr val="FFFFFF"/>
                </a:solidFill>
                <a:latin typeface="Palatino Linotype"/>
                <a:cs typeface="Palatino Linotype"/>
              </a:rPr>
              <a:t>Phát</a:t>
            </a:r>
            <a:r>
              <a:rPr dirty="0" sz="3400" spc="-8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80">
                <a:solidFill>
                  <a:srgbClr val="FFFFFF"/>
                </a:solidFill>
                <a:latin typeface="Palatino Linotype"/>
                <a:cs typeface="Palatino Linotype"/>
              </a:rPr>
              <a:t>sóng</a:t>
            </a:r>
            <a:r>
              <a:rPr dirty="0" sz="3400" spc="-8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155">
                <a:solidFill>
                  <a:srgbClr val="FFFFFF"/>
                </a:solidFill>
                <a:latin typeface="Palatino Linotype"/>
                <a:cs typeface="Palatino Linotype"/>
              </a:rPr>
              <a:t>qua</a:t>
            </a:r>
            <a:r>
              <a:rPr dirty="0" sz="3400" spc="-8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165">
                <a:solidFill>
                  <a:srgbClr val="FFFFFF"/>
                </a:solidFill>
                <a:latin typeface="Palatino Linotype"/>
                <a:cs typeface="Palatino Linotype"/>
              </a:rPr>
              <a:t>các</a:t>
            </a:r>
            <a:r>
              <a:rPr dirty="0" sz="3400" spc="-8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140">
                <a:solidFill>
                  <a:srgbClr val="FFFFFF"/>
                </a:solidFill>
                <a:latin typeface="Palatino Linotype"/>
                <a:cs typeface="Palatino Linotype"/>
              </a:rPr>
              <a:t>trục</a:t>
            </a:r>
            <a:r>
              <a:rPr dirty="0" sz="3400" spc="-8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130">
                <a:solidFill>
                  <a:srgbClr val="FFFFFF"/>
                </a:solidFill>
                <a:latin typeface="Palatino Linotype"/>
                <a:cs typeface="Palatino Linotype"/>
              </a:rPr>
              <a:t>khác</a:t>
            </a:r>
            <a:endParaRPr sz="3400">
              <a:latin typeface="Palatino Linotype"/>
              <a:cs typeface="Palatino Linotype"/>
            </a:endParaRPr>
          </a:p>
          <a:p>
            <a:pPr marL="746125">
              <a:lnSpc>
                <a:spcPct val="100000"/>
              </a:lnSpc>
              <a:spcBef>
                <a:spcPts val="645"/>
              </a:spcBef>
            </a:pPr>
            <a:r>
              <a:rPr dirty="0" sz="3400" spc="95">
                <a:solidFill>
                  <a:srgbClr val="FFFFFF"/>
                </a:solidFill>
                <a:latin typeface="Palatino Linotype"/>
                <a:cs typeface="Palatino Linotype"/>
              </a:rPr>
              <a:t>Thiết</a:t>
            </a:r>
            <a:r>
              <a:rPr dirty="0" sz="3400" spc="-8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95">
                <a:solidFill>
                  <a:srgbClr val="FFFFFF"/>
                </a:solidFill>
                <a:latin typeface="Palatino Linotype"/>
                <a:cs typeface="Palatino Linotype"/>
              </a:rPr>
              <a:t>lập</a:t>
            </a:r>
            <a:r>
              <a:rPr dirty="0" sz="3400" spc="-8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70">
                <a:solidFill>
                  <a:srgbClr val="FFFFFF"/>
                </a:solidFill>
                <a:latin typeface="Palatino Linotype"/>
                <a:cs typeface="Palatino Linotype"/>
              </a:rPr>
              <a:t>giá</a:t>
            </a:r>
            <a:r>
              <a:rPr dirty="0" sz="3400" spc="-8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140">
                <a:solidFill>
                  <a:srgbClr val="FFFFFF"/>
                </a:solidFill>
                <a:latin typeface="Palatino Linotype"/>
                <a:cs typeface="Palatino Linotype"/>
              </a:rPr>
              <a:t>trị</a:t>
            </a:r>
            <a:r>
              <a:rPr dirty="0" sz="3400" spc="-8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135">
                <a:solidFill>
                  <a:srgbClr val="FFFFFF"/>
                </a:solidFill>
                <a:latin typeface="Palatino Linotype"/>
                <a:cs typeface="Palatino Linotype"/>
              </a:rPr>
              <a:t>mảng</a:t>
            </a:r>
            <a:r>
              <a:rPr dirty="0" sz="3400" spc="-8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130">
                <a:solidFill>
                  <a:srgbClr val="FFFFFF"/>
                </a:solidFill>
                <a:latin typeface="Palatino Linotype"/>
                <a:cs typeface="Palatino Linotype"/>
              </a:rPr>
              <a:t>bằng</a:t>
            </a:r>
            <a:r>
              <a:rPr dirty="0" sz="3400" spc="-7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165">
                <a:solidFill>
                  <a:srgbClr val="FFFFFF"/>
                </a:solidFill>
                <a:latin typeface="Palatino Linotype"/>
                <a:cs typeface="Palatino Linotype"/>
              </a:rPr>
              <a:t>cách</a:t>
            </a:r>
            <a:r>
              <a:rPr dirty="0" sz="3400" spc="-8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120">
                <a:solidFill>
                  <a:srgbClr val="FFFFFF"/>
                </a:solidFill>
                <a:latin typeface="Palatino Linotype"/>
                <a:cs typeface="Palatino Linotype"/>
              </a:rPr>
              <a:t>phát</a:t>
            </a:r>
            <a:r>
              <a:rPr dirty="0" sz="3400" spc="-8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60">
                <a:solidFill>
                  <a:srgbClr val="FFFFFF"/>
                </a:solidFill>
                <a:latin typeface="Palatino Linotype"/>
                <a:cs typeface="Palatino Linotype"/>
              </a:rPr>
              <a:t>sóng</a:t>
            </a:r>
            <a:endParaRPr sz="34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1234" y="376213"/>
            <a:ext cx="10744200" cy="863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0" spc="-340">
                <a:solidFill>
                  <a:srgbClr val="FFFFFF"/>
                </a:solidFill>
              </a:rPr>
              <a:t>A.4.</a:t>
            </a:r>
            <a:r>
              <a:rPr dirty="0" sz="5500" spc="-270">
                <a:solidFill>
                  <a:srgbClr val="FFFFFF"/>
                </a:solidFill>
              </a:rPr>
              <a:t> </a:t>
            </a:r>
            <a:r>
              <a:rPr dirty="0" sz="5500" spc="114">
                <a:solidFill>
                  <a:srgbClr val="FFFFFF"/>
                </a:solidFill>
              </a:rPr>
              <a:t>S</a:t>
            </a:r>
            <a:r>
              <a:rPr dirty="0" sz="5500" spc="114">
                <a:solidFill>
                  <a:srgbClr val="FFFFFF"/>
                </a:solidFill>
                <a:latin typeface="Arial"/>
                <a:cs typeface="Arial"/>
              </a:rPr>
              <a:t>ử</a:t>
            </a:r>
            <a:r>
              <a:rPr dirty="0" sz="55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0" spc="225">
                <a:solidFill>
                  <a:srgbClr val="FFFFFF"/>
                </a:solidFill>
              </a:rPr>
              <a:t>d</a:t>
            </a:r>
            <a:r>
              <a:rPr dirty="0" sz="5500" spc="225">
                <a:solidFill>
                  <a:srgbClr val="FFFFFF"/>
                </a:solidFill>
                <a:latin typeface="Arial"/>
                <a:cs typeface="Arial"/>
              </a:rPr>
              <a:t>ụ</a:t>
            </a:r>
            <a:r>
              <a:rPr dirty="0" sz="5500" spc="225">
                <a:solidFill>
                  <a:srgbClr val="FFFFFF"/>
                </a:solidFill>
              </a:rPr>
              <a:t>ng</a:t>
            </a:r>
            <a:r>
              <a:rPr dirty="0" sz="5500" spc="-270">
                <a:solidFill>
                  <a:srgbClr val="FFFFFF"/>
                </a:solidFill>
              </a:rPr>
              <a:t> </a:t>
            </a:r>
            <a:r>
              <a:rPr dirty="0" sz="5500" spc="114">
                <a:solidFill>
                  <a:srgbClr val="FFFFFF"/>
                </a:solidFill>
              </a:rPr>
              <a:t>ufunc</a:t>
            </a:r>
            <a:r>
              <a:rPr dirty="0" sz="5500" spc="-265">
                <a:solidFill>
                  <a:srgbClr val="FFFFFF"/>
                </a:solidFill>
              </a:rPr>
              <a:t> </a:t>
            </a:r>
            <a:r>
              <a:rPr dirty="0" sz="5500" spc="204">
                <a:solidFill>
                  <a:srgbClr val="FFFFFF"/>
                </a:solidFill>
              </a:rPr>
              <a:t>Nâng</a:t>
            </a:r>
            <a:r>
              <a:rPr dirty="0" sz="5500" spc="-265">
                <a:solidFill>
                  <a:srgbClr val="FFFFFF"/>
                </a:solidFill>
              </a:rPr>
              <a:t> </a:t>
            </a:r>
            <a:r>
              <a:rPr dirty="0" sz="5500" spc="430">
                <a:solidFill>
                  <a:srgbClr val="FFFFFF"/>
                </a:solidFill>
              </a:rPr>
              <a:t>cao</a:t>
            </a:r>
            <a:r>
              <a:rPr dirty="0" sz="5500" spc="-270">
                <a:solidFill>
                  <a:srgbClr val="FFFFFF"/>
                </a:solidFill>
              </a:rPr>
              <a:t> </a:t>
            </a:r>
            <a:r>
              <a:rPr dirty="0" sz="5500" spc="190">
                <a:solidFill>
                  <a:srgbClr val="FFFFFF"/>
                </a:solidFill>
              </a:rPr>
              <a:t>p</a:t>
            </a:r>
            <a:endParaRPr sz="55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99584" y="1510825"/>
            <a:ext cx="3988416" cy="8023571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1474" y="2761174"/>
            <a:ext cx="152400" cy="15239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1474" y="3961324"/>
            <a:ext cx="152400" cy="15239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1474" y="5761549"/>
            <a:ext cx="152400" cy="15239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1474" y="6961699"/>
            <a:ext cx="152400" cy="152399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721320" y="2453827"/>
            <a:ext cx="13569950" cy="542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17525">
              <a:lnSpc>
                <a:spcPct val="115799"/>
              </a:lnSpc>
              <a:spcBef>
                <a:spcPts val="100"/>
              </a:spcBef>
            </a:pPr>
            <a:r>
              <a:rPr dirty="0" sz="3400" spc="70">
                <a:solidFill>
                  <a:srgbClr val="FFFFFF"/>
                </a:solidFill>
                <a:latin typeface="Tahoma"/>
                <a:cs typeface="Tahoma"/>
              </a:rPr>
              <a:t>reduce: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0">
                <a:solidFill>
                  <a:srgbClr val="FFFFFF"/>
                </a:solidFill>
                <a:latin typeface="Tahoma"/>
                <a:cs typeface="Tahoma"/>
              </a:rPr>
              <a:t>Áp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0">
                <a:solidFill>
                  <a:srgbClr val="FFFFFF"/>
                </a:solidFill>
                <a:latin typeface="Tahoma"/>
                <a:cs typeface="Tahoma"/>
              </a:rPr>
              <a:t>dụng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5">
                <a:solidFill>
                  <a:srgbClr val="FFFFFF"/>
                </a:solidFill>
                <a:latin typeface="Tahoma"/>
                <a:cs typeface="Tahoma"/>
              </a:rPr>
              <a:t>một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75">
                <a:solidFill>
                  <a:srgbClr val="FFFFFF"/>
                </a:solidFill>
                <a:latin typeface="Tahoma"/>
                <a:cs typeface="Tahoma"/>
              </a:rPr>
              <a:t>phép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0">
                <a:solidFill>
                  <a:srgbClr val="FFFFFF"/>
                </a:solidFill>
                <a:latin typeface="Tahoma"/>
                <a:cs typeface="Tahoma"/>
              </a:rPr>
              <a:t>toán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5">
                <a:solidFill>
                  <a:srgbClr val="FFFFFF"/>
                </a:solidFill>
                <a:latin typeface="Tahoma"/>
                <a:cs typeface="Tahoma"/>
              </a:rPr>
              <a:t>lặp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0">
                <a:solidFill>
                  <a:srgbClr val="FFFFFF"/>
                </a:solidFill>
                <a:latin typeface="Tahoma"/>
                <a:cs typeface="Tahoma"/>
              </a:rPr>
              <a:t>lại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để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5">
                <a:solidFill>
                  <a:srgbClr val="FFFFFF"/>
                </a:solidFill>
                <a:latin typeface="Tahoma"/>
                <a:cs typeface="Tahoma"/>
              </a:rPr>
              <a:t>tổng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85">
                <a:solidFill>
                  <a:srgbClr val="FFFFFF"/>
                </a:solidFill>
                <a:latin typeface="Tahoma"/>
                <a:cs typeface="Tahoma"/>
              </a:rPr>
              <a:t>hợp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0">
                <a:solidFill>
                  <a:srgbClr val="FFFFFF"/>
                </a:solidFill>
                <a:latin typeface="Tahoma"/>
                <a:cs typeface="Tahoma"/>
              </a:rPr>
              <a:t>các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5">
                <a:solidFill>
                  <a:srgbClr val="FFFFFF"/>
                </a:solidFill>
                <a:latin typeface="Tahoma"/>
                <a:cs typeface="Tahoma"/>
              </a:rPr>
              <a:t>giá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50">
                <a:solidFill>
                  <a:srgbClr val="FFFFFF"/>
                </a:solidFill>
                <a:latin typeface="Tahoma"/>
                <a:cs typeface="Tahoma"/>
              </a:rPr>
              <a:t>trị.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-25">
                <a:solidFill>
                  <a:srgbClr val="FFFFFF"/>
                </a:solidFill>
                <a:latin typeface="Tahoma"/>
                <a:cs typeface="Tahoma"/>
              </a:rPr>
              <a:t>Ví </a:t>
            </a:r>
            <a:r>
              <a:rPr dirty="0" sz="3400" spc="85">
                <a:solidFill>
                  <a:srgbClr val="FFFFFF"/>
                </a:solidFill>
                <a:latin typeface="Tahoma"/>
                <a:cs typeface="Tahoma"/>
              </a:rPr>
              <a:t>dụ,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70">
                <a:solidFill>
                  <a:srgbClr val="FFFFFF"/>
                </a:solidFill>
                <a:latin typeface="Tahoma"/>
                <a:cs typeface="Tahoma"/>
              </a:rPr>
              <a:t>np.add.reduce(arr)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70">
                <a:solidFill>
                  <a:srgbClr val="FFFFFF"/>
                </a:solidFill>
                <a:latin typeface="Tahoma"/>
                <a:cs typeface="Tahoma"/>
              </a:rPr>
              <a:t>tương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80">
                <a:solidFill>
                  <a:srgbClr val="FFFFFF"/>
                </a:solidFill>
                <a:latin typeface="Tahoma"/>
                <a:cs typeface="Tahoma"/>
              </a:rPr>
              <a:t>đương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95">
                <a:solidFill>
                  <a:srgbClr val="FFFFFF"/>
                </a:solidFill>
                <a:latin typeface="Tahoma"/>
                <a:cs typeface="Tahoma"/>
              </a:rPr>
              <a:t>với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-10">
                <a:solidFill>
                  <a:srgbClr val="FFFFFF"/>
                </a:solidFill>
                <a:latin typeface="Tahoma"/>
                <a:cs typeface="Tahoma"/>
              </a:rPr>
              <a:t>arr.sum().</a:t>
            </a:r>
            <a:endParaRPr sz="3400">
              <a:latin typeface="Tahoma"/>
              <a:cs typeface="Tahoma"/>
            </a:endParaRPr>
          </a:p>
          <a:p>
            <a:pPr marL="12700" marR="5080">
              <a:lnSpc>
                <a:spcPct val="115799"/>
              </a:lnSpc>
            </a:pPr>
            <a:r>
              <a:rPr dirty="0" sz="3400" spc="85">
                <a:solidFill>
                  <a:srgbClr val="FFFFFF"/>
                </a:solidFill>
                <a:latin typeface="Tahoma"/>
                <a:cs typeface="Tahoma"/>
              </a:rPr>
              <a:t>accumulate: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4">
                <a:solidFill>
                  <a:srgbClr val="FFFFFF"/>
                </a:solidFill>
                <a:latin typeface="Tahoma"/>
                <a:cs typeface="Tahoma"/>
              </a:rPr>
              <a:t>Tương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tự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5">
                <a:solidFill>
                  <a:srgbClr val="FFFFFF"/>
                </a:solidFill>
                <a:latin typeface="Tahoma"/>
                <a:cs typeface="Tahoma"/>
              </a:rPr>
              <a:t>reduce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5">
                <a:solidFill>
                  <a:srgbClr val="FFFFFF"/>
                </a:solidFill>
                <a:latin typeface="Tahoma"/>
                <a:cs typeface="Tahoma"/>
              </a:rPr>
              <a:t>nhưng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5">
                <a:solidFill>
                  <a:srgbClr val="FFFFFF"/>
                </a:solidFill>
                <a:latin typeface="Tahoma"/>
                <a:cs typeface="Tahoma"/>
              </a:rPr>
              <a:t>trả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75">
                <a:solidFill>
                  <a:srgbClr val="FFFFFF"/>
                </a:solidFill>
                <a:latin typeface="Tahoma"/>
                <a:cs typeface="Tahoma"/>
              </a:rPr>
              <a:t>về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5">
                <a:solidFill>
                  <a:srgbClr val="FFFFFF"/>
                </a:solidFill>
                <a:latin typeface="Tahoma"/>
                <a:cs typeface="Tahoma"/>
              </a:rPr>
              <a:t>một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00">
                <a:solidFill>
                  <a:srgbClr val="FFFFFF"/>
                </a:solidFill>
                <a:latin typeface="Tahoma"/>
                <a:cs typeface="Tahoma"/>
              </a:rPr>
              <a:t>mảng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5">
                <a:solidFill>
                  <a:srgbClr val="FFFFFF"/>
                </a:solidFill>
                <a:latin typeface="Tahoma"/>
                <a:cs typeface="Tahoma"/>
              </a:rPr>
              <a:t>chứa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0">
                <a:solidFill>
                  <a:srgbClr val="FFFFFF"/>
                </a:solidFill>
                <a:latin typeface="Tahoma"/>
                <a:cs typeface="Tahoma"/>
              </a:rPr>
              <a:t>các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5">
                <a:solidFill>
                  <a:srgbClr val="FFFFFF"/>
                </a:solidFill>
                <a:latin typeface="Tahoma"/>
                <a:cs typeface="Tahoma"/>
              </a:rPr>
              <a:t>kết </a:t>
            </a:r>
            <a:r>
              <a:rPr dirty="0" sz="3400" spc="160">
                <a:solidFill>
                  <a:srgbClr val="FFFFFF"/>
                </a:solidFill>
                <a:latin typeface="Tahoma"/>
                <a:cs typeface="Tahoma"/>
              </a:rPr>
              <a:t>quả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0">
                <a:solidFill>
                  <a:srgbClr val="FFFFFF"/>
                </a:solidFill>
                <a:latin typeface="Tahoma"/>
                <a:cs typeface="Tahoma"/>
              </a:rPr>
              <a:t>tích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5">
                <a:solidFill>
                  <a:srgbClr val="FFFFFF"/>
                </a:solidFill>
                <a:latin typeface="Tahoma"/>
                <a:cs typeface="Tahoma"/>
              </a:rPr>
              <a:t>lũy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0">
                <a:solidFill>
                  <a:srgbClr val="FFFFFF"/>
                </a:solidFill>
                <a:latin typeface="Tahoma"/>
                <a:cs typeface="Tahoma"/>
              </a:rPr>
              <a:t>trung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90">
                <a:solidFill>
                  <a:srgbClr val="FFFFFF"/>
                </a:solidFill>
                <a:latin typeface="Tahoma"/>
                <a:cs typeface="Tahoma"/>
              </a:rPr>
              <a:t>gian.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80">
                <a:solidFill>
                  <a:srgbClr val="FFFFFF"/>
                </a:solidFill>
                <a:latin typeface="Tahoma"/>
                <a:cs typeface="Tahoma"/>
              </a:rPr>
              <a:t>np.add.accumulate(arr)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70">
                <a:solidFill>
                  <a:srgbClr val="FFFFFF"/>
                </a:solidFill>
                <a:latin typeface="Tahoma"/>
                <a:cs typeface="Tahoma"/>
              </a:rPr>
              <a:t>tương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0">
                <a:solidFill>
                  <a:srgbClr val="FFFFFF"/>
                </a:solidFill>
                <a:latin typeface="Tahoma"/>
                <a:cs typeface="Tahoma"/>
              </a:rPr>
              <a:t>đương </a:t>
            </a:r>
            <a:r>
              <a:rPr dirty="0" sz="3400" spc="45">
                <a:solidFill>
                  <a:srgbClr val="FFFFFF"/>
                </a:solidFill>
                <a:latin typeface="Tahoma"/>
                <a:cs typeface="Tahoma"/>
              </a:rPr>
              <a:t>arr.cumsum().</a:t>
            </a:r>
            <a:endParaRPr sz="3400">
              <a:latin typeface="Tahoma"/>
              <a:cs typeface="Tahoma"/>
            </a:endParaRPr>
          </a:p>
          <a:p>
            <a:pPr marL="12700" marR="237490">
              <a:lnSpc>
                <a:spcPct val="115799"/>
              </a:lnSpc>
            </a:pPr>
            <a:r>
              <a:rPr dirty="0" sz="3400" spc="70">
                <a:solidFill>
                  <a:srgbClr val="FFFFFF"/>
                </a:solidFill>
                <a:latin typeface="Tahoma"/>
                <a:cs typeface="Tahoma"/>
              </a:rPr>
              <a:t>outer:</a:t>
            </a:r>
            <a:r>
              <a:rPr dirty="0" sz="34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90">
                <a:solidFill>
                  <a:srgbClr val="FFFFFF"/>
                </a:solidFill>
                <a:latin typeface="Tahoma"/>
                <a:cs typeface="Tahoma"/>
              </a:rPr>
              <a:t>Tính</a:t>
            </a:r>
            <a:r>
              <a:rPr dirty="0" sz="34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0">
                <a:solidFill>
                  <a:srgbClr val="FFFFFF"/>
                </a:solidFill>
                <a:latin typeface="Tahoma"/>
                <a:cs typeface="Tahoma"/>
              </a:rPr>
              <a:t>toán</a:t>
            </a:r>
            <a:r>
              <a:rPr dirty="0" sz="34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0">
                <a:solidFill>
                  <a:srgbClr val="FFFFFF"/>
                </a:solidFill>
                <a:latin typeface="Tahoma"/>
                <a:cs typeface="Tahoma"/>
              </a:rPr>
              <a:t>tích</a:t>
            </a:r>
            <a:r>
              <a:rPr dirty="0" sz="34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5">
                <a:solidFill>
                  <a:srgbClr val="FFFFFF"/>
                </a:solidFill>
                <a:latin typeface="Tahoma"/>
                <a:cs typeface="Tahoma"/>
              </a:rPr>
              <a:t>ngoài</a:t>
            </a:r>
            <a:r>
              <a:rPr dirty="0" sz="34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>
                <a:solidFill>
                  <a:srgbClr val="FFFFFF"/>
                </a:solidFill>
                <a:latin typeface="Tahoma"/>
                <a:cs typeface="Tahoma"/>
              </a:rPr>
              <a:t>(cross</a:t>
            </a:r>
            <a:r>
              <a:rPr dirty="0" sz="34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90">
                <a:solidFill>
                  <a:srgbClr val="FFFFFF"/>
                </a:solidFill>
                <a:latin typeface="Tahoma"/>
                <a:cs typeface="Tahoma"/>
              </a:rPr>
              <a:t>product)</a:t>
            </a:r>
            <a:r>
              <a:rPr dirty="0" sz="34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0">
                <a:solidFill>
                  <a:srgbClr val="FFFFFF"/>
                </a:solidFill>
                <a:latin typeface="Tahoma"/>
                <a:cs typeface="Tahoma"/>
              </a:rPr>
              <a:t>của</a:t>
            </a:r>
            <a:r>
              <a:rPr dirty="0" sz="34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85">
                <a:solidFill>
                  <a:srgbClr val="FFFFFF"/>
                </a:solidFill>
                <a:latin typeface="Tahoma"/>
                <a:cs typeface="Tahoma"/>
              </a:rPr>
              <a:t>tất</a:t>
            </a:r>
            <a:r>
              <a:rPr dirty="0" sz="34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70">
                <a:solidFill>
                  <a:srgbClr val="FFFFFF"/>
                </a:solidFill>
                <a:latin typeface="Tahoma"/>
                <a:cs typeface="Tahoma"/>
              </a:rPr>
              <a:t>cả</a:t>
            </a:r>
            <a:r>
              <a:rPr dirty="0" sz="3400" spc="-1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0">
                <a:solidFill>
                  <a:srgbClr val="FFFFFF"/>
                </a:solidFill>
                <a:latin typeface="Tahoma"/>
                <a:cs typeface="Tahoma"/>
              </a:rPr>
              <a:t>các</a:t>
            </a:r>
            <a:r>
              <a:rPr dirty="0" sz="34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4">
                <a:solidFill>
                  <a:srgbClr val="FFFFFF"/>
                </a:solidFill>
                <a:latin typeface="Tahoma"/>
                <a:cs typeface="Tahoma"/>
              </a:rPr>
              <a:t>cặp</a:t>
            </a:r>
            <a:r>
              <a:rPr dirty="0" sz="34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5">
                <a:solidFill>
                  <a:srgbClr val="FFFFFF"/>
                </a:solidFill>
                <a:latin typeface="Tahoma"/>
                <a:cs typeface="Tahoma"/>
              </a:rPr>
              <a:t>phần </a:t>
            </a: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tử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5">
                <a:solidFill>
                  <a:srgbClr val="FFFFFF"/>
                </a:solidFill>
                <a:latin typeface="Tahoma"/>
                <a:cs typeface="Tahoma"/>
              </a:rPr>
              <a:t>giữa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hai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0">
                <a:solidFill>
                  <a:srgbClr val="FFFFFF"/>
                </a:solidFill>
                <a:latin typeface="Tahoma"/>
                <a:cs typeface="Tahoma"/>
              </a:rPr>
              <a:t>mảng.</a:t>
            </a:r>
            <a:endParaRPr sz="3400">
              <a:latin typeface="Tahoma"/>
              <a:cs typeface="Tahoma"/>
            </a:endParaRPr>
          </a:p>
          <a:p>
            <a:pPr marL="12700" marR="546100">
              <a:lnSpc>
                <a:spcPct val="115799"/>
              </a:lnSpc>
            </a:pPr>
            <a:r>
              <a:rPr dirty="0" sz="3400" spc="75">
                <a:solidFill>
                  <a:srgbClr val="FFFFFF"/>
                </a:solidFill>
                <a:latin typeface="Tahoma"/>
                <a:cs typeface="Tahoma"/>
              </a:rPr>
              <a:t>reduceat: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85">
                <a:solidFill>
                  <a:srgbClr val="FFFFFF"/>
                </a:solidFill>
                <a:latin typeface="Tahoma"/>
                <a:cs typeface="Tahoma"/>
              </a:rPr>
              <a:t>Thực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5">
                <a:solidFill>
                  <a:srgbClr val="FFFFFF"/>
                </a:solidFill>
                <a:latin typeface="Tahoma"/>
                <a:cs typeface="Tahoma"/>
              </a:rPr>
              <a:t>hiện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5">
                <a:solidFill>
                  <a:srgbClr val="FFFFFF"/>
                </a:solidFill>
                <a:latin typeface="Tahoma"/>
                <a:cs typeface="Tahoma"/>
              </a:rPr>
              <a:t>một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75">
                <a:solidFill>
                  <a:srgbClr val="FFFFFF"/>
                </a:solidFill>
                <a:latin typeface="Tahoma"/>
                <a:cs typeface="Tahoma"/>
              </a:rPr>
              <a:t>phép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95">
                <a:solidFill>
                  <a:srgbClr val="FFFFFF"/>
                </a:solidFill>
                <a:latin typeface="Tahoma"/>
                <a:cs typeface="Tahoma"/>
              </a:rPr>
              <a:t>"reduce"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90">
                <a:solidFill>
                  <a:srgbClr val="FFFFFF"/>
                </a:solidFill>
                <a:latin typeface="Tahoma"/>
                <a:cs typeface="Tahoma"/>
              </a:rPr>
              <a:t>cục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00">
                <a:solidFill>
                  <a:srgbClr val="FFFFFF"/>
                </a:solidFill>
                <a:latin typeface="Tahoma"/>
                <a:cs typeface="Tahoma"/>
              </a:rPr>
              <a:t>bộ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0">
                <a:solidFill>
                  <a:srgbClr val="FFFFFF"/>
                </a:solidFill>
                <a:latin typeface="Tahoma"/>
                <a:cs typeface="Tahoma"/>
              </a:rPr>
              <a:t>trên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0">
                <a:solidFill>
                  <a:srgbClr val="FFFFFF"/>
                </a:solidFill>
                <a:latin typeface="Tahoma"/>
                <a:cs typeface="Tahoma"/>
              </a:rPr>
              <a:t>các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90">
                <a:solidFill>
                  <a:srgbClr val="FFFFFF"/>
                </a:solidFill>
                <a:latin typeface="Tahoma"/>
                <a:cs typeface="Tahoma"/>
              </a:rPr>
              <a:t>lát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-10">
                <a:solidFill>
                  <a:srgbClr val="FFFFFF"/>
                </a:solidFill>
                <a:latin typeface="Tahoma"/>
                <a:cs typeface="Tahoma"/>
              </a:rPr>
              <a:t>(slice) </a:t>
            </a:r>
            <a:r>
              <a:rPr dirty="0" sz="3400" spc="110">
                <a:solidFill>
                  <a:srgbClr val="FFFFFF"/>
                </a:solidFill>
                <a:latin typeface="Tahoma"/>
                <a:cs typeface="Tahoma"/>
              </a:rPr>
              <a:t>của</a:t>
            </a:r>
            <a:r>
              <a:rPr dirty="0" sz="3400" spc="-1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5">
                <a:solidFill>
                  <a:srgbClr val="FFFFFF"/>
                </a:solidFill>
                <a:latin typeface="Tahoma"/>
                <a:cs typeface="Tahoma"/>
              </a:rPr>
              <a:t>một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0">
                <a:solidFill>
                  <a:srgbClr val="FFFFFF"/>
                </a:solidFill>
                <a:latin typeface="Tahoma"/>
                <a:cs typeface="Tahoma"/>
              </a:rPr>
              <a:t>mảng.</a:t>
            </a:r>
            <a:endParaRPr sz="3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36945" y="6861732"/>
            <a:ext cx="2351055" cy="342526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6709" y="81906"/>
            <a:ext cx="16450944" cy="2162810"/>
          </a:xfrm>
          <a:prstGeom prst="rect"/>
        </p:spPr>
        <p:txBody>
          <a:bodyPr wrap="square" lIns="0" tIns="143510" rIns="0" bIns="0" rtlCol="0" vert="horz">
            <a:spAutoFit/>
          </a:bodyPr>
          <a:lstStyle/>
          <a:p>
            <a:pPr marL="12700" marR="5080">
              <a:lnSpc>
                <a:spcPts val="7950"/>
              </a:lnSpc>
              <a:spcBef>
                <a:spcPts val="1130"/>
              </a:spcBef>
            </a:pPr>
            <a:r>
              <a:rPr dirty="0" sz="7400" spc="-455">
                <a:solidFill>
                  <a:srgbClr val="FFFFFF"/>
                </a:solidFill>
              </a:rPr>
              <a:t>A.5.</a:t>
            </a:r>
            <a:r>
              <a:rPr dirty="0" sz="7400" spc="-365">
                <a:solidFill>
                  <a:srgbClr val="FFFFFF"/>
                </a:solidFill>
              </a:rPr>
              <a:t> </a:t>
            </a:r>
            <a:r>
              <a:rPr dirty="0" sz="7400" spc="105">
                <a:solidFill>
                  <a:srgbClr val="FFFFFF"/>
                </a:solidFill>
              </a:rPr>
              <a:t>M</a:t>
            </a:r>
            <a:r>
              <a:rPr dirty="0" sz="7400" spc="105">
                <a:solidFill>
                  <a:srgbClr val="FFFFFF"/>
                </a:solidFill>
                <a:latin typeface="Arial"/>
                <a:cs typeface="Arial"/>
              </a:rPr>
              <a:t>ả</a:t>
            </a:r>
            <a:r>
              <a:rPr dirty="0" sz="7400" spc="105">
                <a:solidFill>
                  <a:srgbClr val="FFFFFF"/>
                </a:solidFill>
              </a:rPr>
              <a:t>ng</a:t>
            </a:r>
            <a:r>
              <a:rPr dirty="0" sz="7400" spc="-360">
                <a:solidFill>
                  <a:srgbClr val="FFFFFF"/>
                </a:solidFill>
              </a:rPr>
              <a:t> </a:t>
            </a:r>
            <a:r>
              <a:rPr dirty="0" sz="7400" spc="425">
                <a:solidFill>
                  <a:srgbClr val="FFFFFF"/>
                </a:solidFill>
              </a:rPr>
              <a:t>có</a:t>
            </a:r>
            <a:r>
              <a:rPr dirty="0" sz="7400" spc="-360">
                <a:solidFill>
                  <a:srgbClr val="FFFFFF"/>
                </a:solidFill>
              </a:rPr>
              <a:t> </a:t>
            </a:r>
            <a:r>
              <a:rPr dirty="0" sz="7400" spc="265">
                <a:solidFill>
                  <a:srgbClr val="FFFFFF"/>
                </a:solidFill>
              </a:rPr>
              <a:t>c</a:t>
            </a:r>
            <a:r>
              <a:rPr dirty="0" sz="7400" spc="265">
                <a:solidFill>
                  <a:srgbClr val="FFFFFF"/>
                </a:solidFill>
                <a:latin typeface="Arial"/>
                <a:cs typeface="Arial"/>
              </a:rPr>
              <a:t>ấ</a:t>
            </a:r>
            <a:r>
              <a:rPr dirty="0" sz="7400" spc="265">
                <a:solidFill>
                  <a:srgbClr val="FFFFFF"/>
                </a:solidFill>
              </a:rPr>
              <a:t>u</a:t>
            </a:r>
            <a:r>
              <a:rPr dirty="0" sz="7400" spc="-360">
                <a:solidFill>
                  <a:srgbClr val="FFFFFF"/>
                </a:solidFill>
              </a:rPr>
              <a:t> </a:t>
            </a:r>
            <a:r>
              <a:rPr dirty="0" sz="7400" spc="110">
                <a:solidFill>
                  <a:srgbClr val="FFFFFF"/>
                </a:solidFill>
              </a:rPr>
              <a:t>trúc</a:t>
            </a:r>
            <a:r>
              <a:rPr dirty="0" sz="7400" spc="-360">
                <a:solidFill>
                  <a:srgbClr val="FFFFFF"/>
                </a:solidFill>
              </a:rPr>
              <a:t> </a:t>
            </a:r>
            <a:r>
              <a:rPr dirty="0" sz="7400" spc="600">
                <a:solidFill>
                  <a:srgbClr val="FFFFFF"/>
                </a:solidFill>
              </a:rPr>
              <a:t>và</a:t>
            </a:r>
            <a:r>
              <a:rPr dirty="0" sz="7400" spc="-360">
                <a:solidFill>
                  <a:srgbClr val="FFFFFF"/>
                </a:solidFill>
              </a:rPr>
              <a:t> </a:t>
            </a:r>
            <a:r>
              <a:rPr dirty="0" sz="7400" spc="105">
                <a:solidFill>
                  <a:srgbClr val="FFFFFF"/>
                </a:solidFill>
              </a:rPr>
              <a:t>M</a:t>
            </a:r>
            <a:r>
              <a:rPr dirty="0" sz="7400" spc="105">
                <a:solidFill>
                  <a:srgbClr val="FFFFFF"/>
                </a:solidFill>
                <a:latin typeface="Arial"/>
                <a:cs typeface="Arial"/>
              </a:rPr>
              <a:t>ả</a:t>
            </a:r>
            <a:r>
              <a:rPr dirty="0" sz="7400" spc="105">
                <a:solidFill>
                  <a:srgbClr val="FFFFFF"/>
                </a:solidFill>
              </a:rPr>
              <a:t>ng</a:t>
            </a:r>
            <a:r>
              <a:rPr dirty="0" sz="7400" spc="-365">
                <a:solidFill>
                  <a:srgbClr val="FFFFFF"/>
                </a:solidFill>
              </a:rPr>
              <a:t> </a:t>
            </a:r>
            <a:r>
              <a:rPr dirty="0" sz="7400" spc="125">
                <a:solidFill>
                  <a:srgbClr val="FFFFFF"/>
                </a:solidFill>
              </a:rPr>
              <a:t>b</a:t>
            </a:r>
            <a:r>
              <a:rPr dirty="0" sz="7400" spc="125">
                <a:solidFill>
                  <a:srgbClr val="FFFFFF"/>
                </a:solidFill>
                <a:latin typeface="Arial"/>
                <a:cs typeface="Arial"/>
              </a:rPr>
              <a:t>ả</a:t>
            </a:r>
            <a:r>
              <a:rPr dirty="0" sz="7400" spc="125">
                <a:solidFill>
                  <a:srgbClr val="FFFFFF"/>
                </a:solidFill>
              </a:rPr>
              <a:t>n </a:t>
            </a:r>
            <a:r>
              <a:rPr dirty="0" sz="7400" spc="55">
                <a:solidFill>
                  <a:srgbClr val="FFFFFF"/>
                </a:solidFill>
              </a:rPr>
              <a:t>ghi</a:t>
            </a:r>
            <a:r>
              <a:rPr dirty="0" sz="7400" spc="-355">
                <a:solidFill>
                  <a:srgbClr val="FFFFFF"/>
                </a:solidFill>
              </a:rPr>
              <a:t> </a:t>
            </a:r>
            <a:r>
              <a:rPr dirty="0" sz="7400" spc="200">
                <a:solidFill>
                  <a:srgbClr val="FFFFFF"/>
                </a:solidFill>
              </a:rPr>
              <a:t>(Structured</a:t>
            </a:r>
            <a:r>
              <a:rPr dirty="0" sz="7400" spc="-350">
                <a:solidFill>
                  <a:srgbClr val="FFFFFF"/>
                </a:solidFill>
              </a:rPr>
              <a:t> </a:t>
            </a:r>
            <a:r>
              <a:rPr dirty="0" sz="7400" spc="450">
                <a:solidFill>
                  <a:srgbClr val="FFFFFF"/>
                </a:solidFill>
              </a:rPr>
              <a:t>and</a:t>
            </a:r>
            <a:r>
              <a:rPr dirty="0" sz="7400" spc="-355">
                <a:solidFill>
                  <a:srgbClr val="FFFFFF"/>
                </a:solidFill>
              </a:rPr>
              <a:t> </a:t>
            </a:r>
            <a:r>
              <a:rPr dirty="0" sz="7400" spc="190">
                <a:solidFill>
                  <a:srgbClr val="FFFFFF"/>
                </a:solidFill>
              </a:rPr>
              <a:t>Record</a:t>
            </a:r>
            <a:r>
              <a:rPr dirty="0" sz="7400" spc="-350">
                <a:solidFill>
                  <a:srgbClr val="FFFFFF"/>
                </a:solidFill>
              </a:rPr>
              <a:t> </a:t>
            </a:r>
            <a:r>
              <a:rPr dirty="0" sz="7400" spc="195">
                <a:solidFill>
                  <a:srgbClr val="FFFFFF"/>
                </a:solidFill>
              </a:rPr>
              <a:t>Arrays)</a:t>
            </a:r>
            <a:endParaRPr sz="74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0884" y="2856148"/>
            <a:ext cx="152400" cy="15239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0884" y="4656373"/>
            <a:ext cx="152400" cy="152399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306709" y="2548803"/>
            <a:ext cx="16640175" cy="65398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46125" marR="5080">
              <a:lnSpc>
                <a:spcPct val="115799"/>
              </a:lnSpc>
              <a:spcBef>
                <a:spcPts val="100"/>
              </a:spcBef>
            </a:pPr>
            <a:r>
              <a:rPr dirty="0" sz="3400" spc="130">
                <a:solidFill>
                  <a:srgbClr val="FFFFFF"/>
                </a:solidFill>
                <a:latin typeface="Tahoma"/>
                <a:cs typeface="Tahoma"/>
              </a:rPr>
              <a:t>Thêmndarray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0">
                <a:solidFill>
                  <a:srgbClr val="FFFFFF"/>
                </a:solidFill>
                <a:latin typeface="Tahoma"/>
                <a:cs typeface="Tahoma"/>
              </a:rPr>
              <a:t>là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5">
                <a:solidFill>
                  <a:srgbClr val="FFFFFF"/>
                </a:solidFill>
                <a:latin typeface="Tahoma"/>
                <a:cs typeface="Tahoma"/>
              </a:rPr>
              <a:t>một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0">
                <a:solidFill>
                  <a:srgbClr val="FFFFFF"/>
                </a:solidFill>
                <a:latin typeface="Tahoma"/>
                <a:cs typeface="Tahoma"/>
              </a:rPr>
              <a:t>container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10">
                <a:solidFill>
                  <a:srgbClr val="FFFFFF"/>
                </a:solidFill>
                <a:latin typeface="Tahoma"/>
                <a:cs typeface="Tahoma"/>
              </a:rPr>
              <a:t>dữ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liệu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80">
                <a:solidFill>
                  <a:srgbClr val="FFFFFF"/>
                </a:solidFill>
                <a:latin typeface="Tahoma"/>
                <a:cs typeface="Tahoma"/>
              </a:rPr>
              <a:t>đồng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80">
                <a:solidFill>
                  <a:srgbClr val="FFFFFF"/>
                </a:solidFill>
                <a:latin typeface="Tahoma"/>
                <a:cs typeface="Tahoma"/>
              </a:rPr>
              <a:t>nhất.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>
                <a:solidFill>
                  <a:srgbClr val="FFFFFF"/>
                </a:solidFill>
                <a:latin typeface="Tahoma"/>
                <a:cs typeface="Tahoma"/>
              </a:rPr>
              <a:t>Tuy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5">
                <a:solidFill>
                  <a:srgbClr val="FFFFFF"/>
                </a:solidFill>
                <a:latin typeface="Tahoma"/>
                <a:cs typeface="Tahoma"/>
              </a:rPr>
              <a:t>nhiên,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00">
                <a:solidFill>
                  <a:srgbClr val="FFFFFF"/>
                </a:solidFill>
                <a:latin typeface="Tahoma"/>
                <a:cs typeface="Tahoma"/>
              </a:rPr>
              <a:t>mảng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0">
                <a:solidFill>
                  <a:srgbClr val="FFFFFF"/>
                </a:solidFill>
                <a:latin typeface="Tahoma"/>
                <a:cs typeface="Tahoma"/>
              </a:rPr>
              <a:t>có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0">
                <a:solidFill>
                  <a:srgbClr val="FFFFFF"/>
                </a:solidFill>
                <a:latin typeface="Tahoma"/>
                <a:cs typeface="Tahoma"/>
              </a:rPr>
              <a:t>cấu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95">
                <a:solidFill>
                  <a:srgbClr val="FFFFFF"/>
                </a:solidFill>
                <a:latin typeface="Tahoma"/>
                <a:cs typeface="Tahoma"/>
              </a:rPr>
              <a:t>trúc </a:t>
            </a:r>
            <a:r>
              <a:rPr dirty="0" sz="3400" spc="90">
                <a:solidFill>
                  <a:srgbClr val="FFFFFF"/>
                </a:solidFill>
                <a:latin typeface="Tahoma"/>
                <a:cs typeface="Tahoma"/>
              </a:rPr>
              <a:t>(structured</a:t>
            </a:r>
            <a:r>
              <a:rPr dirty="0" sz="3400" spc="-1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>
                <a:solidFill>
                  <a:srgbClr val="FFFFFF"/>
                </a:solidFill>
                <a:latin typeface="Tahoma"/>
                <a:cs typeface="Tahoma"/>
              </a:rPr>
              <a:t>array)</a:t>
            </a:r>
            <a:r>
              <a:rPr dirty="0" sz="3400" spc="-1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0">
                <a:solidFill>
                  <a:srgbClr val="FFFFFF"/>
                </a:solidFill>
                <a:latin typeface="Tahoma"/>
                <a:cs typeface="Tahoma"/>
              </a:rPr>
              <a:t>là</a:t>
            </a:r>
            <a:r>
              <a:rPr dirty="0" sz="3400" spc="-1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5">
                <a:solidFill>
                  <a:srgbClr val="FFFFFF"/>
                </a:solidFill>
                <a:latin typeface="Tahoma"/>
                <a:cs typeface="Tahoma"/>
              </a:rPr>
              <a:t>một</a:t>
            </a:r>
            <a:r>
              <a:rPr dirty="0" sz="3400" spc="-1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5">
                <a:solidFill>
                  <a:srgbClr val="FFFFFF"/>
                </a:solidFill>
                <a:latin typeface="Tahoma"/>
                <a:cs typeface="Tahoma"/>
              </a:rPr>
              <a:t>ndarray</a:t>
            </a:r>
            <a:r>
              <a:rPr dirty="0" sz="3400" spc="-1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04">
                <a:solidFill>
                  <a:srgbClr val="FFFFFF"/>
                </a:solidFill>
                <a:latin typeface="Tahoma"/>
                <a:cs typeface="Tahoma"/>
              </a:rPr>
              <a:t>mà</a:t>
            </a:r>
            <a:r>
              <a:rPr dirty="0" sz="3400" spc="-1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00">
                <a:solidFill>
                  <a:srgbClr val="FFFFFF"/>
                </a:solidFill>
                <a:latin typeface="Tahoma"/>
                <a:cs typeface="Tahoma"/>
              </a:rPr>
              <a:t>mỗi</a:t>
            </a:r>
            <a:r>
              <a:rPr dirty="0" sz="3400" spc="-1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5">
                <a:solidFill>
                  <a:srgbClr val="FFFFFF"/>
                </a:solidFill>
                <a:latin typeface="Tahoma"/>
                <a:cs typeface="Tahoma"/>
              </a:rPr>
              <a:t>phần</a:t>
            </a:r>
            <a:r>
              <a:rPr dirty="0" sz="3400" spc="-1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tử</a:t>
            </a:r>
            <a:r>
              <a:rPr dirty="0" sz="34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0">
                <a:solidFill>
                  <a:srgbClr val="FFFFFF"/>
                </a:solidFill>
                <a:latin typeface="Tahoma"/>
                <a:cs typeface="Tahoma"/>
              </a:rPr>
              <a:t>có</a:t>
            </a:r>
            <a:r>
              <a:rPr dirty="0" sz="3400" spc="-1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thể</a:t>
            </a:r>
            <a:r>
              <a:rPr dirty="0" sz="3400" spc="-1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0">
                <a:solidFill>
                  <a:srgbClr val="FFFFFF"/>
                </a:solidFill>
                <a:latin typeface="Tahoma"/>
                <a:cs typeface="Tahoma"/>
              </a:rPr>
              <a:t>được</a:t>
            </a:r>
            <a:r>
              <a:rPr dirty="0" sz="3400" spc="-1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0">
                <a:solidFill>
                  <a:srgbClr val="FFFFFF"/>
                </a:solidFill>
                <a:latin typeface="Tahoma"/>
                <a:cs typeface="Tahoma"/>
              </a:rPr>
              <a:t>coi</a:t>
            </a:r>
            <a:r>
              <a:rPr dirty="0" sz="3400" spc="-1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5">
                <a:solidFill>
                  <a:srgbClr val="FFFFFF"/>
                </a:solidFill>
                <a:latin typeface="Tahoma"/>
                <a:cs typeface="Tahoma"/>
              </a:rPr>
              <a:t>như</a:t>
            </a:r>
            <a:r>
              <a:rPr dirty="0" sz="3400" spc="-1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70">
                <a:solidFill>
                  <a:srgbClr val="FFFFFF"/>
                </a:solidFill>
                <a:latin typeface="Tahoma"/>
                <a:cs typeface="Tahoma"/>
              </a:rPr>
              <a:t>một </a:t>
            </a:r>
            <a:r>
              <a:rPr dirty="0" sz="3400" spc="105">
                <a:solidFill>
                  <a:srgbClr val="FFFFFF"/>
                </a:solidFill>
                <a:latin typeface="Tahoma"/>
                <a:cs typeface="Tahoma"/>
              </a:rPr>
              <a:t>struct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5">
                <a:solidFill>
                  <a:srgbClr val="FFFFFF"/>
                </a:solidFill>
                <a:latin typeface="Tahoma"/>
                <a:cs typeface="Tahoma"/>
              </a:rPr>
              <a:t>trong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>
                <a:solidFill>
                  <a:srgbClr val="FFFFFF"/>
                </a:solidFill>
                <a:latin typeface="Tahoma"/>
                <a:cs typeface="Tahoma"/>
              </a:rPr>
              <a:t>C,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0">
                <a:solidFill>
                  <a:srgbClr val="FFFFFF"/>
                </a:solidFill>
                <a:latin typeface="Tahoma"/>
                <a:cs typeface="Tahoma"/>
              </a:rPr>
              <a:t>cho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75">
                <a:solidFill>
                  <a:srgbClr val="FFFFFF"/>
                </a:solidFill>
                <a:latin typeface="Tahoma"/>
                <a:cs typeface="Tahoma"/>
              </a:rPr>
              <a:t>phép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70">
                <a:solidFill>
                  <a:srgbClr val="FFFFFF"/>
                </a:solidFill>
                <a:latin typeface="Tahoma"/>
                <a:cs typeface="Tahoma"/>
              </a:rPr>
              <a:t>lưu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5">
                <a:solidFill>
                  <a:srgbClr val="FFFFFF"/>
                </a:solidFill>
                <a:latin typeface="Tahoma"/>
                <a:cs typeface="Tahoma"/>
              </a:rPr>
              <a:t>trữ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10">
                <a:solidFill>
                  <a:srgbClr val="FFFFFF"/>
                </a:solidFill>
                <a:latin typeface="Tahoma"/>
                <a:cs typeface="Tahoma"/>
              </a:rPr>
              <a:t>dữ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liệu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75">
                <a:solidFill>
                  <a:srgbClr val="FFFFFF"/>
                </a:solidFill>
                <a:latin typeface="Tahoma"/>
                <a:cs typeface="Tahoma"/>
              </a:rPr>
              <a:t>không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80">
                <a:solidFill>
                  <a:srgbClr val="FFFFFF"/>
                </a:solidFill>
                <a:latin typeface="Tahoma"/>
                <a:cs typeface="Tahoma"/>
              </a:rPr>
              <a:t>đồng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0">
                <a:solidFill>
                  <a:srgbClr val="FFFFFF"/>
                </a:solidFill>
                <a:latin typeface="Tahoma"/>
                <a:cs typeface="Tahoma"/>
              </a:rPr>
              <a:t>nhất.</a:t>
            </a:r>
            <a:endParaRPr sz="3400">
              <a:latin typeface="Tahoma"/>
              <a:cs typeface="Tahoma"/>
            </a:endParaRPr>
          </a:p>
          <a:p>
            <a:pPr marL="746125" marR="608330">
              <a:lnSpc>
                <a:spcPct val="115799"/>
              </a:lnSpc>
            </a:pPr>
            <a:r>
              <a:rPr dirty="0" sz="3400" spc="160">
                <a:solidFill>
                  <a:srgbClr val="FFFFFF"/>
                </a:solidFill>
                <a:latin typeface="Tahoma"/>
                <a:cs typeface="Tahoma"/>
              </a:rPr>
              <a:t>Bạn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0">
                <a:solidFill>
                  <a:srgbClr val="FFFFFF"/>
                </a:solidFill>
                <a:latin typeface="Tahoma"/>
                <a:cs typeface="Tahoma"/>
              </a:rPr>
              <a:t>có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thể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định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5">
                <a:solidFill>
                  <a:srgbClr val="FFFFFF"/>
                </a:solidFill>
                <a:latin typeface="Tahoma"/>
                <a:cs typeface="Tahoma"/>
              </a:rPr>
              <a:t>nghĩa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5">
                <a:solidFill>
                  <a:srgbClr val="FFFFFF"/>
                </a:solidFill>
                <a:latin typeface="Tahoma"/>
                <a:cs typeface="Tahoma"/>
              </a:rPr>
              <a:t>một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dtype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0">
                <a:solidFill>
                  <a:srgbClr val="FFFFFF"/>
                </a:solidFill>
                <a:latin typeface="Tahoma"/>
                <a:cs typeface="Tahoma"/>
              </a:rPr>
              <a:t>có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0">
                <a:solidFill>
                  <a:srgbClr val="FFFFFF"/>
                </a:solidFill>
                <a:latin typeface="Tahoma"/>
                <a:cs typeface="Tahoma"/>
              </a:rPr>
              <a:t>cấu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4">
                <a:solidFill>
                  <a:srgbClr val="FFFFFF"/>
                </a:solidFill>
                <a:latin typeface="Tahoma"/>
                <a:cs typeface="Tahoma"/>
              </a:rPr>
              <a:t>trúc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70">
                <a:solidFill>
                  <a:srgbClr val="FFFFFF"/>
                </a:solidFill>
                <a:latin typeface="Tahoma"/>
                <a:cs typeface="Tahoma"/>
              </a:rPr>
              <a:t>bằng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5">
                <a:solidFill>
                  <a:srgbClr val="FFFFFF"/>
                </a:solidFill>
                <a:latin typeface="Tahoma"/>
                <a:cs typeface="Tahoma"/>
              </a:rPr>
              <a:t>một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5">
                <a:solidFill>
                  <a:srgbClr val="FFFFFF"/>
                </a:solidFill>
                <a:latin typeface="Tahoma"/>
                <a:cs typeface="Tahoma"/>
              </a:rPr>
              <a:t>danh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5">
                <a:solidFill>
                  <a:srgbClr val="FFFFFF"/>
                </a:solidFill>
                <a:latin typeface="Tahoma"/>
                <a:cs typeface="Tahoma"/>
              </a:rPr>
              <a:t>sách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0">
                <a:solidFill>
                  <a:srgbClr val="FFFFFF"/>
                </a:solidFill>
                <a:latin typeface="Tahoma"/>
                <a:cs typeface="Tahoma"/>
              </a:rPr>
              <a:t>các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80">
                <a:solidFill>
                  <a:srgbClr val="FFFFFF"/>
                </a:solidFill>
                <a:latin typeface="Tahoma"/>
                <a:cs typeface="Tahoma"/>
              </a:rPr>
              <a:t>tuple, </a:t>
            </a:r>
            <a:r>
              <a:rPr dirty="0" sz="3400" spc="200">
                <a:solidFill>
                  <a:srgbClr val="FFFFFF"/>
                </a:solidFill>
                <a:latin typeface="Tahoma"/>
                <a:cs typeface="Tahoma"/>
              </a:rPr>
              <a:t>mỗi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5">
                <a:solidFill>
                  <a:srgbClr val="FFFFFF"/>
                </a:solidFill>
                <a:latin typeface="Tahoma"/>
                <a:cs typeface="Tahoma"/>
              </a:rPr>
              <a:t>tuple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5">
                <a:solidFill>
                  <a:srgbClr val="FFFFFF"/>
                </a:solidFill>
                <a:latin typeface="Tahoma"/>
                <a:cs typeface="Tahoma"/>
              </a:rPr>
              <a:t>chứa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50">
                <a:solidFill>
                  <a:srgbClr val="FFFFFF"/>
                </a:solidFill>
                <a:latin typeface="Tahoma"/>
                <a:cs typeface="Tahoma"/>
              </a:rPr>
              <a:t>(tên_trường,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-10">
                <a:solidFill>
                  <a:srgbClr val="FFFFFF"/>
                </a:solidFill>
                <a:latin typeface="Tahoma"/>
                <a:cs typeface="Tahoma"/>
              </a:rPr>
              <a:t>kiểu_dữ_liệu).</a:t>
            </a:r>
            <a:endParaRPr sz="3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3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u="heavy" sz="3400" spc="-40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Tại</a:t>
            </a:r>
            <a:r>
              <a:rPr dirty="0" u="heavy" sz="3400" spc="-200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3400" spc="-50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sao</a:t>
            </a:r>
            <a:r>
              <a:rPr dirty="0" u="heavy" sz="3400" spc="-185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3400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nên</a:t>
            </a:r>
            <a:r>
              <a:rPr dirty="0" u="heavy" sz="3400" spc="-240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3400" spc="-145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sử</a:t>
            </a:r>
            <a:r>
              <a:rPr dirty="0" u="heavy" sz="3400" spc="-90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3400" spc="-10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dụng</a:t>
            </a:r>
            <a:r>
              <a:rPr dirty="0" u="heavy" sz="3400" spc="-100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3400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mảng</a:t>
            </a:r>
            <a:r>
              <a:rPr dirty="0" u="heavy" sz="3400" spc="35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3400" spc="-195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có</a:t>
            </a:r>
            <a:r>
              <a:rPr dirty="0" u="heavy" sz="3400" spc="-65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3400" spc="-10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cấu</a:t>
            </a:r>
            <a:r>
              <a:rPr dirty="0" u="heavy" sz="3400" spc="-180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3400" spc="-10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trúc?</a:t>
            </a:r>
            <a:endParaRPr sz="3400">
              <a:latin typeface="Arial"/>
              <a:cs typeface="Arial"/>
            </a:endParaRPr>
          </a:p>
          <a:p>
            <a:pPr marL="12700" marR="203835">
              <a:lnSpc>
                <a:spcPct val="115799"/>
              </a:lnSpc>
            </a:pPr>
            <a:r>
              <a:rPr dirty="0" sz="3400" spc="80">
                <a:solidFill>
                  <a:srgbClr val="FFFFFF"/>
                </a:solidFill>
                <a:latin typeface="Tahoma"/>
                <a:cs typeface="Tahoma"/>
              </a:rPr>
              <a:t>So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95">
                <a:solidFill>
                  <a:srgbClr val="FFFFFF"/>
                </a:solidFill>
                <a:latin typeface="Tahoma"/>
                <a:cs typeface="Tahoma"/>
              </a:rPr>
              <a:t>với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0">
                <a:solidFill>
                  <a:srgbClr val="FFFFFF"/>
                </a:solidFill>
                <a:latin typeface="Tahoma"/>
                <a:cs typeface="Tahoma"/>
              </a:rPr>
              <a:t>Pandas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95">
                <a:solidFill>
                  <a:srgbClr val="FFFFFF"/>
                </a:solidFill>
                <a:latin typeface="Tahoma"/>
                <a:cs typeface="Tahoma"/>
              </a:rPr>
              <a:t>DataFrame,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00">
                <a:solidFill>
                  <a:srgbClr val="FFFFFF"/>
                </a:solidFill>
                <a:latin typeface="Tahoma"/>
                <a:cs typeface="Tahoma"/>
              </a:rPr>
              <a:t>mảng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0">
                <a:solidFill>
                  <a:srgbClr val="FFFFFF"/>
                </a:solidFill>
                <a:latin typeface="Tahoma"/>
                <a:cs typeface="Tahoma"/>
              </a:rPr>
              <a:t>có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0">
                <a:solidFill>
                  <a:srgbClr val="FFFFFF"/>
                </a:solidFill>
                <a:latin typeface="Tahoma"/>
                <a:cs typeface="Tahoma"/>
              </a:rPr>
              <a:t>cấu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4">
                <a:solidFill>
                  <a:srgbClr val="FFFFFF"/>
                </a:solidFill>
                <a:latin typeface="Tahoma"/>
                <a:cs typeface="Tahoma"/>
              </a:rPr>
              <a:t>trúc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0">
                <a:solidFill>
                  <a:srgbClr val="FFFFFF"/>
                </a:solidFill>
                <a:latin typeface="Tahoma"/>
                <a:cs typeface="Tahoma"/>
              </a:rPr>
              <a:t>là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5">
                <a:solidFill>
                  <a:srgbClr val="FFFFFF"/>
                </a:solidFill>
                <a:latin typeface="Tahoma"/>
                <a:cs typeface="Tahoma"/>
              </a:rPr>
              <a:t>một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5">
                <a:solidFill>
                  <a:srgbClr val="FFFFFF"/>
                </a:solidFill>
                <a:latin typeface="Tahoma"/>
                <a:cs typeface="Tahoma"/>
              </a:rPr>
              <a:t>công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4">
                <a:solidFill>
                  <a:srgbClr val="FFFFFF"/>
                </a:solidFill>
                <a:latin typeface="Tahoma"/>
                <a:cs typeface="Tahoma"/>
              </a:rPr>
              <a:t>cụ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4">
                <a:solidFill>
                  <a:srgbClr val="FFFFFF"/>
                </a:solidFill>
                <a:latin typeface="Tahoma"/>
                <a:cs typeface="Tahoma"/>
              </a:rPr>
              <a:t>cấp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0">
                <a:solidFill>
                  <a:srgbClr val="FFFFFF"/>
                </a:solidFill>
                <a:latin typeface="Tahoma"/>
                <a:cs typeface="Tahoma"/>
              </a:rPr>
              <a:t>thấp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0">
                <a:solidFill>
                  <a:srgbClr val="FFFFFF"/>
                </a:solidFill>
                <a:latin typeface="Tahoma"/>
                <a:cs typeface="Tahoma"/>
              </a:rPr>
              <a:t>hơn.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0">
                <a:solidFill>
                  <a:srgbClr val="FFFFFF"/>
                </a:solidFill>
                <a:latin typeface="Tahoma"/>
                <a:cs typeface="Tahoma"/>
              </a:rPr>
              <a:t>Chúng </a:t>
            </a:r>
            <a:r>
              <a:rPr dirty="0" sz="3400" spc="145">
                <a:solidFill>
                  <a:srgbClr val="FFFFFF"/>
                </a:solidFill>
                <a:latin typeface="Tahoma"/>
                <a:cs typeface="Tahoma"/>
              </a:rPr>
              <a:t>hiệu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0">
                <a:solidFill>
                  <a:srgbClr val="FFFFFF"/>
                </a:solidFill>
                <a:latin typeface="Tahoma"/>
                <a:cs typeface="Tahoma"/>
              </a:rPr>
              <a:t>quả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0">
                <a:solidFill>
                  <a:srgbClr val="FFFFFF"/>
                </a:solidFill>
                <a:latin typeface="Tahoma"/>
                <a:cs typeface="Tahoma"/>
              </a:rPr>
              <a:t>cho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70">
                <a:solidFill>
                  <a:srgbClr val="FFFFFF"/>
                </a:solidFill>
                <a:latin typeface="Tahoma"/>
                <a:cs typeface="Tahoma"/>
              </a:rPr>
              <a:t>việc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4">
                <a:solidFill>
                  <a:srgbClr val="FFFFFF"/>
                </a:solidFill>
                <a:latin typeface="Tahoma"/>
                <a:cs typeface="Tahoma"/>
              </a:rPr>
              <a:t>ghi/đọc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10">
                <a:solidFill>
                  <a:srgbClr val="FFFFFF"/>
                </a:solidFill>
                <a:latin typeface="Tahoma"/>
                <a:cs typeface="Tahoma"/>
              </a:rPr>
              <a:t>dữ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liệu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0">
                <a:solidFill>
                  <a:srgbClr val="FFFFFF"/>
                </a:solidFill>
                <a:latin typeface="Tahoma"/>
                <a:cs typeface="Tahoma"/>
              </a:rPr>
              <a:t>ra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0">
                <a:solidFill>
                  <a:srgbClr val="FFFFFF"/>
                </a:solidFill>
                <a:latin typeface="Tahoma"/>
                <a:cs typeface="Tahoma"/>
              </a:rPr>
              <a:t>đĩa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70">
                <a:solidFill>
                  <a:srgbClr val="FFFFFF"/>
                </a:solidFill>
                <a:latin typeface="Tahoma"/>
                <a:cs typeface="Tahoma"/>
              </a:rPr>
              <a:t>dưới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70">
                <a:solidFill>
                  <a:srgbClr val="FFFFFF"/>
                </a:solidFill>
                <a:latin typeface="Tahoma"/>
                <a:cs typeface="Tahoma"/>
              </a:rPr>
              <a:t>dạng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0">
                <a:solidFill>
                  <a:srgbClr val="FFFFFF"/>
                </a:solidFill>
                <a:latin typeface="Tahoma"/>
                <a:cs typeface="Tahoma"/>
              </a:rPr>
              <a:t>các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0">
                <a:solidFill>
                  <a:srgbClr val="FFFFFF"/>
                </a:solidFill>
                <a:latin typeface="Tahoma"/>
                <a:cs typeface="Tahoma"/>
              </a:rPr>
              <a:t>bản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0">
                <a:solidFill>
                  <a:srgbClr val="FFFFFF"/>
                </a:solidFill>
                <a:latin typeface="Tahoma"/>
                <a:cs typeface="Tahoma"/>
              </a:rPr>
              <a:t>ghi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5">
                <a:solidFill>
                  <a:srgbClr val="FFFFFF"/>
                </a:solidFill>
                <a:latin typeface="Tahoma"/>
                <a:cs typeface="Tahoma"/>
              </a:rPr>
              <a:t>nhị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5">
                <a:solidFill>
                  <a:srgbClr val="FFFFFF"/>
                </a:solidFill>
                <a:latin typeface="Tahoma"/>
                <a:cs typeface="Tahoma"/>
              </a:rPr>
              <a:t>phân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0">
                <a:solidFill>
                  <a:srgbClr val="FFFFFF"/>
                </a:solidFill>
                <a:latin typeface="Tahoma"/>
                <a:cs typeface="Tahoma"/>
              </a:rPr>
              <a:t>có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5">
                <a:solidFill>
                  <a:srgbClr val="FFFFFF"/>
                </a:solidFill>
                <a:latin typeface="Tahoma"/>
                <a:cs typeface="Tahoma"/>
              </a:rPr>
              <a:t>độ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5">
                <a:solidFill>
                  <a:srgbClr val="FFFFFF"/>
                </a:solidFill>
                <a:latin typeface="Tahoma"/>
                <a:cs typeface="Tahoma"/>
              </a:rPr>
              <a:t>dài </a:t>
            </a:r>
            <a:r>
              <a:rPr dirty="0" sz="3400" spc="120">
                <a:solidFill>
                  <a:srgbClr val="FFFFFF"/>
                </a:solidFill>
                <a:latin typeface="Tahoma"/>
                <a:cs typeface="Tahoma"/>
              </a:rPr>
              <a:t>cố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95">
                <a:solidFill>
                  <a:srgbClr val="FFFFFF"/>
                </a:solidFill>
                <a:latin typeface="Tahoma"/>
                <a:cs typeface="Tahoma"/>
              </a:rPr>
              <a:t>định,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0">
                <a:solidFill>
                  <a:srgbClr val="FFFFFF"/>
                </a:solidFill>
                <a:latin typeface="Tahoma"/>
                <a:cs typeface="Tahoma"/>
              </a:rPr>
              <a:t>hoặc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truyền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10">
                <a:solidFill>
                  <a:srgbClr val="FFFFFF"/>
                </a:solidFill>
                <a:latin typeface="Tahoma"/>
                <a:cs typeface="Tahoma"/>
              </a:rPr>
              <a:t>dữ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liệu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0">
                <a:solidFill>
                  <a:srgbClr val="FFFFFF"/>
                </a:solidFill>
                <a:latin typeface="Tahoma"/>
                <a:cs typeface="Tahoma"/>
              </a:rPr>
              <a:t>qua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0">
                <a:solidFill>
                  <a:srgbClr val="FFFFFF"/>
                </a:solidFill>
                <a:latin typeface="Tahoma"/>
                <a:cs typeface="Tahoma"/>
              </a:rPr>
              <a:t>mạng,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0">
                <a:solidFill>
                  <a:srgbClr val="FFFFFF"/>
                </a:solidFill>
                <a:latin typeface="Tahoma"/>
                <a:cs typeface="Tahoma"/>
              </a:rPr>
              <a:t>vì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0">
                <a:solidFill>
                  <a:srgbClr val="FFFFFF"/>
                </a:solidFill>
                <a:latin typeface="Tahoma"/>
                <a:cs typeface="Tahoma"/>
              </a:rPr>
              <a:t>cấu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4">
                <a:solidFill>
                  <a:srgbClr val="FFFFFF"/>
                </a:solidFill>
                <a:latin typeface="Tahoma"/>
                <a:cs typeface="Tahoma"/>
              </a:rPr>
              <a:t>trúc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00">
                <a:solidFill>
                  <a:srgbClr val="FFFFFF"/>
                </a:solidFill>
                <a:latin typeface="Tahoma"/>
                <a:cs typeface="Tahoma"/>
              </a:rPr>
              <a:t>bộ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80">
                <a:solidFill>
                  <a:srgbClr val="FFFFFF"/>
                </a:solidFill>
                <a:latin typeface="Tahoma"/>
                <a:cs typeface="Tahoma"/>
              </a:rPr>
              <a:t>nhớ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0">
                <a:solidFill>
                  <a:srgbClr val="FFFFFF"/>
                </a:solidFill>
                <a:latin typeface="Tahoma"/>
                <a:cs typeface="Tahoma"/>
              </a:rPr>
              <a:t>của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0">
                <a:solidFill>
                  <a:srgbClr val="FFFFFF"/>
                </a:solidFill>
                <a:latin typeface="Tahoma"/>
                <a:cs typeface="Tahoma"/>
              </a:rPr>
              <a:t>chúng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70">
                <a:solidFill>
                  <a:srgbClr val="FFFFFF"/>
                </a:solidFill>
                <a:latin typeface="Tahoma"/>
                <a:cs typeface="Tahoma"/>
              </a:rPr>
              <a:t>tương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75">
                <a:solidFill>
                  <a:srgbClr val="FFFFFF"/>
                </a:solidFill>
                <a:latin typeface="Tahoma"/>
                <a:cs typeface="Tahoma"/>
              </a:rPr>
              <a:t>ứng </a:t>
            </a:r>
            <a:r>
              <a:rPr dirty="0" sz="3400" spc="95">
                <a:solidFill>
                  <a:srgbClr val="FFFFFF"/>
                </a:solidFill>
                <a:latin typeface="Tahoma"/>
                <a:cs typeface="Tahoma"/>
              </a:rPr>
              <a:t>với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0">
                <a:solidFill>
                  <a:srgbClr val="FFFFFF"/>
                </a:solidFill>
                <a:latin typeface="Tahoma"/>
                <a:cs typeface="Tahoma"/>
              </a:rPr>
              <a:t>các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5">
                <a:solidFill>
                  <a:srgbClr val="FFFFFF"/>
                </a:solidFill>
                <a:latin typeface="Tahoma"/>
                <a:cs typeface="Tahoma"/>
              </a:rPr>
              <a:t>struct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0">
                <a:solidFill>
                  <a:srgbClr val="FFFFFF"/>
                </a:solidFill>
                <a:latin typeface="Tahoma"/>
                <a:cs typeface="Tahoma"/>
              </a:rPr>
              <a:t>trong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-25">
                <a:solidFill>
                  <a:srgbClr val="FFFFFF"/>
                </a:solidFill>
                <a:latin typeface="Tahoma"/>
                <a:cs typeface="Tahoma"/>
              </a:rPr>
              <a:t>C.</a:t>
            </a:r>
            <a:endParaRPr sz="3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1234" y="376213"/>
            <a:ext cx="15351760" cy="1616075"/>
          </a:xfrm>
          <a:prstGeom prst="rect"/>
        </p:spPr>
        <p:txBody>
          <a:bodyPr wrap="square" lIns="0" tIns="108585" rIns="0" bIns="0" rtlCol="0" vert="horz">
            <a:spAutoFit/>
          </a:bodyPr>
          <a:lstStyle/>
          <a:p>
            <a:pPr marL="12700" marR="5080">
              <a:lnSpc>
                <a:spcPts val="5930"/>
              </a:lnSpc>
              <a:spcBef>
                <a:spcPts val="855"/>
              </a:spcBef>
            </a:pPr>
            <a:r>
              <a:rPr dirty="0" sz="5500" spc="-450">
                <a:solidFill>
                  <a:srgbClr val="FFFFFF"/>
                </a:solidFill>
              </a:rPr>
              <a:t>A.7.</a:t>
            </a:r>
            <a:r>
              <a:rPr dirty="0" sz="5500" spc="-275">
                <a:solidFill>
                  <a:srgbClr val="FFFFFF"/>
                </a:solidFill>
              </a:rPr>
              <a:t> </a:t>
            </a:r>
            <a:r>
              <a:rPr dirty="0" sz="5500" spc="-10">
                <a:solidFill>
                  <a:srgbClr val="FFFFFF"/>
                </a:solidFill>
              </a:rPr>
              <a:t>Vi</a:t>
            </a:r>
            <a:r>
              <a:rPr dirty="0" sz="5500" spc="-10">
                <a:solidFill>
                  <a:srgbClr val="FFFFFF"/>
                </a:solidFill>
                <a:latin typeface="Arial"/>
                <a:cs typeface="Arial"/>
              </a:rPr>
              <a:t>ế</a:t>
            </a:r>
            <a:r>
              <a:rPr dirty="0" sz="5500" spc="-10">
                <a:solidFill>
                  <a:srgbClr val="FFFFFF"/>
                </a:solidFill>
              </a:rPr>
              <a:t>t</a:t>
            </a:r>
            <a:r>
              <a:rPr dirty="0" sz="5500" spc="-305">
                <a:solidFill>
                  <a:srgbClr val="FFFFFF"/>
                </a:solidFill>
              </a:rPr>
              <a:t> </a:t>
            </a:r>
            <a:r>
              <a:rPr dirty="0" sz="5500" spc="420">
                <a:solidFill>
                  <a:srgbClr val="FFFFFF"/>
                </a:solidFill>
              </a:rPr>
              <a:t>hàm</a:t>
            </a:r>
            <a:r>
              <a:rPr dirty="0" sz="5500" spc="-290">
                <a:solidFill>
                  <a:srgbClr val="FFFFFF"/>
                </a:solidFill>
              </a:rPr>
              <a:t> </a:t>
            </a:r>
            <a:r>
              <a:rPr dirty="0" sz="5500" spc="140">
                <a:solidFill>
                  <a:srgbClr val="FFFFFF"/>
                </a:solidFill>
              </a:rPr>
              <a:t>NumPy</a:t>
            </a:r>
            <a:r>
              <a:rPr dirty="0" sz="5500" spc="-285">
                <a:solidFill>
                  <a:srgbClr val="FFFFFF"/>
                </a:solidFill>
              </a:rPr>
              <a:t> </a:t>
            </a:r>
            <a:r>
              <a:rPr dirty="0" sz="5500" spc="210">
                <a:solidFill>
                  <a:srgbClr val="FFFFFF"/>
                </a:solidFill>
              </a:rPr>
              <a:t>nhanh</a:t>
            </a:r>
            <a:r>
              <a:rPr dirty="0" sz="5500" spc="-290">
                <a:solidFill>
                  <a:srgbClr val="FFFFFF"/>
                </a:solidFill>
              </a:rPr>
              <a:t> </a:t>
            </a:r>
            <a:r>
              <a:rPr dirty="0" sz="5500" spc="150">
                <a:solidFill>
                  <a:srgbClr val="FFFFFF"/>
                </a:solidFill>
              </a:rPr>
              <a:t>b</a:t>
            </a:r>
            <a:r>
              <a:rPr dirty="0" sz="5500" spc="150">
                <a:solidFill>
                  <a:srgbClr val="FFFFFF"/>
                </a:solidFill>
                <a:latin typeface="Arial"/>
                <a:cs typeface="Arial"/>
              </a:rPr>
              <a:t>ằ</a:t>
            </a:r>
            <a:r>
              <a:rPr dirty="0" sz="5500" spc="150">
                <a:solidFill>
                  <a:srgbClr val="FFFFFF"/>
                </a:solidFill>
              </a:rPr>
              <a:t>ng</a:t>
            </a:r>
            <a:r>
              <a:rPr dirty="0" sz="5500" spc="-290">
                <a:solidFill>
                  <a:srgbClr val="FFFFFF"/>
                </a:solidFill>
              </a:rPr>
              <a:t> </a:t>
            </a:r>
            <a:r>
              <a:rPr dirty="0" sz="5500" spc="240">
                <a:solidFill>
                  <a:srgbClr val="FFFFFF"/>
                </a:solidFill>
              </a:rPr>
              <a:t>Numba </a:t>
            </a:r>
            <a:r>
              <a:rPr dirty="0" sz="5500" spc="120">
                <a:solidFill>
                  <a:srgbClr val="FFFFFF"/>
                </a:solidFill>
              </a:rPr>
              <a:t>(Writing</a:t>
            </a:r>
            <a:r>
              <a:rPr dirty="0" sz="5500" spc="-260">
                <a:solidFill>
                  <a:srgbClr val="FFFFFF"/>
                </a:solidFill>
              </a:rPr>
              <a:t> </a:t>
            </a:r>
            <a:r>
              <a:rPr dirty="0" sz="5500" spc="110">
                <a:solidFill>
                  <a:srgbClr val="FFFFFF"/>
                </a:solidFill>
              </a:rPr>
              <a:t>Fast</a:t>
            </a:r>
            <a:r>
              <a:rPr dirty="0" sz="5500" spc="-260">
                <a:solidFill>
                  <a:srgbClr val="FFFFFF"/>
                </a:solidFill>
              </a:rPr>
              <a:t> </a:t>
            </a:r>
            <a:r>
              <a:rPr dirty="0" sz="5500" spc="140">
                <a:solidFill>
                  <a:srgbClr val="FFFFFF"/>
                </a:solidFill>
              </a:rPr>
              <a:t>NumPy</a:t>
            </a:r>
            <a:r>
              <a:rPr dirty="0" sz="5500" spc="-260">
                <a:solidFill>
                  <a:srgbClr val="FFFFFF"/>
                </a:solidFill>
              </a:rPr>
              <a:t> </a:t>
            </a:r>
            <a:r>
              <a:rPr dirty="0" sz="5500" spc="50">
                <a:solidFill>
                  <a:srgbClr val="FFFFFF"/>
                </a:solidFill>
              </a:rPr>
              <a:t>Functions</a:t>
            </a:r>
            <a:r>
              <a:rPr dirty="0" sz="5500" spc="-254">
                <a:solidFill>
                  <a:srgbClr val="FFFFFF"/>
                </a:solidFill>
              </a:rPr>
              <a:t> </a:t>
            </a:r>
            <a:r>
              <a:rPr dirty="0" sz="5500">
                <a:solidFill>
                  <a:srgbClr val="FFFFFF"/>
                </a:solidFill>
              </a:rPr>
              <a:t>with</a:t>
            </a:r>
            <a:r>
              <a:rPr dirty="0" sz="5500" spc="-260">
                <a:solidFill>
                  <a:srgbClr val="FFFFFF"/>
                </a:solidFill>
              </a:rPr>
              <a:t> </a:t>
            </a:r>
            <a:r>
              <a:rPr dirty="0" sz="5500" spc="320">
                <a:solidFill>
                  <a:srgbClr val="FFFFFF"/>
                </a:solidFill>
              </a:rPr>
              <a:t>Numba)</a:t>
            </a:r>
            <a:endParaRPr sz="55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40998" y="1804428"/>
            <a:ext cx="2447000" cy="802357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1474" y="2785641"/>
            <a:ext cx="152400" cy="15239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1474" y="3985791"/>
            <a:ext cx="152400" cy="15239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1474" y="6386090"/>
            <a:ext cx="152400" cy="15239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1474" y="7586240"/>
            <a:ext cx="152400" cy="152399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721320" y="2478295"/>
            <a:ext cx="16967200" cy="6026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67945">
              <a:lnSpc>
                <a:spcPct val="115799"/>
              </a:lnSpc>
              <a:spcBef>
                <a:spcPts val="100"/>
              </a:spcBef>
            </a:pPr>
            <a:r>
              <a:rPr dirty="0" sz="3400" spc="85">
                <a:solidFill>
                  <a:srgbClr val="FFFFFF"/>
                </a:solidFill>
                <a:latin typeface="Tahoma"/>
                <a:cs typeface="Tahoma"/>
              </a:rPr>
              <a:t>Vấn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>
                <a:solidFill>
                  <a:srgbClr val="FFFFFF"/>
                </a:solidFill>
                <a:latin typeface="Tahoma"/>
                <a:cs typeface="Tahoma"/>
              </a:rPr>
              <a:t>đề: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80">
                <a:solidFill>
                  <a:srgbClr val="FFFFFF"/>
                </a:solidFill>
                <a:latin typeface="Tahoma"/>
                <a:cs typeface="Tahoma"/>
              </a:rPr>
              <a:t>Các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00">
                <a:solidFill>
                  <a:srgbClr val="FFFFFF"/>
                </a:solidFill>
                <a:latin typeface="Tahoma"/>
                <a:cs typeface="Tahoma"/>
              </a:rPr>
              <a:t>hàm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tự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80">
                <a:solidFill>
                  <a:srgbClr val="FFFFFF"/>
                </a:solidFill>
                <a:latin typeface="Tahoma"/>
                <a:cs typeface="Tahoma"/>
              </a:rPr>
              <a:t>viết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70">
                <a:solidFill>
                  <a:srgbClr val="FFFFFF"/>
                </a:solidFill>
                <a:latin typeface="Tahoma"/>
                <a:cs typeface="Tahoma"/>
              </a:rPr>
              <a:t>bằng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0">
                <a:solidFill>
                  <a:srgbClr val="FFFFFF"/>
                </a:solidFill>
                <a:latin typeface="Tahoma"/>
                <a:cs typeface="Tahoma"/>
              </a:rPr>
              <a:t>Python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5">
                <a:solidFill>
                  <a:srgbClr val="FFFFFF"/>
                </a:solidFill>
                <a:latin typeface="Tahoma"/>
                <a:cs typeface="Tahoma"/>
              </a:rPr>
              <a:t>thuần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95">
                <a:solidFill>
                  <a:srgbClr val="FFFFFF"/>
                </a:solidFill>
                <a:latin typeface="Tahoma"/>
                <a:cs typeface="Tahoma"/>
              </a:rPr>
              <a:t>túy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để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0">
                <a:solidFill>
                  <a:srgbClr val="FFFFFF"/>
                </a:solidFill>
                <a:latin typeface="Tahoma"/>
                <a:cs typeface="Tahoma"/>
              </a:rPr>
              <a:t>xử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5">
                <a:solidFill>
                  <a:srgbClr val="FFFFFF"/>
                </a:solidFill>
                <a:latin typeface="Tahoma"/>
                <a:cs typeface="Tahoma"/>
              </a:rPr>
              <a:t>lý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00">
                <a:solidFill>
                  <a:srgbClr val="FFFFFF"/>
                </a:solidFill>
                <a:latin typeface="Tahoma"/>
                <a:cs typeface="Tahoma"/>
              </a:rPr>
              <a:t>mảng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-40">
                <a:solidFill>
                  <a:srgbClr val="FFFFFF"/>
                </a:solidFill>
                <a:latin typeface="Tahoma"/>
                <a:cs typeface="Tahoma"/>
              </a:rPr>
              <a:t>(ví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>
                <a:solidFill>
                  <a:srgbClr val="FFFFFF"/>
                </a:solidFill>
                <a:latin typeface="Tahoma"/>
                <a:cs typeface="Tahoma"/>
              </a:rPr>
              <a:t>dụ: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0">
                <a:solidFill>
                  <a:srgbClr val="FFFFFF"/>
                </a:solidFill>
                <a:latin typeface="Tahoma"/>
                <a:cs typeface="Tahoma"/>
              </a:rPr>
              <a:t>dùng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vòng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0">
                <a:solidFill>
                  <a:srgbClr val="FFFFFF"/>
                </a:solidFill>
                <a:latin typeface="Tahoma"/>
                <a:cs typeface="Tahoma"/>
              </a:rPr>
              <a:t>lặp </a:t>
            </a:r>
            <a:r>
              <a:rPr dirty="0" sz="3400">
                <a:solidFill>
                  <a:srgbClr val="FFFFFF"/>
                </a:solidFill>
                <a:latin typeface="Tahoma"/>
                <a:cs typeface="Tahoma"/>
              </a:rPr>
              <a:t>for)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70">
                <a:solidFill>
                  <a:srgbClr val="FFFFFF"/>
                </a:solidFill>
                <a:latin typeface="Tahoma"/>
                <a:cs typeface="Tahoma"/>
              </a:rPr>
              <a:t>thường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5">
                <a:solidFill>
                  <a:srgbClr val="FFFFFF"/>
                </a:solidFill>
                <a:latin typeface="Tahoma"/>
                <a:cs typeface="Tahoma"/>
              </a:rPr>
              <a:t>rất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0">
                <a:solidFill>
                  <a:srgbClr val="FFFFFF"/>
                </a:solidFill>
                <a:latin typeface="Tahoma"/>
                <a:cs typeface="Tahoma"/>
              </a:rPr>
              <a:t>chậm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so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95">
                <a:solidFill>
                  <a:srgbClr val="FFFFFF"/>
                </a:solidFill>
                <a:latin typeface="Tahoma"/>
                <a:cs typeface="Tahoma"/>
              </a:rPr>
              <a:t>với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0">
                <a:solidFill>
                  <a:srgbClr val="FFFFFF"/>
                </a:solidFill>
                <a:latin typeface="Tahoma"/>
                <a:cs typeface="Tahoma"/>
              </a:rPr>
              <a:t>các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00">
                <a:solidFill>
                  <a:srgbClr val="FFFFFF"/>
                </a:solidFill>
                <a:latin typeface="Tahoma"/>
                <a:cs typeface="Tahoma"/>
              </a:rPr>
              <a:t>hàm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0">
                <a:solidFill>
                  <a:srgbClr val="FFFFFF"/>
                </a:solidFill>
                <a:latin typeface="Tahoma"/>
                <a:cs typeface="Tahoma"/>
              </a:rPr>
              <a:t>ufunc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0">
                <a:solidFill>
                  <a:srgbClr val="FFFFFF"/>
                </a:solidFill>
                <a:latin typeface="Tahoma"/>
                <a:cs typeface="Tahoma"/>
              </a:rPr>
              <a:t>được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80">
                <a:solidFill>
                  <a:srgbClr val="FFFFFF"/>
                </a:solidFill>
                <a:latin typeface="Tahoma"/>
                <a:cs typeface="Tahoma"/>
              </a:rPr>
              <a:t>viết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0">
                <a:solidFill>
                  <a:srgbClr val="FFFFFF"/>
                </a:solidFill>
                <a:latin typeface="Tahoma"/>
                <a:cs typeface="Tahoma"/>
              </a:rPr>
              <a:t>sẵn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70">
                <a:solidFill>
                  <a:srgbClr val="FFFFFF"/>
                </a:solidFill>
                <a:latin typeface="Tahoma"/>
                <a:cs typeface="Tahoma"/>
              </a:rPr>
              <a:t>bằng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0">
                <a:solidFill>
                  <a:srgbClr val="FFFFFF"/>
                </a:solidFill>
                <a:latin typeface="Tahoma"/>
                <a:cs typeface="Tahoma"/>
              </a:rPr>
              <a:t>của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0">
                <a:solidFill>
                  <a:srgbClr val="FFFFFF"/>
                </a:solidFill>
                <a:latin typeface="Tahoma"/>
                <a:cs typeface="Tahoma"/>
              </a:rPr>
              <a:t>NumPy.</a:t>
            </a:r>
            <a:endParaRPr sz="3400">
              <a:latin typeface="Tahoma"/>
              <a:cs typeface="Tahoma"/>
            </a:endParaRPr>
          </a:p>
          <a:p>
            <a:pPr marL="12700" marR="217804">
              <a:lnSpc>
                <a:spcPct val="115799"/>
              </a:lnSpc>
            </a:pPr>
            <a:r>
              <a:rPr dirty="0" sz="3400" spc="120">
                <a:solidFill>
                  <a:srgbClr val="FFFFFF"/>
                </a:solidFill>
                <a:latin typeface="Tahoma"/>
                <a:cs typeface="Tahoma"/>
              </a:rPr>
              <a:t>Giải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75">
                <a:solidFill>
                  <a:srgbClr val="FFFFFF"/>
                </a:solidFill>
                <a:latin typeface="Tahoma"/>
                <a:cs typeface="Tahoma"/>
              </a:rPr>
              <a:t>pháp: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15">
                <a:solidFill>
                  <a:srgbClr val="FFFFFF"/>
                </a:solidFill>
                <a:latin typeface="Tahoma"/>
                <a:cs typeface="Tahoma"/>
              </a:rPr>
              <a:t>Numba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0">
                <a:solidFill>
                  <a:srgbClr val="FFFFFF"/>
                </a:solidFill>
                <a:latin typeface="Tahoma"/>
                <a:cs typeface="Tahoma"/>
              </a:rPr>
              <a:t>là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5">
                <a:solidFill>
                  <a:srgbClr val="FFFFFF"/>
                </a:solidFill>
                <a:latin typeface="Tahoma"/>
                <a:cs typeface="Tahoma"/>
              </a:rPr>
              <a:t>một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10">
                <a:solidFill>
                  <a:srgbClr val="FFFFFF"/>
                </a:solidFill>
                <a:latin typeface="Tahoma"/>
                <a:cs typeface="Tahoma"/>
              </a:rPr>
              <a:t>dự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5">
                <a:solidFill>
                  <a:srgbClr val="FFFFFF"/>
                </a:solidFill>
                <a:latin typeface="Tahoma"/>
                <a:cs typeface="Tahoma"/>
              </a:rPr>
              <a:t>án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04">
                <a:solidFill>
                  <a:srgbClr val="FFFFFF"/>
                </a:solidFill>
                <a:latin typeface="Tahoma"/>
                <a:cs typeface="Tahoma"/>
              </a:rPr>
              <a:t>mã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0">
                <a:solidFill>
                  <a:srgbClr val="FFFFFF"/>
                </a:solidFill>
                <a:latin typeface="Tahoma"/>
                <a:cs typeface="Tahoma"/>
              </a:rPr>
              <a:t>nguồn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40">
                <a:solidFill>
                  <a:srgbClr val="FFFFFF"/>
                </a:solidFill>
                <a:latin typeface="Tahoma"/>
                <a:cs typeface="Tahoma"/>
              </a:rPr>
              <a:t>mở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70">
                <a:solidFill>
                  <a:srgbClr val="FFFFFF"/>
                </a:solidFill>
                <a:latin typeface="Tahoma"/>
                <a:cs typeface="Tahoma"/>
              </a:rPr>
              <a:t>giúp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tạo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0">
                <a:solidFill>
                  <a:srgbClr val="FFFFFF"/>
                </a:solidFill>
                <a:latin typeface="Tahoma"/>
                <a:cs typeface="Tahoma"/>
              </a:rPr>
              <a:t>ra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0">
                <a:solidFill>
                  <a:srgbClr val="FFFFFF"/>
                </a:solidFill>
                <a:latin typeface="Tahoma"/>
                <a:cs typeface="Tahoma"/>
              </a:rPr>
              <a:t>các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00">
                <a:solidFill>
                  <a:srgbClr val="FFFFFF"/>
                </a:solidFill>
                <a:latin typeface="Tahoma"/>
                <a:cs typeface="Tahoma"/>
              </a:rPr>
              <a:t>hàm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5">
                <a:solidFill>
                  <a:srgbClr val="FFFFFF"/>
                </a:solidFill>
                <a:latin typeface="Tahoma"/>
                <a:cs typeface="Tahoma"/>
              </a:rPr>
              <a:t>nhanh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0">
                <a:solidFill>
                  <a:srgbClr val="FFFFFF"/>
                </a:solidFill>
                <a:latin typeface="Tahoma"/>
                <a:cs typeface="Tahoma"/>
              </a:rPr>
              <a:t>cho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85">
                <a:solidFill>
                  <a:srgbClr val="FFFFFF"/>
                </a:solidFill>
                <a:latin typeface="Tahoma"/>
                <a:cs typeface="Tahoma"/>
              </a:rPr>
              <a:t>dữ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liệu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0">
                <a:solidFill>
                  <a:srgbClr val="FFFFFF"/>
                </a:solidFill>
                <a:latin typeface="Tahoma"/>
                <a:cs typeface="Tahoma"/>
              </a:rPr>
              <a:t>kiểu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5">
                <a:solidFill>
                  <a:srgbClr val="FFFFFF"/>
                </a:solidFill>
                <a:latin typeface="Tahoma"/>
                <a:cs typeface="Tahoma"/>
              </a:rPr>
              <a:t>NumPy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70">
                <a:solidFill>
                  <a:srgbClr val="FFFFFF"/>
                </a:solidFill>
                <a:latin typeface="Tahoma"/>
                <a:cs typeface="Tahoma"/>
              </a:rPr>
              <a:t>bằng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90">
                <a:solidFill>
                  <a:srgbClr val="FFFFFF"/>
                </a:solidFill>
                <a:latin typeface="Tahoma"/>
                <a:cs typeface="Tahoma"/>
              </a:rPr>
              <a:t>cách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0">
                <a:solidFill>
                  <a:srgbClr val="FFFFFF"/>
                </a:solidFill>
                <a:latin typeface="Tahoma"/>
                <a:cs typeface="Tahoma"/>
              </a:rPr>
              <a:t>sử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0">
                <a:solidFill>
                  <a:srgbClr val="FFFFFF"/>
                </a:solidFill>
                <a:latin typeface="Tahoma"/>
                <a:cs typeface="Tahoma"/>
              </a:rPr>
              <a:t>dụng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0">
                <a:solidFill>
                  <a:srgbClr val="FFFFFF"/>
                </a:solidFill>
                <a:latin typeface="Tahoma"/>
                <a:cs typeface="Tahoma"/>
              </a:rPr>
              <a:t>trình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biên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0">
                <a:solidFill>
                  <a:srgbClr val="FFFFFF"/>
                </a:solidFill>
                <a:latin typeface="Tahoma"/>
                <a:cs typeface="Tahoma"/>
              </a:rPr>
              <a:t>dịch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0">
                <a:solidFill>
                  <a:srgbClr val="FFFFFF"/>
                </a:solidFill>
                <a:latin typeface="Tahoma"/>
                <a:cs typeface="Tahoma"/>
              </a:rPr>
              <a:t>LLVM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để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0">
                <a:solidFill>
                  <a:srgbClr val="FFFFFF"/>
                </a:solidFill>
                <a:latin typeface="Tahoma"/>
                <a:cs typeface="Tahoma"/>
              </a:rPr>
              <a:t>dịch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04">
                <a:solidFill>
                  <a:srgbClr val="FFFFFF"/>
                </a:solidFill>
                <a:latin typeface="Tahoma"/>
                <a:cs typeface="Tahoma"/>
              </a:rPr>
              <a:t>mã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0">
                <a:solidFill>
                  <a:srgbClr val="FFFFFF"/>
                </a:solidFill>
                <a:latin typeface="Tahoma"/>
                <a:cs typeface="Tahoma"/>
              </a:rPr>
              <a:t>Python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5">
                <a:solidFill>
                  <a:srgbClr val="FFFFFF"/>
                </a:solidFill>
                <a:latin typeface="Tahoma"/>
                <a:cs typeface="Tahoma"/>
              </a:rPr>
              <a:t>thành </a:t>
            </a:r>
            <a:r>
              <a:rPr dirty="0" sz="3400" spc="204">
                <a:solidFill>
                  <a:srgbClr val="FFFFFF"/>
                </a:solidFill>
                <a:latin typeface="Tahoma"/>
                <a:cs typeface="Tahoma"/>
              </a:rPr>
              <a:t>mã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5">
                <a:solidFill>
                  <a:srgbClr val="FFFFFF"/>
                </a:solidFill>
                <a:latin typeface="Tahoma"/>
                <a:cs typeface="Tahoma"/>
              </a:rPr>
              <a:t>máy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4">
                <a:solidFill>
                  <a:srgbClr val="FFFFFF"/>
                </a:solidFill>
                <a:latin typeface="Tahoma"/>
                <a:cs typeface="Tahoma"/>
              </a:rPr>
              <a:t>đã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0">
                <a:solidFill>
                  <a:srgbClr val="FFFFFF"/>
                </a:solidFill>
                <a:latin typeface="Tahoma"/>
                <a:cs typeface="Tahoma"/>
              </a:rPr>
              <a:t>được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biên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70">
                <a:solidFill>
                  <a:srgbClr val="FFFFFF"/>
                </a:solidFill>
                <a:latin typeface="Tahoma"/>
                <a:cs typeface="Tahoma"/>
              </a:rPr>
              <a:t>dịch.</a:t>
            </a:r>
            <a:endParaRPr sz="3400">
              <a:latin typeface="Tahoma"/>
              <a:cs typeface="Tahoma"/>
            </a:endParaRPr>
          </a:p>
          <a:p>
            <a:pPr marL="736600">
              <a:lnSpc>
                <a:spcPct val="100000"/>
              </a:lnSpc>
              <a:spcBef>
                <a:spcPts val="645"/>
              </a:spcBef>
            </a:pPr>
            <a:r>
              <a:rPr dirty="0" sz="3400" spc="50">
                <a:solidFill>
                  <a:srgbClr val="FFFFFF"/>
                </a:solidFill>
                <a:latin typeface="Tahoma"/>
                <a:cs typeface="Tahoma"/>
              </a:rPr>
              <a:t>numba.jit:</a:t>
            </a:r>
            <a:endParaRPr sz="3400">
              <a:latin typeface="Tahoma"/>
              <a:cs typeface="Tahoma"/>
            </a:endParaRPr>
          </a:p>
          <a:p>
            <a:pPr marL="12700" marR="361950">
              <a:lnSpc>
                <a:spcPct val="115799"/>
              </a:lnSpc>
            </a:pPr>
            <a:r>
              <a:rPr dirty="0" sz="3400" spc="75">
                <a:solidFill>
                  <a:srgbClr val="FFFFFF"/>
                </a:solidFill>
                <a:latin typeface="Tahoma"/>
                <a:cs typeface="Tahoma"/>
              </a:rPr>
              <a:t>Đây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0">
                <a:solidFill>
                  <a:srgbClr val="FFFFFF"/>
                </a:solidFill>
                <a:latin typeface="Tahoma"/>
                <a:cs typeface="Tahoma"/>
              </a:rPr>
              <a:t>là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0">
                <a:solidFill>
                  <a:srgbClr val="FFFFFF"/>
                </a:solidFill>
                <a:latin typeface="Tahoma"/>
                <a:cs typeface="Tahoma"/>
              </a:rPr>
              <a:t>chức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5">
                <a:solidFill>
                  <a:srgbClr val="FFFFFF"/>
                </a:solidFill>
                <a:latin typeface="Tahoma"/>
                <a:cs typeface="Tahoma"/>
              </a:rPr>
              <a:t>năng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0">
                <a:solidFill>
                  <a:srgbClr val="FFFFFF"/>
                </a:solidFill>
                <a:latin typeface="Tahoma"/>
                <a:cs typeface="Tahoma"/>
              </a:rPr>
              <a:t>chính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0">
                <a:solidFill>
                  <a:srgbClr val="FFFFFF"/>
                </a:solidFill>
                <a:latin typeface="Tahoma"/>
                <a:cs typeface="Tahoma"/>
              </a:rPr>
              <a:t>của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0">
                <a:solidFill>
                  <a:srgbClr val="FFFFFF"/>
                </a:solidFill>
                <a:latin typeface="Tahoma"/>
                <a:cs typeface="Tahoma"/>
              </a:rPr>
              <a:t>Numba,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0">
                <a:solidFill>
                  <a:srgbClr val="FFFFFF"/>
                </a:solidFill>
                <a:latin typeface="Tahoma"/>
                <a:cs typeface="Tahoma"/>
              </a:rPr>
              <a:t>được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0">
                <a:solidFill>
                  <a:srgbClr val="FFFFFF"/>
                </a:solidFill>
                <a:latin typeface="Tahoma"/>
                <a:cs typeface="Tahoma"/>
              </a:rPr>
              <a:t>sử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0">
                <a:solidFill>
                  <a:srgbClr val="FFFFFF"/>
                </a:solidFill>
                <a:latin typeface="Tahoma"/>
                <a:cs typeface="Tahoma"/>
              </a:rPr>
              <a:t>dụng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5">
                <a:solidFill>
                  <a:srgbClr val="FFFFFF"/>
                </a:solidFill>
                <a:latin typeface="Tahoma"/>
                <a:cs typeface="Tahoma"/>
              </a:rPr>
              <a:t>như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5">
                <a:solidFill>
                  <a:srgbClr val="FFFFFF"/>
                </a:solidFill>
                <a:latin typeface="Tahoma"/>
                <a:cs typeface="Tahoma"/>
              </a:rPr>
              <a:t>một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5">
                <a:solidFill>
                  <a:srgbClr val="FFFFFF"/>
                </a:solidFill>
                <a:latin typeface="Tahoma"/>
                <a:cs typeface="Tahoma"/>
              </a:rPr>
              <a:t>decorator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-30">
                <a:solidFill>
                  <a:srgbClr val="FFFFFF"/>
                </a:solidFill>
                <a:latin typeface="Tahoma"/>
                <a:cs typeface="Tahoma"/>
              </a:rPr>
              <a:t>(@nb.jit)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0">
                <a:solidFill>
                  <a:srgbClr val="FFFFFF"/>
                </a:solidFill>
                <a:latin typeface="Tahoma"/>
                <a:cs typeface="Tahoma"/>
              </a:rPr>
              <a:t>để </a:t>
            </a: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biên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0">
                <a:solidFill>
                  <a:srgbClr val="FFFFFF"/>
                </a:solidFill>
                <a:latin typeface="Tahoma"/>
                <a:cs typeface="Tahoma"/>
              </a:rPr>
              <a:t>dịch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5">
                <a:solidFill>
                  <a:srgbClr val="FFFFFF"/>
                </a:solidFill>
                <a:latin typeface="Tahoma"/>
                <a:cs typeface="Tahoma"/>
              </a:rPr>
              <a:t>một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00">
                <a:solidFill>
                  <a:srgbClr val="FFFFFF"/>
                </a:solidFill>
                <a:latin typeface="Tahoma"/>
                <a:cs typeface="Tahoma"/>
              </a:rPr>
              <a:t>hàm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90">
                <a:solidFill>
                  <a:srgbClr val="FFFFFF"/>
                </a:solidFill>
                <a:latin typeface="Tahoma"/>
                <a:cs typeface="Tahoma"/>
              </a:rPr>
              <a:t>Python.</a:t>
            </a:r>
            <a:endParaRPr sz="3400">
              <a:latin typeface="Tahoma"/>
              <a:cs typeface="Tahoma"/>
            </a:endParaRPr>
          </a:p>
          <a:p>
            <a:pPr marL="12700" marR="5080">
              <a:lnSpc>
                <a:spcPct val="115799"/>
              </a:lnSpc>
            </a:pPr>
            <a:r>
              <a:rPr dirty="0" sz="3400" spc="204">
                <a:solidFill>
                  <a:srgbClr val="FFFFFF"/>
                </a:solidFill>
                <a:latin typeface="Tahoma"/>
                <a:cs typeface="Tahoma"/>
              </a:rPr>
              <a:t>Hàm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0">
                <a:solidFill>
                  <a:srgbClr val="FFFFFF"/>
                </a:solidFill>
                <a:latin typeface="Tahoma"/>
                <a:cs typeface="Tahoma"/>
              </a:rPr>
              <a:t>được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biên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0">
                <a:solidFill>
                  <a:srgbClr val="FFFFFF"/>
                </a:solidFill>
                <a:latin typeface="Tahoma"/>
                <a:cs typeface="Tahoma"/>
              </a:rPr>
              <a:t>dịch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70">
                <a:solidFill>
                  <a:srgbClr val="FFFFFF"/>
                </a:solidFill>
                <a:latin typeface="Tahoma"/>
                <a:cs typeface="Tahoma"/>
              </a:rPr>
              <a:t>bằng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>
                <a:solidFill>
                  <a:srgbClr val="FFFFFF"/>
                </a:solidFill>
                <a:latin typeface="Tahoma"/>
                <a:cs typeface="Tahoma"/>
              </a:rPr>
              <a:t>jit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0">
                <a:solidFill>
                  <a:srgbClr val="FFFFFF"/>
                </a:solidFill>
                <a:latin typeface="Tahoma"/>
                <a:cs typeface="Tahoma"/>
              </a:rPr>
              <a:t>có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thể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0">
                <a:solidFill>
                  <a:srgbClr val="FFFFFF"/>
                </a:solidFill>
                <a:latin typeface="Tahoma"/>
                <a:cs typeface="Tahoma"/>
              </a:rPr>
              <a:t>đạt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5">
                <a:solidFill>
                  <a:srgbClr val="FFFFFF"/>
                </a:solidFill>
                <a:latin typeface="Tahoma"/>
                <a:cs typeface="Tahoma"/>
              </a:rPr>
              <a:t>tốc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5">
                <a:solidFill>
                  <a:srgbClr val="FFFFFF"/>
                </a:solidFill>
                <a:latin typeface="Tahoma"/>
                <a:cs typeface="Tahoma"/>
              </a:rPr>
              <a:t>độ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70">
                <a:solidFill>
                  <a:srgbClr val="FFFFFF"/>
                </a:solidFill>
                <a:latin typeface="Tahoma"/>
                <a:cs typeface="Tahoma"/>
              </a:rPr>
              <a:t>tương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0">
                <a:solidFill>
                  <a:srgbClr val="FFFFFF"/>
                </a:solidFill>
                <a:latin typeface="Tahoma"/>
                <a:cs typeface="Tahoma"/>
              </a:rPr>
              <a:t>đương,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5">
                <a:solidFill>
                  <a:srgbClr val="FFFFFF"/>
                </a:solidFill>
                <a:latin typeface="Tahoma"/>
                <a:cs typeface="Tahoma"/>
              </a:rPr>
              <a:t>thậm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5">
                <a:solidFill>
                  <a:srgbClr val="FFFFFF"/>
                </a:solidFill>
                <a:latin typeface="Tahoma"/>
                <a:cs typeface="Tahoma"/>
              </a:rPr>
              <a:t>chí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5">
                <a:solidFill>
                  <a:srgbClr val="FFFFFF"/>
                </a:solidFill>
                <a:latin typeface="Tahoma"/>
                <a:cs typeface="Tahoma"/>
              </a:rPr>
              <a:t>nhanh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80">
                <a:solidFill>
                  <a:srgbClr val="FFFFFF"/>
                </a:solidFill>
                <a:latin typeface="Tahoma"/>
                <a:cs typeface="Tahoma"/>
              </a:rPr>
              <a:t>hơn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45">
                <a:solidFill>
                  <a:srgbClr val="FFFFFF"/>
                </a:solidFill>
                <a:latin typeface="Tahoma"/>
                <a:cs typeface="Tahoma"/>
              </a:rPr>
              <a:t>cả </a:t>
            </a:r>
            <a:r>
              <a:rPr dirty="0" sz="3400" spc="60">
                <a:solidFill>
                  <a:srgbClr val="FFFFFF"/>
                </a:solidFill>
                <a:latin typeface="Tahoma"/>
                <a:cs typeface="Tahoma"/>
              </a:rPr>
              <a:t>các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00">
                <a:solidFill>
                  <a:srgbClr val="FFFFFF"/>
                </a:solidFill>
                <a:latin typeface="Tahoma"/>
                <a:cs typeface="Tahoma"/>
              </a:rPr>
              <a:t>hàm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5">
                <a:solidFill>
                  <a:srgbClr val="FFFFFF"/>
                </a:solidFill>
                <a:latin typeface="Tahoma"/>
                <a:cs typeface="Tahoma"/>
              </a:rPr>
              <a:t>NumPy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0">
                <a:solidFill>
                  <a:srgbClr val="FFFFFF"/>
                </a:solidFill>
                <a:latin typeface="Tahoma"/>
                <a:cs typeface="Tahoma"/>
              </a:rPr>
              <a:t>được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5">
                <a:solidFill>
                  <a:srgbClr val="FFFFFF"/>
                </a:solidFill>
                <a:latin typeface="Tahoma"/>
                <a:cs typeface="Tahoma"/>
              </a:rPr>
              <a:t>vector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70">
                <a:solidFill>
                  <a:srgbClr val="FFFFFF"/>
                </a:solidFill>
                <a:latin typeface="Tahoma"/>
                <a:cs typeface="Tahoma"/>
              </a:rPr>
              <a:t>hóa.</a:t>
            </a:r>
            <a:endParaRPr sz="3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7172" y="174851"/>
            <a:ext cx="13402310" cy="2368550"/>
          </a:xfrm>
          <a:prstGeom prst="rect"/>
        </p:spPr>
        <p:txBody>
          <a:bodyPr wrap="square" lIns="0" tIns="109220" rIns="0" bIns="0" rtlCol="0" vert="horz">
            <a:spAutoFit/>
          </a:bodyPr>
          <a:lstStyle/>
          <a:p>
            <a:pPr marL="12700" marR="5080">
              <a:lnSpc>
                <a:spcPts val="5920"/>
              </a:lnSpc>
              <a:spcBef>
                <a:spcPts val="860"/>
              </a:spcBef>
            </a:pPr>
            <a:r>
              <a:rPr dirty="0" sz="5500" spc="-450">
                <a:solidFill>
                  <a:srgbClr val="FFFFFF"/>
                </a:solidFill>
              </a:rPr>
              <a:t>A.7.</a:t>
            </a:r>
            <a:r>
              <a:rPr dirty="0" sz="5500" spc="-275">
                <a:solidFill>
                  <a:srgbClr val="FFFFFF"/>
                </a:solidFill>
              </a:rPr>
              <a:t> </a:t>
            </a:r>
            <a:r>
              <a:rPr dirty="0" sz="5500" spc="-10">
                <a:solidFill>
                  <a:srgbClr val="FFFFFF"/>
                </a:solidFill>
              </a:rPr>
              <a:t>Vi</a:t>
            </a:r>
            <a:r>
              <a:rPr dirty="0" sz="5500" spc="-10">
                <a:solidFill>
                  <a:srgbClr val="FFFFFF"/>
                </a:solidFill>
                <a:latin typeface="Arial"/>
                <a:cs typeface="Arial"/>
              </a:rPr>
              <a:t>ế</a:t>
            </a:r>
            <a:r>
              <a:rPr dirty="0" sz="5500" spc="-10">
                <a:solidFill>
                  <a:srgbClr val="FFFFFF"/>
                </a:solidFill>
              </a:rPr>
              <a:t>t</a:t>
            </a:r>
            <a:r>
              <a:rPr dirty="0" sz="5500" spc="-310">
                <a:solidFill>
                  <a:srgbClr val="FFFFFF"/>
                </a:solidFill>
              </a:rPr>
              <a:t> </a:t>
            </a:r>
            <a:r>
              <a:rPr dirty="0" sz="5500" spc="420">
                <a:solidFill>
                  <a:srgbClr val="FFFFFF"/>
                </a:solidFill>
              </a:rPr>
              <a:t>hàm</a:t>
            </a:r>
            <a:r>
              <a:rPr dirty="0" sz="5500" spc="-295">
                <a:solidFill>
                  <a:srgbClr val="FFFFFF"/>
                </a:solidFill>
              </a:rPr>
              <a:t> </a:t>
            </a:r>
            <a:r>
              <a:rPr dirty="0" sz="5500" spc="140">
                <a:solidFill>
                  <a:srgbClr val="FFFFFF"/>
                </a:solidFill>
              </a:rPr>
              <a:t>NumPy</a:t>
            </a:r>
            <a:r>
              <a:rPr dirty="0" sz="5500" spc="-290">
                <a:solidFill>
                  <a:srgbClr val="FFFFFF"/>
                </a:solidFill>
              </a:rPr>
              <a:t> </a:t>
            </a:r>
            <a:r>
              <a:rPr dirty="0" sz="5500" spc="210">
                <a:solidFill>
                  <a:srgbClr val="FFFFFF"/>
                </a:solidFill>
              </a:rPr>
              <a:t>nhanh</a:t>
            </a:r>
            <a:r>
              <a:rPr dirty="0" sz="5500" spc="-295">
                <a:solidFill>
                  <a:srgbClr val="FFFFFF"/>
                </a:solidFill>
              </a:rPr>
              <a:t> </a:t>
            </a:r>
            <a:r>
              <a:rPr dirty="0" sz="5500" spc="130">
                <a:solidFill>
                  <a:srgbClr val="FFFFFF"/>
                </a:solidFill>
              </a:rPr>
              <a:t>b</a:t>
            </a:r>
            <a:r>
              <a:rPr dirty="0" sz="5500" spc="130">
                <a:solidFill>
                  <a:srgbClr val="FFFFFF"/>
                </a:solidFill>
                <a:latin typeface="Arial"/>
                <a:cs typeface="Arial"/>
              </a:rPr>
              <a:t>ằ</a:t>
            </a:r>
            <a:r>
              <a:rPr dirty="0" sz="5500" spc="130">
                <a:solidFill>
                  <a:srgbClr val="FFFFFF"/>
                </a:solidFill>
              </a:rPr>
              <a:t>ng </a:t>
            </a:r>
            <a:r>
              <a:rPr dirty="0" sz="5500" spc="260">
                <a:solidFill>
                  <a:srgbClr val="FFFFFF"/>
                </a:solidFill>
              </a:rPr>
              <a:t>Numba</a:t>
            </a:r>
            <a:r>
              <a:rPr dirty="0" sz="5500" spc="-270">
                <a:solidFill>
                  <a:srgbClr val="FFFFFF"/>
                </a:solidFill>
              </a:rPr>
              <a:t> </a:t>
            </a:r>
            <a:r>
              <a:rPr dirty="0" sz="5500" spc="120">
                <a:solidFill>
                  <a:srgbClr val="FFFFFF"/>
                </a:solidFill>
              </a:rPr>
              <a:t>(Writing</a:t>
            </a:r>
            <a:r>
              <a:rPr dirty="0" sz="5500" spc="-270">
                <a:solidFill>
                  <a:srgbClr val="FFFFFF"/>
                </a:solidFill>
              </a:rPr>
              <a:t> </a:t>
            </a:r>
            <a:r>
              <a:rPr dirty="0" sz="5500" spc="110">
                <a:solidFill>
                  <a:srgbClr val="FFFFFF"/>
                </a:solidFill>
              </a:rPr>
              <a:t>Fast</a:t>
            </a:r>
            <a:r>
              <a:rPr dirty="0" sz="5500" spc="-270">
                <a:solidFill>
                  <a:srgbClr val="FFFFFF"/>
                </a:solidFill>
              </a:rPr>
              <a:t> </a:t>
            </a:r>
            <a:r>
              <a:rPr dirty="0" sz="5500" spc="140">
                <a:solidFill>
                  <a:srgbClr val="FFFFFF"/>
                </a:solidFill>
              </a:rPr>
              <a:t>NumPy</a:t>
            </a:r>
            <a:r>
              <a:rPr dirty="0" sz="5500" spc="-265">
                <a:solidFill>
                  <a:srgbClr val="FFFFFF"/>
                </a:solidFill>
              </a:rPr>
              <a:t> </a:t>
            </a:r>
            <a:r>
              <a:rPr dirty="0" sz="5500" spc="40">
                <a:solidFill>
                  <a:srgbClr val="FFFFFF"/>
                </a:solidFill>
              </a:rPr>
              <a:t>Functions </a:t>
            </a:r>
            <a:r>
              <a:rPr dirty="0" sz="5500">
                <a:solidFill>
                  <a:srgbClr val="FFFFFF"/>
                </a:solidFill>
              </a:rPr>
              <a:t>with</a:t>
            </a:r>
            <a:r>
              <a:rPr dirty="0" sz="5500" spc="-229">
                <a:solidFill>
                  <a:srgbClr val="FFFFFF"/>
                </a:solidFill>
              </a:rPr>
              <a:t> </a:t>
            </a:r>
            <a:r>
              <a:rPr dirty="0" sz="5500" spc="320">
                <a:solidFill>
                  <a:srgbClr val="FFFFFF"/>
                </a:solidFill>
              </a:rPr>
              <a:t>Numba)</a:t>
            </a:r>
            <a:endParaRPr sz="55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23940" y="1510825"/>
            <a:ext cx="1664059" cy="8025196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1474" y="3361249"/>
            <a:ext cx="152400" cy="152399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721320" y="2453827"/>
            <a:ext cx="13633450" cy="242570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400050">
              <a:lnSpc>
                <a:spcPct val="100000"/>
              </a:lnSpc>
              <a:spcBef>
                <a:spcPts val="745"/>
              </a:spcBef>
            </a:pPr>
            <a:r>
              <a:rPr dirty="0" sz="3400" spc="80">
                <a:solidFill>
                  <a:srgbClr val="FFFFFF"/>
                </a:solidFill>
                <a:latin typeface="Tahoma"/>
                <a:cs typeface="Tahoma"/>
              </a:rPr>
              <a:t>numba.vectorize:</a:t>
            </a:r>
            <a:endParaRPr sz="3400">
              <a:latin typeface="Tahoma"/>
              <a:cs typeface="Tahoma"/>
            </a:endParaRPr>
          </a:p>
          <a:p>
            <a:pPr marL="12700" marR="5080">
              <a:lnSpc>
                <a:spcPct val="115799"/>
              </a:lnSpc>
            </a:pPr>
            <a:r>
              <a:rPr dirty="0" sz="3400" spc="130">
                <a:solidFill>
                  <a:srgbClr val="FFFFFF"/>
                </a:solidFill>
                <a:latin typeface="Tahoma"/>
                <a:cs typeface="Tahoma"/>
              </a:rPr>
              <a:t>Decorator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5">
                <a:solidFill>
                  <a:srgbClr val="FFFFFF"/>
                </a:solidFill>
                <a:latin typeface="Tahoma"/>
                <a:cs typeface="Tahoma"/>
              </a:rPr>
              <a:t>này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0">
                <a:solidFill>
                  <a:srgbClr val="FFFFFF"/>
                </a:solidFill>
                <a:latin typeface="Tahoma"/>
                <a:cs typeface="Tahoma"/>
              </a:rPr>
              <a:t>được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0">
                <a:solidFill>
                  <a:srgbClr val="FFFFFF"/>
                </a:solidFill>
                <a:latin typeface="Tahoma"/>
                <a:cs typeface="Tahoma"/>
              </a:rPr>
              <a:t>dùng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để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tạo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0">
                <a:solidFill>
                  <a:srgbClr val="FFFFFF"/>
                </a:solidFill>
                <a:latin typeface="Tahoma"/>
                <a:cs typeface="Tahoma"/>
              </a:rPr>
              <a:t>ra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0">
                <a:solidFill>
                  <a:srgbClr val="FFFFFF"/>
                </a:solidFill>
                <a:latin typeface="Tahoma"/>
                <a:cs typeface="Tahoma"/>
              </a:rPr>
              <a:t>các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00">
                <a:solidFill>
                  <a:srgbClr val="FFFFFF"/>
                </a:solidFill>
                <a:latin typeface="Tahoma"/>
                <a:cs typeface="Tahoma"/>
              </a:rPr>
              <a:t>hàm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5">
                <a:solidFill>
                  <a:srgbClr val="FFFFFF"/>
                </a:solidFill>
                <a:latin typeface="Tahoma"/>
                <a:cs typeface="Tahoma"/>
              </a:rPr>
              <a:t>ufunc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4">
                <a:solidFill>
                  <a:srgbClr val="FFFFFF"/>
                </a:solidFill>
                <a:latin typeface="Tahoma"/>
                <a:cs typeface="Tahoma"/>
              </a:rPr>
              <a:t>đã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0">
                <a:solidFill>
                  <a:srgbClr val="FFFFFF"/>
                </a:solidFill>
                <a:latin typeface="Tahoma"/>
                <a:cs typeface="Tahoma"/>
              </a:rPr>
              <a:t>được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0">
                <a:solidFill>
                  <a:srgbClr val="FFFFFF"/>
                </a:solidFill>
                <a:latin typeface="Tahoma"/>
                <a:cs typeface="Tahoma"/>
              </a:rPr>
              <a:t>biên </a:t>
            </a:r>
            <a:r>
              <a:rPr dirty="0" sz="3400" spc="80">
                <a:solidFill>
                  <a:srgbClr val="FFFFFF"/>
                </a:solidFill>
                <a:latin typeface="Tahoma"/>
                <a:cs typeface="Tahoma"/>
              </a:rPr>
              <a:t>dịch,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0">
                <a:solidFill>
                  <a:srgbClr val="FFFFFF"/>
                </a:solidFill>
                <a:latin typeface="Tahoma"/>
                <a:cs typeface="Tahoma"/>
              </a:rPr>
              <a:t>có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5">
                <a:solidFill>
                  <a:srgbClr val="FFFFFF"/>
                </a:solidFill>
                <a:latin typeface="Tahoma"/>
                <a:cs typeface="Tahoma"/>
              </a:rPr>
              <a:t>khả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5">
                <a:solidFill>
                  <a:srgbClr val="FFFFFF"/>
                </a:solidFill>
                <a:latin typeface="Tahoma"/>
                <a:cs typeface="Tahoma"/>
              </a:rPr>
              <a:t>năng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0">
                <a:solidFill>
                  <a:srgbClr val="FFFFFF"/>
                </a:solidFill>
                <a:latin typeface="Tahoma"/>
                <a:cs typeface="Tahoma"/>
              </a:rPr>
              <a:t>hoạt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80">
                <a:solidFill>
                  <a:srgbClr val="FFFFFF"/>
                </a:solidFill>
                <a:latin typeface="Tahoma"/>
                <a:cs typeface="Tahoma"/>
              </a:rPr>
              <a:t>động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0">
                <a:solidFill>
                  <a:srgbClr val="FFFFFF"/>
                </a:solidFill>
                <a:latin typeface="Tahoma"/>
                <a:cs typeface="Tahoma"/>
              </a:rPr>
              <a:t>trên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70">
                <a:solidFill>
                  <a:srgbClr val="FFFFFF"/>
                </a:solidFill>
                <a:latin typeface="Tahoma"/>
                <a:cs typeface="Tahoma"/>
              </a:rPr>
              <a:t>từng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5">
                <a:solidFill>
                  <a:srgbClr val="FFFFFF"/>
                </a:solidFill>
                <a:latin typeface="Tahoma"/>
                <a:cs typeface="Tahoma"/>
              </a:rPr>
              <a:t>phần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tử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0">
                <a:solidFill>
                  <a:srgbClr val="FFFFFF"/>
                </a:solidFill>
                <a:latin typeface="Tahoma"/>
                <a:cs typeface="Tahoma"/>
              </a:rPr>
              <a:t>của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00">
                <a:solidFill>
                  <a:srgbClr val="FFFFFF"/>
                </a:solidFill>
                <a:latin typeface="Tahoma"/>
                <a:cs typeface="Tahoma"/>
              </a:rPr>
              <a:t>mảng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5">
                <a:solidFill>
                  <a:srgbClr val="FFFFFF"/>
                </a:solidFill>
                <a:latin typeface="Tahoma"/>
                <a:cs typeface="Tahoma"/>
              </a:rPr>
              <a:t>một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70">
                <a:solidFill>
                  <a:srgbClr val="FFFFFF"/>
                </a:solidFill>
                <a:latin typeface="Tahoma"/>
                <a:cs typeface="Tahoma"/>
              </a:rPr>
              <a:t>cách </a:t>
            </a:r>
            <a:r>
              <a:rPr dirty="0" sz="3400" spc="145">
                <a:solidFill>
                  <a:srgbClr val="FFFFFF"/>
                </a:solidFill>
                <a:latin typeface="Tahoma"/>
                <a:cs typeface="Tahoma"/>
              </a:rPr>
              <a:t>hiệu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90">
                <a:solidFill>
                  <a:srgbClr val="FFFFFF"/>
                </a:solidFill>
                <a:latin typeface="Tahoma"/>
                <a:cs typeface="Tahoma"/>
              </a:rPr>
              <a:t>quả,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70">
                <a:solidFill>
                  <a:srgbClr val="FFFFFF"/>
                </a:solidFill>
                <a:latin typeface="Tahoma"/>
                <a:cs typeface="Tahoma"/>
              </a:rPr>
              <a:t>tương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tự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5">
                <a:solidFill>
                  <a:srgbClr val="FFFFFF"/>
                </a:solidFill>
                <a:latin typeface="Tahoma"/>
                <a:cs typeface="Tahoma"/>
              </a:rPr>
              <a:t>như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0">
                <a:solidFill>
                  <a:srgbClr val="FFFFFF"/>
                </a:solidFill>
                <a:latin typeface="Tahoma"/>
                <a:cs typeface="Tahoma"/>
              </a:rPr>
              <a:t>các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0">
                <a:solidFill>
                  <a:srgbClr val="FFFFFF"/>
                </a:solidFill>
                <a:latin typeface="Tahoma"/>
                <a:cs typeface="Tahoma"/>
              </a:rPr>
              <a:t>ufunc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0">
                <a:solidFill>
                  <a:srgbClr val="FFFFFF"/>
                </a:solidFill>
                <a:latin typeface="Tahoma"/>
                <a:cs typeface="Tahoma"/>
              </a:rPr>
              <a:t>có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0">
                <a:solidFill>
                  <a:srgbClr val="FFFFFF"/>
                </a:solidFill>
                <a:latin typeface="Tahoma"/>
                <a:cs typeface="Tahoma"/>
              </a:rPr>
              <a:t>sẵn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0">
                <a:solidFill>
                  <a:srgbClr val="FFFFFF"/>
                </a:solidFill>
                <a:latin typeface="Tahoma"/>
                <a:cs typeface="Tahoma"/>
              </a:rPr>
              <a:t>của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0">
                <a:solidFill>
                  <a:srgbClr val="FFFFFF"/>
                </a:solidFill>
                <a:latin typeface="Tahoma"/>
                <a:cs typeface="Tahoma"/>
              </a:rPr>
              <a:t>NumPy.</a:t>
            </a:r>
            <a:endParaRPr sz="3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1234" y="184181"/>
            <a:ext cx="13016230" cy="1616075"/>
          </a:xfrm>
          <a:prstGeom prst="rect"/>
        </p:spPr>
        <p:txBody>
          <a:bodyPr wrap="square" lIns="0" tIns="108585" rIns="0" bIns="0" rtlCol="0" vert="horz">
            <a:spAutoFit/>
          </a:bodyPr>
          <a:lstStyle/>
          <a:p>
            <a:pPr marL="12700" marR="5080">
              <a:lnSpc>
                <a:spcPts val="5930"/>
              </a:lnSpc>
              <a:spcBef>
                <a:spcPts val="855"/>
              </a:spcBef>
            </a:pPr>
            <a:r>
              <a:rPr dirty="0" sz="5500" spc="-340">
                <a:solidFill>
                  <a:srgbClr val="FFFFFF"/>
                </a:solidFill>
              </a:rPr>
              <a:t>A.8.</a:t>
            </a:r>
            <a:r>
              <a:rPr dirty="0" sz="5500" spc="-245">
                <a:solidFill>
                  <a:srgbClr val="FFFFFF"/>
                </a:solidFill>
              </a:rPr>
              <a:t> </a:t>
            </a:r>
            <a:r>
              <a:rPr dirty="0" sz="5500" spc="90">
                <a:solidFill>
                  <a:srgbClr val="FFFFFF"/>
                </a:solidFill>
              </a:rPr>
              <a:t>Thao</a:t>
            </a:r>
            <a:r>
              <a:rPr dirty="0" sz="5500" spc="-245">
                <a:solidFill>
                  <a:srgbClr val="FFFFFF"/>
                </a:solidFill>
              </a:rPr>
              <a:t> </a:t>
            </a:r>
            <a:r>
              <a:rPr dirty="0" sz="5500" spc="365">
                <a:solidFill>
                  <a:srgbClr val="FFFFFF"/>
                </a:solidFill>
              </a:rPr>
              <a:t>tác</a:t>
            </a:r>
            <a:r>
              <a:rPr dirty="0" sz="5500" spc="-245">
                <a:solidFill>
                  <a:srgbClr val="FFFFFF"/>
                </a:solidFill>
              </a:rPr>
              <a:t> </a:t>
            </a:r>
            <a:r>
              <a:rPr dirty="0" sz="5500" spc="-165">
                <a:solidFill>
                  <a:srgbClr val="FFFFFF"/>
                </a:solidFill>
              </a:rPr>
              <a:t>I/O</a:t>
            </a:r>
            <a:r>
              <a:rPr dirty="0" sz="5500" spc="-245">
                <a:solidFill>
                  <a:srgbClr val="FFFFFF"/>
                </a:solidFill>
              </a:rPr>
              <a:t> </a:t>
            </a:r>
            <a:r>
              <a:rPr dirty="0" sz="5500" spc="204">
                <a:solidFill>
                  <a:srgbClr val="FFFFFF"/>
                </a:solidFill>
              </a:rPr>
              <a:t>Nâng</a:t>
            </a:r>
            <a:r>
              <a:rPr dirty="0" sz="5500" spc="-240">
                <a:solidFill>
                  <a:srgbClr val="FFFFFF"/>
                </a:solidFill>
              </a:rPr>
              <a:t> </a:t>
            </a:r>
            <a:r>
              <a:rPr dirty="0" sz="5500" spc="430">
                <a:solidFill>
                  <a:srgbClr val="FFFFFF"/>
                </a:solidFill>
              </a:rPr>
              <a:t>cao</a:t>
            </a:r>
            <a:r>
              <a:rPr dirty="0" sz="5500" spc="-245">
                <a:solidFill>
                  <a:srgbClr val="FFFFFF"/>
                </a:solidFill>
              </a:rPr>
              <a:t> </a:t>
            </a:r>
            <a:r>
              <a:rPr dirty="0" sz="5500">
                <a:solidFill>
                  <a:srgbClr val="FFFFFF"/>
                </a:solidFill>
              </a:rPr>
              <a:t>trên</a:t>
            </a:r>
            <a:r>
              <a:rPr dirty="0" sz="5500" spc="-245">
                <a:solidFill>
                  <a:srgbClr val="FFFFFF"/>
                </a:solidFill>
              </a:rPr>
              <a:t> </a:t>
            </a:r>
            <a:r>
              <a:rPr dirty="0" sz="5500" spc="55">
                <a:solidFill>
                  <a:srgbClr val="FFFFFF"/>
                </a:solidFill>
              </a:rPr>
              <a:t>M</a:t>
            </a:r>
            <a:r>
              <a:rPr dirty="0" sz="5500" spc="55">
                <a:solidFill>
                  <a:srgbClr val="FFFFFF"/>
                </a:solidFill>
                <a:latin typeface="Arial"/>
                <a:cs typeface="Arial"/>
              </a:rPr>
              <a:t>ả</a:t>
            </a:r>
            <a:r>
              <a:rPr dirty="0" sz="5500" spc="55">
                <a:solidFill>
                  <a:srgbClr val="FFFFFF"/>
                </a:solidFill>
              </a:rPr>
              <a:t>ng </a:t>
            </a:r>
            <a:r>
              <a:rPr dirty="0" sz="5500" spc="315">
                <a:solidFill>
                  <a:srgbClr val="FFFFFF"/>
                </a:solidFill>
              </a:rPr>
              <a:t>(Advanced</a:t>
            </a:r>
            <a:r>
              <a:rPr dirty="0" sz="5500" spc="-229">
                <a:solidFill>
                  <a:srgbClr val="FFFFFF"/>
                </a:solidFill>
              </a:rPr>
              <a:t> </a:t>
            </a:r>
            <a:r>
              <a:rPr dirty="0" sz="5500" spc="65">
                <a:solidFill>
                  <a:srgbClr val="FFFFFF"/>
                </a:solidFill>
              </a:rPr>
              <a:t>Array</a:t>
            </a:r>
            <a:r>
              <a:rPr dirty="0" sz="5500" spc="-229">
                <a:solidFill>
                  <a:srgbClr val="FFFFFF"/>
                </a:solidFill>
              </a:rPr>
              <a:t> </a:t>
            </a:r>
            <a:r>
              <a:rPr dirty="0" sz="5500">
                <a:solidFill>
                  <a:srgbClr val="FFFFFF"/>
                </a:solidFill>
              </a:rPr>
              <a:t>Input</a:t>
            </a:r>
            <a:r>
              <a:rPr dirty="0" sz="5500" spc="-229">
                <a:solidFill>
                  <a:srgbClr val="FFFFFF"/>
                </a:solidFill>
              </a:rPr>
              <a:t> </a:t>
            </a:r>
            <a:r>
              <a:rPr dirty="0" sz="5500" spc="330">
                <a:solidFill>
                  <a:srgbClr val="FFFFFF"/>
                </a:solidFill>
              </a:rPr>
              <a:t>and</a:t>
            </a:r>
            <a:r>
              <a:rPr dirty="0" sz="5500" spc="-225">
                <a:solidFill>
                  <a:srgbClr val="FFFFFF"/>
                </a:solidFill>
              </a:rPr>
              <a:t> </a:t>
            </a:r>
            <a:r>
              <a:rPr dirty="0" sz="5500" spc="135">
                <a:solidFill>
                  <a:srgbClr val="FFFFFF"/>
                </a:solidFill>
              </a:rPr>
              <a:t>Output)</a:t>
            </a:r>
            <a:endParaRPr sz="55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61201" y="1657627"/>
            <a:ext cx="2226797" cy="802357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5409" y="2761174"/>
            <a:ext cx="152400" cy="15239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5409" y="3961324"/>
            <a:ext cx="152400" cy="152399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331234" y="2453827"/>
            <a:ext cx="13768705" cy="6026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46125" marR="289560">
              <a:lnSpc>
                <a:spcPct val="115799"/>
              </a:lnSpc>
              <a:spcBef>
                <a:spcPts val="100"/>
              </a:spcBef>
            </a:pPr>
            <a:r>
              <a:rPr dirty="0" sz="3400" spc="175">
                <a:solidFill>
                  <a:srgbClr val="FFFFFF"/>
                </a:solidFill>
                <a:latin typeface="Tahoma"/>
                <a:cs typeface="Tahoma"/>
              </a:rPr>
              <a:t>Ngoài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85">
                <a:solidFill>
                  <a:srgbClr val="FFFFFF"/>
                </a:solidFill>
                <a:latin typeface="Tahoma"/>
                <a:cs typeface="Tahoma"/>
              </a:rPr>
              <a:t>np.save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5">
                <a:solidFill>
                  <a:srgbClr val="FFFFFF"/>
                </a:solidFill>
                <a:latin typeface="Tahoma"/>
                <a:cs typeface="Tahoma"/>
              </a:rPr>
              <a:t>và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0">
                <a:solidFill>
                  <a:srgbClr val="FFFFFF"/>
                </a:solidFill>
                <a:latin typeface="Tahoma"/>
                <a:cs typeface="Tahoma"/>
              </a:rPr>
              <a:t>np.load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5">
                <a:solidFill>
                  <a:srgbClr val="FFFFFF"/>
                </a:solidFill>
                <a:latin typeface="Tahoma"/>
                <a:cs typeface="Tahoma"/>
              </a:rPr>
              <a:t>cơ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90">
                <a:solidFill>
                  <a:srgbClr val="FFFFFF"/>
                </a:solidFill>
                <a:latin typeface="Tahoma"/>
                <a:cs typeface="Tahoma"/>
              </a:rPr>
              <a:t>bản,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5">
                <a:solidFill>
                  <a:srgbClr val="FFFFFF"/>
                </a:solidFill>
                <a:latin typeface="Tahoma"/>
                <a:cs typeface="Tahoma"/>
              </a:rPr>
              <a:t>NumPy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cung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4">
                <a:solidFill>
                  <a:srgbClr val="FFFFFF"/>
                </a:solidFill>
                <a:latin typeface="Tahoma"/>
                <a:cs typeface="Tahoma"/>
              </a:rPr>
              <a:t>cấp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0">
                <a:solidFill>
                  <a:srgbClr val="FFFFFF"/>
                </a:solidFill>
                <a:latin typeface="Tahoma"/>
                <a:cs typeface="Tahoma"/>
              </a:rPr>
              <a:t>các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80">
                <a:solidFill>
                  <a:srgbClr val="FFFFFF"/>
                </a:solidFill>
                <a:latin typeface="Tahoma"/>
                <a:cs typeface="Tahoma"/>
              </a:rPr>
              <a:t>phương </a:t>
            </a:r>
            <a:r>
              <a:rPr dirty="0" sz="3400" spc="170">
                <a:solidFill>
                  <a:srgbClr val="FFFFFF"/>
                </a:solidFill>
                <a:latin typeface="Tahoma"/>
                <a:cs typeface="Tahoma"/>
              </a:rPr>
              <a:t>pháp</a:t>
            </a:r>
            <a:r>
              <a:rPr dirty="0" sz="34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>
                <a:solidFill>
                  <a:srgbClr val="FFFFFF"/>
                </a:solidFill>
                <a:latin typeface="Tahoma"/>
                <a:cs typeface="Tahoma"/>
              </a:rPr>
              <a:t>I/O</a:t>
            </a:r>
            <a:r>
              <a:rPr dirty="0" sz="34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5">
                <a:solidFill>
                  <a:srgbClr val="FFFFFF"/>
                </a:solidFill>
                <a:latin typeface="Tahoma"/>
                <a:cs typeface="Tahoma"/>
              </a:rPr>
              <a:t>mạnh</a:t>
            </a:r>
            <a:r>
              <a:rPr dirty="0" sz="34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15">
                <a:solidFill>
                  <a:srgbClr val="FFFFFF"/>
                </a:solidFill>
                <a:latin typeface="Tahoma"/>
                <a:cs typeface="Tahoma"/>
              </a:rPr>
              <a:t>mẽ</a:t>
            </a:r>
            <a:r>
              <a:rPr dirty="0" sz="3400" spc="-1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80">
                <a:solidFill>
                  <a:srgbClr val="FFFFFF"/>
                </a:solidFill>
                <a:latin typeface="Tahoma"/>
                <a:cs typeface="Tahoma"/>
              </a:rPr>
              <a:t>hơn.</a:t>
            </a:r>
            <a:endParaRPr sz="3400">
              <a:latin typeface="Tahoma"/>
              <a:cs typeface="Tahoma"/>
            </a:endParaRPr>
          </a:p>
          <a:p>
            <a:pPr marL="746125">
              <a:lnSpc>
                <a:spcPct val="100000"/>
              </a:lnSpc>
              <a:spcBef>
                <a:spcPts val="645"/>
              </a:spcBef>
            </a:pPr>
            <a:r>
              <a:rPr dirty="0" sz="3400">
                <a:solidFill>
                  <a:srgbClr val="FFFFFF"/>
                </a:solidFill>
                <a:latin typeface="Tahoma"/>
                <a:cs typeface="Tahoma"/>
              </a:rPr>
              <a:t>Tệp</a:t>
            </a:r>
            <a:r>
              <a:rPr dirty="0" sz="34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0">
                <a:solidFill>
                  <a:srgbClr val="FFFFFF"/>
                </a:solidFill>
                <a:latin typeface="Tahoma"/>
                <a:cs typeface="Tahoma"/>
              </a:rPr>
              <a:t>được</a:t>
            </a:r>
            <a:r>
              <a:rPr dirty="0" sz="34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0">
                <a:solidFill>
                  <a:srgbClr val="FFFFFF"/>
                </a:solidFill>
                <a:latin typeface="Tahoma"/>
                <a:cs typeface="Tahoma"/>
              </a:rPr>
              <a:t>Ánh</a:t>
            </a:r>
            <a:r>
              <a:rPr dirty="0" sz="34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0">
                <a:solidFill>
                  <a:srgbClr val="FFFFFF"/>
                </a:solidFill>
                <a:latin typeface="Tahoma"/>
                <a:cs typeface="Tahoma"/>
              </a:rPr>
              <a:t>xạ</a:t>
            </a:r>
            <a:r>
              <a:rPr dirty="0" sz="34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5">
                <a:solidFill>
                  <a:srgbClr val="FFFFFF"/>
                </a:solidFill>
                <a:latin typeface="Tahoma"/>
                <a:cs typeface="Tahoma"/>
              </a:rPr>
              <a:t>Bộ</a:t>
            </a:r>
            <a:r>
              <a:rPr dirty="0" sz="3400" spc="-1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80">
                <a:solidFill>
                  <a:srgbClr val="FFFFFF"/>
                </a:solidFill>
                <a:latin typeface="Tahoma"/>
                <a:cs typeface="Tahoma"/>
              </a:rPr>
              <a:t>nhớ</a:t>
            </a:r>
            <a:r>
              <a:rPr dirty="0" sz="34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0">
                <a:solidFill>
                  <a:srgbClr val="FFFFFF"/>
                </a:solidFill>
                <a:latin typeface="Tahoma"/>
                <a:cs typeface="Tahoma"/>
              </a:rPr>
              <a:t>(Memory-</a:t>
            </a:r>
            <a:r>
              <a:rPr dirty="0" sz="3400" spc="210">
                <a:solidFill>
                  <a:srgbClr val="FFFFFF"/>
                </a:solidFill>
                <a:latin typeface="Tahoma"/>
                <a:cs typeface="Tahoma"/>
              </a:rPr>
              <a:t>Mapped</a:t>
            </a:r>
            <a:r>
              <a:rPr dirty="0" sz="34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-10">
                <a:solidFill>
                  <a:srgbClr val="FFFFFF"/>
                </a:solidFill>
                <a:latin typeface="Tahoma"/>
                <a:cs typeface="Tahoma"/>
              </a:rPr>
              <a:t>Files)</a:t>
            </a:r>
            <a:endParaRPr sz="3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3400">
              <a:latin typeface="Tahoma"/>
              <a:cs typeface="Tahoma"/>
            </a:endParaRPr>
          </a:p>
          <a:p>
            <a:pPr marL="12700" marR="140335" indent="1121410">
              <a:lnSpc>
                <a:spcPct val="115799"/>
              </a:lnSpc>
            </a:pPr>
            <a:r>
              <a:rPr dirty="0" sz="3400" spc="120">
                <a:solidFill>
                  <a:srgbClr val="FFFFFF"/>
                </a:solidFill>
                <a:latin typeface="Tahoma"/>
                <a:cs typeface="Tahoma"/>
              </a:rPr>
              <a:t>Khái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80">
                <a:solidFill>
                  <a:srgbClr val="FFFFFF"/>
                </a:solidFill>
                <a:latin typeface="Tahoma"/>
                <a:cs typeface="Tahoma"/>
              </a:rPr>
              <a:t>niệm: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25">
                <a:solidFill>
                  <a:srgbClr val="FFFFFF"/>
                </a:solidFill>
                <a:latin typeface="Tahoma"/>
                <a:cs typeface="Tahoma"/>
              </a:rPr>
              <a:t>memmap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0">
                <a:solidFill>
                  <a:srgbClr val="FFFFFF"/>
                </a:solidFill>
                <a:latin typeface="Tahoma"/>
                <a:cs typeface="Tahoma"/>
              </a:rPr>
              <a:t>là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5">
                <a:solidFill>
                  <a:srgbClr val="FFFFFF"/>
                </a:solidFill>
                <a:latin typeface="Tahoma"/>
                <a:cs typeface="Tahoma"/>
              </a:rPr>
              <a:t>một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0">
                <a:solidFill>
                  <a:srgbClr val="FFFFFF"/>
                </a:solidFill>
                <a:latin typeface="Tahoma"/>
                <a:cs typeface="Tahoma"/>
              </a:rPr>
              <a:t>phương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70">
                <a:solidFill>
                  <a:srgbClr val="FFFFFF"/>
                </a:solidFill>
                <a:latin typeface="Tahoma"/>
                <a:cs typeface="Tahoma"/>
              </a:rPr>
              <a:t>pháp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70">
                <a:solidFill>
                  <a:srgbClr val="FFFFFF"/>
                </a:solidFill>
                <a:latin typeface="Tahoma"/>
                <a:cs typeface="Tahoma"/>
              </a:rPr>
              <a:t>làm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70">
                <a:solidFill>
                  <a:srgbClr val="FFFFFF"/>
                </a:solidFill>
                <a:latin typeface="Tahoma"/>
                <a:cs typeface="Tahoma"/>
              </a:rPr>
              <a:t>việc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95">
                <a:solidFill>
                  <a:srgbClr val="FFFFFF"/>
                </a:solidFill>
                <a:latin typeface="Tahoma"/>
                <a:cs typeface="Tahoma"/>
              </a:rPr>
              <a:t>với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10">
                <a:solidFill>
                  <a:srgbClr val="FFFFFF"/>
                </a:solidFill>
                <a:latin typeface="Tahoma"/>
                <a:cs typeface="Tahoma"/>
              </a:rPr>
              <a:t>dữ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5">
                <a:solidFill>
                  <a:srgbClr val="FFFFFF"/>
                </a:solidFill>
                <a:latin typeface="Tahoma"/>
                <a:cs typeface="Tahoma"/>
              </a:rPr>
              <a:t>liệu </a:t>
            </a:r>
            <a:r>
              <a:rPr dirty="0" sz="3400" spc="155">
                <a:solidFill>
                  <a:srgbClr val="FFFFFF"/>
                </a:solidFill>
                <a:latin typeface="Tahoma"/>
                <a:cs typeface="Tahoma"/>
              </a:rPr>
              <a:t>nhị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5">
                <a:solidFill>
                  <a:srgbClr val="FFFFFF"/>
                </a:solidFill>
                <a:latin typeface="Tahoma"/>
                <a:cs typeface="Tahoma"/>
              </a:rPr>
              <a:t>phân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0">
                <a:solidFill>
                  <a:srgbClr val="FFFFFF"/>
                </a:solidFill>
                <a:latin typeface="Tahoma"/>
                <a:cs typeface="Tahoma"/>
              </a:rPr>
              <a:t>trên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0">
                <a:solidFill>
                  <a:srgbClr val="FFFFFF"/>
                </a:solidFill>
                <a:latin typeface="Tahoma"/>
                <a:cs typeface="Tahoma"/>
              </a:rPr>
              <a:t>đĩa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5">
                <a:solidFill>
                  <a:srgbClr val="FFFFFF"/>
                </a:solidFill>
                <a:latin typeface="Tahoma"/>
                <a:cs typeface="Tahoma"/>
              </a:rPr>
              <a:t>như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thể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0">
                <a:solidFill>
                  <a:srgbClr val="FFFFFF"/>
                </a:solidFill>
                <a:latin typeface="Tahoma"/>
                <a:cs typeface="Tahoma"/>
              </a:rPr>
              <a:t>nó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5">
                <a:solidFill>
                  <a:srgbClr val="FFFFFF"/>
                </a:solidFill>
                <a:latin typeface="Tahoma"/>
                <a:cs typeface="Tahoma"/>
              </a:rPr>
              <a:t>đang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00">
                <a:solidFill>
                  <a:srgbClr val="FFFFFF"/>
                </a:solidFill>
                <a:latin typeface="Tahoma"/>
                <a:cs typeface="Tahoma"/>
              </a:rPr>
              <a:t>nằm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0">
                <a:solidFill>
                  <a:srgbClr val="FFFFFF"/>
                </a:solidFill>
                <a:latin typeface="Tahoma"/>
                <a:cs typeface="Tahoma"/>
              </a:rPr>
              <a:t>trong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00">
                <a:solidFill>
                  <a:srgbClr val="FFFFFF"/>
                </a:solidFill>
                <a:latin typeface="Tahoma"/>
                <a:cs typeface="Tahoma"/>
              </a:rPr>
              <a:t>bộ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80">
                <a:solidFill>
                  <a:srgbClr val="FFFFFF"/>
                </a:solidFill>
                <a:latin typeface="Tahoma"/>
                <a:cs typeface="Tahoma"/>
              </a:rPr>
              <a:t>nhớ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85">
                <a:solidFill>
                  <a:srgbClr val="FFFFFF"/>
                </a:solidFill>
                <a:latin typeface="Tahoma"/>
                <a:cs typeface="Tahoma"/>
              </a:rPr>
              <a:t>RAM.</a:t>
            </a:r>
            <a:endParaRPr sz="3400">
              <a:latin typeface="Tahoma"/>
              <a:cs typeface="Tahoma"/>
            </a:endParaRPr>
          </a:p>
          <a:p>
            <a:pPr marL="12700" marR="5080" indent="897255">
              <a:lnSpc>
                <a:spcPct val="115799"/>
              </a:lnSpc>
            </a:pPr>
            <a:r>
              <a:rPr dirty="0" sz="3400" spc="220">
                <a:solidFill>
                  <a:srgbClr val="FFFFFF"/>
                </a:solidFill>
                <a:latin typeface="Tahoma"/>
                <a:cs typeface="Tahoma"/>
              </a:rPr>
              <a:t>Mục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>
                <a:solidFill>
                  <a:srgbClr val="FFFFFF"/>
                </a:solidFill>
                <a:latin typeface="Tahoma"/>
                <a:cs typeface="Tahoma"/>
              </a:rPr>
              <a:t>đích: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0">
                <a:solidFill>
                  <a:srgbClr val="FFFFFF"/>
                </a:solidFill>
                <a:latin typeface="Tahoma"/>
                <a:cs typeface="Tahoma"/>
              </a:rPr>
              <a:t>Cho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75">
                <a:solidFill>
                  <a:srgbClr val="FFFFFF"/>
                </a:solidFill>
                <a:latin typeface="Tahoma"/>
                <a:cs typeface="Tahoma"/>
              </a:rPr>
              <a:t>phép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0">
                <a:solidFill>
                  <a:srgbClr val="FFFFFF"/>
                </a:solidFill>
                <a:latin typeface="Tahoma"/>
                <a:cs typeface="Tahoma"/>
              </a:rPr>
              <a:t>xử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5">
                <a:solidFill>
                  <a:srgbClr val="FFFFFF"/>
                </a:solidFill>
                <a:latin typeface="Tahoma"/>
                <a:cs typeface="Tahoma"/>
              </a:rPr>
              <a:t>lý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0">
                <a:solidFill>
                  <a:srgbClr val="FFFFFF"/>
                </a:solidFill>
                <a:latin typeface="Tahoma"/>
                <a:cs typeface="Tahoma"/>
              </a:rPr>
              <a:t>các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tập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10">
                <a:solidFill>
                  <a:srgbClr val="FFFFFF"/>
                </a:solidFill>
                <a:latin typeface="Tahoma"/>
                <a:cs typeface="Tahoma"/>
              </a:rPr>
              <a:t>dữ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liệu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0">
                <a:solidFill>
                  <a:srgbClr val="FFFFFF"/>
                </a:solidFill>
                <a:latin typeface="Tahoma"/>
                <a:cs typeface="Tahoma"/>
              </a:rPr>
              <a:t>cực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80">
                <a:solidFill>
                  <a:srgbClr val="FFFFFF"/>
                </a:solidFill>
                <a:latin typeface="Tahoma"/>
                <a:cs typeface="Tahoma"/>
              </a:rPr>
              <a:t>lớn,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75">
                <a:solidFill>
                  <a:srgbClr val="FFFFFF"/>
                </a:solidFill>
                <a:latin typeface="Tahoma"/>
                <a:cs typeface="Tahoma"/>
              </a:rPr>
              <a:t>không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thể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5">
                <a:solidFill>
                  <a:srgbClr val="FFFFFF"/>
                </a:solidFill>
                <a:latin typeface="Tahoma"/>
                <a:cs typeface="Tahoma"/>
              </a:rPr>
              <a:t>tải </a:t>
            </a:r>
            <a:r>
              <a:rPr dirty="0" sz="3400" spc="140">
                <a:solidFill>
                  <a:srgbClr val="FFFFFF"/>
                </a:solidFill>
                <a:latin typeface="Tahoma"/>
                <a:cs typeface="Tahoma"/>
              </a:rPr>
              <a:t>toàn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00">
                <a:solidFill>
                  <a:srgbClr val="FFFFFF"/>
                </a:solidFill>
                <a:latin typeface="Tahoma"/>
                <a:cs typeface="Tahoma"/>
              </a:rPr>
              <a:t>bộ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0">
                <a:solidFill>
                  <a:srgbClr val="FFFFFF"/>
                </a:solidFill>
                <a:latin typeface="Tahoma"/>
                <a:cs typeface="Tahoma"/>
              </a:rPr>
              <a:t>vào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00">
                <a:solidFill>
                  <a:srgbClr val="FFFFFF"/>
                </a:solidFill>
                <a:latin typeface="Tahoma"/>
                <a:cs typeface="Tahoma"/>
              </a:rPr>
              <a:t>bộ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0">
                <a:solidFill>
                  <a:srgbClr val="FFFFFF"/>
                </a:solidFill>
                <a:latin typeface="Tahoma"/>
                <a:cs typeface="Tahoma"/>
              </a:rPr>
              <a:t>nhớ.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25">
                <a:solidFill>
                  <a:srgbClr val="FFFFFF"/>
                </a:solidFill>
                <a:latin typeface="Tahoma"/>
                <a:cs typeface="Tahoma"/>
              </a:rPr>
              <a:t>memmap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tạo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0">
                <a:solidFill>
                  <a:srgbClr val="FFFFFF"/>
                </a:solidFill>
                <a:latin typeface="Tahoma"/>
                <a:cs typeface="Tahoma"/>
              </a:rPr>
              <a:t>ra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5">
                <a:solidFill>
                  <a:srgbClr val="FFFFFF"/>
                </a:solidFill>
                <a:latin typeface="Tahoma"/>
                <a:cs typeface="Tahoma"/>
              </a:rPr>
              <a:t>một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0">
                <a:solidFill>
                  <a:srgbClr val="FFFFFF"/>
                </a:solidFill>
                <a:latin typeface="Tahoma"/>
                <a:cs typeface="Tahoma"/>
              </a:rPr>
              <a:t>đối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70">
                <a:solidFill>
                  <a:srgbClr val="FFFFFF"/>
                </a:solidFill>
                <a:latin typeface="Tahoma"/>
                <a:cs typeface="Tahoma"/>
              </a:rPr>
              <a:t>tượng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00">
                <a:solidFill>
                  <a:srgbClr val="FFFFFF"/>
                </a:solidFill>
                <a:latin typeface="Tahoma"/>
                <a:cs typeface="Tahoma"/>
              </a:rPr>
              <a:t>mảng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40">
                <a:solidFill>
                  <a:srgbClr val="FFFFFF"/>
                </a:solidFill>
                <a:latin typeface="Tahoma"/>
                <a:cs typeface="Tahoma"/>
              </a:rPr>
              <a:t>(ndarray- </a:t>
            </a:r>
            <a:r>
              <a:rPr dirty="0" sz="3400">
                <a:solidFill>
                  <a:srgbClr val="FFFFFF"/>
                </a:solidFill>
                <a:latin typeface="Tahoma"/>
                <a:cs typeface="Tahoma"/>
              </a:rPr>
              <a:t>like)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04">
                <a:solidFill>
                  <a:srgbClr val="FFFFFF"/>
                </a:solidFill>
                <a:latin typeface="Tahoma"/>
                <a:cs typeface="Tahoma"/>
              </a:rPr>
              <a:t>mà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0">
                <a:solidFill>
                  <a:srgbClr val="FFFFFF"/>
                </a:solidFill>
                <a:latin typeface="Tahoma"/>
                <a:cs typeface="Tahoma"/>
              </a:rPr>
              <a:t>các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0">
                <a:solidFill>
                  <a:srgbClr val="FFFFFF"/>
                </a:solidFill>
                <a:latin typeface="Tahoma"/>
                <a:cs typeface="Tahoma"/>
              </a:rPr>
              <a:t>thao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70">
                <a:solidFill>
                  <a:srgbClr val="FFFFFF"/>
                </a:solidFill>
                <a:latin typeface="Tahoma"/>
                <a:cs typeface="Tahoma"/>
              </a:rPr>
              <a:t>tác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0">
                <a:solidFill>
                  <a:srgbClr val="FFFFFF"/>
                </a:solidFill>
                <a:latin typeface="Tahoma"/>
                <a:cs typeface="Tahoma"/>
              </a:rPr>
              <a:t>trên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5">
                <a:solidFill>
                  <a:srgbClr val="FFFFFF"/>
                </a:solidFill>
                <a:latin typeface="Tahoma"/>
                <a:cs typeface="Tahoma"/>
              </a:rPr>
              <a:t>đó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75">
                <a:solidFill>
                  <a:srgbClr val="FFFFFF"/>
                </a:solidFill>
                <a:latin typeface="Tahoma"/>
                <a:cs typeface="Tahoma"/>
              </a:rPr>
              <a:t>(như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5">
                <a:solidFill>
                  <a:srgbClr val="FFFFFF"/>
                </a:solidFill>
                <a:latin typeface="Tahoma"/>
                <a:cs typeface="Tahoma"/>
              </a:rPr>
              <a:t>slicing)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0">
                <a:solidFill>
                  <a:srgbClr val="FFFFFF"/>
                </a:solidFill>
                <a:latin typeface="Tahoma"/>
                <a:cs typeface="Tahoma"/>
              </a:rPr>
              <a:t>sẽ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đọc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0">
                <a:solidFill>
                  <a:srgbClr val="FFFFFF"/>
                </a:solidFill>
                <a:latin typeface="Tahoma"/>
                <a:cs typeface="Tahoma"/>
              </a:rPr>
              <a:t>hoặc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0">
                <a:solidFill>
                  <a:srgbClr val="FFFFFF"/>
                </a:solidFill>
                <a:latin typeface="Tahoma"/>
                <a:cs typeface="Tahoma"/>
              </a:rPr>
              <a:t>ghi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trực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5">
                <a:solidFill>
                  <a:srgbClr val="FFFFFF"/>
                </a:solidFill>
                <a:latin typeface="Tahoma"/>
                <a:cs typeface="Tahoma"/>
              </a:rPr>
              <a:t>tiếp </a:t>
            </a:r>
            <a:r>
              <a:rPr dirty="0" sz="3400" spc="130">
                <a:solidFill>
                  <a:srgbClr val="FFFFFF"/>
                </a:solidFill>
                <a:latin typeface="Tahoma"/>
                <a:cs typeface="Tahoma"/>
              </a:rPr>
              <a:t>trên</a:t>
            </a:r>
            <a:r>
              <a:rPr dirty="0" sz="3400" spc="-1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0">
                <a:solidFill>
                  <a:srgbClr val="FFFFFF"/>
                </a:solidFill>
                <a:latin typeface="Tahoma"/>
                <a:cs typeface="Tahoma"/>
              </a:rPr>
              <a:t>file</a:t>
            </a:r>
            <a:r>
              <a:rPr dirty="0" sz="3400" spc="-1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30">
                <a:solidFill>
                  <a:srgbClr val="FFFFFF"/>
                </a:solidFill>
                <a:latin typeface="Tahoma"/>
                <a:cs typeface="Tahoma"/>
              </a:rPr>
              <a:t>đĩa.</a:t>
            </a:r>
            <a:endParaRPr sz="3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6768" y="290069"/>
            <a:ext cx="11624945" cy="2368550"/>
          </a:xfrm>
          <a:prstGeom prst="rect"/>
        </p:spPr>
        <p:txBody>
          <a:bodyPr wrap="square" lIns="0" tIns="108585" rIns="0" bIns="0" rtlCol="0" vert="horz">
            <a:spAutoFit/>
          </a:bodyPr>
          <a:lstStyle/>
          <a:p>
            <a:pPr marL="12700" marR="5080">
              <a:lnSpc>
                <a:spcPts val="5930"/>
              </a:lnSpc>
              <a:spcBef>
                <a:spcPts val="855"/>
              </a:spcBef>
            </a:pPr>
            <a:r>
              <a:rPr dirty="0" sz="5500" spc="-340">
                <a:solidFill>
                  <a:srgbClr val="FFFFFF"/>
                </a:solidFill>
              </a:rPr>
              <a:t>A.8.</a:t>
            </a:r>
            <a:r>
              <a:rPr dirty="0" sz="5500" spc="-270">
                <a:solidFill>
                  <a:srgbClr val="FFFFFF"/>
                </a:solidFill>
              </a:rPr>
              <a:t> </a:t>
            </a:r>
            <a:r>
              <a:rPr dirty="0" sz="5500" spc="90">
                <a:solidFill>
                  <a:srgbClr val="FFFFFF"/>
                </a:solidFill>
              </a:rPr>
              <a:t>Thao</a:t>
            </a:r>
            <a:r>
              <a:rPr dirty="0" sz="5500" spc="-265">
                <a:solidFill>
                  <a:srgbClr val="FFFFFF"/>
                </a:solidFill>
              </a:rPr>
              <a:t> </a:t>
            </a:r>
            <a:r>
              <a:rPr dirty="0" sz="5500" spc="365">
                <a:solidFill>
                  <a:srgbClr val="FFFFFF"/>
                </a:solidFill>
              </a:rPr>
              <a:t>tác</a:t>
            </a:r>
            <a:r>
              <a:rPr dirty="0" sz="5500" spc="-265">
                <a:solidFill>
                  <a:srgbClr val="FFFFFF"/>
                </a:solidFill>
              </a:rPr>
              <a:t> </a:t>
            </a:r>
            <a:r>
              <a:rPr dirty="0" sz="5500" spc="-165">
                <a:solidFill>
                  <a:srgbClr val="FFFFFF"/>
                </a:solidFill>
              </a:rPr>
              <a:t>I/O</a:t>
            </a:r>
            <a:r>
              <a:rPr dirty="0" sz="5500" spc="-265">
                <a:solidFill>
                  <a:srgbClr val="FFFFFF"/>
                </a:solidFill>
              </a:rPr>
              <a:t> </a:t>
            </a:r>
            <a:r>
              <a:rPr dirty="0" sz="5500" spc="204">
                <a:solidFill>
                  <a:srgbClr val="FFFFFF"/>
                </a:solidFill>
              </a:rPr>
              <a:t>Nâng</a:t>
            </a:r>
            <a:r>
              <a:rPr dirty="0" sz="5500" spc="-265">
                <a:solidFill>
                  <a:srgbClr val="FFFFFF"/>
                </a:solidFill>
              </a:rPr>
              <a:t> </a:t>
            </a:r>
            <a:r>
              <a:rPr dirty="0" sz="5500" spc="430">
                <a:solidFill>
                  <a:srgbClr val="FFFFFF"/>
                </a:solidFill>
              </a:rPr>
              <a:t>cao</a:t>
            </a:r>
            <a:r>
              <a:rPr dirty="0" sz="5500" spc="-265">
                <a:solidFill>
                  <a:srgbClr val="FFFFFF"/>
                </a:solidFill>
              </a:rPr>
              <a:t> </a:t>
            </a:r>
            <a:r>
              <a:rPr dirty="0" sz="5500" spc="-20">
                <a:solidFill>
                  <a:srgbClr val="FFFFFF"/>
                </a:solidFill>
              </a:rPr>
              <a:t>trên </a:t>
            </a:r>
            <a:r>
              <a:rPr dirty="0" sz="5500" spc="75">
                <a:solidFill>
                  <a:srgbClr val="FFFFFF"/>
                </a:solidFill>
              </a:rPr>
              <a:t>M</a:t>
            </a:r>
            <a:r>
              <a:rPr dirty="0" sz="5500" spc="75">
                <a:solidFill>
                  <a:srgbClr val="FFFFFF"/>
                </a:solidFill>
                <a:latin typeface="Arial"/>
                <a:cs typeface="Arial"/>
              </a:rPr>
              <a:t>ả</a:t>
            </a:r>
            <a:r>
              <a:rPr dirty="0" sz="5500" spc="75">
                <a:solidFill>
                  <a:srgbClr val="FFFFFF"/>
                </a:solidFill>
              </a:rPr>
              <a:t>ng</a:t>
            </a:r>
            <a:r>
              <a:rPr dirty="0" sz="5500" spc="-229">
                <a:solidFill>
                  <a:srgbClr val="FFFFFF"/>
                </a:solidFill>
              </a:rPr>
              <a:t> </a:t>
            </a:r>
            <a:r>
              <a:rPr dirty="0" sz="5500" spc="315">
                <a:solidFill>
                  <a:srgbClr val="FFFFFF"/>
                </a:solidFill>
              </a:rPr>
              <a:t>(Advanced</a:t>
            </a:r>
            <a:r>
              <a:rPr dirty="0" sz="5500" spc="-229">
                <a:solidFill>
                  <a:srgbClr val="FFFFFF"/>
                </a:solidFill>
              </a:rPr>
              <a:t> </a:t>
            </a:r>
            <a:r>
              <a:rPr dirty="0" sz="5500" spc="65">
                <a:solidFill>
                  <a:srgbClr val="FFFFFF"/>
                </a:solidFill>
              </a:rPr>
              <a:t>Array</a:t>
            </a:r>
            <a:r>
              <a:rPr dirty="0" sz="5500" spc="-229">
                <a:solidFill>
                  <a:srgbClr val="FFFFFF"/>
                </a:solidFill>
              </a:rPr>
              <a:t> </a:t>
            </a:r>
            <a:r>
              <a:rPr dirty="0" sz="5500">
                <a:solidFill>
                  <a:srgbClr val="FFFFFF"/>
                </a:solidFill>
              </a:rPr>
              <a:t>Input</a:t>
            </a:r>
            <a:r>
              <a:rPr dirty="0" sz="5500" spc="-225">
                <a:solidFill>
                  <a:srgbClr val="FFFFFF"/>
                </a:solidFill>
              </a:rPr>
              <a:t> </a:t>
            </a:r>
            <a:r>
              <a:rPr dirty="0" sz="5500" spc="305">
                <a:solidFill>
                  <a:srgbClr val="FFFFFF"/>
                </a:solidFill>
              </a:rPr>
              <a:t>and </a:t>
            </a:r>
            <a:r>
              <a:rPr dirty="0" sz="5500" spc="135">
                <a:solidFill>
                  <a:srgbClr val="FFFFFF"/>
                </a:solidFill>
              </a:rPr>
              <a:t>Output)</a:t>
            </a:r>
            <a:endParaRPr sz="55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99584" y="1510825"/>
            <a:ext cx="3988416" cy="8023571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1474" y="3216502"/>
            <a:ext cx="152400" cy="15239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1474" y="5616802"/>
            <a:ext cx="152400" cy="15239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1474" y="6216877"/>
            <a:ext cx="152400" cy="15239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1474" y="8017102"/>
            <a:ext cx="152400" cy="152399"/>
          </a:xfrm>
          <a:prstGeom prst="rect">
            <a:avLst/>
          </a:prstGeom>
        </p:spPr>
      </p:pic>
      <p:sp>
        <p:nvSpPr>
          <p:cNvPr id="8" name="object 8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499745">
              <a:lnSpc>
                <a:spcPct val="115799"/>
              </a:lnSpc>
              <a:spcBef>
                <a:spcPts val="100"/>
              </a:spcBef>
            </a:pPr>
            <a:r>
              <a:rPr dirty="0" spc="105"/>
              <a:t>Cách</a:t>
            </a:r>
            <a:r>
              <a:rPr dirty="0" spc="-170"/>
              <a:t> </a:t>
            </a:r>
            <a:r>
              <a:rPr dirty="0" spc="160"/>
              <a:t>sử</a:t>
            </a:r>
            <a:r>
              <a:rPr dirty="0" spc="-165"/>
              <a:t> </a:t>
            </a:r>
            <a:r>
              <a:rPr dirty="0" spc="90"/>
              <a:t>dụng:</a:t>
            </a:r>
            <a:r>
              <a:rPr dirty="0" spc="-170"/>
              <a:t> </a:t>
            </a:r>
            <a:r>
              <a:rPr dirty="0" spc="180"/>
              <a:t>Dùng</a:t>
            </a:r>
            <a:r>
              <a:rPr dirty="0" spc="-165"/>
              <a:t> </a:t>
            </a:r>
            <a:r>
              <a:rPr dirty="0" spc="90"/>
              <a:t>np.memmap()</a:t>
            </a:r>
            <a:r>
              <a:rPr dirty="0" spc="-165"/>
              <a:t> </a:t>
            </a:r>
            <a:r>
              <a:rPr dirty="0" spc="125"/>
              <a:t>để</a:t>
            </a:r>
            <a:r>
              <a:rPr dirty="0" spc="-170"/>
              <a:t> </a:t>
            </a:r>
            <a:r>
              <a:rPr dirty="0" spc="125"/>
              <a:t>tạo</a:t>
            </a:r>
            <a:r>
              <a:rPr dirty="0" spc="-165"/>
              <a:t> </a:t>
            </a:r>
            <a:r>
              <a:rPr dirty="0" spc="130"/>
              <a:t>hoặc</a:t>
            </a:r>
            <a:r>
              <a:rPr dirty="0" spc="-165"/>
              <a:t> </a:t>
            </a:r>
            <a:r>
              <a:rPr dirty="0" spc="240"/>
              <a:t>mở</a:t>
            </a:r>
            <a:r>
              <a:rPr dirty="0" spc="-170"/>
              <a:t> </a:t>
            </a:r>
            <a:r>
              <a:rPr dirty="0" spc="195"/>
              <a:t>một</a:t>
            </a:r>
            <a:r>
              <a:rPr dirty="0" spc="-165"/>
              <a:t> </a:t>
            </a:r>
            <a:r>
              <a:rPr dirty="0" spc="105"/>
              <a:t>tệp </a:t>
            </a:r>
            <a:r>
              <a:rPr dirty="0" spc="175"/>
              <a:t>memmap,</a:t>
            </a:r>
            <a:r>
              <a:rPr dirty="0" spc="-170"/>
              <a:t> </a:t>
            </a:r>
            <a:r>
              <a:rPr dirty="0" spc="105"/>
              <a:t>chỉ</a:t>
            </a:r>
            <a:r>
              <a:rPr dirty="0" spc="-165"/>
              <a:t> </a:t>
            </a:r>
            <a:r>
              <a:rPr dirty="0" spc="150"/>
              <a:t>định</a:t>
            </a:r>
            <a:r>
              <a:rPr dirty="0" spc="-165"/>
              <a:t> </a:t>
            </a:r>
            <a:r>
              <a:rPr dirty="0" spc="180"/>
              <a:t>đường</a:t>
            </a:r>
            <a:r>
              <a:rPr dirty="0" spc="-165"/>
              <a:t> </a:t>
            </a:r>
            <a:r>
              <a:rPr dirty="0" spc="90"/>
              <a:t>dẫn,</a:t>
            </a:r>
            <a:r>
              <a:rPr dirty="0" spc="-165"/>
              <a:t> </a:t>
            </a:r>
            <a:r>
              <a:rPr dirty="0" spc="80"/>
              <a:t>dtype,</a:t>
            </a:r>
            <a:r>
              <a:rPr dirty="0" spc="-165"/>
              <a:t> </a:t>
            </a:r>
            <a:r>
              <a:rPr dirty="0" spc="204"/>
              <a:t>mode</a:t>
            </a:r>
            <a:r>
              <a:rPr dirty="0" spc="-165"/>
              <a:t> </a:t>
            </a:r>
            <a:r>
              <a:rPr dirty="0"/>
              <a:t>(chế</a:t>
            </a:r>
            <a:r>
              <a:rPr dirty="0" spc="-165"/>
              <a:t> </a:t>
            </a:r>
            <a:r>
              <a:rPr dirty="0" spc="165"/>
              <a:t>độ</a:t>
            </a:r>
            <a:r>
              <a:rPr dirty="0" spc="-165"/>
              <a:t> </a:t>
            </a:r>
            <a:r>
              <a:rPr dirty="0" spc="45"/>
              <a:t>đọc/ghi),</a:t>
            </a:r>
            <a:r>
              <a:rPr dirty="0" spc="-165"/>
              <a:t> </a:t>
            </a:r>
            <a:r>
              <a:rPr dirty="0" spc="40"/>
              <a:t>và </a:t>
            </a:r>
            <a:r>
              <a:rPr dirty="0" spc="85"/>
              <a:t>shape.</a:t>
            </a:r>
          </a:p>
          <a:p>
            <a:pPr>
              <a:lnSpc>
                <a:spcPct val="100000"/>
              </a:lnSpc>
              <a:spcBef>
                <a:spcPts val="1265"/>
              </a:spcBef>
            </a:pPr>
          </a:p>
          <a:p>
            <a:pPr marL="12700">
              <a:lnSpc>
                <a:spcPct val="100000"/>
              </a:lnSpc>
            </a:pPr>
            <a:r>
              <a:rPr dirty="0" spc="160"/>
              <a:t>Lưu</a:t>
            </a:r>
            <a:r>
              <a:rPr dirty="0" spc="-170"/>
              <a:t> </a:t>
            </a:r>
            <a:r>
              <a:rPr dirty="0" spc="-25"/>
              <a:t>ý:</a:t>
            </a:r>
          </a:p>
          <a:p>
            <a:pPr marL="12700" marR="339725">
              <a:lnSpc>
                <a:spcPct val="115799"/>
              </a:lnSpc>
            </a:pPr>
            <a:r>
              <a:rPr dirty="0" spc="80"/>
              <a:t>Các</a:t>
            </a:r>
            <a:r>
              <a:rPr dirty="0" spc="-175"/>
              <a:t> </a:t>
            </a:r>
            <a:r>
              <a:rPr dirty="0" spc="95"/>
              <a:t>thay</a:t>
            </a:r>
            <a:r>
              <a:rPr dirty="0" spc="-170"/>
              <a:t> </a:t>
            </a:r>
            <a:r>
              <a:rPr dirty="0" spc="140"/>
              <a:t>đổi</a:t>
            </a:r>
            <a:r>
              <a:rPr dirty="0" spc="-170"/>
              <a:t> </a:t>
            </a:r>
            <a:r>
              <a:rPr dirty="0" spc="130"/>
              <a:t>trên</a:t>
            </a:r>
            <a:r>
              <a:rPr dirty="0" spc="-170"/>
              <a:t> </a:t>
            </a:r>
            <a:r>
              <a:rPr dirty="0" spc="195"/>
              <a:t>một</a:t>
            </a:r>
            <a:r>
              <a:rPr dirty="0" spc="-170"/>
              <a:t> </a:t>
            </a:r>
            <a:r>
              <a:rPr dirty="0" spc="225"/>
              <a:t>memmap</a:t>
            </a:r>
            <a:r>
              <a:rPr dirty="0" spc="-170"/>
              <a:t> </a:t>
            </a:r>
            <a:r>
              <a:rPr dirty="0" spc="110"/>
              <a:t>sẽ</a:t>
            </a:r>
            <a:r>
              <a:rPr dirty="0" spc="-170"/>
              <a:t> </a:t>
            </a:r>
            <a:r>
              <a:rPr dirty="0" spc="140"/>
              <a:t>được</a:t>
            </a:r>
            <a:r>
              <a:rPr dirty="0" spc="-170"/>
              <a:t> </a:t>
            </a:r>
            <a:r>
              <a:rPr dirty="0" spc="185"/>
              <a:t>đệm</a:t>
            </a:r>
            <a:r>
              <a:rPr dirty="0" spc="-170"/>
              <a:t> </a:t>
            </a:r>
            <a:r>
              <a:rPr dirty="0" spc="50"/>
              <a:t>(buffered)</a:t>
            </a:r>
            <a:r>
              <a:rPr dirty="0" spc="-175"/>
              <a:t> </a:t>
            </a:r>
            <a:r>
              <a:rPr dirty="0" spc="160"/>
              <a:t>trong</a:t>
            </a:r>
            <a:r>
              <a:rPr dirty="0" spc="-170"/>
              <a:t> </a:t>
            </a:r>
            <a:r>
              <a:rPr dirty="0" spc="175"/>
              <a:t>bộ </a:t>
            </a:r>
            <a:r>
              <a:rPr dirty="0" spc="100"/>
              <a:t>nhớ.</a:t>
            </a:r>
            <a:r>
              <a:rPr dirty="0" spc="-175"/>
              <a:t> </a:t>
            </a:r>
            <a:r>
              <a:rPr dirty="0" spc="125"/>
              <a:t>Cần</a:t>
            </a:r>
            <a:r>
              <a:rPr dirty="0" spc="-175"/>
              <a:t> </a:t>
            </a:r>
            <a:r>
              <a:rPr dirty="0" spc="165"/>
              <a:t>gọi</a:t>
            </a:r>
            <a:r>
              <a:rPr dirty="0" spc="-175"/>
              <a:t> </a:t>
            </a:r>
            <a:r>
              <a:rPr dirty="0" spc="190"/>
              <a:t>phương</a:t>
            </a:r>
            <a:r>
              <a:rPr dirty="0" spc="-175"/>
              <a:t> </a:t>
            </a:r>
            <a:r>
              <a:rPr dirty="0" spc="130"/>
              <a:t>thức</a:t>
            </a:r>
            <a:r>
              <a:rPr dirty="0" spc="-175"/>
              <a:t> </a:t>
            </a:r>
            <a:r>
              <a:rPr dirty="0"/>
              <a:t>.flush()</a:t>
            </a:r>
            <a:r>
              <a:rPr dirty="0" spc="-170"/>
              <a:t> </a:t>
            </a:r>
            <a:r>
              <a:rPr dirty="0" spc="125"/>
              <a:t>để</a:t>
            </a:r>
            <a:r>
              <a:rPr dirty="0" spc="-175"/>
              <a:t> </a:t>
            </a:r>
            <a:r>
              <a:rPr dirty="0" spc="180"/>
              <a:t>đảm</a:t>
            </a:r>
            <a:r>
              <a:rPr dirty="0" spc="-175"/>
              <a:t> </a:t>
            </a:r>
            <a:r>
              <a:rPr dirty="0" spc="165"/>
              <a:t>bảo</a:t>
            </a:r>
            <a:r>
              <a:rPr dirty="0" spc="-175"/>
              <a:t> </a:t>
            </a:r>
            <a:r>
              <a:rPr dirty="0" spc="210"/>
              <a:t>dữ</a:t>
            </a:r>
            <a:r>
              <a:rPr dirty="0" spc="-175"/>
              <a:t> </a:t>
            </a:r>
            <a:r>
              <a:rPr dirty="0" spc="125"/>
              <a:t>liệu</a:t>
            </a:r>
            <a:r>
              <a:rPr dirty="0" spc="-175"/>
              <a:t> </a:t>
            </a:r>
            <a:r>
              <a:rPr dirty="0" spc="140"/>
              <a:t>được</a:t>
            </a:r>
            <a:r>
              <a:rPr dirty="0" spc="-170"/>
              <a:t> </a:t>
            </a:r>
            <a:r>
              <a:rPr dirty="0" spc="135"/>
              <a:t>ghi </a:t>
            </a:r>
            <a:r>
              <a:rPr dirty="0" spc="170"/>
              <a:t>xuống</a:t>
            </a:r>
            <a:r>
              <a:rPr dirty="0" spc="-160"/>
              <a:t> </a:t>
            </a:r>
            <a:r>
              <a:rPr dirty="0" spc="30"/>
              <a:t>đĩa.</a:t>
            </a:r>
          </a:p>
          <a:p>
            <a:pPr marL="12700" marR="5080">
              <a:lnSpc>
                <a:spcPct val="115799"/>
              </a:lnSpc>
            </a:pPr>
            <a:r>
              <a:rPr dirty="0" spc="125"/>
              <a:t>Khi</a:t>
            </a:r>
            <a:r>
              <a:rPr dirty="0" spc="-170"/>
              <a:t> </a:t>
            </a:r>
            <a:r>
              <a:rPr dirty="0" spc="225"/>
              <a:t>memmap</a:t>
            </a:r>
            <a:r>
              <a:rPr dirty="0" spc="-165"/>
              <a:t> </a:t>
            </a:r>
            <a:r>
              <a:rPr dirty="0" spc="150"/>
              <a:t>bị</a:t>
            </a:r>
            <a:r>
              <a:rPr dirty="0" spc="-165"/>
              <a:t> </a:t>
            </a:r>
            <a:r>
              <a:rPr dirty="0" spc="120"/>
              <a:t>xóa</a:t>
            </a:r>
            <a:r>
              <a:rPr dirty="0" spc="-170"/>
              <a:t> </a:t>
            </a:r>
            <a:r>
              <a:rPr dirty="0" spc="100"/>
              <a:t>(garbage</a:t>
            </a:r>
            <a:r>
              <a:rPr dirty="0" spc="-165"/>
              <a:t> </a:t>
            </a:r>
            <a:r>
              <a:rPr dirty="0" spc="50"/>
              <a:t>collected),</a:t>
            </a:r>
            <a:r>
              <a:rPr dirty="0" spc="-165"/>
              <a:t> </a:t>
            </a:r>
            <a:r>
              <a:rPr dirty="0" spc="60"/>
              <a:t>các</a:t>
            </a:r>
            <a:r>
              <a:rPr dirty="0" spc="-170"/>
              <a:t> </a:t>
            </a:r>
            <a:r>
              <a:rPr dirty="0" spc="95"/>
              <a:t>thay</a:t>
            </a:r>
            <a:r>
              <a:rPr dirty="0" spc="-165"/>
              <a:t> </a:t>
            </a:r>
            <a:r>
              <a:rPr dirty="0" spc="140"/>
              <a:t>đổi</a:t>
            </a:r>
            <a:r>
              <a:rPr dirty="0" spc="-165"/>
              <a:t> </a:t>
            </a:r>
            <a:r>
              <a:rPr dirty="0" spc="150"/>
              <a:t>cũng</a:t>
            </a:r>
            <a:r>
              <a:rPr dirty="0" spc="-170"/>
              <a:t> </a:t>
            </a:r>
            <a:r>
              <a:rPr dirty="0" spc="110"/>
              <a:t>sẽ</a:t>
            </a:r>
            <a:r>
              <a:rPr dirty="0" spc="-165"/>
              <a:t> </a:t>
            </a:r>
            <a:r>
              <a:rPr dirty="0" spc="120"/>
              <a:t>được </a:t>
            </a:r>
            <a:r>
              <a:rPr dirty="0" spc="150"/>
              <a:t>tự</a:t>
            </a:r>
            <a:r>
              <a:rPr dirty="0" spc="-180"/>
              <a:t> </a:t>
            </a:r>
            <a:r>
              <a:rPr dirty="0" spc="180"/>
              <a:t>động</a:t>
            </a:r>
            <a:r>
              <a:rPr dirty="0" spc="-175"/>
              <a:t> </a:t>
            </a:r>
            <a:r>
              <a:rPr dirty="0" spc="160"/>
              <a:t>ghi</a:t>
            </a:r>
            <a:r>
              <a:rPr dirty="0" spc="-180"/>
              <a:t> </a:t>
            </a:r>
            <a:r>
              <a:rPr dirty="0" spc="-20"/>
              <a:t>lại.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3367" y="400680"/>
            <a:ext cx="7157720" cy="1616075"/>
          </a:xfrm>
          <a:prstGeom prst="rect"/>
        </p:spPr>
        <p:txBody>
          <a:bodyPr wrap="square" lIns="0" tIns="108585" rIns="0" bIns="0" rtlCol="0" vert="horz">
            <a:spAutoFit/>
          </a:bodyPr>
          <a:lstStyle/>
          <a:p>
            <a:pPr marL="12700" marR="5080">
              <a:lnSpc>
                <a:spcPts val="5930"/>
              </a:lnSpc>
              <a:spcBef>
                <a:spcPts val="855"/>
              </a:spcBef>
            </a:pPr>
            <a:r>
              <a:rPr dirty="0" sz="5500" spc="-340">
                <a:solidFill>
                  <a:srgbClr val="FFFFFF"/>
                </a:solidFill>
              </a:rPr>
              <a:t>A.9.</a:t>
            </a:r>
            <a:r>
              <a:rPr dirty="0" sz="5500" spc="-265">
                <a:solidFill>
                  <a:srgbClr val="FFFFFF"/>
                </a:solidFill>
              </a:rPr>
              <a:t> </a:t>
            </a:r>
            <a:r>
              <a:rPr dirty="0" sz="5500">
                <a:solidFill>
                  <a:srgbClr val="FFFFFF"/>
                </a:solidFill>
              </a:rPr>
              <a:t>M</a:t>
            </a:r>
            <a:r>
              <a:rPr dirty="0" sz="5500">
                <a:solidFill>
                  <a:srgbClr val="FFFFFF"/>
                </a:solidFill>
                <a:latin typeface="Arial"/>
                <a:cs typeface="Arial"/>
              </a:rPr>
              <a:t>ẹ</a:t>
            </a:r>
            <a:r>
              <a:rPr dirty="0" sz="5500">
                <a:solidFill>
                  <a:srgbClr val="FFFFFF"/>
                </a:solidFill>
              </a:rPr>
              <a:t>o</a:t>
            </a:r>
            <a:r>
              <a:rPr dirty="0" sz="5500" spc="-260">
                <a:solidFill>
                  <a:srgbClr val="FFFFFF"/>
                </a:solidFill>
              </a:rPr>
              <a:t> </a:t>
            </a:r>
            <a:r>
              <a:rPr dirty="0" sz="5500" spc="125">
                <a:solidFill>
                  <a:srgbClr val="FFFFFF"/>
                </a:solidFill>
              </a:rPr>
              <a:t>v</a:t>
            </a:r>
            <a:r>
              <a:rPr dirty="0" sz="5500" spc="125">
                <a:solidFill>
                  <a:srgbClr val="FFFFFF"/>
                </a:solidFill>
                <a:latin typeface="Arial"/>
                <a:cs typeface="Arial"/>
              </a:rPr>
              <a:t>ề</a:t>
            </a:r>
            <a:r>
              <a:rPr dirty="0" sz="55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0" spc="-70">
                <a:solidFill>
                  <a:srgbClr val="FFFFFF"/>
                </a:solidFill>
              </a:rPr>
              <a:t>Hi</a:t>
            </a:r>
            <a:r>
              <a:rPr dirty="0" sz="5500" spc="-70">
                <a:solidFill>
                  <a:srgbClr val="FFFFFF"/>
                </a:solidFill>
                <a:latin typeface="Arial"/>
                <a:cs typeface="Arial"/>
              </a:rPr>
              <a:t>ệ</a:t>
            </a:r>
            <a:r>
              <a:rPr dirty="0" sz="5500" spc="-70">
                <a:solidFill>
                  <a:srgbClr val="FFFFFF"/>
                </a:solidFill>
              </a:rPr>
              <a:t>u</a:t>
            </a:r>
            <a:r>
              <a:rPr dirty="0" sz="5500" spc="-265">
                <a:solidFill>
                  <a:srgbClr val="FFFFFF"/>
                </a:solidFill>
              </a:rPr>
              <a:t> </a:t>
            </a:r>
            <a:r>
              <a:rPr dirty="0" sz="5500" spc="-20">
                <a:solidFill>
                  <a:srgbClr val="FFFFFF"/>
                </a:solidFill>
              </a:rPr>
              <a:t>su</a:t>
            </a:r>
            <a:r>
              <a:rPr dirty="0" sz="5500" spc="-20">
                <a:solidFill>
                  <a:srgbClr val="FFFFFF"/>
                </a:solidFill>
                <a:latin typeface="Arial"/>
                <a:cs typeface="Arial"/>
              </a:rPr>
              <a:t>ấ</a:t>
            </a:r>
            <a:r>
              <a:rPr dirty="0" sz="5500" spc="-20">
                <a:solidFill>
                  <a:srgbClr val="FFFFFF"/>
                </a:solidFill>
              </a:rPr>
              <a:t>t </a:t>
            </a:r>
            <a:r>
              <a:rPr dirty="0" sz="5500" spc="225">
                <a:solidFill>
                  <a:srgbClr val="FFFFFF"/>
                </a:solidFill>
              </a:rPr>
              <a:t>(Performance</a:t>
            </a:r>
            <a:r>
              <a:rPr dirty="0" sz="5500" spc="-235">
                <a:solidFill>
                  <a:srgbClr val="FFFFFF"/>
                </a:solidFill>
              </a:rPr>
              <a:t> </a:t>
            </a:r>
            <a:r>
              <a:rPr dirty="0" sz="5500" spc="-10">
                <a:solidFill>
                  <a:srgbClr val="FFFFFF"/>
                </a:solidFill>
              </a:rPr>
              <a:t>Tips)</a:t>
            </a:r>
            <a:endParaRPr sz="55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99584" y="1510825"/>
            <a:ext cx="3988416" cy="8023571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1474" y="2761174"/>
            <a:ext cx="152400" cy="152399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315465" y="2453827"/>
            <a:ext cx="14218919" cy="7226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18465" marR="705485">
              <a:lnSpc>
                <a:spcPct val="115799"/>
              </a:lnSpc>
              <a:spcBef>
                <a:spcPts val="100"/>
              </a:spcBef>
            </a:pPr>
            <a:r>
              <a:rPr dirty="0" sz="3400" spc="105">
                <a:solidFill>
                  <a:srgbClr val="FFFFFF"/>
                </a:solidFill>
                <a:latin typeface="Tahoma"/>
                <a:cs typeface="Tahoma"/>
              </a:rPr>
              <a:t>Để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0">
                <a:solidFill>
                  <a:srgbClr val="FFFFFF"/>
                </a:solidFill>
                <a:latin typeface="Tahoma"/>
                <a:cs typeface="Tahoma"/>
              </a:rPr>
              <a:t>đạt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0">
                <a:solidFill>
                  <a:srgbClr val="FFFFFF"/>
                </a:solidFill>
                <a:latin typeface="Tahoma"/>
                <a:cs typeface="Tahoma"/>
              </a:rPr>
              <a:t>được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5">
                <a:solidFill>
                  <a:srgbClr val="FFFFFF"/>
                </a:solidFill>
                <a:latin typeface="Tahoma"/>
                <a:cs typeface="Tahoma"/>
              </a:rPr>
              <a:t>hiệu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4">
                <a:solidFill>
                  <a:srgbClr val="FFFFFF"/>
                </a:solidFill>
                <a:latin typeface="Tahoma"/>
                <a:cs typeface="Tahoma"/>
              </a:rPr>
              <a:t>suất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4">
                <a:solidFill>
                  <a:srgbClr val="FFFFFF"/>
                </a:solidFill>
                <a:latin typeface="Tahoma"/>
                <a:cs typeface="Tahoma"/>
              </a:rPr>
              <a:t>tốt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5">
                <a:solidFill>
                  <a:srgbClr val="FFFFFF"/>
                </a:solidFill>
                <a:latin typeface="Tahoma"/>
                <a:cs typeface="Tahoma"/>
              </a:rPr>
              <a:t>nhất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0">
                <a:solidFill>
                  <a:srgbClr val="FFFFFF"/>
                </a:solidFill>
                <a:latin typeface="Tahoma"/>
                <a:cs typeface="Tahoma"/>
              </a:rPr>
              <a:t>khi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0">
                <a:solidFill>
                  <a:srgbClr val="FFFFFF"/>
                </a:solidFill>
                <a:latin typeface="Tahoma"/>
                <a:cs typeface="Tahoma"/>
              </a:rPr>
              <a:t>sử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0">
                <a:solidFill>
                  <a:srgbClr val="FFFFFF"/>
                </a:solidFill>
                <a:latin typeface="Tahoma"/>
                <a:cs typeface="Tahoma"/>
              </a:rPr>
              <a:t>dụng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0">
                <a:solidFill>
                  <a:srgbClr val="FFFFFF"/>
                </a:solidFill>
                <a:latin typeface="Tahoma"/>
                <a:cs typeface="Tahoma"/>
              </a:rPr>
              <a:t>NumPy,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5">
                <a:solidFill>
                  <a:srgbClr val="FFFFFF"/>
                </a:solidFill>
                <a:latin typeface="Tahoma"/>
                <a:cs typeface="Tahoma"/>
              </a:rPr>
              <a:t>hãy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5">
                <a:solidFill>
                  <a:srgbClr val="FFFFFF"/>
                </a:solidFill>
                <a:latin typeface="Tahoma"/>
                <a:cs typeface="Tahoma"/>
              </a:rPr>
              <a:t>tuân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0">
                <a:solidFill>
                  <a:srgbClr val="FFFFFF"/>
                </a:solidFill>
                <a:latin typeface="Tahoma"/>
                <a:cs typeface="Tahoma"/>
              </a:rPr>
              <a:t>thủ </a:t>
            </a:r>
            <a:r>
              <a:rPr dirty="0" sz="3400" spc="60">
                <a:solidFill>
                  <a:srgbClr val="FFFFFF"/>
                </a:solidFill>
                <a:latin typeface="Tahoma"/>
                <a:cs typeface="Tahoma"/>
              </a:rPr>
              <a:t>các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nguyên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70">
                <a:solidFill>
                  <a:srgbClr val="FFFFFF"/>
                </a:solidFill>
                <a:latin typeface="Tahoma"/>
                <a:cs typeface="Tahoma"/>
              </a:rPr>
              <a:t>tắc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-20">
                <a:solidFill>
                  <a:srgbClr val="FFFFFF"/>
                </a:solidFill>
                <a:latin typeface="Tahoma"/>
                <a:cs typeface="Tahoma"/>
              </a:rPr>
              <a:t>sau:</a:t>
            </a:r>
            <a:endParaRPr sz="3400">
              <a:latin typeface="Tahoma"/>
              <a:cs typeface="Tahoma"/>
            </a:endParaRPr>
          </a:p>
          <a:p>
            <a:pPr marL="417195" marR="5080" indent="-405130">
              <a:lnSpc>
                <a:spcPct val="115799"/>
              </a:lnSpc>
              <a:buAutoNum type="arabicPeriod"/>
              <a:tabLst>
                <a:tab pos="418465" algn="l"/>
              </a:tabLst>
            </a:pPr>
            <a:r>
              <a:rPr dirty="0" sz="3400" spc="95">
                <a:solidFill>
                  <a:srgbClr val="FFFFFF"/>
                </a:solidFill>
                <a:latin typeface="Tahoma"/>
                <a:cs typeface="Tahoma"/>
              </a:rPr>
              <a:t>Vector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>
                <a:solidFill>
                  <a:srgbClr val="FFFFFF"/>
                </a:solidFill>
                <a:latin typeface="Tahoma"/>
                <a:cs typeface="Tahoma"/>
              </a:rPr>
              <a:t>hóa:</a:t>
            </a:r>
            <a:r>
              <a:rPr dirty="0" sz="34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0">
                <a:solidFill>
                  <a:srgbClr val="FFFFFF"/>
                </a:solidFill>
                <a:latin typeface="Tahoma"/>
                <a:cs typeface="Tahoma"/>
              </a:rPr>
              <a:t>Chuyển</a:t>
            </a:r>
            <a:r>
              <a:rPr dirty="0" sz="34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0">
                <a:solidFill>
                  <a:srgbClr val="FFFFFF"/>
                </a:solidFill>
                <a:latin typeface="Tahoma"/>
                <a:cs typeface="Tahoma"/>
              </a:rPr>
              <a:t>đổi</a:t>
            </a:r>
            <a:r>
              <a:rPr dirty="0" sz="34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0">
                <a:solidFill>
                  <a:srgbClr val="FFFFFF"/>
                </a:solidFill>
                <a:latin typeface="Tahoma"/>
                <a:cs typeface="Tahoma"/>
              </a:rPr>
              <a:t>các</a:t>
            </a:r>
            <a:r>
              <a:rPr dirty="0" sz="34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vòng</a:t>
            </a:r>
            <a:r>
              <a:rPr dirty="0" sz="34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5">
                <a:solidFill>
                  <a:srgbClr val="FFFFFF"/>
                </a:solidFill>
                <a:latin typeface="Tahoma"/>
                <a:cs typeface="Tahoma"/>
              </a:rPr>
              <a:t>lặp</a:t>
            </a:r>
            <a:r>
              <a:rPr dirty="0" sz="34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0">
                <a:solidFill>
                  <a:srgbClr val="FFFFFF"/>
                </a:solidFill>
                <a:latin typeface="Tahoma"/>
                <a:cs typeface="Tahoma"/>
              </a:rPr>
              <a:t>Python</a:t>
            </a:r>
            <a:r>
              <a:rPr dirty="0" sz="34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5">
                <a:solidFill>
                  <a:srgbClr val="FFFFFF"/>
                </a:solidFill>
                <a:latin typeface="Tahoma"/>
                <a:cs typeface="Tahoma"/>
              </a:rPr>
              <a:t>và</a:t>
            </a:r>
            <a:r>
              <a:rPr dirty="0" sz="34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logic</a:t>
            </a:r>
            <a:r>
              <a:rPr dirty="0" sz="34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5">
                <a:solidFill>
                  <a:srgbClr val="FFFFFF"/>
                </a:solidFill>
                <a:latin typeface="Tahoma"/>
                <a:cs typeface="Tahoma"/>
              </a:rPr>
              <a:t>điều</a:t>
            </a:r>
            <a:r>
              <a:rPr dirty="0" sz="34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0">
                <a:solidFill>
                  <a:srgbClr val="FFFFFF"/>
                </a:solidFill>
                <a:latin typeface="Tahoma"/>
                <a:cs typeface="Tahoma"/>
              </a:rPr>
              <a:t>kiện</a:t>
            </a:r>
            <a:r>
              <a:rPr dirty="0" sz="34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5">
                <a:solidFill>
                  <a:srgbClr val="FFFFFF"/>
                </a:solidFill>
                <a:latin typeface="Tahoma"/>
                <a:cs typeface="Tahoma"/>
              </a:rPr>
              <a:t>thành </a:t>
            </a:r>
            <a:r>
              <a:rPr dirty="0" sz="3400" spc="135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dirty="0" sz="3400" spc="60">
                <a:solidFill>
                  <a:srgbClr val="FFFFFF"/>
                </a:solidFill>
                <a:latin typeface="Tahoma"/>
                <a:cs typeface="Tahoma"/>
              </a:rPr>
              <a:t>các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75">
                <a:solidFill>
                  <a:srgbClr val="FFFFFF"/>
                </a:solidFill>
                <a:latin typeface="Tahoma"/>
                <a:cs typeface="Tahoma"/>
              </a:rPr>
              <a:t>phép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0">
                <a:solidFill>
                  <a:srgbClr val="FFFFFF"/>
                </a:solidFill>
                <a:latin typeface="Tahoma"/>
                <a:cs typeface="Tahoma"/>
              </a:rPr>
              <a:t>toán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00">
                <a:solidFill>
                  <a:srgbClr val="FFFFFF"/>
                </a:solidFill>
                <a:latin typeface="Tahoma"/>
                <a:cs typeface="Tahoma"/>
              </a:rPr>
              <a:t>mảng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5">
                <a:solidFill>
                  <a:srgbClr val="FFFFFF"/>
                </a:solidFill>
                <a:latin typeface="Tahoma"/>
                <a:cs typeface="Tahoma"/>
              </a:rPr>
              <a:t>và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5">
                <a:solidFill>
                  <a:srgbClr val="FFFFFF"/>
                </a:solidFill>
                <a:latin typeface="Tahoma"/>
                <a:cs typeface="Tahoma"/>
              </a:rPr>
              <a:t>chỉ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80">
                <a:solidFill>
                  <a:srgbClr val="FFFFFF"/>
                </a:solidFill>
                <a:latin typeface="Tahoma"/>
                <a:cs typeface="Tahoma"/>
              </a:rPr>
              <a:t>mục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0">
                <a:solidFill>
                  <a:srgbClr val="FFFFFF"/>
                </a:solidFill>
                <a:latin typeface="Tahoma"/>
                <a:cs typeface="Tahoma"/>
              </a:rPr>
              <a:t>Boolean.</a:t>
            </a:r>
            <a:endParaRPr sz="3400">
              <a:latin typeface="Tahoma"/>
              <a:cs typeface="Tahoma"/>
            </a:endParaRPr>
          </a:p>
          <a:p>
            <a:pPr marL="417195" marR="32384" indent="-405130">
              <a:lnSpc>
                <a:spcPct val="115799"/>
              </a:lnSpc>
              <a:buAutoNum type="arabicPeriod"/>
              <a:tabLst>
                <a:tab pos="418465" algn="l"/>
              </a:tabLst>
            </a:pPr>
            <a:r>
              <a:rPr dirty="0" sz="3400" spc="90">
                <a:solidFill>
                  <a:srgbClr val="FFFFFF"/>
                </a:solidFill>
                <a:latin typeface="Tahoma"/>
                <a:cs typeface="Tahoma"/>
              </a:rPr>
              <a:t>Sử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0">
                <a:solidFill>
                  <a:srgbClr val="FFFFFF"/>
                </a:solidFill>
                <a:latin typeface="Tahoma"/>
                <a:cs typeface="Tahoma"/>
              </a:rPr>
              <a:t>dụng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0">
                <a:solidFill>
                  <a:srgbClr val="FFFFFF"/>
                </a:solidFill>
                <a:latin typeface="Tahoma"/>
                <a:cs typeface="Tahoma"/>
              </a:rPr>
              <a:t>Broadcasting: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>
                <a:solidFill>
                  <a:srgbClr val="FFFFFF"/>
                </a:solidFill>
                <a:latin typeface="Tahoma"/>
                <a:cs typeface="Tahoma"/>
              </a:rPr>
              <a:t>Tận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0">
                <a:solidFill>
                  <a:srgbClr val="FFFFFF"/>
                </a:solidFill>
                <a:latin typeface="Tahoma"/>
                <a:cs typeface="Tahoma"/>
              </a:rPr>
              <a:t>dụng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5">
                <a:solidFill>
                  <a:srgbClr val="FFFFFF"/>
                </a:solidFill>
                <a:latin typeface="Tahoma"/>
                <a:cs typeface="Tahoma"/>
              </a:rPr>
              <a:t>broadcasting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bất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0">
                <a:solidFill>
                  <a:srgbClr val="FFFFFF"/>
                </a:solidFill>
                <a:latin typeface="Tahoma"/>
                <a:cs typeface="Tahoma"/>
              </a:rPr>
              <a:t>cứ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0">
                <a:solidFill>
                  <a:srgbClr val="FFFFFF"/>
                </a:solidFill>
                <a:latin typeface="Tahoma"/>
                <a:cs typeface="Tahoma"/>
              </a:rPr>
              <a:t>khi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0">
                <a:solidFill>
                  <a:srgbClr val="FFFFFF"/>
                </a:solidFill>
                <a:latin typeface="Tahoma"/>
                <a:cs typeface="Tahoma"/>
              </a:rPr>
              <a:t>nào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0">
                <a:solidFill>
                  <a:srgbClr val="FFFFFF"/>
                </a:solidFill>
                <a:latin typeface="Tahoma"/>
                <a:cs typeface="Tahoma"/>
              </a:rPr>
              <a:t>có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0">
                <a:solidFill>
                  <a:srgbClr val="FFFFFF"/>
                </a:solidFill>
                <a:latin typeface="Tahoma"/>
                <a:cs typeface="Tahoma"/>
              </a:rPr>
              <a:t>thể </a:t>
            </a:r>
            <a:r>
              <a:rPr dirty="0" sz="3400" spc="10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để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5">
                <a:solidFill>
                  <a:srgbClr val="FFFFFF"/>
                </a:solidFill>
                <a:latin typeface="Tahoma"/>
                <a:cs typeface="Tahoma"/>
              </a:rPr>
              <a:t>tránh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tạo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0">
                <a:solidFill>
                  <a:srgbClr val="FFFFFF"/>
                </a:solidFill>
                <a:latin typeface="Tahoma"/>
                <a:cs typeface="Tahoma"/>
              </a:rPr>
              <a:t>ra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0">
                <a:solidFill>
                  <a:srgbClr val="FFFFFF"/>
                </a:solidFill>
                <a:latin typeface="Tahoma"/>
                <a:cs typeface="Tahoma"/>
              </a:rPr>
              <a:t>các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00">
                <a:solidFill>
                  <a:srgbClr val="FFFFFF"/>
                </a:solidFill>
                <a:latin typeface="Tahoma"/>
                <a:cs typeface="Tahoma"/>
              </a:rPr>
              <a:t>mảng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0">
                <a:solidFill>
                  <a:srgbClr val="FFFFFF"/>
                </a:solidFill>
                <a:latin typeface="Tahoma"/>
                <a:cs typeface="Tahoma"/>
              </a:rPr>
              <a:t>tạm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0">
                <a:solidFill>
                  <a:srgbClr val="FFFFFF"/>
                </a:solidFill>
                <a:latin typeface="Tahoma"/>
                <a:cs typeface="Tahoma"/>
              </a:rPr>
              <a:t>thời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75">
                <a:solidFill>
                  <a:srgbClr val="FFFFFF"/>
                </a:solidFill>
                <a:latin typeface="Tahoma"/>
                <a:cs typeface="Tahoma"/>
              </a:rPr>
              <a:t>không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0">
                <a:solidFill>
                  <a:srgbClr val="FFFFFF"/>
                </a:solidFill>
                <a:latin typeface="Tahoma"/>
                <a:cs typeface="Tahoma"/>
              </a:rPr>
              <a:t>cần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0">
                <a:solidFill>
                  <a:srgbClr val="FFFFFF"/>
                </a:solidFill>
                <a:latin typeface="Tahoma"/>
                <a:cs typeface="Tahoma"/>
              </a:rPr>
              <a:t>thiết.</a:t>
            </a:r>
            <a:endParaRPr sz="3400">
              <a:latin typeface="Tahoma"/>
              <a:cs typeface="Tahoma"/>
            </a:endParaRPr>
          </a:p>
          <a:p>
            <a:pPr marL="417195" marR="361950" indent="-405130">
              <a:lnSpc>
                <a:spcPct val="115799"/>
              </a:lnSpc>
              <a:buAutoNum type="arabicPeriod"/>
              <a:tabLst>
                <a:tab pos="418465" algn="l"/>
              </a:tabLst>
            </a:pPr>
            <a:r>
              <a:rPr dirty="0" sz="3400" spc="90">
                <a:solidFill>
                  <a:srgbClr val="FFFFFF"/>
                </a:solidFill>
                <a:latin typeface="Tahoma"/>
                <a:cs typeface="Tahoma"/>
              </a:rPr>
              <a:t>Sử</a:t>
            </a:r>
            <a:r>
              <a:rPr dirty="0" sz="34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0">
                <a:solidFill>
                  <a:srgbClr val="FFFFFF"/>
                </a:solidFill>
                <a:latin typeface="Tahoma"/>
                <a:cs typeface="Tahoma"/>
              </a:rPr>
              <a:t>dụng</a:t>
            </a:r>
            <a:r>
              <a:rPr dirty="0" sz="34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70">
                <a:solidFill>
                  <a:srgbClr val="FFFFFF"/>
                </a:solidFill>
                <a:latin typeface="Tahoma"/>
                <a:cs typeface="Tahoma"/>
              </a:rPr>
              <a:t>"View"</a:t>
            </a:r>
            <a:r>
              <a:rPr dirty="0" sz="34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95">
                <a:solidFill>
                  <a:srgbClr val="FFFFFF"/>
                </a:solidFill>
                <a:latin typeface="Tahoma"/>
                <a:cs typeface="Tahoma"/>
              </a:rPr>
              <a:t>thay</a:t>
            </a:r>
            <a:r>
              <a:rPr dirty="0" sz="34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0">
                <a:solidFill>
                  <a:srgbClr val="FFFFFF"/>
                </a:solidFill>
                <a:latin typeface="Tahoma"/>
                <a:cs typeface="Tahoma"/>
              </a:rPr>
              <a:t>vì</a:t>
            </a:r>
            <a:r>
              <a:rPr dirty="0" sz="34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>
                <a:solidFill>
                  <a:srgbClr val="FFFFFF"/>
                </a:solidFill>
                <a:latin typeface="Tahoma"/>
                <a:cs typeface="Tahoma"/>
              </a:rPr>
              <a:t>"Copy":</a:t>
            </a:r>
            <a:r>
              <a:rPr dirty="0" sz="34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90">
                <a:solidFill>
                  <a:srgbClr val="FFFFFF"/>
                </a:solidFill>
                <a:latin typeface="Tahoma"/>
                <a:cs typeface="Tahoma"/>
              </a:rPr>
              <a:t>Sử</a:t>
            </a:r>
            <a:r>
              <a:rPr dirty="0" sz="34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0">
                <a:solidFill>
                  <a:srgbClr val="FFFFFF"/>
                </a:solidFill>
                <a:latin typeface="Tahoma"/>
                <a:cs typeface="Tahoma"/>
              </a:rPr>
              <a:t>dụng</a:t>
            </a:r>
            <a:r>
              <a:rPr dirty="0" sz="3400" spc="-1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0">
                <a:solidFill>
                  <a:srgbClr val="FFFFFF"/>
                </a:solidFill>
                <a:latin typeface="Tahoma"/>
                <a:cs typeface="Tahoma"/>
              </a:rPr>
              <a:t>các</a:t>
            </a:r>
            <a:r>
              <a:rPr dirty="0" sz="34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0">
                <a:solidFill>
                  <a:srgbClr val="FFFFFF"/>
                </a:solidFill>
                <a:latin typeface="Tahoma"/>
                <a:cs typeface="Tahoma"/>
              </a:rPr>
              <a:t>thao</a:t>
            </a:r>
            <a:r>
              <a:rPr dirty="0" sz="34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70">
                <a:solidFill>
                  <a:srgbClr val="FFFFFF"/>
                </a:solidFill>
                <a:latin typeface="Tahoma"/>
                <a:cs typeface="Tahoma"/>
              </a:rPr>
              <a:t>tác</a:t>
            </a:r>
            <a:r>
              <a:rPr dirty="0" sz="34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4">
                <a:solidFill>
                  <a:srgbClr val="FFFFFF"/>
                </a:solidFill>
                <a:latin typeface="Tahoma"/>
                <a:cs typeface="Tahoma"/>
              </a:rPr>
              <a:t>slicing</a:t>
            </a:r>
            <a:r>
              <a:rPr dirty="0" sz="34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-10">
                <a:solidFill>
                  <a:srgbClr val="FFFFFF"/>
                </a:solidFill>
                <a:latin typeface="Tahoma"/>
                <a:cs typeface="Tahoma"/>
              </a:rPr>
              <a:t>(arr[:]) </a:t>
            </a:r>
            <a:r>
              <a:rPr dirty="0" sz="3400" spc="-1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để</a:t>
            </a:r>
            <a:r>
              <a:rPr dirty="0" sz="3400" spc="-1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tạo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0">
                <a:solidFill>
                  <a:srgbClr val="FFFFFF"/>
                </a:solidFill>
                <a:latin typeface="Tahoma"/>
                <a:cs typeface="Tahoma"/>
              </a:rPr>
              <a:t>ra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0">
                <a:solidFill>
                  <a:srgbClr val="FFFFFF"/>
                </a:solidFill>
                <a:latin typeface="Tahoma"/>
                <a:cs typeface="Tahoma"/>
              </a:rPr>
              <a:t>các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5">
                <a:solidFill>
                  <a:srgbClr val="FFFFFF"/>
                </a:solidFill>
                <a:latin typeface="Tahoma"/>
                <a:cs typeface="Tahoma"/>
              </a:rPr>
              <a:t>"khung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0">
                <a:solidFill>
                  <a:srgbClr val="FFFFFF"/>
                </a:solidFill>
                <a:latin typeface="Tahoma"/>
                <a:cs typeface="Tahoma"/>
              </a:rPr>
              <a:t>nhìn"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-30">
                <a:solidFill>
                  <a:srgbClr val="FFFFFF"/>
                </a:solidFill>
                <a:latin typeface="Tahoma"/>
                <a:cs typeface="Tahoma"/>
              </a:rPr>
              <a:t>(view)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95">
                <a:solidFill>
                  <a:srgbClr val="FFFFFF"/>
                </a:solidFill>
                <a:latin typeface="Tahoma"/>
                <a:cs typeface="Tahoma"/>
              </a:rPr>
              <a:t>thay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0">
                <a:solidFill>
                  <a:srgbClr val="FFFFFF"/>
                </a:solidFill>
                <a:latin typeface="Tahoma"/>
                <a:cs typeface="Tahoma"/>
              </a:rPr>
              <a:t>vì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5">
                <a:solidFill>
                  <a:srgbClr val="FFFFFF"/>
                </a:solidFill>
                <a:latin typeface="Tahoma"/>
                <a:cs typeface="Tahoma"/>
              </a:rPr>
              <a:t>sao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5">
                <a:solidFill>
                  <a:srgbClr val="FFFFFF"/>
                </a:solidFill>
                <a:latin typeface="Tahoma"/>
                <a:cs typeface="Tahoma"/>
              </a:rPr>
              <a:t>chép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10">
                <a:solidFill>
                  <a:srgbClr val="FFFFFF"/>
                </a:solidFill>
                <a:latin typeface="Tahoma"/>
                <a:cs typeface="Tahoma"/>
              </a:rPr>
              <a:t>dữ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75">
                <a:solidFill>
                  <a:srgbClr val="FFFFFF"/>
                </a:solidFill>
                <a:latin typeface="Tahoma"/>
                <a:cs typeface="Tahoma"/>
              </a:rPr>
              <a:t>liệu,</a:t>
            </a:r>
            <a:r>
              <a:rPr dirty="0" sz="3400" spc="-1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70">
                <a:solidFill>
                  <a:srgbClr val="FFFFFF"/>
                </a:solidFill>
                <a:latin typeface="Tahoma"/>
                <a:cs typeface="Tahoma"/>
              </a:rPr>
              <a:t>giúp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70">
                <a:solidFill>
                  <a:srgbClr val="FFFFFF"/>
                </a:solidFill>
                <a:latin typeface="Tahoma"/>
                <a:cs typeface="Tahoma"/>
              </a:rPr>
              <a:t>tiết </a:t>
            </a:r>
            <a:r>
              <a:rPr dirty="0" sz="3400" spc="7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dirty="0" sz="3400" spc="160">
                <a:solidFill>
                  <a:srgbClr val="FFFFFF"/>
                </a:solidFill>
                <a:latin typeface="Tahoma"/>
                <a:cs typeface="Tahoma"/>
              </a:rPr>
              <a:t>kiệm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00">
                <a:solidFill>
                  <a:srgbClr val="FFFFFF"/>
                </a:solidFill>
                <a:latin typeface="Tahoma"/>
                <a:cs typeface="Tahoma"/>
              </a:rPr>
              <a:t>bộ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80">
                <a:solidFill>
                  <a:srgbClr val="FFFFFF"/>
                </a:solidFill>
                <a:latin typeface="Tahoma"/>
                <a:cs typeface="Tahoma"/>
              </a:rPr>
              <a:t>nhớ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5">
                <a:solidFill>
                  <a:srgbClr val="FFFFFF"/>
                </a:solidFill>
                <a:latin typeface="Tahoma"/>
                <a:cs typeface="Tahoma"/>
              </a:rPr>
              <a:t>và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0">
                <a:solidFill>
                  <a:srgbClr val="FFFFFF"/>
                </a:solidFill>
                <a:latin typeface="Tahoma"/>
                <a:cs typeface="Tahoma"/>
              </a:rPr>
              <a:t>thời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70">
                <a:solidFill>
                  <a:srgbClr val="FFFFFF"/>
                </a:solidFill>
                <a:latin typeface="Tahoma"/>
                <a:cs typeface="Tahoma"/>
              </a:rPr>
              <a:t>gian.</a:t>
            </a:r>
            <a:endParaRPr sz="3400">
              <a:latin typeface="Tahoma"/>
              <a:cs typeface="Tahoma"/>
            </a:endParaRPr>
          </a:p>
          <a:p>
            <a:pPr marL="417195" marR="383540" indent="-405130">
              <a:lnSpc>
                <a:spcPct val="115799"/>
              </a:lnSpc>
              <a:buAutoNum type="arabicPeriod"/>
              <a:tabLst>
                <a:tab pos="418465" algn="l"/>
              </a:tabLst>
            </a:pPr>
            <a:r>
              <a:rPr dirty="0" sz="3400" spc="90">
                <a:solidFill>
                  <a:srgbClr val="FFFFFF"/>
                </a:solidFill>
                <a:latin typeface="Tahoma"/>
                <a:cs typeface="Tahoma"/>
              </a:rPr>
              <a:t>Sử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0">
                <a:solidFill>
                  <a:srgbClr val="FFFFFF"/>
                </a:solidFill>
                <a:latin typeface="Tahoma"/>
                <a:cs typeface="Tahoma"/>
              </a:rPr>
              <a:t>dụng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0">
                <a:solidFill>
                  <a:srgbClr val="FFFFFF"/>
                </a:solidFill>
                <a:latin typeface="Tahoma"/>
                <a:cs typeface="Tahoma"/>
              </a:rPr>
              <a:t>các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0">
                <a:solidFill>
                  <a:srgbClr val="FFFFFF"/>
                </a:solidFill>
                <a:latin typeface="Tahoma"/>
                <a:cs typeface="Tahoma"/>
              </a:rPr>
              <a:t>phương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0">
                <a:solidFill>
                  <a:srgbClr val="FFFFFF"/>
                </a:solidFill>
                <a:latin typeface="Tahoma"/>
                <a:cs typeface="Tahoma"/>
              </a:rPr>
              <a:t>thức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0">
                <a:solidFill>
                  <a:srgbClr val="FFFFFF"/>
                </a:solidFill>
                <a:latin typeface="Tahoma"/>
                <a:cs typeface="Tahoma"/>
              </a:rPr>
              <a:t>ufunc: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>
                <a:solidFill>
                  <a:srgbClr val="FFFFFF"/>
                </a:solidFill>
                <a:latin typeface="Tahoma"/>
                <a:cs typeface="Tahoma"/>
              </a:rPr>
              <a:t>Tận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0">
                <a:solidFill>
                  <a:srgbClr val="FFFFFF"/>
                </a:solidFill>
                <a:latin typeface="Tahoma"/>
                <a:cs typeface="Tahoma"/>
              </a:rPr>
              <a:t>dụng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0">
                <a:solidFill>
                  <a:srgbClr val="FFFFFF"/>
                </a:solidFill>
                <a:latin typeface="Tahoma"/>
                <a:cs typeface="Tahoma"/>
              </a:rPr>
              <a:t>các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0">
                <a:solidFill>
                  <a:srgbClr val="FFFFFF"/>
                </a:solidFill>
                <a:latin typeface="Tahoma"/>
                <a:cs typeface="Tahoma"/>
              </a:rPr>
              <a:t>phương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0">
                <a:solidFill>
                  <a:srgbClr val="FFFFFF"/>
                </a:solidFill>
                <a:latin typeface="Tahoma"/>
                <a:cs typeface="Tahoma"/>
              </a:rPr>
              <a:t>thức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70">
                <a:solidFill>
                  <a:srgbClr val="FFFFFF"/>
                </a:solidFill>
                <a:latin typeface="Tahoma"/>
                <a:cs typeface="Tahoma"/>
              </a:rPr>
              <a:t>như </a:t>
            </a:r>
            <a:r>
              <a:rPr dirty="0" sz="3400" spc="17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dirty="0" sz="3400" spc="95">
                <a:solidFill>
                  <a:srgbClr val="FFFFFF"/>
                </a:solidFill>
                <a:latin typeface="Tahoma"/>
                <a:cs typeface="Tahoma"/>
              </a:rPr>
              <a:t>reduce,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accumulate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để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0">
                <a:solidFill>
                  <a:srgbClr val="FFFFFF"/>
                </a:solidFill>
                <a:latin typeface="Tahoma"/>
                <a:cs typeface="Tahoma"/>
              </a:rPr>
              <a:t>thực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5">
                <a:solidFill>
                  <a:srgbClr val="FFFFFF"/>
                </a:solidFill>
                <a:latin typeface="Tahoma"/>
                <a:cs typeface="Tahoma"/>
              </a:rPr>
              <a:t>hiện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0">
                <a:solidFill>
                  <a:srgbClr val="FFFFFF"/>
                </a:solidFill>
                <a:latin typeface="Tahoma"/>
                <a:cs typeface="Tahoma"/>
              </a:rPr>
              <a:t>các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75">
                <a:solidFill>
                  <a:srgbClr val="FFFFFF"/>
                </a:solidFill>
                <a:latin typeface="Tahoma"/>
                <a:cs typeface="Tahoma"/>
              </a:rPr>
              <a:t>phép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5">
                <a:solidFill>
                  <a:srgbClr val="FFFFFF"/>
                </a:solidFill>
                <a:latin typeface="Tahoma"/>
                <a:cs typeface="Tahoma"/>
              </a:rPr>
              <a:t>tính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5">
                <a:solidFill>
                  <a:srgbClr val="FFFFFF"/>
                </a:solidFill>
                <a:latin typeface="Tahoma"/>
                <a:cs typeface="Tahoma"/>
              </a:rPr>
              <a:t>tổng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85">
                <a:solidFill>
                  <a:srgbClr val="FFFFFF"/>
                </a:solidFill>
                <a:latin typeface="Tahoma"/>
                <a:cs typeface="Tahoma"/>
              </a:rPr>
              <a:t>hợp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5">
                <a:solidFill>
                  <a:srgbClr val="FFFFFF"/>
                </a:solidFill>
                <a:latin typeface="Tahoma"/>
                <a:cs typeface="Tahoma"/>
              </a:rPr>
              <a:t>một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70">
                <a:solidFill>
                  <a:srgbClr val="FFFFFF"/>
                </a:solidFill>
                <a:latin typeface="Tahoma"/>
                <a:cs typeface="Tahoma"/>
              </a:rPr>
              <a:t>cách </a:t>
            </a:r>
            <a:r>
              <a:rPr dirty="0" sz="3400" spc="7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dirty="0" sz="3400" spc="145">
                <a:solidFill>
                  <a:srgbClr val="FFFFFF"/>
                </a:solidFill>
                <a:latin typeface="Tahoma"/>
                <a:cs typeface="Tahoma"/>
              </a:rPr>
              <a:t>hiệu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70">
                <a:solidFill>
                  <a:srgbClr val="FFFFFF"/>
                </a:solidFill>
                <a:latin typeface="Tahoma"/>
                <a:cs typeface="Tahoma"/>
              </a:rPr>
              <a:t>quả.</a:t>
            </a:r>
            <a:endParaRPr sz="3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4838" y="442870"/>
            <a:ext cx="7471409" cy="1616075"/>
          </a:xfrm>
          <a:prstGeom prst="rect"/>
        </p:spPr>
        <p:txBody>
          <a:bodyPr wrap="square" lIns="0" tIns="108585" rIns="0" bIns="0" rtlCol="0" vert="horz">
            <a:spAutoFit/>
          </a:bodyPr>
          <a:lstStyle/>
          <a:p>
            <a:pPr marL="12700" marR="5080">
              <a:lnSpc>
                <a:spcPts val="5930"/>
              </a:lnSpc>
              <a:spcBef>
                <a:spcPts val="855"/>
              </a:spcBef>
            </a:pPr>
            <a:r>
              <a:rPr dirty="0" sz="5500" spc="-75" b="1">
                <a:solidFill>
                  <a:srgbClr val="FFFFFF"/>
                </a:solidFill>
                <a:latin typeface="Tahoma"/>
                <a:cs typeface="Tahoma"/>
              </a:rPr>
              <a:t>A.9.</a:t>
            </a:r>
            <a:r>
              <a:rPr dirty="0" sz="5500" spc="-43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5500" spc="50" b="1">
                <a:solidFill>
                  <a:srgbClr val="FFFFFF"/>
                </a:solidFill>
                <a:latin typeface="Tahoma"/>
                <a:cs typeface="Tahoma"/>
              </a:rPr>
              <a:t>Mẹo</a:t>
            </a:r>
            <a:r>
              <a:rPr dirty="0" sz="5500" spc="-43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5500" spc="105" b="1">
                <a:solidFill>
                  <a:srgbClr val="FFFFFF"/>
                </a:solidFill>
                <a:latin typeface="Tahoma"/>
                <a:cs typeface="Tahoma"/>
              </a:rPr>
              <a:t>về</a:t>
            </a:r>
            <a:r>
              <a:rPr dirty="0" sz="5500" spc="-43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5500" spc="-40" b="1">
                <a:solidFill>
                  <a:srgbClr val="FFFFFF"/>
                </a:solidFill>
                <a:latin typeface="Tahoma"/>
                <a:cs typeface="Tahoma"/>
              </a:rPr>
              <a:t>Hiệu</a:t>
            </a:r>
            <a:r>
              <a:rPr dirty="0" sz="5500" spc="-43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5500" spc="65" b="1">
                <a:solidFill>
                  <a:srgbClr val="FFFFFF"/>
                </a:solidFill>
                <a:latin typeface="Tahoma"/>
                <a:cs typeface="Tahoma"/>
              </a:rPr>
              <a:t>suất </a:t>
            </a:r>
            <a:r>
              <a:rPr dirty="0" sz="5500" spc="120" b="1">
                <a:solidFill>
                  <a:srgbClr val="FFFFFF"/>
                </a:solidFill>
                <a:latin typeface="Tahoma"/>
                <a:cs typeface="Tahoma"/>
              </a:rPr>
              <a:t>(Performance</a:t>
            </a:r>
            <a:r>
              <a:rPr dirty="0" sz="5500" spc="-41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5500" spc="60" b="1">
                <a:solidFill>
                  <a:srgbClr val="FFFFFF"/>
                </a:solidFill>
                <a:latin typeface="Tahoma"/>
                <a:cs typeface="Tahoma"/>
              </a:rPr>
              <a:t>Tips)</a:t>
            </a:r>
            <a:endParaRPr sz="5500">
              <a:latin typeface="Tahoma"/>
              <a:cs typeface="Tahom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80902" y="2644302"/>
            <a:ext cx="17937480" cy="722630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745"/>
              </a:spcBef>
            </a:pPr>
            <a:r>
              <a:rPr dirty="0" sz="3400" b="1">
                <a:solidFill>
                  <a:srgbClr val="FFFFFF"/>
                </a:solidFill>
                <a:latin typeface="Tahoma"/>
                <a:cs typeface="Tahoma"/>
              </a:rPr>
              <a:t>Tầm</a:t>
            </a:r>
            <a:r>
              <a:rPr dirty="0" sz="3400" spc="-10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b="1">
                <a:solidFill>
                  <a:srgbClr val="FFFFFF"/>
                </a:solidFill>
                <a:latin typeface="Tahoma"/>
                <a:cs typeface="Tahoma"/>
              </a:rPr>
              <a:t>quan</a:t>
            </a:r>
            <a:r>
              <a:rPr dirty="0" sz="3400" spc="-10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b="1">
                <a:solidFill>
                  <a:srgbClr val="FFFFFF"/>
                </a:solidFill>
                <a:latin typeface="Tahoma"/>
                <a:cs typeface="Tahoma"/>
              </a:rPr>
              <a:t>trọng</a:t>
            </a:r>
            <a:r>
              <a:rPr dirty="0" sz="3400" spc="-10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b="1">
                <a:solidFill>
                  <a:srgbClr val="FFFFFF"/>
                </a:solidFill>
                <a:latin typeface="Tahoma"/>
                <a:cs typeface="Tahoma"/>
              </a:rPr>
              <a:t>của</a:t>
            </a:r>
            <a:r>
              <a:rPr dirty="0" sz="3400" spc="-10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b="1">
                <a:solidFill>
                  <a:srgbClr val="FFFFFF"/>
                </a:solidFill>
                <a:latin typeface="Tahoma"/>
                <a:cs typeface="Tahoma"/>
              </a:rPr>
              <a:t>Bộ</a:t>
            </a:r>
            <a:r>
              <a:rPr dirty="0" sz="3400" spc="-10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80" b="1">
                <a:solidFill>
                  <a:srgbClr val="FFFFFF"/>
                </a:solidFill>
                <a:latin typeface="Tahoma"/>
                <a:cs typeface="Tahoma"/>
              </a:rPr>
              <a:t>nhớ</a:t>
            </a:r>
            <a:r>
              <a:rPr dirty="0" sz="3400" spc="-10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b="1">
                <a:solidFill>
                  <a:srgbClr val="FFFFFF"/>
                </a:solidFill>
                <a:latin typeface="Tahoma"/>
                <a:cs typeface="Tahoma"/>
              </a:rPr>
              <a:t>liền</a:t>
            </a:r>
            <a:r>
              <a:rPr dirty="0" sz="3400" spc="-10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b="1">
                <a:solidFill>
                  <a:srgbClr val="FFFFFF"/>
                </a:solidFill>
                <a:latin typeface="Tahoma"/>
                <a:cs typeface="Tahoma"/>
              </a:rPr>
              <a:t>kề</a:t>
            </a:r>
            <a:r>
              <a:rPr dirty="0" sz="3400" spc="-10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-35" b="1">
                <a:solidFill>
                  <a:srgbClr val="FFFFFF"/>
                </a:solidFill>
                <a:latin typeface="Tahoma"/>
                <a:cs typeface="Tahoma"/>
              </a:rPr>
              <a:t>(Contiguous</a:t>
            </a:r>
            <a:r>
              <a:rPr dirty="0" sz="3400" spc="-10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-10" b="1">
                <a:solidFill>
                  <a:srgbClr val="FFFFFF"/>
                </a:solidFill>
                <a:latin typeface="Tahoma"/>
                <a:cs typeface="Tahoma"/>
              </a:rPr>
              <a:t>Memory)</a:t>
            </a:r>
            <a:endParaRPr sz="3400">
              <a:latin typeface="Tahoma"/>
              <a:cs typeface="Tahoma"/>
            </a:endParaRPr>
          </a:p>
          <a:p>
            <a:pPr algn="just" marL="12700" marR="645795">
              <a:lnSpc>
                <a:spcPct val="115799"/>
              </a:lnSpc>
            </a:pPr>
            <a:r>
              <a:rPr dirty="0" sz="3400" b="1">
                <a:solidFill>
                  <a:srgbClr val="FFFFFF"/>
                </a:solidFill>
                <a:latin typeface="Tahoma"/>
                <a:cs typeface="Tahoma"/>
              </a:rPr>
              <a:t>Khái</a:t>
            </a:r>
            <a:r>
              <a:rPr dirty="0" sz="3400" spc="-12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-10" b="1">
                <a:solidFill>
                  <a:srgbClr val="FFFFFF"/>
                </a:solidFill>
                <a:latin typeface="Tahoma"/>
                <a:cs typeface="Tahoma"/>
              </a:rPr>
              <a:t>niệm:</a:t>
            </a:r>
            <a:r>
              <a:rPr dirty="0" sz="3400" spc="-12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35">
                <a:solidFill>
                  <a:srgbClr val="FFFFFF"/>
                </a:solidFill>
                <a:latin typeface="Tahoma"/>
                <a:cs typeface="Tahoma"/>
              </a:rPr>
              <a:t>Một</a:t>
            </a:r>
            <a:r>
              <a:rPr dirty="0" sz="3400" spc="-1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00">
                <a:solidFill>
                  <a:srgbClr val="FFFFFF"/>
                </a:solidFill>
                <a:latin typeface="Tahoma"/>
                <a:cs typeface="Tahoma"/>
              </a:rPr>
              <a:t>mảng</a:t>
            </a:r>
            <a:r>
              <a:rPr dirty="0" sz="3400" spc="-1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0">
                <a:solidFill>
                  <a:srgbClr val="FFFFFF"/>
                </a:solidFill>
                <a:latin typeface="Tahoma"/>
                <a:cs typeface="Tahoma"/>
              </a:rPr>
              <a:t>được</a:t>
            </a:r>
            <a:r>
              <a:rPr dirty="0" sz="3400" spc="-1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5">
                <a:solidFill>
                  <a:srgbClr val="FFFFFF"/>
                </a:solidFill>
                <a:latin typeface="Tahoma"/>
                <a:cs typeface="Tahoma"/>
              </a:rPr>
              <a:t>gọi</a:t>
            </a:r>
            <a:r>
              <a:rPr dirty="0" sz="3400" spc="-1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0">
                <a:solidFill>
                  <a:srgbClr val="FFFFFF"/>
                </a:solidFill>
                <a:latin typeface="Tahoma"/>
                <a:cs typeface="Tahoma"/>
              </a:rPr>
              <a:t>là</a:t>
            </a:r>
            <a:r>
              <a:rPr dirty="0" sz="3400" spc="-1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0">
                <a:solidFill>
                  <a:srgbClr val="FFFFFF"/>
                </a:solidFill>
                <a:latin typeface="Tahoma"/>
                <a:cs typeface="Tahoma"/>
              </a:rPr>
              <a:t>"liền</a:t>
            </a:r>
            <a:r>
              <a:rPr dirty="0" sz="3400" spc="-1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80">
                <a:solidFill>
                  <a:srgbClr val="FFFFFF"/>
                </a:solidFill>
                <a:latin typeface="Tahoma"/>
                <a:cs typeface="Tahoma"/>
              </a:rPr>
              <a:t>kề"</a:t>
            </a:r>
            <a:r>
              <a:rPr dirty="0" sz="3400" spc="-1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75">
                <a:solidFill>
                  <a:srgbClr val="FFFFFF"/>
                </a:solidFill>
                <a:latin typeface="Tahoma"/>
                <a:cs typeface="Tahoma"/>
              </a:rPr>
              <a:t>(contiguous)</a:t>
            </a:r>
            <a:r>
              <a:rPr dirty="0" sz="3400" spc="-1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5">
                <a:solidFill>
                  <a:srgbClr val="FFFFFF"/>
                </a:solidFill>
                <a:latin typeface="Tahoma"/>
                <a:cs typeface="Tahoma"/>
              </a:rPr>
              <a:t>nếu</a:t>
            </a:r>
            <a:r>
              <a:rPr dirty="0" sz="3400" spc="-1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0">
                <a:solidFill>
                  <a:srgbClr val="FFFFFF"/>
                </a:solidFill>
                <a:latin typeface="Tahoma"/>
                <a:cs typeface="Tahoma"/>
              </a:rPr>
              <a:t>các</a:t>
            </a:r>
            <a:r>
              <a:rPr dirty="0" sz="3400" spc="-1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5">
                <a:solidFill>
                  <a:srgbClr val="FFFFFF"/>
                </a:solidFill>
                <a:latin typeface="Tahoma"/>
                <a:cs typeface="Tahoma"/>
              </a:rPr>
              <a:t>phần</a:t>
            </a:r>
            <a:r>
              <a:rPr dirty="0" sz="3400" spc="-1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tử</a:t>
            </a:r>
            <a:r>
              <a:rPr dirty="0" sz="3400" spc="-1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0">
                <a:solidFill>
                  <a:srgbClr val="FFFFFF"/>
                </a:solidFill>
                <a:latin typeface="Tahoma"/>
                <a:cs typeface="Tahoma"/>
              </a:rPr>
              <a:t>của</a:t>
            </a:r>
            <a:r>
              <a:rPr dirty="0" sz="3400" spc="-1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0">
                <a:solidFill>
                  <a:srgbClr val="FFFFFF"/>
                </a:solidFill>
                <a:latin typeface="Tahoma"/>
                <a:cs typeface="Tahoma"/>
              </a:rPr>
              <a:t>nó</a:t>
            </a:r>
            <a:r>
              <a:rPr dirty="0" sz="3400" spc="-1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0">
                <a:solidFill>
                  <a:srgbClr val="FFFFFF"/>
                </a:solidFill>
                <a:latin typeface="Tahoma"/>
                <a:cs typeface="Tahoma"/>
              </a:rPr>
              <a:t>được </a:t>
            </a:r>
            <a:r>
              <a:rPr dirty="0" sz="3400" spc="135">
                <a:solidFill>
                  <a:srgbClr val="FFFFFF"/>
                </a:solidFill>
                <a:latin typeface="Tahoma"/>
                <a:cs typeface="Tahoma"/>
              </a:rPr>
              <a:t>sắp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0">
                <a:solidFill>
                  <a:srgbClr val="FFFFFF"/>
                </a:solidFill>
                <a:latin typeface="Tahoma"/>
                <a:cs typeface="Tahoma"/>
              </a:rPr>
              <a:t>xếp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5">
                <a:solidFill>
                  <a:srgbClr val="FFFFFF"/>
                </a:solidFill>
                <a:latin typeface="Tahoma"/>
                <a:cs typeface="Tahoma"/>
              </a:rPr>
              <a:t>trong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00">
                <a:solidFill>
                  <a:srgbClr val="FFFFFF"/>
                </a:solidFill>
                <a:latin typeface="Tahoma"/>
                <a:cs typeface="Tahoma"/>
              </a:rPr>
              <a:t>bộ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80">
                <a:solidFill>
                  <a:srgbClr val="FFFFFF"/>
                </a:solidFill>
                <a:latin typeface="Tahoma"/>
                <a:cs typeface="Tahoma"/>
              </a:rPr>
              <a:t>nhớ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5">
                <a:solidFill>
                  <a:srgbClr val="FFFFFF"/>
                </a:solidFill>
                <a:latin typeface="Tahoma"/>
                <a:cs typeface="Tahoma"/>
              </a:rPr>
              <a:t>theo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75">
                <a:solidFill>
                  <a:srgbClr val="FFFFFF"/>
                </a:solidFill>
                <a:latin typeface="Tahoma"/>
                <a:cs typeface="Tahoma"/>
              </a:rPr>
              <a:t>đúng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0">
                <a:solidFill>
                  <a:srgbClr val="FFFFFF"/>
                </a:solidFill>
                <a:latin typeface="Tahoma"/>
                <a:cs typeface="Tahoma"/>
              </a:rPr>
              <a:t>thứ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tự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4">
                <a:solidFill>
                  <a:srgbClr val="FFFFFF"/>
                </a:solidFill>
                <a:latin typeface="Tahoma"/>
                <a:cs typeface="Tahoma"/>
              </a:rPr>
              <a:t>xuất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5">
                <a:solidFill>
                  <a:srgbClr val="FFFFFF"/>
                </a:solidFill>
                <a:latin typeface="Tahoma"/>
                <a:cs typeface="Tahoma"/>
              </a:rPr>
              <a:t>hiện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0">
                <a:solidFill>
                  <a:srgbClr val="FFFFFF"/>
                </a:solidFill>
                <a:latin typeface="Tahoma"/>
                <a:cs typeface="Tahoma"/>
              </a:rPr>
              <a:t>của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0">
                <a:solidFill>
                  <a:srgbClr val="FFFFFF"/>
                </a:solidFill>
                <a:latin typeface="Tahoma"/>
                <a:cs typeface="Tahoma"/>
              </a:rPr>
              <a:t>chúng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5">
                <a:solidFill>
                  <a:srgbClr val="FFFFFF"/>
                </a:solidFill>
                <a:latin typeface="Tahoma"/>
                <a:cs typeface="Tahoma"/>
              </a:rPr>
              <a:t>trong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00">
                <a:solidFill>
                  <a:srgbClr val="FFFFFF"/>
                </a:solidFill>
                <a:latin typeface="Tahoma"/>
                <a:cs typeface="Tahoma"/>
              </a:rPr>
              <a:t>mảng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55">
                <a:solidFill>
                  <a:srgbClr val="FFFFFF"/>
                </a:solidFill>
                <a:latin typeface="Tahoma"/>
                <a:cs typeface="Tahoma"/>
              </a:rPr>
              <a:t>(theo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0">
                <a:solidFill>
                  <a:srgbClr val="FFFFFF"/>
                </a:solidFill>
                <a:latin typeface="Tahoma"/>
                <a:cs typeface="Tahoma"/>
              </a:rPr>
              <a:t>thứ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tự </a:t>
            </a:r>
            <a:r>
              <a:rPr dirty="0" sz="3400" spc="165">
                <a:solidFill>
                  <a:srgbClr val="FFFFFF"/>
                </a:solidFill>
                <a:latin typeface="Tahoma"/>
                <a:cs typeface="Tahoma"/>
              </a:rPr>
              <a:t>hàng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0">
                <a:solidFill>
                  <a:srgbClr val="FFFFFF"/>
                </a:solidFill>
                <a:latin typeface="Tahoma"/>
                <a:cs typeface="Tahoma"/>
              </a:rPr>
              <a:t>hoặc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5">
                <a:solidFill>
                  <a:srgbClr val="FFFFFF"/>
                </a:solidFill>
                <a:latin typeface="Tahoma"/>
                <a:cs typeface="Tahoma"/>
              </a:rPr>
              <a:t>cột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-10">
                <a:solidFill>
                  <a:srgbClr val="FFFFFF"/>
                </a:solidFill>
                <a:latin typeface="Tahoma"/>
                <a:cs typeface="Tahoma"/>
              </a:rPr>
              <a:t>FORTRAN).</a:t>
            </a:r>
            <a:endParaRPr sz="3400">
              <a:latin typeface="Tahoma"/>
              <a:cs typeface="Tahoma"/>
            </a:endParaRPr>
          </a:p>
          <a:p>
            <a:pPr marL="12700" marR="553720">
              <a:lnSpc>
                <a:spcPct val="115799"/>
              </a:lnSpc>
            </a:pPr>
            <a:r>
              <a:rPr dirty="0" sz="3400" b="1">
                <a:solidFill>
                  <a:srgbClr val="FFFFFF"/>
                </a:solidFill>
                <a:latin typeface="Tahoma"/>
                <a:cs typeface="Tahoma"/>
              </a:rPr>
              <a:t>Ảnh</a:t>
            </a:r>
            <a:r>
              <a:rPr dirty="0" sz="3400" spc="-10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75" b="1">
                <a:solidFill>
                  <a:srgbClr val="FFFFFF"/>
                </a:solidFill>
                <a:latin typeface="Tahoma"/>
                <a:cs typeface="Tahoma"/>
              </a:rPr>
              <a:t>hưởng</a:t>
            </a:r>
            <a:r>
              <a:rPr dirty="0" sz="3400" spc="-10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b="1">
                <a:solidFill>
                  <a:srgbClr val="FFFFFF"/>
                </a:solidFill>
                <a:latin typeface="Tahoma"/>
                <a:cs typeface="Tahoma"/>
              </a:rPr>
              <a:t>hiệu</a:t>
            </a:r>
            <a:r>
              <a:rPr dirty="0" sz="3400" spc="-10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-35" b="1">
                <a:solidFill>
                  <a:srgbClr val="FFFFFF"/>
                </a:solidFill>
                <a:latin typeface="Tahoma"/>
                <a:cs typeface="Tahoma"/>
              </a:rPr>
              <a:t>suất:</a:t>
            </a:r>
            <a:r>
              <a:rPr dirty="0" sz="3400" spc="-10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80">
                <a:solidFill>
                  <a:srgbClr val="FFFFFF"/>
                </a:solidFill>
                <a:latin typeface="Tahoma"/>
                <a:cs typeface="Tahoma"/>
              </a:rPr>
              <a:t>Các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75">
                <a:solidFill>
                  <a:srgbClr val="FFFFFF"/>
                </a:solidFill>
                <a:latin typeface="Tahoma"/>
                <a:cs typeface="Tahoma"/>
              </a:rPr>
              <a:t>phép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0">
                <a:solidFill>
                  <a:srgbClr val="FFFFFF"/>
                </a:solidFill>
                <a:latin typeface="Tahoma"/>
                <a:cs typeface="Tahoma"/>
              </a:rPr>
              <a:t>toán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5">
                <a:solidFill>
                  <a:srgbClr val="FFFFFF"/>
                </a:solidFill>
                <a:latin typeface="Tahoma"/>
                <a:cs typeface="Tahoma"/>
              </a:rPr>
              <a:t>trên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0">
                <a:solidFill>
                  <a:srgbClr val="FFFFFF"/>
                </a:solidFill>
                <a:latin typeface="Tahoma"/>
                <a:cs typeface="Tahoma"/>
              </a:rPr>
              <a:t>các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5">
                <a:solidFill>
                  <a:srgbClr val="FFFFFF"/>
                </a:solidFill>
                <a:latin typeface="Tahoma"/>
                <a:cs typeface="Tahoma"/>
              </a:rPr>
              <a:t>khối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00">
                <a:solidFill>
                  <a:srgbClr val="FFFFFF"/>
                </a:solidFill>
                <a:latin typeface="Tahoma"/>
                <a:cs typeface="Tahoma"/>
              </a:rPr>
              <a:t>bộ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80">
                <a:solidFill>
                  <a:srgbClr val="FFFFFF"/>
                </a:solidFill>
                <a:latin typeface="Tahoma"/>
                <a:cs typeface="Tahoma"/>
              </a:rPr>
              <a:t>nhớ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liền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4">
                <a:solidFill>
                  <a:srgbClr val="FFFFFF"/>
                </a:solidFill>
                <a:latin typeface="Tahoma"/>
                <a:cs typeface="Tahoma"/>
              </a:rPr>
              <a:t>kề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70">
                <a:solidFill>
                  <a:srgbClr val="FFFFFF"/>
                </a:solidFill>
                <a:latin typeface="Tahoma"/>
                <a:cs typeface="Tahoma"/>
              </a:rPr>
              <a:t>thường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5">
                <a:solidFill>
                  <a:srgbClr val="FFFFFF"/>
                </a:solidFill>
                <a:latin typeface="Tahoma"/>
                <a:cs typeface="Tahoma"/>
              </a:rPr>
              <a:t>nhanh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5">
                <a:solidFill>
                  <a:srgbClr val="FFFFFF"/>
                </a:solidFill>
                <a:latin typeface="Tahoma"/>
                <a:cs typeface="Tahoma"/>
              </a:rPr>
              <a:t>hơn đáng</a:t>
            </a:r>
            <a:r>
              <a:rPr dirty="0" sz="3400" spc="-1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4">
                <a:solidFill>
                  <a:srgbClr val="FFFFFF"/>
                </a:solidFill>
                <a:latin typeface="Tahoma"/>
                <a:cs typeface="Tahoma"/>
              </a:rPr>
              <a:t>kể</a:t>
            </a:r>
            <a:r>
              <a:rPr dirty="0" sz="3400" spc="-1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00">
                <a:solidFill>
                  <a:srgbClr val="FFFFFF"/>
                </a:solidFill>
                <a:latin typeface="Tahoma"/>
                <a:cs typeface="Tahoma"/>
              </a:rPr>
              <a:t>do</a:t>
            </a:r>
            <a:r>
              <a:rPr dirty="0" sz="3400" spc="-1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5">
                <a:solidFill>
                  <a:srgbClr val="FFFFFF"/>
                </a:solidFill>
                <a:latin typeface="Tahoma"/>
                <a:cs typeface="Tahoma"/>
              </a:rPr>
              <a:t>cơ</a:t>
            </a:r>
            <a:r>
              <a:rPr dirty="0" sz="3400" spc="-1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4">
                <a:solidFill>
                  <a:srgbClr val="FFFFFF"/>
                </a:solidFill>
                <a:latin typeface="Tahoma"/>
                <a:cs typeface="Tahoma"/>
              </a:rPr>
              <a:t>chế</a:t>
            </a:r>
            <a:r>
              <a:rPr dirty="0" sz="3400" spc="-1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85">
                <a:solidFill>
                  <a:srgbClr val="FFFFFF"/>
                </a:solidFill>
                <a:latin typeface="Tahoma"/>
                <a:cs typeface="Tahoma"/>
              </a:rPr>
              <a:t>đệm</a:t>
            </a:r>
            <a:r>
              <a:rPr dirty="0" sz="3400" spc="-1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>
                <a:solidFill>
                  <a:srgbClr val="FFFFFF"/>
                </a:solidFill>
                <a:latin typeface="Tahoma"/>
                <a:cs typeface="Tahoma"/>
              </a:rPr>
              <a:t>(caching)</a:t>
            </a:r>
            <a:r>
              <a:rPr dirty="0" sz="3400" spc="-1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0">
                <a:solidFill>
                  <a:srgbClr val="FFFFFF"/>
                </a:solidFill>
                <a:latin typeface="Tahoma"/>
                <a:cs typeface="Tahoma"/>
              </a:rPr>
              <a:t>của</a:t>
            </a:r>
            <a:r>
              <a:rPr dirty="0" sz="3400" spc="-1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70">
                <a:solidFill>
                  <a:srgbClr val="FFFFFF"/>
                </a:solidFill>
                <a:latin typeface="Tahoma"/>
                <a:cs typeface="Tahoma"/>
              </a:rPr>
              <a:t>CPU.</a:t>
            </a:r>
            <a:endParaRPr sz="3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dirty="0" sz="3400" b="1">
                <a:solidFill>
                  <a:srgbClr val="FFFFFF"/>
                </a:solidFill>
                <a:latin typeface="Tahoma"/>
                <a:cs typeface="Tahoma"/>
              </a:rPr>
              <a:t>Kiểm</a:t>
            </a:r>
            <a:r>
              <a:rPr dirty="0" sz="3400" spc="-13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b="1">
                <a:solidFill>
                  <a:srgbClr val="FFFFFF"/>
                </a:solidFill>
                <a:latin typeface="Tahoma"/>
                <a:cs typeface="Tahoma"/>
              </a:rPr>
              <a:t>tra</a:t>
            </a:r>
            <a:r>
              <a:rPr dirty="0" sz="3400" spc="-12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b="1">
                <a:solidFill>
                  <a:srgbClr val="FFFFFF"/>
                </a:solidFill>
                <a:latin typeface="Tahoma"/>
                <a:cs typeface="Tahoma"/>
              </a:rPr>
              <a:t>và</a:t>
            </a:r>
            <a:r>
              <a:rPr dirty="0" sz="3400" spc="-13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b="1">
                <a:solidFill>
                  <a:srgbClr val="FFFFFF"/>
                </a:solidFill>
                <a:latin typeface="Tahoma"/>
                <a:cs typeface="Tahoma"/>
              </a:rPr>
              <a:t>Chuyển</a:t>
            </a:r>
            <a:r>
              <a:rPr dirty="0" sz="3400" spc="-12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-20" b="1">
                <a:solidFill>
                  <a:srgbClr val="FFFFFF"/>
                </a:solidFill>
                <a:latin typeface="Tahoma"/>
                <a:cs typeface="Tahoma"/>
              </a:rPr>
              <a:t>đổi:</a:t>
            </a:r>
            <a:endParaRPr sz="3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dirty="0" sz="3400" spc="160">
                <a:solidFill>
                  <a:srgbClr val="FFFFFF"/>
                </a:solidFill>
                <a:latin typeface="Tahoma"/>
                <a:cs typeface="Tahoma"/>
              </a:rPr>
              <a:t>Bạn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0">
                <a:solidFill>
                  <a:srgbClr val="FFFFFF"/>
                </a:solidFill>
                <a:latin typeface="Tahoma"/>
                <a:cs typeface="Tahoma"/>
              </a:rPr>
              <a:t>có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thể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0">
                <a:solidFill>
                  <a:srgbClr val="FFFFFF"/>
                </a:solidFill>
                <a:latin typeface="Tahoma"/>
                <a:cs typeface="Tahoma"/>
              </a:rPr>
              <a:t>kiểm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4">
                <a:solidFill>
                  <a:srgbClr val="FFFFFF"/>
                </a:solidFill>
                <a:latin typeface="Tahoma"/>
                <a:cs typeface="Tahoma"/>
              </a:rPr>
              <a:t>tra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5">
                <a:solidFill>
                  <a:srgbClr val="FFFFFF"/>
                </a:solidFill>
                <a:latin typeface="Tahoma"/>
                <a:cs typeface="Tahoma"/>
              </a:rPr>
              <a:t>một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00">
                <a:solidFill>
                  <a:srgbClr val="FFFFFF"/>
                </a:solidFill>
                <a:latin typeface="Tahoma"/>
                <a:cs typeface="Tahoma"/>
              </a:rPr>
              <a:t>mảng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0">
                <a:solidFill>
                  <a:srgbClr val="FFFFFF"/>
                </a:solidFill>
                <a:latin typeface="Tahoma"/>
                <a:cs typeface="Tahoma"/>
              </a:rPr>
              <a:t>có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liền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4">
                <a:solidFill>
                  <a:srgbClr val="FFFFFF"/>
                </a:solidFill>
                <a:latin typeface="Tahoma"/>
                <a:cs typeface="Tahoma"/>
              </a:rPr>
              <a:t>kề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5">
                <a:solidFill>
                  <a:srgbClr val="FFFFFF"/>
                </a:solidFill>
                <a:latin typeface="Tahoma"/>
                <a:cs typeface="Tahoma"/>
              </a:rPr>
              <a:t>hay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75">
                <a:solidFill>
                  <a:srgbClr val="FFFFFF"/>
                </a:solidFill>
                <a:latin typeface="Tahoma"/>
                <a:cs typeface="Tahoma"/>
              </a:rPr>
              <a:t>không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5">
                <a:solidFill>
                  <a:srgbClr val="FFFFFF"/>
                </a:solidFill>
                <a:latin typeface="Tahoma"/>
                <a:cs typeface="Tahoma"/>
              </a:rPr>
              <a:t>thông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0">
                <a:solidFill>
                  <a:srgbClr val="FFFFFF"/>
                </a:solidFill>
                <a:latin typeface="Tahoma"/>
                <a:cs typeface="Tahoma"/>
              </a:rPr>
              <a:t>qua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5">
                <a:solidFill>
                  <a:srgbClr val="FFFFFF"/>
                </a:solidFill>
                <a:latin typeface="Tahoma"/>
                <a:cs typeface="Tahoma"/>
              </a:rPr>
              <a:t>thuộc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5">
                <a:solidFill>
                  <a:srgbClr val="FFFFFF"/>
                </a:solidFill>
                <a:latin typeface="Tahoma"/>
                <a:cs typeface="Tahoma"/>
              </a:rPr>
              <a:t>tính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5">
                <a:solidFill>
                  <a:srgbClr val="FFFFFF"/>
                </a:solidFill>
                <a:latin typeface="Tahoma"/>
                <a:cs typeface="Tahoma"/>
              </a:rPr>
              <a:t>arr.flags.</a:t>
            </a:r>
            <a:endParaRPr sz="3400">
              <a:latin typeface="Tahoma"/>
              <a:cs typeface="Tahoma"/>
            </a:endParaRPr>
          </a:p>
          <a:p>
            <a:pPr marL="12700" marR="5080">
              <a:lnSpc>
                <a:spcPct val="115799"/>
              </a:lnSpc>
            </a:pPr>
            <a:r>
              <a:rPr dirty="0" sz="3400" spc="200">
                <a:solidFill>
                  <a:srgbClr val="FFFFFF"/>
                </a:solidFill>
                <a:latin typeface="Tahoma"/>
                <a:cs typeface="Tahoma"/>
              </a:rPr>
              <a:t>Nếu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5">
                <a:solidFill>
                  <a:srgbClr val="FFFFFF"/>
                </a:solidFill>
                <a:latin typeface="Tahoma"/>
                <a:cs typeface="Tahoma"/>
              </a:rPr>
              <a:t>một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00">
                <a:solidFill>
                  <a:srgbClr val="FFFFFF"/>
                </a:solidFill>
                <a:latin typeface="Tahoma"/>
                <a:cs typeface="Tahoma"/>
              </a:rPr>
              <a:t>mảng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75">
                <a:solidFill>
                  <a:srgbClr val="FFFFFF"/>
                </a:solidFill>
                <a:latin typeface="Tahoma"/>
                <a:cs typeface="Tahoma"/>
              </a:rPr>
              <a:t>không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0">
                <a:solidFill>
                  <a:srgbClr val="FFFFFF"/>
                </a:solidFill>
                <a:latin typeface="Tahoma"/>
                <a:cs typeface="Tahoma"/>
              </a:rPr>
              <a:t>có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0">
                <a:solidFill>
                  <a:srgbClr val="FFFFFF"/>
                </a:solidFill>
                <a:latin typeface="Tahoma"/>
                <a:cs typeface="Tahoma"/>
              </a:rPr>
              <a:t>thứ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tự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00">
                <a:solidFill>
                  <a:srgbClr val="FFFFFF"/>
                </a:solidFill>
                <a:latin typeface="Tahoma"/>
                <a:cs typeface="Tahoma"/>
              </a:rPr>
              <a:t>bộ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80">
                <a:solidFill>
                  <a:srgbClr val="FFFFFF"/>
                </a:solidFill>
                <a:latin typeface="Tahoma"/>
                <a:cs typeface="Tahoma"/>
              </a:rPr>
              <a:t>nhớ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20">
                <a:solidFill>
                  <a:srgbClr val="FFFFFF"/>
                </a:solidFill>
                <a:latin typeface="Tahoma"/>
                <a:cs typeface="Tahoma"/>
              </a:rPr>
              <a:t>mong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muốn,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0">
                <a:solidFill>
                  <a:srgbClr val="FFFFFF"/>
                </a:solidFill>
                <a:latin typeface="Tahoma"/>
                <a:cs typeface="Tahoma"/>
              </a:rPr>
              <a:t>bạn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0">
                <a:solidFill>
                  <a:srgbClr val="FFFFFF"/>
                </a:solidFill>
                <a:latin typeface="Tahoma"/>
                <a:cs typeface="Tahoma"/>
              </a:rPr>
              <a:t>có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thể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tạo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5">
                <a:solidFill>
                  <a:srgbClr val="FFFFFF"/>
                </a:solidFill>
                <a:latin typeface="Tahoma"/>
                <a:cs typeface="Tahoma"/>
              </a:rPr>
              <a:t>một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0">
                <a:solidFill>
                  <a:srgbClr val="FFFFFF"/>
                </a:solidFill>
                <a:latin typeface="Tahoma"/>
                <a:cs typeface="Tahoma"/>
              </a:rPr>
              <a:t>bản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5">
                <a:solidFill>
                  <a:srgbClr val="FFFFFF"/>
                </a:solidFill>
                <a:latin typeface="Tahoma"/>
                <a:cs typeface="Tahoma"/>
              </a:rPr>
              <a:t>sao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95">
                <a:solidFill>
                  <a:srgbClr val="FFFFFF"/>
                </a:solidFill>
                <a:latin typeface="Tahoma"/>
                <a:cs typeface="Tahoma"/>
              </a:rPr>
              <a:t>với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5">
                <a:solidFill>
                  <a:srgbClr val="FFFFFF"/>
                </a:solidFill>
                <a:latin typeface="Tahoma"/>
                <a:cs typeface="Tahoma"/>
              </a:rPr>
              <a:t>thứ </a:t>
            </a: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tự</a:t>
            </a:r>
            <a:r>
              <a:rPr dirty="0" sz="3400" spc="-1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75">
                <a:solidFill>
                  <a:srgbClr val="FFFFFF"/>
                </a:solidFill>
                <a:latin typeface="Tahoma"/>
                <a:cs typeface="Tahoma"/>
              </a:rPr>
              <a:t>đúng</a:t>
            </a:r>
            <a:r>
              <a:rPr dirty="0" sz="3400" spc="-1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70">
                <a:solidFill>
                  <a:srgbClr val="FFFFFF"/>
                </a:solidFill>
                <a:latin typeface="Tahoma"/>
                <a:cs typeface="Tahoma"/>
              </a:rPr>
              <a:t>bằng</a:t>
            </a:r>
            <a:r>
              <a:rPr dirty="0" sz="3400" spc="-1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90">
                <a:solidFill>
                  <a:srgbClr val="FFFFFF"/>
                </a:solidFill>
                <a:latin typeface="Tahoma"/>
                <a:cs typeface="Tahoma"/>
              </a:rPr>
              <a:t>cách</a:t>
            </a:r>
            <a:r>
              <a:rPr dirty="0" sz="3400" spc="-1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0">
                <a:solidFill>
                  <a:srgbClr val="FFFFFF"/>
                </a:solidFill>
                <a:latin typeface="Tahoma"/>
                <a:cs typeface="Tahoma"/>
              </a:rPr>
              <a:t>dùng</a:t>
            </a:r>
            <a:r>
              <a:rPr dirty="0" sz="3400" spc="-1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>
                <a:solidFill>
                  <a:srgbClr val="FFFFFF"/>
                </a:solidFill>
                <a:latin typeface="Tahoma"/>
                <a:cs typeface="Tahoma"/>
              </a:rPr>
              <a:t>.copy(order='C')</a:t>
            </a:r>
            <a:r>
              <a:rPr dirty="0" sz="3400" spc="-1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0">
                <a:solidFill>
                  <a:srgbClr val="FFFFFF"/>
                </a:solidFill>
                <a:latin typeface="Tahoma"/>
                <a:cs typeface="Tahoma"/>
              </a:rPr>
              <a:t>hoặc</a:t>
            </a:r>
            <a:r>
              <a:rPr dirty="0" sz="3400" spc="-1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-10">
                <a:solidFill>
                  <a:srgbClr val="FFFFFF"/>
                </a:solidFill>
                <a:latin typeface="Tahoma"/>
                <a:cs typeface="Tahoma"/>
              </a:rPr>
              <a:t>.copy(order='F').</a:t>
            </a:r>
            <a:endParaRPr sz="3400">
              <a:latin typeface="Tahoma"/>
              <a:cs typeface="Tahoma"/>
            </a:endParaRPr>
          </a:p>
          <a:p>
            <a:pPr marL="12700" marR="711835">
              <a:lnSpc>
                <a:spcPct val="115799"/>
              </a:lnSpc>
            </a:pPr>
            <a:r>
              <a:rPr dirty="0" sz="3400" b="1">
                <a:solidFill>
                  <a:srgbClr val="FFFFFF"/>
                </a:solidFill>
                <a:latin typeface="Tahoma"/>
                <a:cs typeface="Tahoma"/>
              </a:rPr>
              <a:t>Lưu</a:t>
            </a:r>
            <a:r>
              <a:rPr dirty="0" sz="3400" spc="-10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-165" b="1">
                <a:solidFill>
                  <a:srgbClr val="FFFFFF"/>
                </a:solidFill>
                <a:latin typeface="Tahoma"/>
                <a:cs typeface="Tahoma"/>
              </a:rPr>
              <a:t>ý:</a:t>
            </a:r>
            <a:r>
              <a:rPr dirty="0" sz="3400" spc="-10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80">
                <a:solidFill>
                  <a:srgbClr val="FFFFFF"/>
                </a:solidFill>
                <a:latin typeface="Tahoma"/>
                <a:cs typeface="Tahoma"/>
              </a:rPr>
              <a:t>Các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5">
                <a:solidFill>
                  <a:srgbClr val="FFFFFF"/>
                </a:solidFill>
                <a:latin typeface="Tahoma"/>
                <a:cs typeface="Tahoma"/>
              </a:rPr>
              <a:t>"view"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0">
                <a:solidFill>
                  <a:srgbClr val="FFFFFF"/>
                </a:solidFill>
                <a:latin typeface="Tahoma"/>
                <a:cs typeface="Tahoma"/>
              </a:rPr>
              <a:t>được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tạo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5">
                <a:solidFill>
                  <a:srgbClr val="FFFFFF"/>
                </a:solidFill>
                <a:latin typeface="Tahoma"/>
                <a:cs typeface="Tahoma"/>
              </a:rPr>
              <a:t>ra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từ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0">
                <a:solidFill>
                  <a:srgbClr val="FFFFFF"/>
                </a:solidFill>
                <a:latin typeface="Tahoma"/>
                <a:cs typeface="Tahoma"/>
              </a:rPr>
              <a:t>các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0">
                <a:solidFill>
                  <a:srgbClr val="FFFFFF"/>
                </a:solidFill>
                <a:latin typeface="Tahoma"/>
                <a:cs typeface="Tahoma"/>
              </a:rPr>
              <a:t>thao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70">
                <a:solidFill>
                  <a:srgbClr val="FFFFFF"/>
                </a:solidFill>
                <a:latin typeface="Tahoma"/>
                <a:cs typeface="Tahoma"/>
              </a:rPr>
              <a:t>tác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4">
                <a:solidFill>
                  <a:srgbClr val="FFFFFF"/>
                </a:solidFill>
                <a:latin typeface="Tahoma"/>
                <a:cs typeface="Tahoma"/>
              </a:rPr>
              <a:t>slicing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0">
                <a:solidFill>
                  <a:srgbClr val="FFFFFF"/>
                </a:solidFill>
                <a:latin typeface="Tahoma"/>
                <a:cs typeface="Tahoma"/>
              </a:rPr>
              <a:t>phức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tạp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-45">
                <a:solidFill>
                  <a:srgbClr val="FFFFFF"/>
                </a:solidFill>
                <a:latin typeface="Tahoma"/>
                <a:cs typeface="Tahoma"/>
              </a:rPr>
              <a:t>(ví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>
                <a:solidFill>
                  <a:srgbClr val="FFFFFF"/>
                </a:solidFill>
                <a:latin typeface="Tahoma"/>
                <a:cs typeface="Tahoma"/>
              </a:rPr>
              <a:t>dụ: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-20">
                <a:solidFill>
                  <a:srgbClr val="FFFFFF"/>
                </a:solidFill>
                <a:latin typeface="Tahoma"/>
                <a:cs typeface="Tahoma"/>
              </a:rPr>
              <a:t>arr[:,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-125">
                <a:solidFill>
                  <a:srgbClr val="FFFFFF"/>
                </a:solidFill>
                <a:latin typeface="Tahoma"/>
                <a:cs typeface="Tahoma"/>
              </a:rPr>
              <a:t>:50])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5">
                <a:solidFill>
                  <a:srgbClr val="FFFFFF"/>
                </a:solidFill>
                <a:latin typeface="Tahoma"/>
                <a:cs typeface="Tahoma"/>
              </a:rPr>
              <a:t>không </a:t>
            </a:r>
            <a:r>
              <a:rPr dirty="0" sz="3400" spc="140">
                <a:solidFill>
                  <a:srgbClr val="FFFFFF"/>
                </a:solidFill>
                <a:latin typeface="Tahoma"/>
                <a:cs typeface="Tahoma"/>
              </a:rPr>
              <a:t>được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80">
                <a:solidFill>
                  <a:srgbClr val="FFFFFF"/>
                </a:solidFill>
                <a:latin typeface="Tahoma"/>
                <a:cs typeface="Tahoma"/>
              </a:rPr>
              <a:t>đảm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5">
                <a:solidFill>
                  <a:srgbClr val="FFFFFF"/>
                </a:solidFill>
                <a:latin typeface="Tahoma"/>
                <a:cs typeface="Tahoma"/>
              </a:rPr>
              <a:t>bảo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0">
                <a:solidFill>
                  <a:srgbClr val="FFFFFF"/>
                </a:solidFill>
                <a:latin typeface="Tahoma"/>
                <a:cs typeface="Tahoma"/>
              </a:rPr>
              <a:t>là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0">
                <a:solidFill>
                  <a:srgbClr val="FFFFFF"/>
                </a:solidFill>
                <a:latin typeface="Tahoma"/>
                <a:cs typeface="Tahoma"/>
              </a:rPr>
              <a:t>sẽ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liền</a:t>
            </a:r>
            <a:r>
              <a:rPr dirty="0" sz="34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-25">
                <a:solidFill>
                  <a:srgbClr val="FFFFFF"/>
                </a:solidFill>
                <a:latin typeface="Tahoma"/>
                <a:cs typeface="Tahoma"/>
              </a:rPr>
              <a:t>kề.</a:t>
            </a:r>
            <a:endParaRPr sz="3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32322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99584" y="1510825"/>
            <a:ext cx="3988416" cy="802357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715964" y="3576105"/>
            <a:ext cx="11993880" cy="2423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dirty="0" sz="3400" spc="95">
                <a:solidFill>
                  <a:srgbClr val="FFFFFF"/>
                </a:solidFill>
                <a:latin typeface="Tahoma"/>
                <a:cs typeface="Tahoma"/>
              </a:rPr>
              <a:t>Tóm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>
                <a:solidFill>
                  <a:srgbClr val="FFFFFF"/>
                </a:solidFill>
                <a:latin typeface="Tahoma"/>
                <a:cs typeface="Tahoma"/>
              </a:rPr>
              <a:t>lại,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0">
                <a:solidFill>
                  <a:srgbClr val="FFFFFF"/>
                </a:solidFill>
                <a:latin typeface="Tahoma"/>
                <a:cs typeface="Tahoma"/>
              </a:rPr>
              <a:t>phụ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5">
                <a:solidFill>
                  <a:srgbClr val="FFFFFF"/>
                </a:solidFill>
                <a:latin typeface="Tahoma"/>
                <a:cs typeface="Tahoma"/>
              </a:rPr>
              <a:t>lục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5">
                <a:solidFill>
                  <a:srgbClr val="FFFFFF"/>
                </a:solidFill>
                <a:latin typeface="Tahoma"/>
                <a:cs typeface="Tahoma"/>
              </a:rPr>
              <a:t>này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40">
                <a:solidFill>
                  <a:srgbClr val="FFFFFF"/>
                </a:solidFill>
                <a:latin typeface="Tahoma"/>
                <a:cs typeface="Tahoma"/>
              </a:rPr>
              <a:t>mở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80">
                <a:solidFill>
                  <a:srgbClr val="FFFFFF"/>
                </a:solidFill>
                <a:latin typeface="Tahoma"/>
                <a:cs typeface="Tahoma"/>
              </a:rPr>
              <a:t>rộng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0">
                <a:solidFill>
                  <a:srgbClr val="FFFFFF"/>
                </a:solidFill>
                <a:latin typeface="Tahoma"/>
                <a:cs typeface="Tahoma"/>
              </a:rPr>
              <a:t>các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kiến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thức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75">
                <a:solidFill>
                  <a:srgbClr val="FFFFFF"/>
                </a:solidFill>
                <a:latin typeface="Tahoma"/>
                <a:cs typeface="Tahoma"/>
              </a:rPr>
              <a:t>về</a:t>
            </a:r>
            <a:r>
              <a:rPr dirty="0" sz="34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30">
                <a:solidFill>
                  <a:srgbClr val="FFFFFF"/>
                </a:solidFill>
                <a:latin typeface="Tahoma"/>
                <a:cs typeface="Tahoma"/>
              </a:rPr>
              <a:t>NumPy,</a:t>
            </a:r>
            <a:r>
              <a:rPr dirty="0" sz="34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00">
                <a:solidFill>
                  <a:srgbClr val="FFFFFF"/>
                </a:solidFill>
                <a:latin typeface="Tahoma"/>
                <a:cs typeface="Tahoma"/>
              </a:rPr>
              <a:t>tập </a:t>
            </a:r>
            <a:r>
              <a:rPr dirty="0" sz="3400" spc="160">
                <a:solidFill>
                  <a:srgbClr val="FFFFFF"/>
                </a:solidFill>
                <a:latin typeface="Tahoma"/>
                <a:cs typeface="Tahoma"/>
              </a:rPr>
              <a:t>trung</a:t>
            </a:r>
            <a:r>
              <a:rPr dirty="0" sz="3400" spc="-1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0">
                <a:solidFill>
                  <a:srgbClr val="FFFFFF"/>
                </a:solidFill>
                <a:latin typeface="Tahoma"/>
                <a:cs typeface="Tahoma"/>
              </a:rPr>
              <a:t>vào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0">
                <a:solidFill>
                  <a:srgbClr val="FFFFFF"/>
                </a:solidFill>
                <a:latin typeface="Tahoma"/>
                <a:cs typeface="Tahoma"/>
              </a:rPr>
              <a:t>các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70">
                <a:solidFill>
                  <a:srgbClr val="FFFFFF"/>
                </a:solidFill>
                <a:latin typeface="Tahoma"/>
                <a:cs typeface="Tahoma"/>
              </a:rPr>
              <a:t>kỹ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5">
                <a:solidFill>
                  <a:srgbClr val="FFFFFF"/>
                </a:solidFill>
                <a:latin typeface="Tahoma"/>
                <a:cs typeface="Tahoma"/>
              </a:rPr>
              <a:t>thuật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20">
                <a:solidFill>
                  <a:srgbClr val="FFFFFF"/>
                </a:solidFill>
                <a:latin typeface="Tahoma"/>
                <a:cs typeface="Tahoma"/>
              </a:rPr>
              <a:t>tối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5">
                <a:solidFill>
                  <a:srgbClr val="FFFFFF"/>
                </a:solidFill>
                <a:latin typeface="Tahoma"/>
                <a:cs typeface="Tahoma"/>
              </a:rPr>
              <a:t>ưu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0">
                <a:solidFill>
                  <a:srgbClr val="FFFFFF"/>
                </a:solidFill>
                <a:latin typeface="Tahoma"/>
                <a:cs typeface="Tahoma"/>
              </a:rPr>
              <a:t>hóa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5">
                <a:solidFill>
                  <a:srgbClr val="FFFFFF"/>
                </a:solidFill>
                <a:latin typeface="Tahoma"/>
                <a:cs typeface="Tahoma"/>
              </a:rPr>
              <a:t>hiệu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4">
                <a:solidFill>
                  <a:srgbClr val="FFFFFF"/>
                </a:solidFill>
                <a:latin typeface="Tahoma"/>
                <a:cs typeface="Tahoma"/>
              </a:rPr>
              <a:t>suất</a:t>
            </a:r>
            <a:r>
              <a:rPr dirty="0" sz="3400" spc="-1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5">
                <a:solidFill>
                  <a:srgbClr val="FFFFFF"/>
                </a:solidFill>
                <a:latin typeface="Tahoma"/>
                <a:cs typeface="Tahoma"/>
              </a:rPr>
              <a:t>thông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0">
                <a:solidFill>
                  <a:srgbClr val="FFFFFF"/>
                </a:solidFill>
                <a:latin typeface="Tahoma"/>
                <a:cs typeface="Tahoma"/>
              </a:rPr>
              <a:t>qua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50">
                <a:solidFill>
                  <a:srgbClr val="FFFFFF"/>
                </a:solidFill>
                <a:latin typeface="Tahoma"/>
                <a:cs typeface="Tahoma"/>
              </a:rPr>
              <a:t>việc </a:t>
            </a:r>
            <a:r>
              <a:rPr dirty="0" sz="3400" spc="145">
                <a:solidFill>
                  <a:srgbClr val="FFFFFF"/>
                </a:solidFill>
                <a:latin typeface="Tahoma"/>
                <a:cs typeface="Tahoma"/>
              </a:rPr>
              <a:t>hiểu</a:t>
            </a:r>
            <a:r>
              <a:rPr dirty="0" sz="3400" spc="-1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70">
                <a:solidFill>
                  <a:srgbClr val="FFFFFF"/>
                </a:solidFill>
                <a:latin typeface="Tahoma"/>
                <a:cs typeface="Tahoma"/>
              </a:rPr>
              <a:t>rõ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0">
                <a:solidFill>
                  <a:srgbClr val="FFFFFF"/>
                </a:solidFill>
                <a:latin typeface="Tahoma"/>
                <a:cs typeface="Tahoma"/>
              </a:rPr>
              <a:t>cấu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4">
                <a:solidFill>
                  <a:srgbClr val="FFFFFF"/>
                </a:solidFill>
                <a:latin typeface="Tahoma"/>
                <a:cs typeface="Tahoma"/>
              </a:rPr>
              <a:t>trúc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00">
                <a:solidFill>
                  <a:srgbClr val="FFFFFF"/>
                </a:solidFill>
                <a:latin typeface="Tahoma"/>
                <a:cs typeface="Tahoma"/>
              </a:rPr>
              <a:t>dữ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70">
                <a:solidFill>
                  <a:srgbClr val="FFFFFF"/>
                </a:solidFill>
                <a:latin typeface="Tahoma"/>
                <a:cs typeface="Tahoma"/>
              </a:rPr>
              <a:t>liệu,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0">
                <a:solidFill>
                  <a:srgbClr val="FFFFFF"/>
                </a:solidFill>
                <a:latin typeface="Tahoma"/>
                <a:cs typeface="Tahoma"/>
              </a:rPr>
              <a:t>sử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0">
                <a:solidFill>
                  <a:srgbClr val="FFFFFF"/>
                </a:solidFill>
                <a:latin typeface="Tahoma"/>
                <a:cs typeface="Tahoma"/>
              </a:rPr>
              <a:t>dụng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0">
                <a:solidFill>
                  <a:srgbClr val="FFFFFF"/>
                </a:solidFill>
                <a:latin typeface="Tahoma"/>
                <a:cs typeface="Tahoma"/>
              </a:rPr>
              <a:t>các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55">
                <a:solidFill>
                  <a:srgbClr val="FFFFFF"/>
                </a:solidFill>
                <a:latin typeface="Tahoma"/>
                <a:cs typeface="Tahoma"/>
              </a:rPr>
              <a:t>công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4">
                <a:solidFill>
                  <a:srgbClr val="FFFFFF"/>
                </a:solidFill>
                <a:latin typeface="Tahoma"/>
                <a:cs typeface="Tahoma"/>
              </a:rPr>
              <a:t>cụ</a:t>
            </a:r>
            <a:r>
              <a:rPr dirty="0" sz="3400" spc="-1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5">
                <a:solidFill>
                  <a:srgbClr val="FFFFFF"/>
                </a:solidFill>
                <a:latin typeface="Tahoma"/>
                <a:cs typeface="Tahoma"/>
              </a:rPr>
              <a:t>nâng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14">
                <a:solidFill>
                  <a:srgbClr val="FFFFFF"/>
                </a:solidFill>
                <a:latin typeface="Tahoma"/>
                <a:cs typeface="Tahoma"/>
              </a:rPr>
              <a:t>cao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5">
                <a:solidFill>
                  <a:srgbClr val="FFFFFF"/>
                </a:solidFill>
                <a:latin typeface="Tahoma"/>
                <a:cs typeface="Tahoma"/>
              </a:rPr>
              <a:t>như </a:t>
            </a:r>
            <a:r>
              <a:rPr dirty="0" sz="3400" spc="160">
                <a:solidFill>
                  <a:srgbClr val="FFFFFF"/>
                </a:solidFill>
                <a:latin typeface="Tahoma"/>
                <a:cs typeface="Tahoma"/>
              </a:rPr>
              <a:t>Numba,</a:t>
            </a:r>
            <a:r>
              <a:rPr dirty="0" sz="3400" spc="-1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5">
                <a:solidFill>
                  <a:srgbClr val="FFFFFF"/>
                </a:solidFill>
                <a:latin typeface="Tahoma"/>
                <a:cs typeface="Tahoma"/>
              </a:rPr>
              <a:t>và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65">
                <a:solidFill>
                  <a:srgbClr val="FFFFFF"/>
                </a:solidFill>
                <a:latin typeface="Tahoma"/>
                <a:cs typeface="Tahoma"/>
              </a:rPr>
              <a:t>quản</a:t>
            </a:r>
            <a:r>
              <a:rPr dirty="0" sz="3400" spc="-1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60">
                <a:solidFill>
                  <a:srgbClr val="FFFFFF"/>
                </a:solidFill>
                <a:latin typeface="Tahoma"/>
                <a:cs typeface="Tahoma"/>
              </a:rPr>
              <a:t>lý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200">
                <a:solidFill>
                  <a:srgbClr val="FFFFFF"/>
                </a:solidFill>
                <a:latin typeface="Tahoma"/>
                <a:cs typeface="Tahoma"/>
              </a:rPr>
              <a:t>bộ</a:t>
            </a:r>
            <a:r>
              <a:rPr dirty="0" sz="3400" spc="-1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80">
                <a:solidFill>
                  <a:srgbClr val="FFFFFF"/>
                </a:solidFill>
                <a:latin typeface="Tahoma"/>
                <a:cs typeface="Tahoma"/>
              </a:rPr>
              <a:t>nhớ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95">
                <a:solidFill>
                  <a:srgbClr val="FFFFFF"/>
                </a:solidFill>
                <a:latin typeface="Tahoma"/>
                <a:cs typeface="Tahoma"/>
              </a:rPr>
              <a:t>một</a:t>
            </a:r>
            <a:r>
              <a:rPr dirty="0" sz="3400" spc="-1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90">
                <a:solidFill>
                  <a:srgbClr val="FFFFFF"/>
                </a:solidFill>
                <a:latin typeface="Tahoma"/>
                <a:cs typeface="Tahoma"/>
              </a:rPr>
              <a:t>cách</a:t>
            </a:r>
            <a:r>
              <a:rPr dirty="0" sz="34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145">
                <a:solidFill>
                  <a:srgbClr val="FFFFFF"/>
                </a:solidFill>
                <a:latin typeface="Tahoma"/>
                <a:cs typeface="Tahoma"/>
              </a:rPr>
              <a:t>hiệu</a:t>
            </a:r>
            <a:r>
              <a:rPr dirty="0" sz="3400" spc="-1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00" spc="70">
                <a:solidFill>
                  <a:srgbClr val="FFFFFF"/>
                </a:solidFill>
                <a:latin typeface="Tahoma"/>
                <a:cs typeface="Tahoma"/>
              </a:rPr>
              <a:t>quả.</a:t>
            </a:r>
            <a:endParaRPr sz="3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3232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77555" y="4248647"/>
            <a:ext cx="6746240" cy="2098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600" spc="690">
                <a:solidFill>
                  <a:srgbClr val="FFFFFF"/>
                </a:solidFill>
                <a:latin typeface="Tahoma"/>
                <a:cs typeface="Tahoma"/>
              </a:rPr>
              <a:t>Cảm</a:t>
            </a:r>
            <a:r>
              <a:rPr dirty="0" sz="13600" spc="-7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3600" spc="165">
                <a:solidFill>
                  <a:srgbClr val="FFFFFF"/>
                </a:solidFill>
                <a:latin typeface="Tahoma"/>
                <a:cs typeface="Tahoma"/>
              </a:rPr>
              <a:t>ơn!</a:t>
            </a:r>
            <a:endParaRPr sz="13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Đỗ Hữu Lộc</dc:creator>
  <cp:keywords>DAG104wj6mc,BAGUob4hdHY,0</cp:keywords>
  <dc:title>Showcase of Skills and Projects</dc:title>
  <dcterms:created xsi:type="dcterms:W3CDTF">2025-10-16T16:21:32Z</dcterms:created>
  <dcterms:modified xsi:type="dcterms:W3CDTF">2025-10-16T16:21:32Z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2025-10-15T00:00:00Z</vt:filetime>
  </property>
  <property fmtid="{D5CDD505-2E9C-101B-9397-08002B2CF9AE}" pid="3" name="Creator">
    <vt:lpwstr>Canva</vt:lpwstr>
  </property>
  <property fmtid="{D5CDD505-2E9C-101B-9397-08002B2CF9AE}" pid="4" name="LastSaved">
    <vt:filetime>2025-10-16T00:00:00Z</vt:filetime>
  </property>
  <property fmtid="{D5CDD505-2E9C-101B-9397-08002B2CF9AE}" pid="5" name="Producer">
    <vt:lpwstr>Canva</vt:lpwstr>
  </property>
</Properties>
</file>