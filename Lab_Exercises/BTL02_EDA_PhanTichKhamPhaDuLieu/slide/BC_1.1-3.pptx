
<file path=[Content_Types].xml><?xml version="1.0" encoding="utf-8"?>
<Types xmlns="http://schemas.openxmlformats.org/package/2006/content-types">
  <Default Extension="bin" ContentType="image/unknown"/>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6" r:id="rId6"/>
    <p:sldId id="267" r:id="rId7"/>
    <p:sldId id="268" r:id="rId8"/>
    <p:sldId id="269" r:id="rId9"/>
    <p:sldId id="260" r:id="rId10"/>
    <p:sldId id="261" r:id="rId11"/>
    <p:sldId id="262" r:id="rId12"/>
    <p:sldId id="263" r:id="rId13"/>
    <p:sldId id="264"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498"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39107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bin"/><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bin"/><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bin"/><Relationship Id="rId5" Type="http://schemas.openxmlformats.org/officeDocument/2006/relationships/image" Target="../media/image4.bin"/><Relationship Id="rId4" Type="http://schemas.openxmlformats.org/officeDocument/2006/relationships/image" Target="../media/image3.bin"/></Relationships>
</file>

<file path=ppt/slides/_rels/slide3.xml.rels><?xml version="1.0" encoding="UTF-8" standalone="yes"?>
<Relationships xmlns="http://schemas.openxmlformats.org/package/2006/relationships"><Relationship Id="rId3" Type="http://schemas.openxmlformats.org/officeDocument/2006/relationships/image" Target="../media/image2.bin"/><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bin"/></Relationships>
</file>

<file path=ppt/slides/_rels/slide4.xml.rels><?xml version="1.0" encoding="UTF-8" standalone="yes"?>
<Relationships xmlns="http://schemas.openxmlformats.org/package/2006/relationships"><Relationship Id="rId3" Type="http://schemas.openxmlformats.org/officeDocument/2006/relationships/image" Target="../media/image2.bin"/><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bin"/></Relationships>
</file>

<file path=ppt/slides/_rels/slide5.xml.rels><?xml version="1.0" encoding="UTF-8" standalone="yes"?>
<Relationships xmlns="http://schemas.openxmlformats.org/package/2006/relationships"><Relationship Id="rId3" Type="http://schemas.openxmlformats.org/officeDocument/2006/relationships/image" Target="../media/image8.bin"/><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bin"/><Relationship Id="rId7" Type="http://schemas.openxmlformats.org/officeDocument/2006/relationships/image" Target="../media/image13.bin"/><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bin"/><Relationship Id="rId5" Type="http://schemas.openxmlformats.org/officeDocument/2006/relationships/image" Target="../media/image11.bin"/><Relationship Id="rId4" Type="http://schemas.openxmlformats.org/officeDocument/2006/relationships/image" Target="../media/image10.bin"/></Relationships>
</file>

<file path=ppt/slides/_rels/slide7.xml.rels><?xml version="1.0" encoding="UTF-8" standalone="yes"?>
<Relationships xmlns="http://schemas.openxmlformats.org/package/2006/relationships"><Relationship Id="rId3" Type="http://schemas.openxmlformats.org/officeDocument/2006/relationships/image" Target="../media/image9.bin"/><Relationship Id="rId7" Type="http://schemas.openxmlformats.org/officeDocument/2006/relationships/image" Target="../media/image13.bin"/><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bin"/><Relationship Id="rId5" Type="http://schemas.openxmlformats.org/officeDocument/2006/relationships/image" Target="../media/image11.bin"/><Relationship Id="rId4" Type="http://schemas.openxmlformats.org/officeDocument/2006/relationships/image" Target="../media/image10.bin"/></Relationships>
</file>

<file path=ppt/slides/_rels/slide8.xml.rels><?xml version="1.0" encoding="UTF-8" standalone="yes"?>
<Relationships xmlns="http://schemas.openxmlformats.org/package/2006/relationships"><Relationship Id="rId3" Type="http://schemas.openxmlformats.org/officeDocument/2006/relationships/image" Target="../media/image14.bin"/><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bin"/></Relationships>
</file>

<file path=ppt/slides/_rels/slide9.xml.rels><?xml version="1.0" encoding="UTF-8" standalone="yes"?>
<Relationships xmlns="http://schemas.openxmlformats.org/package/2006/relationships"><Relationship Id="rId3" Type="http://schemas.openxmlformats.org/officeDocument/2006/relationships/image" Target="../media/image2.bin"/><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6.bin"/></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bin"/><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0.bin"/></Relationships>
</file>

<file path=ppt/slides/_rels/slide13.xml.rels><?xml version="1.0" encoding="UTF-8" standalone="yes"?>
<Relationships xmlns="http://schemas.openxmlformats.org/package/2006/relationships"><Relationship Id="rId3" Type="http://schemas.openxmlformats.org/officeDocument/2006/relationships/image" Target="../media/image21.bin"/><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3.bin"/><Relationship Id="rId4" Type="http://schemas.openxmlformats.org/officeDocument/2006/relationships/image" Target="../media/image22.bin"/></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7358063" y="-1071562"/>
            <a:ext cx="2857500" cy="2857500"/>
          </a:xfrm>
          <a:prstGeom prst="ellipse">
            <a:avLst/>
          </a:prstGeom>
          <a:solidFill>
            <a:srgbClr val="FFFFFF">
              <a:alpha val="10000"/>
            </a:srgbClr>
          </a:solidFill>
          <a:ln/>
        </p:spPr>
        <p:txBody>
          <a:bodyPr/>
          <a:lstStyle/>
          <a:p>
            <a:endParaRPr lang="en-US"/>
          </a:p>
        </p:txBody>
      </p:sp>
      <p:sp>
        <p:nvSpPr>
          <p:cNvPr id="4" name="Shape 1"/>
          <p:cNvSpPr/>
          <p:nvPr/>
        </p:nvSpPr>
        <p:spPr>
          <a:xfrm>
            <a:off x="-714375" y="3714750"/>
            <a:ext cx="2143125" cy="2143125"/>
          </a:xfrm>
          <a:prstGeom prst="ellipse">
            <a:avLst/>
          </a:prstGeom>
          <a:solidFill>
            <a:srgbClr val="10B981">
              <a:alpha val="10000"/>
            </a:srgbClr>
          </a:solidFill>
          <a:ln/>
        </p:spPr>
        <p:txBody>
          <a:bodyPr/>
          <a:lstStyle/>
          <a:p>
            <a:endParaRPr lang="en-US"/>
          </a:p>
        </p:txBody>
      </p:sp>
      <p:sp>
        <p:nvSpPr>
          <p:cNvPr id="5" name="Text 2"/>
          <p:cNvSpPr/>
          <p:nvPr/>
        </p:nvSpPr>
        <p:spPr>
          <a:xfrm>
            <a:off x="1754014" y="1714500"/>
            <a:ext cx="5635972" cy="685800"/>
          </a:xfrm>
          <a:prstGeom prst="rect">
            <a:avLst/>
          </a:prstGeom>
          <a:noFill/>
          <a:ln/>
        </p:spPr>
        <p:txBody>
          <a:bodyPr wrap="none" lIns="0" tIns="0" rIns="0" bIns="0" rtlCol="0" anchor="ctr">
            <a:spAutoFit/>
          </a:bodyPr>
          <a:lstStyle/>
          <a:p>
            <a:pPr marL="0" indent="0" algn="ctr">
              <a:buNone/>
            </a:pPr>
            <a:r>
              <a:rPr lang="en-US" sz="3600" b="1" dirty="0">
                <a:solidFill>
                  <a:srgbClr val="FFFFFF"/>
                </a:solidFill>
                <a:latin typeface="Inter" pitchFamily="34" charset="0"/>
                <a:ea typeface="Inter" pitchFamily="34" charset="-122"/>
                <a:cs typeface="Inter" pitchFamily="34" charset="-120"/>
              </a:rPr>
              <a:t>Báo cáo Phân tích Dữ liệu</a:t>
            </a:r>
            <a:endParaRPr lang="en-US" sz="3600" dirty="0"/>
          </a:p>
        </p:txBody>
      </p:sp>
      <p:sp>
        <p:nvSpPr>
          <p:cNvPr id="6" name="Shape 3"/>
          <p:cNvSpPr/>
          <p:nvPr/>
        </p:nvSpPr>
        <p:spPr>
          <a:xfrm>
            <a:off x="3857625" y="2828925"/>
            <a:ext cx="1428750" cy="42863"/>
          </a:xfrm>
          <a:prstGeom prst="rect">
            <a:avLst/>
          </a:prstGeom>
          <a:solidFill>
            <a:srgbClr val="10B981"/>
          </a:solidFill>
          <a:ln/>
        </p:spPr>
        <p:txBody>
          <a:bodyPr/>
          <a:lstStyle/>
          <a:p>
            <a:endParaRPr lang="en-US"/>
          </a:p>
        </p:txBody>
      </p:sp>
      <p:sp>
        <p:nvSpPr>
          <p:cNvPr id="7" name="Text 4"/>
          <p:cNvSpPr/>
          <p:nvPr/>
        </p:nvSpPr>
        <p:spPr>
          <a:xfrm>
            <a:off x="1231850" y="3086100"/>
            <a:ext cx="6680299" cy="342900"/>
          </a:xfrm>
          <a:prstGeom prst="rect">
            <a:avLst/>
          </a:prstGeom>
          <a:noFill/>
          <a:ln/>
        </p:spPr>
        <p:txBody>
          <a:bodyPr wrap="none" lIns="0" tIns="0" rIns="0" bIns="0" rtlCol="0" anchor="ctr">
            <a:spAutoFit/>
          </a:bodyPr>
          <a:lstStyle/>
          <a:p>
            <a:pPr marL="0" indent="0" algn="ctr">
              <a:buNone/>
            </a:pPr>
            <a:r>
              <a:rPr lang="en-US" sz="1800" dirty="0">
                <a:solidFill>
                  <a:srgbClr val="E5E7EB"/>
                </a:solidFill>
                <a:latin typeface="Inter" pitchFamily="34" charset="0"/>
                <a:ea typeface="Inter" pitchFamily="34" charset="-122"/>
                <a:cs typeface="Inter" pitchFamily="34" charset="-120"/>
              </a:rPr>
              <a:t>Khám phá xu hướng từ Bitly, MovieLens và Tên trẻ em Hoa Kỳ</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8001000" cy="342900"/>
          </a:xfrm>
          <a:prstGeom prst="rect">
            <a:avLst/>
          </a:prstGeom>
          <a:noFill/>
          <a:ln/>
        </p:spPr>
        <p:txBody>
          <a:bodyPr wrap="none" lIns="0" tIns="0" rIns="0" bIns="0" rtlCol="0" anchor="ctr">
            <a:spAutoFit/>
          </a:bodyPr>
          <a:lstStyle/>
          <a:p>
            <a:pPr marL="0" indent="0">
              <a:buNone/>
            </a:pPr>
            <a:r>
              <a:rPr lang="en-US" sz="1800" b="1" dirty="0">
                <a:solidFill>
                  <a:srgbClr val="1E3A8A"/>
                </a:solidFill>
                <a:latin typeface="Inter" pitchFamily="34" charset="0"/>
                <a:ea typeface="Inter" pitchFamily="34" charset="-122"/>
                <a:cs typeface="Inter" pitchFamily="34" charset="-120"/>
              </a:rPr>
              <a:t>Tổng quan Dữ liệu</a:t>
            </a:r>
            <a:endParaRPr lang="en-US" sz="1800" dirty="0"/>
          </a:p>
        </p:txBody>
      </p:sp>
      <p:pic>
        <p:nvPicPr>
          <p:cNvPr id="4" name="Image 1" descr="preencoded.png"/>
          <p:cNvPicPr>
            <a:picLocks noChangeAspect="1"/>
          </p:cNvPicPr>
          <p:nvPr/>
        </p:nvPicPr>
        <p:blipFill>
          <a:blip r:embed="rId4"/>
          <a:stretch>
            <a:fillRect/>
          </a:stretch>
        </p:blipFill>
        <p:spPr>
          <a:xfrm>
            <a:off x="571500" y="1078706"/>
            <a:ext cx="214313" cy="171450"/>
          </a:xfrm>
          <a:prstGeom prst="rect">
            <a:avLst/>
          </a:prstGeom>
        </p:spPr>
      </p:pic>
      <p:sp>
        <p:nvSpPr>
          <p:cNvPr id="5" name="Text 1"/>
          <p:cNvSpPr/>
          <p:nvPr/>
        </p:nvSpPr>
        <p:spPr>
          <a:xfrm>
            <a:off x="871538" y="1057275"/>
            <a:ext cx="1763362" cy="214313"/>
          </a:xfrm>
          <a:prstGeom prst="rect">
            <a:avLst/>
          </a:prstGeom>
          <a:noFill/>
          <a:ln/>
        </p:spPr>
        <p:txBody>
          <a:bodyPr wrap="none" lIns="0" tIns="0" rIns="0" bIns="0" rtlCol="0" anchor="ctr">
            <a:spAutoFit/>
          </a:bodyPr>
          <a:lstStyle/>
          <a:p>
            <a:pPr marL="0" indent="0">
              <a:buNone/>
            </a:pPr>
            <a:r>
              <a:rPr lang="en-US" sz="1046" b="1" dirty="0">
                <a:solidFill>
                  <a:srgbClr val="3B82F6"/>
                </a:solidFill>
                <a:latin typeface="Inter" pitchFamily="34" charset="0"/>
                <a:ea typeface="Inter" pitchFamily="34" charset="-122"/>
                <a:cs typeface="Inter" pitchFamily="34" charset="-120"/>
              </a:rPr>
              <a:t> Dữ liệu Bitly từ 1.USA.gov </a:t>
            </a:r>
            <a:endParaRPr lang="en-US" sz="1046" dirty="0"/>
          </a:p>
        </p:txBody>
      </p:sp>
      <p:sp>
        <p:nvSpPr>
          <p:cNvPr id="6" name="Text 2"/>
          <p:cNvSpPr/>
          <p:nvPr/>
        </p:nvSpPr>
        <p:spPr>
          <a:xfrm>
            <a:off x="571500" y="1343025"/>
            <a:ext cx="8001000" cy="365727"/>
          </a:xfrm>
          <a:prstGeom prst="rect">
            <a:avLst/>
          </a:prstGeom>
          <a:noFill/>
          <a:ln/>
        </p:spPr>
        <p:txBody>
          <a:bodyPr wrap="square" lIns="306197"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 Bộ dữ liệu chứa thông tin về các lượt truy cập từ dịch vụ rút gọn URL Bitly, bao gồm múi giờ, tác nhân người dùng và các thông tin khác. Thường được sử dụng để phân tích hành vi người dùng và phân bố địa lý. </a:t>
            </a:r>
            <a:endParaRPr lang="en-US" sz="837" dirty="0"/>
          </a:p>
        </p:txBody>
      </p:sp>
      <p:pic>
        <p:nvPicPr>
          <p:cNvPr id="7" name="Image 2" descr="preencoded.png"/>
          <p:cNvPicPr>
            <a:picLocks noChangeAspect="1"/>
          </p:cNvPicPr>
          <p:nvPr/>
        </p:nvPicPr>
        <p:blipFill>
          <a:blip r:embed="rId5"/>
          <a:stretch>
            <a:fillRect/>
          </a:stretch>
        </p:blipFill>
        <p:spPr>
          <a:xfrm>
            <a:off x="571500" y="1980214"/>
            <a:ext cx="171450" cy="171450"/>
          </a:xfrm>
          <a:prstGeom prst="rect">
            <a:avLst/>
          </a:prstGeom>
        </p:spPr>
      </p:pic>
      <p:sp>
        <p:nvSpPr>
          <p:cNvPr id="8" name="Text 3"/>
          <p:cNvSpPr/>
          <p:nvPr/>
        </p:nvSpPr>
        <p:spPr>
          <a:xfrm>
            <a:off x="828675" y="1958783"/>
            <a:ext cx="1502727" cy="214313"/>
          </a:xfrm>
          <a:prstGeom prst="rect">
            <a:avLst/>
          </a:prstGeom>
          <a:noFill/>
          <a:ln/>
        </p:spPr>
        <p:txBody>
          <a:bodyPr wrap="none" lIns="0" tIns="0" rIns="0" bIns="0" rtlCol="0" anchor="ctr">
            <a:spAutoFit/>
          </a:bodyPr>
          <a:lstStyle/>
          <a:p>
            <a:pPr marL="0" indent="0">
              <a:buNone/>
            </a:pPr>
            <a:r>
              <a:rPr lang="en-US" sz="1046" b="1" dirty="0">
                <a:solidFill>
                  <a:srgbClr val="3B82F6"/>
                </a:solidFill>
                <a:latin typeface="Inter" pitchFamily="34" charset="0"/>
                <a:ea typeface="Inter" pitchFamily="34" charset="-122"/>
                <a:cs typeface="Inter" pitchFamily="34" charset="-120"/>
              </a:rPr>
              <a:t> Dữ liệu MovieLens 1M </a:t>
            </a:r>
            <a:endParaRPr lang="en-US" sz="1046" dirty="0"/>
          </a:p>
        </p:txBody>
      </p:sp>
      <p:sp>
        <p:nvSpPr>
          <p:cNvPr id="9" name="Text 4"/>
          <p:cNvSpPr/>
          <p:nvPr/>
        </p:nvSpPr>
        <p:spPr>
          <a:xfrm>
            <a:off x="571500" y="2244533"/>
            <a:ext cx="8001000" cy="365727"/>
          </a:xfrm>
          <a:prstGeom prst="rect">
            <a:avLst/>
          </a:prstGeom>
          <a:noFill/>
          <a:ln/>
        </p:spPr>
        <p:txBody>
          <a:bodyPr wrap="square" lIns="306197"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 Chứa 1 triệu xếp hạng phim từ 6.040 người dùng trên 3.706 bộ phim. Bao gồm thông tin về người dùng (giới tính, tuổi, nghề nghiệp), phim (tiêu đề, thể loại) và xếp hạng. Phổ biến cho nghiên cứu hệ thống gợi ý và phân tích hành vi xem phim. </a:t>
            </a:r>
            <a:endParaRPr lang="en-US" sz="837" dirty="0"/>
          </a:p>
        </p:txBody>
      </p:sp>
      <p:pic>
        <p:nvPicPr>
          <p:cNvPr id="10" name="Image 3" descr="preencoded.png"/>
          <p:cNvPicPr>
            <a:picLocks noChangeAspect="1"/>
          </p:cNvPicPr>
          <p:nvPr/>
        </p:nvPicPr>
        <p:blipFill>
          <a:blip r:embed="rId6"/>
          <a:stretch>
            <a:fillRect/>
          </a:stretch>
        </p:blipFill>
        <p:spPr>
          <a:xfrm>
            <a:off x="571500" y="2881722"/>
            <a:ext cx="150019" cy="171450"/>
          </a:xfrm>
          <a:prstGeom prst="rect">
            <a:avLst/>
          </a:prstGeom>
        </p:spPr>
      </p:pic>
      <p:sp>
        <p:nvSpPr>
          <p:cNvPr id="11" name="Text 5"/>
          <p:cNvSpPr/>
          <p:nvPr/>
        </p:nvSpPr>
        <p:spPr>
          <a:xfrm>
            <a:off x="807244" y="2860291"/>
            <a:ext cx="2586763" cy="214313"/>
          </a:xfrm>
          <a:prstGeom prst="rect">
            <a:avLst/>
          </a:prstGeom>
          <a:noFill/>
          <a:ln/>
        </p:spPr>
        <p:txBody>
          <a:bodyPr wrap="none" lIns="0" tIns="0" rIns="0" bIns="0" rtlCol="0" anchor="ctr">
            <a:spAutoFit/>
          </a:bodyPr>
          <a:lstStyle/>
          <a:p>
            <a:pPr marL="0" indent="0">
              <a:buNone/>
            </a:pPr>
            <a:r>
              <a:rPr lang="en-US" sz="1046" b="1" dirty="0">
                <a:solidFill>
                  <a:srgbClr val="3B82F6"/>
                </a:solidFill>
                <a:latin typeface="Inter" pitchFamily="34" charset="0"/>
                <a:ea typeface="Inter" pitchFamily="34" charset="-122"/>
                <a:cs typeface="Inter" pitchFamily="34" charset="-120"/>
              </a:rPr>
              <a:t> Dữ liệu Tên Trẻ em Hoa Kỳ 1880-2010 </a:t>
            </a:r>
            <a:endParaRPr lang="en-US" sz="1046" dirty="0"/>
          </a:p>
        </p:txBody>
      </p:sp>
      <p:sp>
        <p:nvSpPr>
          <p:cNvPr id="12" name="Text 6"/>
          <p:cNvSpPr/>
          <p:nvPr/>
        </p:nvSpPr>
        <p:spPr>
          <a:xfrm>
            <a:off x="571500" y="3146041"/>
            <a:ext cx="8001000" cy="365727"/>
          </a:xfrm>
          <a:prstGeom prst="rect">
            <a:avLst/>
          </a:prstGeom>
          <a:noFill/>
          <a:ln/>
        </p:spPr>
        <p:txBody>
          <a:bodyPr wrap="square" lIns="306197"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 Số liệu thống kê về tên trẻ em được đặt tại Hoa Kỳ từ năm 1880 đến 2010, do Cục An sinh Xã hội Hoa Kỳ cung cấp. Mỗi bản ghi chứa tên, giới tính và số lượng trẻ sinh ra với tên đó. Hữu ích để phân tích xu hướng đặt tên, sự đa dạng và thay đổi văn hóa theo thời gian. </a:t>
            </a:r>
            <a:endParaRPr lang="en-US" sz="83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8001000" cy="342900"/>
          </a:xfrm>
          <a:prstGeom prst="rect">
            <a:avLst/>
          </a:prstGeom>
          <a:noFill/>
          <a:ln/>
        </p:spPr>
        <p:txBody>
          <a:bodyPr wrap="none" lIns="0" tIns="0" rIns="0" bIns="0" rtlCol="0" anchor="ctr">
            <a:spAutoFit/>
          </a:bodyPr>
          <a:lstStyle/>
          <a:p>
            <a:pPr marL="0" indent="0">
              <a:buNone/>
            </a:pPr>
            <a:r>
              <a:rPr lang="en-US" sz="1800" b="1" dirty="0">
                <a:solidFill>
                  <a:srgbClr val="1E3A8A"/>
                </a:solidFill>
                <a:latin typeface="Inter" pitchFamily="34" charset="0"/>
                <a:ea typeface="Inter" pitchFamily="34" charset="-122"/>
                <a:cs typeface="Inter" pitchFamily="34" charset="-120"/>
              </a:rPr>
              <a:t>Phân tích Bitly: Top Múi giờ</a:t>
            </a:r>
            <a:endParaRPr lang="en-US" sz="1800" dirty="0"/>
          </a:p>
        </p:txBody>
      </p:sp>
      <p:sp>
        <p:nvSpPr>
          <p:cNvPr id="5" name="Text 1"/>
          <p:cNvSpPr/>
          <p:nvPr/>
        </p:nvSpPr>
        <p:spPr>
          <a:xfrm>
            <a:off x="4572000" y="3449286"/>
            <a:ext cx="3086100" cy="214313"/>
          </a:xfrm>
          <a:prstGeom prst="rect">
            <a:avLst/>
          </a:prstGeom>
          <a:noFill/>
          <a:ln/>
        </p:spPr>
        <p:txBody>
          <a:bodyPr wrap="none" lIns="0" tIns="0" rIns="0" bIns="0" rtlCol="0" anchor="ctr">
            <a:spAutoFit/>
          </a:bodyPr>
          <a:lstStyle/>
          <a:p>
            <a:pPr marL="0" indent="0">
              <a:buNone/>
            </a:pPr>
            <a:r>
              <a:rPr lang="en-US" sz="1046" b="1" dirty="0">
                <a:solidFill>
                  <a:srgbClr val="3B82F6"/>
                </a:solidFill>
                <a:latin typeface="Inter" pitchFamily="34" charset="0"/>
                <a:ea typeface="Inter" pitchFamily="34" charset="-122"/>
                <a:cs typeface="Inter" pitchFamily="34" charset="-120"/>
              </a:rPr>
              <a:t>Nhận xét</a:t>
            </a:r>
            <a:endParaRPr lang="en-US" sz="1046" dirty="0"/>
          </a:p>
        </p:txBody>
      </p:sp>
      <p:sp>
        <p:nvSpPr>
          <p:cNvPr id="6" name="Text 2"/>
          <p:cNvSpPr/>
          <p:nvPr/>
        </p:nvSpPr>
        <p:spPr>
          <a:xfrm>
            <a:off x="4572000" y="3682805"/>
            <a:ext cx="430411"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 Múi giờ </a:t>
            </a:r>
            <a:endParaRPr lang="en-US" sz="837" dirty="0"/>
          </a:p>
        </p:txBody>
      </p:sp>
      <p:sp>
        <p:nvSpPr>
          <p:cNvPr id="7" name="Text 3"/>
          <p:cNvSpPr/>
          <p:nvPr/>
        </p:nvSpPr>
        <p:spPr>
          <a:xfrm>
            <a:off x="5002411" y="3682805"/>
            <a:ext cx="1073348" cy="137517"/>
          </a:xfrm>
          <a:prstGeom prst="rect">
            <a:avLst/>
          </a:prstGeom>
          <a:noFill/>
          <a:ln/>
        </p:spPr>
        <p:txBody>
          <a:bodyPr wrap="none" lIns="0" tIns="0" rIns="0" bIns="0" rtlCol="0" anchor="ctr">
            <a:spAutoFit/>
          </a:bodyPr>
          <a:lstStyle/>
          <a:p>
            <a:pPr marL="0" indent="0">
              <a:buNone/>
            </a:pPr>
            <a:r>
              <a:rPr lang="en-US" sz="837" b="1" dirty="0">
                <a:solidFill>
                  <a:srgbClr val="374151"/>
                </a:solidFill>
                <a:latin typeface="Inter" pitchFamily="34" charset="0"/>
                <a:ea typeface="Inter" pitchFamily="34" charset="-122"/>
                <a:cs typeface="Inter" pitchFamily="34" charset="-120"/>
              </a:rPr>
              <a:t>America/New_York</a:t>
            </a:r>
            <a:endParaRPr lang="en-US" sz="837" dirty="0"/>
          </a:p>
        </p:txBody>
      </p:sp>
      <p:sp>
        <p:nvSpPr>
          <p:cNvPr id="8" name="Text 4"/>
          <p:cNvSpPr/>
          <p:nvPr/>
        </p:nvSpPr>
        <p:spPr>
          <a:xfrm>
            <a:off x="6075759" y="3682805"/>
            <a:ext cx="1466255"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 chiếm ưu thế đáng kể, cho </a:t>
            </a:r>
            <a:endParaRPr lang="en-US" sz="837" dirty="0"/>
          </a:p>
        </p:txBody>
      </p:sp>
      <p:sp>
        <p:nvSpPr>
          <p:cNvPr id="9" name="Text 5"/>
          <p:cNvSpPr/>
          <p:nvPr/>
        </p:nvSpPr>
        <p:spPr>
          <a:xfrm>
            <a:off x="4572000" y="3877110"/>
            <a:ext cx="3057525"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thấy phần lớn người dùng hoặc hoạt động được ghi nhận </a:t>
            </a:r>
            <a:endParaRPr lang="en-US" sz="837" dirty="0"/>
          </a:p>
        </p:txBody>
      </p:sp>
      <p:sp>
        <p:nvSpPr>
          <p:cNvPr id="10" name="Text 6"/>
          <p:cNvSpPr/>
          <p:nvPr/>
        </p:nvSpPr>
        <p:spPr>
          <a:xfrm>
            <a:off x="4572000" y="4071414"/>
            <a:ext cx="2807494"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có nguồn gốc từ khu vực này. Các múi giờ khác như </a:t>
            </a:r>
            <a:endParaRPr lang="en-US" sz="837" dirty="0"/>
          </a:p>
        </p:txBody>
      </p:sp>
      <p:sp>
        <p:nvSpPr>
          <p:cNvPr id="11" name="Text 7"/>
          <p:cNvSpPr/>
          <p:nvPr/>
        </p:nvSpPr>
        <p:spPr>
          <a:xfrm>
            <a:off x="4572000" y="4265719"/>
            <a:ext cx="2875359"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America/Chicago và America/Los_Angeles cũng xuất </a:t>
            </a:r>
            <a:endParaRPr lang="en-US" sz="837" dirty="0"/>
          </a:p>
        </p:txBody>
      </p:sp>
      <p:sp>
        <p:nvSpPr>
          <p:cNvPr id="12" name="Text 8"/>
          <p:cNvSpPr/>
          <p:nvPr/>
        </p:nvSpPr>
        <p:spPr>
          <a:xfrm>
            <a:off x="4572000" y="4460023"/>
            <a:ext cx="2941439"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hiện nhưng với tần suất thấp hơn nhiều. Điều này phản </a:t>
            </a:r>
            <a:endParaRPr lang="en-US" sz="837" dirty="0"/>
          </a:p>
        </p:txBody>
      </p:sp>
      <p:sp>
        <p:nvSpPr>
          <p:cNvPr id="13" name="Text 9"/>
          <p:cNvSpPr/>
          <p:nvPr/>
        </p:nvSpPr>
        <p:spPr>
          <a:xfrm>
            <a:off x="4572000" y="4654327"/>
            <a:ext cx="3071813"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ánh sự tập trung dân số hoặc hoạt động trực tuyến ở các </a:t>
            </a:r>
            <a:endParaRPr lang="en-US" sz="837" dirty="0"/>
          </a:p>
        </p:txBody>
      </p:sp>
      <p:sp>
        <p:nvSpPr>
          <p:cNvPr id="14" name="Text 10"/>
          <p:cNvSpPr/>
          <p:nvPr/>
        </p:nvSpPr>
        <p:spPr>
          <a:xfrm>
            <a:off x="4572000" y="4848632"/>
            <a:ext cx="1651992"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khu vực đô thị lớn của Hoa Kỳ. </a:t>
            </a:r>
            <a:endParaRPr lang="en-US" sz="837" dirty="0"/>
          </a:p>
        </p:txBody>
      </p:sp>
      <p:pic>
        <p:nvPicPr>
          <p:cNvPr id="15" name="Image 1" descr="preencoded.png">
            <a:extLst>
              <a:ext uri="{FF2B5EF4-FFF2-40B4-BE49-F238E27FC236}">
                <a16:creationId xmlns:a16="http://schemas.microsoft.com/office/drawing/2014/main" id="{EAF740C4-6060-AF28-EAA7-C666E2B167C6}"/>
              </a:ext>
            </a:extLst>
          </p:cNvPr>
          <p:cNvPicPr>
            <a:picLocks noChangeAspect="1"/>
          </p:cNvPicPr>
          <p:nvPr/>
        </p:nvPicPr>
        <p:blipFill>
          <a:blip r:embed="rId4"/>
          <a:stretch>
            <a:fillRect/>
          </a:stretch>
        </p:blipFill>
        <p:spPr>
          <a:xfrm>
            <a:off x="3742954" y="164202"/>
            <a:ext cx="4629150" cy="3214688"/>
          </a:xfrm>
          <a:prstGeom prst="rect">
            <a:avLst/>
          </a:prstGeom>
        </p:spPr>
      </p:pic>
      <p:sp>
        <p:nvSpPr>
          <p:cNvPr id="19" name="Text 1">
            <a:extLst>
              <a:ext uri="{FF2B5EF4-FFF2-40B4-BE49-F238E27FC236}">
                <a16:creationId xmlns:a16="http://schemas.microsoft.com/office/drawing/2014/main" id="{69C7F6CE-08AF-5421-9FB2-CED2534701FB}"/>
              </a:ext>
            </a:extLst>
          </p:cNvPr>
          <p:cNvSpPr/>
          <p:nvPr/>
        </p:nvSpPr>
        <p:spPr>
          <a:xfrm>
            <a:off x="571500" y="985838"/>
            <a:ext cx="4629150" cy="214313"/>
          </a:xfrm>
          <a:prstGeom prst="rect">
            <a:avLst/>
          </a:prstGeom>
          <a:noFill/>
          <a:ln/>
        </p:spPr>
        <p:txBody>
          <a:bodyPr wrap="none" lIns="0" tIns="0" rIns="0" bIns="0" rtlCol="0" anchor="ctr">
            <a:spAutoFit/>
          </a:bodyPr>
          <a:lstStyle/>
          <a:p>
            <a:pPr marL="0" indent="0">
              <a:buNone/>
            </a:pPr>
            <a:r>
              <a:rPr lang="en-US" sz="1046" b="1" dirty="0">
                <a:solidFill>
                  <a:srgbClr val="4A90E2"/>
                </a:solidFill>
                <a:latin typeface="Noto Sans" pitchFamily="34" charset="0"/>
                <a:ea typeface="Noto Sans" pitchFamily="34" charset="-122"/>
                <a:cs typeface="Noto Sans" pitchFamily="34" charset="-120"/>
              </a:rPr>
              <a:t>Biểu đồ Top 10 múi giờ phổ biến nhất</a:t>
            </a:r>
            <a:endParaRPr lang="en-US" sz="1046" dirty="0"/>
          </a:p>
        </p:txBody>
      </p:sp>
      <p:sp>
        <p:nvSpPr>
          <p:cNvPr id="20" name="Text 2">
            <a:extLst>
              <a:ext uri="{FF2B5EF4-FFF2-40B4-BE49-F238E27FC236}">
                <a16:creationId xmlns:a16="http://schemas.microsoft.com/office/drawing/2014/main" id="{84AA3C47-2609-36AB-9A2D-05DED71E7061}"/>
              </a:ext>
            </a:extLst>
          </p:cNvPr>
          <p:cNvSpPr/>
          <p:nvPr/>
        </p:nvSpPr>
        <p:spPr>
          <a:xfrm>
            <a:off x="571500" y="1309733"/>
            <a:ext cx="3086100" cy="214313"/>
          </a:xfrm>
          <a:prstGeom prst="rect">
            <a:avLst/>
          </a:prstGeom>
          <a:noFill/>
          <a:ln/>
        </p:spPr>
        <p:txBody>
          <a:bodyPr wrap="none" lIns="0" tIns="0" rIns="0" bIns="0" rtlCol="0" anchor="ctr">
            <a:spAutoFit/>
          </a:bodyPr>
          <a:lstStyle/>
          <a:p>
            <a:pPr marL="0" indent="0">
              <a:buNone/>
            </a:pPr>
            <a:r>
              <a:rPr lang="en-US" sz="1046" b="1" dirty="0">
                <a:solidFill>
                  <a:srgbClr val="4A90E2"/>
                </a:solidFill>
                <a:latin typeface="Noto Sans" pitchFamily="34" charset="0"/>
                <a:ea typeface="Noto Sans" pitchFamily="34" charset="-122"/>
                <a:cs typeface="Noto Sans" pitchFamily="34" charset="-120"/>
              </a:rPr>
              <a:t>Bảng dữ liệu chi tiết</a:t>
            </a:r>
            <a:endParaRPr lang="en-US" sz="1046" dirty="0"/>
          </a:p>
        </p:txBody>
      </p:sp>
      <p:sp>
        <p:nvSpPr>
          <p:cNvPr id="21" name="Shape 3">
            <a:extLst>
              <a:ext uri="{FF2B5EF4-FFF2-40B4-BE49-F238E27FC236}">
                <a16:creationId xmlns:a16="http://schemas.microsoft.com/office/drawing/2014/main" id="{BC087289-AC06-7B0F-BD7C-6837B96BDAEF}"/>
              </a:ext>
            </a:extLst>
          </p:cNvPr>
          <p:cNvSpPr/>
          <p:nvPr/>
        </p:nvSpPr>
        <p:spPr>
          <a:xfrm>
            <a:off x="571500" y="1631201"/>
            <a:ext cx="2021123" cy="321469"/>
          </a:xfrm>
          <a:prstGeom prst="rect">
            <a:avLst/>
          </a:prstGeom>
          <a:solidFill>
            <a:srgbClr val="1F4788"/>
          </a:solidFill>
          <a:ln/>
        </p:spPr>
        <p:txBody>
          <a:bodyPr/>
          <a:lstStyle/>
          <a:p>
            <a:endParaRPr lang="en-US"/>
          </a:p>
        </p:txBody>
      </p:sp>
      <p:sp>
        <p:nvSpPr>
          <p:cNvPr id="22" name="Text 4">
            <a:extLst>
              <a:ext uri="{FF2B5EF4-FFF2-40B4-BE49-F238E27FC236}">
                <a16:creationId xmlns:a16="http://schemas.microsoft.com/office/drawing/2014/main" id="{6DBB5FFB-5EA0-DF08-6CF8-C5BA0CAEA0CF}"/>
              </a:ext>
            </a:extLst>
          </p:cNvPr>
          <p:cNvSpPr/>
          <p:nvPr/>
        </p:nvSpPr>
        <p:spPr>
          <a:xfrm>
            <a:off x="571500" y="1631201"/>
            <a:ext cx="2021123" cy="321469"/>
          </a:xfrm>
          <a:prstGeom prst="rect">
            <a:avLst/>
          </a:prstGeom>
          <a:noFill/>
          <a:ln/>
        </p:spPr>
        <p:txBody>
          <a:bodyPr wrap="square" lIns="102108" tIns="102108" rIns="102108" bIns="102108" rtlCol="0" anchor="ctr">
            <a:spAutoFit/>
          </a:bodyPr>
          <a:lstStyle/>
          <a:p>
            <a:pPr marL="0" indent="0" algn="l">
              <a:buNone/>
            </a:pPr>
            <a:r>
              <a:rPr lang="en-US" sz="732" b="1" dirty="0">
                <a:solidFill>
                  <a:srgbClr val="FFFFFF"/>
                </a:solidFill>
                <a:latin typeface="Noto Sans" pitchFamily="34" charset="0"/>
                <a:ea typeface="Noto Sans" pitchFamily="34" charset="-122"/>
                <a:cs typeface="Noto Sans" pitchFamily="34" charset="-120"/>
              </a:rPr>
              <a:t>Múi giờ</a:t>
            </a:r>
            <a:endParaRPr lang="en-US" sz="732" dirty="0"/>
          </a:p>
        </p:txBody>
      </p:sp>
      <p:sp>
        <p:nvSpPr>
          <p:cNvPr id="23" name="Shape 5">
            <a:extLst>
              <a:ext uri="{FF2B5EF4-FFF2-40B4-BE49-F238E27FC236}">
                <a16:creationId xmlns:a16="http://schemas.microsoft.com/office/drawing/2014/main" id="{28E926FB-9816-AFDA-B6A6-5D324EFE7343}"/>
              </a:ext>
            </a:extLst>
          </p:cNvPr>
          <p:cNvSpPr/>
          <p:nvPr/>
        </p:nvSpPr>
        <p:spPr>
          <a:xfrm>
            <a:off x="2592623" y="1631201"/>
            <a:ext cx="1064977" cy="321469"/>
          </a:xfrm>
          <a:prstGeom prst="rect">
            <a:avLst/>
          </a:prstGeom>
          <a:solidFill>
            <a:srgbClr val="1F4788"/>
          </a:solidFill>
          <a:ln/>
        </p:spPr>
        <p:txBody>
          <a:bodyPr/>
          <a:lstStyle/>
          <a:p>
            <a:endParaRPr lang="en-US"/>
          </a:p>
        </p:txBody>
      </p:sp>
      <p:sp>
        <p:nvSpPr>
          <p:cNvPr id="24" name="Text 6">
            <a:extLst>
              <a:ext uri="{FF2B5EF4-FFF2-40B4-BE49-F238E27FC236}">
                <a16:creationId xmlns:a16="http://schemas.microsoft.com/office/drawing/2014/main" id="{446C1B8E-877D-2DFE-70D5-02F369E33418}"/>
              </a:ext>
            </a:extLst>
          </p:cNvPr>
          <p:cNvSpPr/>
          <p:nvPr/>
        </p:nvSpPr>
        <p:spPr>
          <a:xfrm>
            <a:off x="2592623" y="1631201"/>
            <a:ext cx="1064977" cy="321469"/>
          </a:xfrm>
          <a:prstGeom prst="rect">
            <a:avLst/>
          </a:prstGeom>
          <a:noFill/>
          <a:ln/>
        </p:spPr>
        <p:txBody>
          <a:bodyPr wrap="square" lIns="102108" tIns="102108" rIns="102108" bIns="102108" rtlCol="0" anchor="ctr">
            <a:spAutoFit/>
          </a:bodyPr>
          <a:lstStyle/>
          <a:p>
            <a:pPr marL="0" indent="0" algn="l">
              <a:buNone/>
            </a:pPr>
            <a:r>
              <a:rPr lang="en-US" sz="732" b="1" dirty="0">
                <a:solidFill>
                  <a:srgbClr val="FFFFFF"/>
                </a:solidFill>
                <a:latin typeface="Noto Sans" pitchFamily="34" charset="0"/>
                <a:ea typeface="Noto Sans" pitchFamily="34" charset="-122"/>
                <a:cs typeface="Noto Sans" pitchFamily="34" charset="-120"/>
              </a:rPr>
              <a:t>Số lượng</a:t>
            </a:r>
            <a:endParaRPr lang="en-US" sz="732" dirty="0"/>
          </a:p>
        </p:txBody>
      </p:sp>
      <p:sp>
        <p:nvSpPr>
          <p:cNvPr id="25" name="Text 7">
            <a:extLst>
              <a:ext uri="{FF2B5EF4-FFF2-40B4-BE49-F238E27FC236}">
                <a16:creationId xmlns:a16="http://schemas.microsoft.com/office/drawing/2014/main" id="{A043365C-62FC-9B04-D7F6-BDB3AD128736}"/>
              </a:ext>
            </a:extLst>
          </p:cNvPr>
          <p:cNvSpPr/>
          <p:nvPr/>
        </p:nvSpPr>
        <p:spPr>
          <a:xfrm>
            <a:off x="571500" y="1952670"/>
            <a:ext cx="2021123" cy="296466"/>
          </a:xfrm>
          <a:prstGeom prst="rect">
            <a:avLst/>
          </a:prstGeom>
          <a:noFill/>
          <a:ln/>
        </p:spPr>
        <p:txBody>
          <a:bodyPr wrap="square" lIns="102108" tIns="85090" rIns="102108" bIns="8509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America/New_York</a:t>
            </a:r>
            <a:endParaRPr lang="en-US" sz="732" dirty="0"/>
          </a:p>
        </p:txBody>
      </p:sp>
      <p:sp>
        <p:nvSpPr>
          <p:cNvPr id="26" name="Text 8">
            <a:extLst>
              <a:ext uri="{FF2B5EF4-FFF2-40B4-BE49-F238E27FC236}">
                <a16:creationId xmlns:a16="http://schemas.microsoft.com/office/drawing/2014/main" id="{ABB13E0B-3B8D-5527-23EC-271765F9F93E}"/>
              </a:ext>
            </a:extLst>
          </p:cNvPr>
          <p:cNvSpPr/>
          <p:nvPr/>
        </p:nvSpPr>
        <p:spPr>
          <a:xfrm>
            <a:off x="2592623" y="1952670"/>
            <a:ext cx="1064977" cy="296466"/>
          </a:xfrm>
          <a:prstGeom prst="rect">
            <a:avLst/>
          </a:prstGeom>
          <a:noFill/>
          <a:ln/>
        </p:spPr>
        <p:txBody>
          <a:bodyPr wrap="square" lIns="102108" tIns="85090" rIns="102108" bIns="8509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1251</a:t>
            </a:r>
            <a:endParaRPr lang="en-US" sz="732" dirty="0"/>
          </a:p>
        </p:txBody>
      </p:sp>
      <p:sp>
        <p:nvSpPr>
          <p:cNvPr id="27" name="Shape 9">
            <a:extLst>
              <a:ext uri="{FF2B5EF4-FFF2-40B4-BE49-F238E27FC236}">
                <a16:creationId xmlns:a16="http://schemas.microsoft.com/office/drawing/2014/main" id="{E9BB19C6-E377-9B1F-9C9D-A1EDBC407E71}"/>
              </a:ext>
            </a:extLst>
          </p:cNvPr>
          <p:cNvSpPr/>
          <p:nvPr/>
        </p:nvSpPr>
        <p:spPr>
          <a:xfrm>
            <a:off x="571500" y="2249136"/>
            <a:ext cx="3086100" cy="300038"/>
          </a:xfrm>
          <a:prstGeom prst="rect">
            <a:avLst/>
          </a:prstGeom>
          <a:solidFill>
            <a:srgbClr val="F5F5F5"/>
          </a:solidFill>
          <a:ln/>
        </p:spPr>
        <p:txBody>
          <a:bodyPr/>
          <a:lstStyle/>
          <a:p>
            <a:endParaRPr lang="en-US"/>
          </a:p>
        </p:txBody>
      </p:sp>
      <p:sp>
        <p:nvSpPr>
          <p:cNvPr id="28" name="Text 10">
            <a:extLst>
              <a:ext uri="{FF2B5EF4-FFF2-40B4-BE49-F238E27FC236}">
                <a16:creationId xmlns:a16="http://schemas.microsoft.com/office/drawing/2014/main" id="{5F3EC5A8-738F-FB72-B222-46C2BAADEE00}"/>
              </a:ext>
            </a:extLst>
          </p:cNvPr>
          <p:cNvSpPr/>
          <p:nvPr/>
        </p:nvSpPr>
        <p:spPr>
          <a:xfrm>
            <a:off x="571500" y="2249136"/>
            <a:ext cx="2021123" cy="300038"/>
          </a:xfrm>
          <a:prstGeom prst="rect">
            <a:avLst/>
          </a:prstGeom>
          <a:noFill/>
          <a:ln/>
        </p:spPr>
        <p:txBody>
          <a:bodyPr wrap="square" lIns="102108" tIns="85090" rIns="102108" bIns="8509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Unknown</a:t>
            </a:r>
            <a:endParaRPr lang="en-US" sz="732" dirty="0"/>
          </a:p>
        </p:txBody>
      </p:sp>
      <p:sp>
        <p:nvSpPr>
          <p:cNvPr id="29" name="Text 11">
            <a:extLst>
              <a:ext uri="{FF2B5EF4-FFF2-40B4-BE49-F238E27FC236}">
                <a16:creationId xmlns:a16="http://schemas.microsoft.com/office/drawing/2014/main" id="{5146F383-D8E6-15AD-77E7-3FC81201E75D}"/>
              </a:ext>
            </a:extLst>
          </p:cNvPr>
          <p:cNvSpPr/>
          <p:nvPr/>
        </p:nvSpPr>
        <p:spPr>
          <a:xfrm>
            <a:off x="2592623" y="2249136"/>
            <a:ext cx="1064977" cy="300038"/>
          </a:xfrm>
          <a:prstGeom prst="rect">
            <a:avLst/>
          </a:prstGeom>
          <a:noFill/>
          <a:ln/>
        </p:spPr>
        <p:txBody>
          <a:bodyPr wrap="square" lIns="102108" tIns="85090" rIns="102108" bIns="8509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521</a:t>
            </a:r>
            <a:endParaRPr lang="en-US" sz="732" dirty="0"/>
          </a:p>
        </p:txBody>
      </p:sp>
      <p:sp>
        <p:nvSpPr>
          <p:cNvPr id="30" name="Text 12">
            <a:extLst>
              <a:ext uri="{FF2B5EF4-FFF2-40B4-BE49-F238E27FC236}">
                <a16:creationId xmlns:a16="http://schemas.microsoft.com/office/drawing/2014/main" id="{FACB577A-1627-FF83-B6A0-F2B5FBF3DC72}"/>
              </a:ext>
            </a:extLst>
          </p:cNvPr>
          <p:cNvSpPr/>
          <p:nvPr/>
        </p:nvSpPr>
        <p:spPr>
          <a:xfrm>
            <a:off x="571500" y="2549173"/>
            <a:ext cx="2021123" cy="300038"/>
          </a:xfrm>
          <a:prstGeom prst="rect">
            <a:avLst/>
          </a:prstGeom>
          <a:noFill/>
          <a:ln/>
        </p:spPr>
        <p:txBody>
          <a:bodyPr wrap="square" lIns="102108" tIns="85090" rIns="102108" bIns="8509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America/Chicago</a:t>
            </a:r>
            <a:endParaRPr lang="en-US" sz="732" dirty="0"/>
          </a:p>
        </p:txBody>
      </p:sp>
      <p:sp>
        <p:nvSpPr>
          <p:cNvPr id="31" name="Text 13">
            <a:extLst>
              <a:ext uri="{FF2B5EF4-FFF2-40B4-BE49-F238E27FC236}">
                <a16:creationId xmlns:a16="http://schemas.microsoft.com/office/drawing/2014/main" id="{ACBABAFB-075A-6745-0E17-34130C34A4BD}"/>
              </a:ext>
            </a:extLst>
          </p:cNvPr>
          <p:cNvSpPr/>
          <p:nvPr/>
        </p:nvSpPr>
        <p:spPr>
          <a:xfrm>
            <a:off x="2592623" y="2549173"/>
            <a:ext cx="1064977" cy="300038"/>
          </a:xfrm>
          <a:prstGeom prst="rect">
            <a:avLst/>
          </a:prstGeom>
          <a:noFill/>
          <a:ln/>
        </p:spPr>
        <p:txBody>
          <a:bodyPr wrap="square" lIns="102108" tIns="85090" rIns="102108" bIns="8509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400</a:t>
            </a:r>
            <a:endParaRPr lang="en-US" sz="732" dirty="0"/>
          </a:p>
        </p:txBody>
      </p:sp>
      <p:sp>
        <p:nvSpPr>
          <p:cNvPr id="32" name="Shape 14">
            <a:extLst>
              <a:ext uri="{FF2B5EF4-FFF2-40B4-BE49-F238E27FC236}">
                <a16:creationId xmlns:a16="http://schemas.microsoft.com/office/drawing/2014/main" id="{ADDB0F1C-D5C0-87A3-1DDE-A04E2C7D2157}"/>
              </a:ext>
            </a:extLst>
          </p:cNvPr>
          <p:cNvSpPr/>
          <p:nvPr/>
        </p:nvSpPr>
        <p:spPr>
          <a:xfrm>
            <a:off x="571500" y="2849211"/>
            <a:ext cx="3086100" cy="300038"/>
          </a:xfrm>
          <a:prstGeom prst="rect">
            <a:avLst/>
          </a:prstGeom>
          <a:solidFill>
            <a:srgbClr val="F5F5F5"/>
          </a:solidFill>
          <a:ln/>
        </p:spPr>
        <p:txBody>
          <a:bodyPr/>
          <a:lstStyle/>
          <a:p>
            <a:endParaRPr lang="en-US"/>
          </a:p>
        </p:txBody>
      </p:sp>
      <p:sp>
        <p:nvSpPr>
          <p:cNvPr id="33" name="Text 15">
            <a:extLst>
              <a:ext uri="{FF2B5EF4-FFF2-40B4-BE49-F238E27FC236}">
                <a16:creationId xmlns:a16="http://schemas.microsoft.com/office/drawing/2014/main" id="{7308BB95-DDE4-680D-F7FB-5E16752726EB}"/>
              </a:ext>
            </a:extLst>
          </p:cNvPr>
          <p:cNvSpPr/>
          <p:nvPr/>
        </p:nvSpPr>
        <p:spPr>
          <a:xfrm>
            <a:off x="571500" y="2849211"/>
            <a:ext cx="2021123" cy="300038"/>
          </a:xfrm>
          <a:prstGeom prst="rect">
            <a:avLst/>
          </a:prstGeom>
          <a:noFill/>
          <a:ln/>
        </p:spPr>
        <p:txBody>
          <a:bodyPr wrap="square" lIns="102108" tIns="85090" rIns="102108" bIns="8509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America/Los_Angeles</a:t>
            </a:r>
            <a:endParaRPr lang="en-US" sz="732" dirty="0"/>
          </a:p>
        </p:txBody>
      </p:sp>
      <p:sp>
        <p:nvSpPr>
          <p:cNvPr id="34" name="Text 16">
            <a:extLst>
              <a:ext uri="{FF2B5EF4-FFF2-40B4-BE49-F238E27FC236}">
                <a16:creationId xmlns:a16="http://schemas.microsoft.com/office/drawing/2014/main" id="{97FF3EAC-7BEE-80F7-80ED-34B4BBB2ABB6}"/>
              </a:ext>
            </a:extLst>
          </p:cNvPr>
          <p:cNvSpPr/>
          <p:nvPr/>
        </p:nvSpPr>
        <p:spPr>
          <a:xfrm>
            <a:off x="2592623" y="2849211"/>
            <a:ext cx="1064977" cy="300038"/>
          </a:xfrm>
          <a:prstGeom prst="rect">
            <a:avLst/>
          </a:prstGeom>
          <a:noFill/>
          <a:ln/>
        </p:spPr>
        <p:txBody>
          <a:bodyPr wrap="square" lIns="102108" tIns="85090" rIns="102108" bIns="8509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382</a:t>
            </a:r>
            <a:endParaRPr lang="en-US" sz="732" dirty="0"/>
          </a:p>
        </p:txBody>
      </p:sp>
      <p:sp>
        <p:nvSpPr>
          <p:cNvPr id="35" name="Text 17">
            <a:extLst>
              <a:ext uri="{FF2B5EF4-FFF2-40B4-BE49-F238E27FC236}">
                <a16:creationId xmlns:a16="http://schemas.microsoft.com/office/drawing/2014/main" id="{D06B5B54-3D05-797D-20B2-CB59C121D6C5}"/>
              </a:ext>
            </a:extLst>
          </p:cNvPr>
          <p:cNvSpPr/>
          <p:nvPr/>
        </p:nvSpPr>
        <p:spPr>
          <a:xfrm>
            <a:off x="571500" y="3149248"/>
            <a:ext cx="2021123" cy="300038"/>
          </a:xfrm>
          <a:prstGeom prst="rect">
            <a:avLst/>
          </a:prstGeom>
          <a:noFill/>
          <a:ln/>
        </p:spPr>
        <p:txBody>
          <a:bodyPr wrap="square" lIns="102108" tIns="85090" rIns="102108" bIns="8509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America/Denver</a:t>
            </a:r>
            <a:endParaRPr lang="en-US" sz="732" dirty="0"/>
          </a:p>
        </p:txBody>
      </p:sp>
      <p:sp>
        <p:nvSpPr>
          <p:cNvPr id="36" name="Text 18">
            <a:extLst>
              <a:ext uri="{FF2B5EF4-FFF2-40B4-BE49-F238E27FC236}">
                <a16:creationId xmlns:a16="http://schemas.microsoft.com/office/drawing/2014/main" id="{30173161-3CF7-7C91-B7BE-6EE8A0B75699}"/>
              </a:ext>
            </a:extLst>
          </p:cNvPr>
          <p:cNvSpPr/>
          <p:nvPr/>
        </p:nvSpPr>
        <p:spPr>
          <a:xfrm>
            <a:off x="2592623" y="3149248"/>
            <a:ext cx="1064977" cy="300038"/>
          </a:xfrm>
          <a:prstGeom prst="rect">
            <a:avLst/>
          </a:prstGeom>
          <a:noFill/>
          <a:ln/>
        </p:spPr>
        <p:txBody>
          <a:bodyPr wrap="square" lIns="102108" tIns="85090" rIns="102108" bIns="8509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191</a:t>
            </a:r>
            <a:endParaRPr lang="en-US" sz="732" dirty="0"/>
          </a:p>
        </p:txBody>
      </p:sp>
      <p:sp>
        <p:nvSpPr>
          <p:cNvPr id="37" name="Shape 19">
            <a:extLst>
              <a:ext uri="{FF2B5EF4-FFF2-40B4-BE49-F238E27FC236}">
                <a16:creationId xmlns:a16="http://schemas.microsoft.com/office/drawing/2014/main" id="{4F5D9073-307C-D7EC-25A2-1C11DE87D900}"/>
              </a:ext>
            </a:extLst>
          </p:cNvPr>
          <p:cNvSpPr/>
          <p:nvPr/>
        </p:nvSpPr>
        <p:spPr>
          <a:xfrm>
            <a:off x="571500" y="3449286"/>
            <a:ext cx="3086100" cy="300038"/>
          </a:xfrm>
          <a:prstGeom prst="rect">
            <a:avLst/>
          </a:prstGeom>
          <a:solidFill>
            <a:srgbClr val="F5F5F5"/>
          </a:solidFill>
          <a:ln/>
        </p:spPr>
        <p:txBody>
          <a:bodyPr/>
          <a:lstStyle/>
          <a:p>
            <a:endParaRPr lang="en-US"/>
          </a:p>
        </p:txBody>
      </p:sp>
      <p:sp>
        <p:nvSpPr>
          <p:cNvPr id="38" name="Text 20">
            <a:extLst>
              <a:ext uri="{FF2B5EF4-FFF2-40B4-BE49-F238E27FC236}">
                <a16:creationId xmlns:a16="http://schemas.microsoft.com/office/drawing/2014/main" id="{534C5602-D8BD-19E6-EC06-C2FC81252474}"/>
              </a:ext>
            </a:extLst>
          </p:cNvPr>
          <p:cNvSpPr/>
          <p:nvPr/>
        </p:nvSpPr>
        <p:spPr>
          <a:xfrm>
            <a:off x="571500" y="3449286"/>
            <a:ext cx="2021123" cy="300038"/>
          </a:xfrm>
          <a:prstGeom prst="rect">
            <a:avLst/>
          </a:prstGeom>
          <a:noFill/>
          <a:ln/>
        </p:spPr>
        <p:txBody>
          <a:bodyPr wrap="square" lIns="102108" tIns="85090" rIns="102108" bIns="8509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Missing</a:t>
            </a:r>
            <a:endParaRPr lang="en-US" sz="732" dirty="0"/>
          </a:p>
        </p:txBody>
      </p:sp>
      <p:sp>
        <p:nvSpPr>
          <p:cNvPr id="39" name="Text 21">
            <a:extLst>
              <a:ext uri="{FF2B5EF4-FFF2-40B4-BE49-F238E27FC236}">
                <a16:creationId xmlns:a16="http://schemas.microsoft.com/office/drawing/2014/main" id="{B47792C4-3331-1866-61B5-70E5856B5957}"/>
              </a:ext>
            </a:extLst>
          </p:cNvPr>
          <p:cNvSpPr/>
          <p:nvPr/>
        </p:nvSpPr>
        <p:spPr>
          <a:xfrm>
            <a:off x="2592623" y="3449286"/>
            <a:ext cx="1064977" cy="300038"/>
          </a:xfrm>
          <a:prstGeom prst="rect">
            <a:avLst/>
          </a:prstGeom>
          <a:noFill/>
          <a:ln/>
        </p:spPr>
        <p:txBody>
          <a:bodyPr wrap="square" lIns="102108" tIns="85090" rIns="102108" bIns="8509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120</a:t>
            </a:r>
            <a:endParaRPr lang="en-US" sz="732" dirty="0"/>
          </a:p>
        </p:txBody>
      </p:sp>
      <p:sp>
        <p:nvSpPr>
          <p:cNvPr id="40" name="Text 22">
            <a:extLst>
              <a:ext uri="{FF2B5EF4-FFF2-40B4-BE49-F238E27FC236}">
                <a16:creationId xmlns:a16="http://schemas.microsoft.com/office/drawing/2014/main" id="{849085DA-8918-E6E1-7958-34A1E5361043}"/>
              </a:ext>
            </a:extLst>
          </p:cNvPr>
          <p:cNvSpPr/>
          <p:nvPr/>
        </p:nvSpPr>
        <p:spPr>
          <a:xfrm>
            <a:off x="571500" y="3749323"/>
            <a:ext cx="2021123" cy="300038"/>
          </a:xfrm>
          <a:prstGeom prst="rect">
            <a:avLst/>
          </a:prstGeom>
          <a:noFill/>
          <a:ln/>
        </p:spPr>
        <p:txBody>
          <a:bodyPr wrap="square" lIns="102108" tIns="85090" rIns="102108" bIns="8509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Europe/London</a:t>
            </a:r>
            <a:endParaRPr lang="en-US" sz="732" dirty="0"/>
          </a:p>
        </p:txBody>
      </p:sp>
      <p:sp>
        <p:nvSpPr>
          <p:cNvPr id="41" name="Text 23">
            <a:extLst>
              <a:ext uri="{FF2B5EF4-FFF2-40B4-BE49-F238E27FC236}">
                <a16:creationId xmlns:a16="http://schemas.microsoft.com/office/drawing/2014/main" id="{7A5667C4-DDB0-810F-D918-051B9A2485C1}"/>
              </a:ext>
            </a:extLst>
          </p:cNvPr>
          <p:cNvSpPr/>
          <p:nvPr/>
        </p:nvSpPr>
        <p:spPr>
          <a:xfrm>
            <a:off x="2592623" y="3749323"/>
            <a:ext cx="1064977" cy="300038"/>
          </a:xfrm>
          <a:prstGeom prst="rect">
            <a:avLst/>
          </a:prstGeom>
          <a:noFill/>
          <a:ln/>
        </p:spPr>
        <p:txBody>
          <a:bodyPr wrap="square" lIns="102108" tIns="85090" rIns="102108" bIns="8509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74</a:t>
            </a:r>
            <a:endParaRPr lang="en-US" sz="732" dirty="0"/>
          </a:p>
        </p:txBody>
      </p:sp>
      <p:sp>
        <p:nvSpPr>
          <p:cNvPr id="42" name="Shape 24">
            <a:extLst>
              <a:ext uri="{FF2B5EF4-FFF2-40B4-BE49-F238E27FC236}">
                <a16:creationId xmlns:a16="http://schemas.microsoft.com/office/drawing/2014/main" id="{C6CF492E-7322-9F2E-3A05-7E9D906715B7}"/>
              </a:ext>
            </a:extLst>
          </p:cNvPr>
          <p:cNvSpPr/>
          <p:nvPr/>
        </p:nvSpPr>
        <p:spPr>
          <a:xfrm>
            <a:off x="571500" y="4049361"/>
            <a:ext cx="3086100" cy="300038"/>
          </a:xfrm>
          <a:prstGeom prst="rect">
            <a:avLst/>
          </a:prstGeom>
          <a:solidFill>
            <a:srgbClr val="F5F5F5"/>
          </a:solidFill>
          <a:ln/>
        </p:spPr>
        <p:txBody>
          <a:bodyPr/>
          <a:lstStyle/>
          <a:p>
            <a:endParaRPr lang="en-US"/>
          </a:p>
        </p:txBody>
      </p:sp>
      <p:sp>
        <p:nvSpPr>
          <p:cNvPr id="43" name="Text 25">
            <a:extLst>
              <a:ext uri="{FF2B5EF4-FFF2-40B4-BE49-F238E27FC236}">
                <a16:creationId xmlns:a16="http://schemas.microsoft.com/office/drawing/2014/main" id="{150B3D60-CA88-436A-4530-1B6FA92EA4F4}"/>
              </a:ext>
            </a:extLst>
          </p:cNvPr>
          <p:cNvSpPr/>
          <p:nvPr/>
        </p:nvSpPr>
        <p:spPr>
          <a:xfrm>
            <a:off x="571500" y="4049361"/>
            <a:ext cx="2021123" cy="300038"/>
          </a:xfrm>
          <a:prstGeom prst="rect">
            <a:avLst/>
          </a:prstGeom>
          <a:noFill/>
          <a:ln/>
        </p:spPr>
        <p:txBody>
          <a:bodyPr wrap="square" lIns="102108" tIns="85090" rIns="102108" bIns="8509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Asia/Tokyo</a:t>
            </a:r>
            <a:endParaRPr lang="en-US" sz="732" dirty="0"/>
          </a:p>
        </p:txBody>
      </p:sp>
      <p:sp>
        <p:nvSpPr>
          <p:cNvPr id="44" name="Text 26">
            <a:extLst>
              <a:ext uri="{FF2B5EF4-FFF2-40B4-BE49-F238E27FC236}">
                <a16:creationId xmlns:a16="http://schemas.microsoft.com/office/drawing/2014/main" id="{50FF472D-F03C-3104-2EEF-71B16A2D85EC}"/>
              </a:ext>
            </a:extLst>
          </p:cNvPr>
          <p:cNvSpPr/>
          <p:nvPr/>
        </p:nvSpPr>
        <p:spPr>
          <a:xfrm>
            <a:off x="2592623" y="4049361"/>
            <a:ext cx="1064977" cy="300038"/>
          </a:xfrm>
          <a:prstGeom prst="rect">
            <a:avLst/>
          </a:prstGeom>
          <a:noFill/>
          <a:ln/>
        </p:spPr>
        <p:txBody>
          <a:bodyPr wrap="square" lIns="102108" tIns="85090" rIns="102108" bIns="8509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37</a:t>
            </a:r>
            <a:endParaRPr lang="en-US" sz="732" dirty="0"/>
          </a:p>
        </p:txBody>
      </p:sp>
      <p:sp>
        <p:nvSpPr>
          <p:cNvPr id="45" name="Text 27">
            <a:extLst>
              <a:ext uri="{FF2B5EF4-FFF2-40B4-BE49-F238E27FC236}">
                <a16:creationId xmlns:a16="http://schemas.microsoft.com/office/drawing/2014/main" id="{39F9801C-E75E-0D15-2BDF-48967A319750}"/>
              </a:ext>
            </a:extLst>
          </p:cNvPr>
          <p:cNvSpPr/>
          <p:nvPr/>
        </p:nvSpPr>
        <p:spPr>
          <a:xfrm>
            <a:off x="571500" y="4349398"/>
            <a:ext cx="2021123" cy="300038"/>
          </a:xfrm>
          <a:prstGeom prst="rect">
            <a:avLst/>
          </a:prstGeom>
          <a:noFill/>
          <a:ln/>
        </p:spPr>
        <p:txBody>
          <a:bodyPr wrap="square" lIns="102108" tIns="85090" rIns="102108" bIns="8509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Pacific/Honolulu</a:t>
            </a:r>
            <a:endParaRPr lang="en-US" sz="732" dirty="0"/>
          </a:p>
        </p:txBody>
      </p:sp>
      <p:sp>
        <p:nvSpPr>
          <p:cNvPr id="46" name="Text 28">
            <a:extLst>
              <a:ext uri="{FF2B5EF4-FFF2-40B4-BE49-F238E27FC236}">
                <a16:creationId xmlns:a16="http://schemas.microsoft.com/office/drawing/2014/main" id="{33FD9037-089B-6B8D-1126-2A034311D928}"/>
              </a:ext>
            </a:extLst>
          </p:cNvPr>
          <p:cNvSpPr/>
          <p:nvPr/>
        </p:nvSpPr>
        <p:spPr>
          <a:xfrm>
            <a:off x="2592623" y="4349398"/>
            <a:ext cx="1064977" cy="300038"/>
          </a:xfrm>
          <a:prstGeom prst="rect">
            <a:avLst/>
          </a:prstGeom>
          <a:noFill/>
          <a:ln/>
        </p:spPr>
        <p:txBody>
          <a:bodyPr wrap="square" lIns="102108" tIns="85090" rIns="102108" bIns="8509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36</a:t>
            </a:r>
            <a:endParaRPr lang="en-US" sz="732" dirty="0"/>
          </a:p>
        </p:txBody>
      </p:sp>
      <p:sp>
        <p:nvSpPr>
          <p:cNvPr id="47" name="Shape 29">
            <a:extLst>
              <a:ext uri="{FF2B5EF4-FFF2-40B4-BE49-F238E27FC236}">
                <a16:creationId xmlns:a16="http://schemas.microsoft.com/office/drawing/2014/main" id="{3691C678-9921-3A17-A2E6-E316960E3E5A}"/>
              </a:ext>
            </a:extLst>
          </p:cNvPr>
          <p:cNvSpPr/>
          <p:nvPr/>
        </p:nvSpPr>
        <p:spPr>
          <a:xfrm>
            <a:off x="571500" y="4649436"/>
            <a:ext cx="3086100" cy="300038"/>
          </a:xfrm>
          <a:prstGeom prst="rect">
            <a:avLst/>
          </a:prstGeom>
          <a:solidFill>
            <a:srgbClr val="F5F5F5"/>
          </a:solidFill>
          <a:ln/>
        </p:spPr>
        <p:txBody>
          <a:bodyPr/>
          <a:lstStyle/>
          <a:p>
            <a:endParaRPr lang="en-US"/>
          </a:p>
        </p:txBody>
      </p:sp>
      <p:sp>
        <p:nvSpPr>
          <p:cNvPr id="48" name="Text 30">
            <a:extLst>
              <a:ext uri="{FF2B5EF4-FFF2-40B4-BE49-F238E27FC236}">
                <a16:creationId xmlns:a16="http://schemas.microsoft.com/office/drawing/2014/main" id="{8CE53E02-105F-25C3-6ECA-E15A487A9689}"/>
              </a:ext>
            </a:extLst>
          </p:cNvPr>
          <p:cNvSpPr/>
          <p:nvPr/>
        </p:nvSpPr>
        <p:spPr>
          <a:xfrm>
            <a:off x="571500" y="4649436"/>
            <a:ext cx="2021123" cy="300038"/>
          </a:xfrm>
          <a:prstGeom prst="rect">
            <a:avLst/>
          </a:prstGeom>
          <a:noFill/>
          <a:ln/>
        </p:spPr>
        <p:txBody>
          <a:bodyPr wrap="square" lIns="102108" tIns="85090" rIns="102108" bIns="8509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Europe/Madrid</a:t>
            </a:r>
            <a:endParaRPr lang="en-US" sz="732" dirty="0"/>
          </a:p>
        </p:txBody>
      </p:sp>
      <p:sp>
        <p:nvSpPr>
          <p:cNvPr id="49" name="Text 31">
            <a:extLst>
              <a:ext uri="{FF2B5EF4-FFF2-40B4-BE49-F238E27FC236}">
                <a16:creationId xmlns:a16="http://schemas.microsoft.com/office/drawing/2014/main" id="{3C92FC1C-5931-306A-D8BB-3B3758AD71D5}"/>
              </a:ext>
            </a:extLst>
          </p:cNvPr>
          <p:cNvSpPr/>
          <p:nvPr/>
        </p:nvSpPr>
        <p:spPr>
          <a:xfrm>
            <a:off x="2592623" y="4649436"/>
            <a:ext cx="1064977" cy="300038"/>
          </a:xfrm>
          <a:prstGeom prst="rect">
            <a:avLst/>
          </a:prstGeom>
          <a:noFill/>
          <a:ln/>
        </p:spPr>
        <p:txBody>
          <a:bodyPr wrap="square" lIns="102108" tIns="85090" rIns="102108" bIns="8509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35</a:t>
            </a:r>
            <a:endParaRPr lang="en-US" sz="73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8001000" cy="342900"/>
          </a:xfrm>
          <a:prstGeom prst="rect">
            <a:avLst/>
          </a:prstGeom>
          <a:noFill/>
          <a:ln/>
        </p:spPr>
        <p:txBody>
          <a:bodyPr wrap="none" lIns="0" tIns="0" rIns="0" bIns="0" rtlCol="0" anchor="ctr">
            <a:spAutoFit/>
          </a:bodyPr>
          <a:lstStyle/>
          <a:p>
            <a:pPr marL="0" indent="0">
              <a:buNone/>
            </a:pPr>
            <a:r>
              <a:rPr lang="en-US" sz="1800" b="1" dirty="0">
                <a:solidFill>
                  <a:srgbClr val="1E3A8A"/>
                </a:solidFill>
                <a:latin typeface="Inter" pitchFamily="34" charset="0"/>
                <a:ea typeface="Inter" pitchFamily="34" charset="-122"/>
                <a:cs typeface="Inter" pitchFamily="34" charset="-120"/>
              </a:rPr>
              <a:t>Phân tích Bitly: Hệ điều hành theo Múi giờ</a:t>
            </a:r>
            <a:endParaRPr lang="en-US" sz="1800" dirty="0"/>
          </a:p>
        </p:txBody>
      </p:sp>
      <p:sp>
        <p:nvSpPr>
          <p:cNvPr id="4" name="Text 1"/>
          <p:cNvSpPr/>
          <p:nvPr/>
        </p:nvSpPr>
        <p:spPr>
          <a:xfrm>
            <a:off x="571500" y="2009542"/>
            <a:ext cx="3086100" cy="214313"/>
          </a:xfrm>
          <a:prstGeom prst="rect">
            <a:avLst/>
          </a:prstGeom>
          <a:noFill/>
          <a:ln/>
        </p:spPr>
        <p:txBody>
          <a:bodyPr wrap="none" lIns="0" tIns="0" rIns="0" bIns="0" rtlCol="0" anchor="ctr">
            <a:spAutoFit/>
          </a:bodyPr>
          <a:lstStyle/>
          <a:p>
            <a:pPr marL="0" indent="0">
              <a:buNone/>
            </a:pPr>
            <a:r>
              <a:rPr lang="en-US" sz="1046" b="1" dirty="0">
                <a:solidFill>
                  <a:srgbClr val="3B82F6"/>
                </a:solidFill>
                <a:latin typeface="Inter" pitchFamily="34" charset="0"/>
                <a:ea typeface="Inter" pitchFamily="34" charset="-122"/>
                <a:cs typeface="Inter" pitchFamily="34" charset="-120"/>
              </a:rPr>
              <a:t>Nhận xét</a:t>
            </a:r>
            <a:endParaRPr lang="en-US" sz="1046" dirty="0"/>
          </a:p>
        </p:txBody>
      </p:sp>
      <p:sp>
        <p:nvSpPr>
          <p:cNvPr id="5" name="Text 2"/>
          <p:cNvSpPr/>
          <p:nvPr/>
        </p:nvSpPr>
        <p:spPr>
          <a:xfrm>
            <a:off x="571500" y="2357800"/>
            <a:ext cx="3052167"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 Trong hầu hết các múi giờ, số lượng người dùng sử dụng </a:t>
            </a:r>
            <a:endParaRPr lang="en-US" sz="837" dirty="0"/>
          </a:p>
        </p:txBody>
      </p:sp>
      <p:sp>
        <p:nvSpPr>
          <p:cNvPr id="6" name="Text 3"/>
          <p:cNvSpPr/>
          <p:nvPr/>
        </p:nvSpPr>
        <p:spPr>
          <a:xfrm>
            <a:off x="571500" y="2552105"/>
            <a:ext cx="730448"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hệ điều hành </a:t>
            </a:r>
            <a:endParaRPr lang="en-US" sz="837" dirty="0"/>
          </a:p>
        </p:txBody>
      </p:sp>
      <p:sp>
        <p:nvSpPr>
          <p:cNvPr id="7" name="Text 4"/>
          <p:cNvSpPr/>
          <p:nvPr/>
        </p:nvSpPr>
        <p:spPr>
          <a:xfrm>
            <a:off x="1301948" y="2552105"/>
            <a:ext cx="519708" cy="137517"/>
          </a:xfrm>
          <a:prstGeom prst="rect">
            <a:avLst/>
          </a:prstGeom>
          <a:noFill/>
          <a:ln/>
        </p:spPr>
        <p:txBody>
          <a:bodyPr wrap="none" lIns="0" tIns="0" rIns="0" bIns="0" rtlCol="0" anchor="ctr">
            <a:spAutoFit/>
          </a:bodyPr>
          <a:lstStyle/>
          <a:p>
            <a:pPr marL="0" indent="0">
              <a:buNone/>
            </a:pPr>
            <a:r>
              <a:rPr lang="en-US" sz="837" b="1" dirty="0">
                <a:solidFill>
                  <a:srgbClr val="374151"/>
                </a:solidFill>
                <a:latin typeface="Inter" pitchFamily="34" charset="0"/>
                <a:ea typeface="Inter" pitchFamily="34" charset="-122"/>
                <a:cs typeface="Inter" pitchFamily="34" charset="-120"/>
              </a:rPr>
              <a:t>Windows</a:t>
            </a:r>
            <a:endParaRPr lang="en-US" sz="837" dirty="0"/>
          </a:p>
        </p:txBody>
      </p:sp>
      <p:sp>
        <p:nvSpPr>
          <p:cNvPr id="8" name="Text 5"/>
          <p:cNvSpPr/>
          <p:nvPr/>
        </p:nvSpPr>
        <p:spPr>
          <a:xfrm>
            <a:off x="1821656" y="2552105"/>
            <a:ext cx="1662708"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 cao hơn đáng kể so với những </a:t>
            </a:r>
            <a:endParaRPr lang="en-US" sz="837" dirty="0"/>
          </a:p>
        </p:txBody>
      </p:sp>
      <p:sp>
        <p:nvSpPr>
          <p:cNvPr id="9" name="Text 6"/>
          <p:cNvSpPr/>
          <p:nvPr/>
        </p:nvSpPr>
        <p:spPr>
          <a:xfrm>
            <a:off x="571500" y="2746409"/>
            <a:ext cx="2877145"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người không sử dụng Windows. Điều này cho thấy sự </a:t>
            </a:r>
            <a:endParaRPr lang="en-US" sz="837" dirty="0"/>
          </a:p>
        </p:txBody>
      </p:sp>
      <p:sp>
        <p:nvSpPr>
          <p:cNvPr id="10" name="Text 7"/>
          <p:cNvSpPr/>
          <p:nvPr/>
        </p:nvSpPr>
        <p:spPr>
          <a:xfrm>
            <a:off x="571500" y="2940714"/>
            <a:ext cx="2923580"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thống trị của hệ điều hành Windows trong cơ sở người </a:t>
            </a:r>
            <a:endParaRPr lang="en-US" sz="837" dirty="0"/>
          </a:p>
        </p:txBody>
      </p:sp>
      <p:sp>
        <p:nvSpPr>
          <p:cNvPr id="11" name="Text 8"/>
          <p:cNvSpPr/>
          <p:nvPr/>
        </p:nvSpPr>
        <p:spPr>
          <a:xfrm>
            <a:off x="571500" y="3135018"/>
            <a:ext cx="3077170"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dùng được phân tích. Múi giờ America/New_York tiếp tục </a:t>
            </a:r>
            <a:endParaRPr lang="en-US" sz="837" dirty="0"/>
          </a:p>
        </p:txBody>
      </p:sp>
      <p:sp>
        <p:nvSpPr>
          <p:cNvPr id="12" name="Text 9"/>
          <p:cNvSpPr/>
          <p:nvPr/>
        </p:nvSpPr>
        <p:spPr>
          <a:xfrm>
            <a:off x="571500" y="3329322"/>
            <a:ext cx="2923580"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cho thấy số lượng người dùng cao nhất cho cả hai loại </a:t>
            </a:r>
            <a:endParaRPr lang="en-US" sz="837" dirty="0"/>
          </a:p>
        </p:txBody>
      </p:sp>
      <p:sp>
        <p:nvSpPr>
          <p:cNvPr id="13" name="Text 10"/>
          <p:cNvSpPr/>
          <p:nvPr/>
        </p:nvSpPr>
        <p:spPr>
          <a:xfrm>
            <a:off x="571500" y="3523627"/>
            <a:ext cx="730448"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hệ điều hành. </a:t>
            </a:r>
            <a:endParaRPr lang="en-US" sz="837" dirty="0"/>
          </a:p>
        </p:txBody>
      </p:sp>
      <p:pic>
        <p:nvPicPr>
          <p:cNvPr id="14" name="Image 1" descr="preencoded.png"/>
          <p:cNvPicPr>
            <a:picLocks noChangeAspect="1"/>
          </p:cNvPicPr>
          <p:nvPr/>
        </p:nvPicPr>
        <p:blipFill>
          <a:blip r:embed="rId4"/>
          <a:stretch>
            <a:fillRect/>
          </a:stretch>
        </p:blipFill>
        <p:spPr>
          <a:xfrm>
            <a:off x="3943350" y="985838"/>
            <a:ext cx="4629150" cy="3429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8001000" cy="342900"/>
          </a:xfrm>
          <a:prstGeom prst="rect">
            <a:avLst/>
          </a:prstGeom>
          <a:noFill/>
          <a:ln/>
        </p:spPr>
        <p:txBody>
          <a:bodyPr wrap="none" lIns="0" tIns="0" rIns="0" bIns="0" rtlCol="0" anchor="ctr">
            <a:spAutoFit/>
          </a:bodyPr>
          <a:lstStyle/>
          <a:p>
            <a:pPr marL="0" indent="0">
              <a:buNone/>
            </a:pPr>
            <a:r>
              <a:rPr lang="en-US" sz="1800" b="1" dirty="0">
                <a:solidFill>
                  <a:srgbClr val="1F4788"/>
                </a:solidFill>
                <a:latin typeface="Noto Sans" pitchFamily="34" charset="0"/>
                <a:ea typeface="Noto Sans" pitchFamily="34" charset="-122"/>
                <a:cs typeface="Noto Sans" pitchFamily="34" charset="-120"/>
              </a:rPr>
              <a:t>Top phim được nữ giới đánh giá cao - MovieLens</a:t>
            </a:r>
            <a:endParaRPr lang="en-US" sz="1800" dirty="0"/>
          </a:p>
        </p:txBody>
      </p:sp>
      <p:sp>
        <p:nvSpPr>
          <p:cNvPr id="4" name="Shape 1"/>
          <p:cNvSpPr/>
          <p:nvPr/>
        </p:nvSpPr>
        <p:spPr>
          <a:xfrm>
            <a:off x="571500" y="1057275"/>
            <a:ext cx="2428875" cy="342900"/>
          </a:xfrm>
          <a:prstGeom prst="rect">
            <a:avLst/>
          </a:prstGeom>
          <a:solidFill>
            <a:srgbClr val="4A90E2"/>
          </a:solidFill>
          <a:ln/>
        </p:spPr>
        <p:txBody>
          <a:bodyPr/>
          <a:lstStyle/>
          <a:p>
            <a:endParaRPr lang="en-US"/>
          </a:p>
        </p:txBody>
      </p:sp>
      <p:sp>
        <p:nvSpPr>
          <p:cNvPr id="5" name="Text 2"/>
          <p:cNvSpPr/>
          <p:nvPr/>
        </p:nvSpPr>
        <p:spPr>
          <a:xfrm>
            <a:off x="571500" y="1057275"/>
            <a:ext cx="2428875" cy="342900"/>
          </a:xfrm>
          <a:prstGeom prst="rect">
            <a:avLst/>
          </a:prstGeom>
          <a:noFill/>
          <a:ln/>
        </p:spPr>
        <p:txBody>
          <a:bodyPr wrap="square" lIns="102108" tIns="102108" rIns="102108" bIns="102108" rtlCol="0" anchor="ctr">
            <a:spAutoFit/>
          </a:bodyPr>
          <a:lstStyle/>
          <a:p>
            <a:pPr marL="0" indent="0" algn="l">
              <a:buNone/>
            </a:pPr>
            <a:r>
              <a:rPr lang="en-US" sz="837" b="1" dirty="0">
                <a:solidFill>
                  <a:srgbClr val="FFFFFF"/>
                </a:solidFill>
                <a:latin typeface="Noto Sans" pitchFamily="34" charset="0"/>
                <a:ea typeface="Noto Sans" pitchFamily="34" charset="-122"/>
                <a:cs typeface="Noto Sans" pitchFamily="34" charset="-120"/>
              </a:rPr>
              <a:t>Tiêu đề phim</a:t>
            </a:r>
            <a:endParaRPr lang="en-US" sz="837" dirty="0"/>
          </a:p>
        </p:txBody>
      </p:sp>
      <p:sp>
        <p:nvSpPr>
          <p:cNvPr id="6" name="Shape 3"/>
          <p:cNvSpPr/>
          <p:nvPr/>
        </p:nvSpPr>
        <p:spPr>
          <a:xfrm>
            <a:off x="3000375" y="1057275"/>
            <a:ext cx="1214438" cy="342900"/>
          </a:xfrm>
          <a:prstGeom prst="rect">
            <a:avLst/>
          </a:prstGeom>
          <a:solidFill>
            <a:srgbClr val="4A90E2"/>
          </a:solidFill>
          <a:ln/>
        </p:spPr>
        <p:txBody>
          <a:bodyPr/>
          <a:lstStyle/>
          <a:p>
            <a:endParaRPr lang="en-US"/>
          </a:p>
        </p:txBody>
      </p:sp>
      <p:sp>
        <p:nvSpPr>
          <p:cNvPr id="7" name="Text 4"/>
          <p:cNvSpPr/>
          <p:nvPr/>
        </p:nvSpPr>
        <p:spPr>
          <a:xfrm>
            <a:off x="3000375" y="1057275"/>
            <a:ext cx="1214438" cy="342900"/>
          </a:xfrm>
          <a:prstGeom prst="rect">
            <a:avLst/>
          </a:prstGeom>
          <a:noFill/>
          <a:ln/>
        </p:spPr>
        <p:txBody>
          <a:bodyPr wrap="square" lIns="102108" tIns="102108" rIns="102108" bIns="102108" rtlCol="0" anchor="ctr">
            <a:spAutoFit/>
          </a:bodyPr>
          <a:lstStyle/>
          <a:p>
            <a:pPr marL="0" indent="0" algn="ctr">
              <a:buNone/>
            </a:pPr>
            <a:r>
              <a:rPr lang="en-US" sz="837" b="1" dirty="0">
                <a:solidFill>
                  <a:srgbClr val="FFFFFF"/>
                </a:solidFill>
                <a:latin typeface="Noto Sans" pitchFamily="34" charset="0"/>
                <a:ea typeface="Noto Sans" pitchFamily="34" charset="-122"/>
                <a:cs typeface="Noto Sans" pitchFamily="34" charset="-120"/>
              </a:rPr>
              <a:t>Điểm Nữ</a:t>
            </a:r>
            <a:endParaRPr lang="en-US" sz="837" dirty="0"/>
          </a:p>
        </p:txBody>
      </p:sp>
      <p:sp>
        <p:nvSpPr>
          <p:cNvPr id="8" name="Shape 5"/>
          <p:cNvSpPr/>
          <p:nvPr/>
        </p:nvSpPr>
        <p:spPr>
          <a:xfrm>
            <a:off x="4214813" y="1057275"/>
            <a:ext cx="1214438" cy="342900"/>
          </a:xfrm>
          <a:prstGeom prst="rect">
            <a:avLst/>
          </a:prstGeom>
          <a:solidFill>
            <a:srgbClr val="4A90E2"/>
          </a:solidFill>
          <a:ln/>
        </p:spPr>
        <p:txBody>
          <a:bodyPr/>
          <a:lstStyle/>
          <a:p>
            <a:endParaRPr lang="en-US"/>
          </a:p>
        </p:txBody>
      </p:sp>
      <p:sp>
        <p:nvSpPr>
          <p:cNvPr id="9" name="Text 6"/>
          <p:cNvSpPr/>
          <p:nvPr/>
        </p:nvSpPr>
        <p:spPr>
          <a:xfrm>
            <a:off x="4214813" y="1057275"/>
            <a:ext cx="1214438" cy="342900"/>
          </a:xfrm>
          <a:prstGeom prst="rect">
            <a:avLst/>
          </a:prstGeom>
          <a:noFill/>
          <a:ln/>
        </p:spPr>
        <p:txBody>
          <a:bodyPr wrap="square" lIns="102108" tIns="102108" rIns="102108" bIns="102108" rtlCol="0" anchor="ctr">
            <a:spAutoFit/>
          </a:bodyPr>
          <a:lstStyle/>
          <a:p>
            <a:pPr marL="0" indent="0" algn="ctr">
              <a:buNone/>
            </a:pPr>
            <a:r>
              <a:rPr lang="en-US" sz="837" b="1" dirty="0">
                <a:solidFill>
                  <a:srgbClr val="FFFFFF"/>
                </a:solidFill>
                <a:latin typeface="Noto Sans" pitchFamily="34" charset="0"/>
                <a:ea typeface="Noto Sans" pitchFamily="34" charset="-122"/>
                <a:cs typeface="Noto Sans" pitchFamily="34" charset="-120"/>
              </a:rPr>
              <a:t>Điểm Nam</a:t>
            </a:r>
            <a:endParaRPr lang="en-US" sz="837" dirty="0"/>
          </a:p>
        </p:txBody>
      </p:sp>
      <p:sp>
        <p:nvSpPr>
          <p:cNvPr id="10" name="Text 7"/>
          <p:cNvSpPr/>
          <p:nvPr/>
        </p:nvSpPr>
        <p:spPr>
          <a:xfrm>
            <a:off x="571500" y="1400175"/>
            <a:ext cx="2428875" cy="382191"/>
          </a:xfrm>
          <a:prstGeom prst="rect">
            <a:avLst/>
          </a:prstGeom>
          <a:noFill/>
          <a:ln/>
        </p:spPr>
        <p:txBody>
          <a:bodyPr wrap="square" lIns="102108" tIns="102108" rIns="102108" bIns="102108"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Close Shave, A (1995)</a:t>
            </a:r>
            <a:endParaRPr lang="en-US" sz="837" dirty="0"/>
          </a:p>
        </p:txBody>
      </p:sp>
      <p:sp>
        <p:nvSpPr>
          <p:cNvPr id="11" name="Shape 8"/>
          <p:cNvSpPr/>
          <p:nvPr/>
        </p:nvSpPr>
        <p:spPr>
          <a:xfrm>
            <a:off x="3421800" y="1485900"/>
            <a:ext cx="371587" cy="207169"/>
          </a:xfrm>
          <a:prstGeom prst="rect">
            <a:avLst/>
          </a:prstGeom>
          <a:solidFill>
            <a:srgbClr val="F39C12"/>
          </a:solidFill>
          <a:ln/>
        </p:spPr>
        <p:txBody>
          <a:bodyPr/>
          <a:lstStyle/>
          <a:p>
            <a:endParaRPr lang="en-US"/>
          </a:p>
        </p:txBody>
      </p:sp>
      <p:sp>
        <p:nvSpPr>
          <p:cNvPr id="12" name="Text 9"/>
          <p:cNvSpPr/>
          <p:nvPr/>
        </p:nvSpPr>
        <p:spPr>
          <a:xfrm>
            <a:off x="3421800" y="1485900"/>
            <a:ext cx="371587" cy="207169"/>
          </a:xfrm>
          <a:prstGeom prst="rect">
            <a:avLst/>
          </a:prstGeom>
          <a:noFill/>
          <a:ln/>
        </p:spPr>
        <p:txBody>
          <a:bodyPr wrap="none" lIns="102108" tIns="34036" rIns="102108" bIns="34036" rtlCol="0" anchor="ctr">
            <a:spAutoFit/>
          </a:bodyPr>
          <a:lstStyle/>
          <a:p>
            <a:pPr marL="0" indent="0" algn="ctr">
              <a:buNone/>
            </a:pPr>
            <a:r>
              <a:rPr lang="en-US" sz="732" b="1" dirty="0">
                <a:solidFill>
                  <a:srgbClr val="FFFFFF"/>
                </a:solidFill>
                <a:latin typeface="Noto Sans" pitchFamily="34" charset="0"/>
                <a:ea typeface="Noto Sans" pitchFamily="34" charset="-122"/>
                <a:cs typeface="Noto Sans" pitchFamily="34" charset="-120"/>
              </a:rPr>
              <a:t>4.64</a:t>
            </a:r>
            <a:endParaRPr lang="en-US" sz="732" dirty="0"/>
          </a:p>
        </p:txBody>
      </p:sp>
      <p:sp>
        <p:nvSpPr>
          <p:cNvPr id="13" name="Shape 10"/>
          <p:cNvSpPr/>
          <p:nvPr/>
        </p:nvSpPr>
        <p:spPr>
          <a:xfrm>
            <a:off x="4636238" y="1485900"/>
            <a:ext cx="371587" cy="207169"/>
          </a:xfrm>
          <a:prstGeom prst="rect">
            <a:avLst/>
          </a:prstGeom>
          <a:solidFill>
            <a:srgbClr val="E0E0E0"/>
          </a:solidFill>
          <a:ln/>
        </p:spPr>
        <p:txBody>
          <a:bodyPr/>
          <a:lstStyle/>
          <a:p>
            <a:endParaRPr lang="en-US"/>
          </a:p>
        </p:txBody>
      </p:sp>
      <p:sp>
        <p:nvSpPr>
          <p:cNvPr id="14" name="Text 11"/>
          <p:cNvSpPr/>
          <p:nvPr/>
        </p:nvSpPr>
        <p:spPr>
          <a:xfrm>
            <a:off x="4636238" y="1485900"/>
            <a:ext cx="371587" cy="207169"/>
          </a:xfrm>
          <a:prstGeom prst="rect">
            <a:avLst/>
          </a:prstGeom>
          <a:noFill/>
          <a:ln/>
        </p:spPr>
        <p:txBody>
          <a:bodyPr wrap="none" lIns="102108" tIns="34036" rIns="102108" bIns="34036" rtlCol="0" anchor="ctr">
            <a:spAutoFit/>
          </a:bodyPr>
          <a:lstStyle/>
          <a:p>
            <a:pPr marL="0" indent="0" algn="ctr">
              <a:buNone/>
            </a:pPr>
            <a:r>
              <a:rPr lang="en-US" sz="732" b="1" dirty="0">
                <a:solidFill>
                  <a:srgbClr val="333333"/>
                </a:solidFill>
                <a:latin typeface="Noto Sans" pitchFamily="34" charset="0"/>
                <a:ea typeface="Noto Sans" pitchFamily="34" charset="-122"/>
                <a:cs typeface="Noto Sans" pitchFamily="34" charset="-120"/>
              </a:rPr>
              <a:t>4.47</a:t>
            </a:r>
            <a:endParaRPr lang="en-US" sz="732" dirty="0"/>
          </a:p>
        </p:txBody>
      </p:sp>
      <p:sp>
        <p:nvSpPr>
          <p:cNvPr id="15" name="Text 12"/>
          <p:cNvSpPr/>
          <p:nvPr/>
        </p:nvSpPr>
        <p:spPr>
          <a:xfrm>
            <a:off x="571500" y="1782366"/>
            <a:ext cx="2428875" cy="385763"/>
          </a:xfrm>
          <a:prstGeom prst="rect">
            <a:avLst/>
          </a:prstGeom>
          <a:noFill/>
          <a:ln/>
        </p:spPr>
        <p:txBody>
          <a:bodyPr wrap="square" lIns="102108" tIns="102108" rIns="102108" bIns="102108"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Wrong Trousers, The (1993)</a:t>
            </a:r>
            <a:endParaRPr lang="en-US" sz="837" dirty="0"/>
          </a:p>
        </p:txBody>
      </p:sp>
      <p:sp>
        <p:nvSpPr>
          <p:cNvPr id="16" name="Shape 13"/>
          <p:cNvSpPr/>
          <p:nvPr/>
        </p:nvSpPr>
        <p:spPr>
          <a:xfrm>
            <a:off x="3421800" y="1871663"/>
            <a:ext cx="371587" cy="207169"/>
          </a:xfrm>
          <a:prstGeom prst="rect">
            <a:avLst/>
          </a:prstGeom>
          <a:solidFill>
            <a:srgbClr val="F39C12"/>
          </a:solidFill>
          <a:ln/>
        </p:spPr>
        <p:txBody>
          <a:bodyPr/>
          <a:lstStyle/>
          <a:p>
            <a:endParaRPr lang="en-US"/>
          </a:p>
        </p:txBody>
      </p:sp>
      <p:sp>
        <p:nvSpPr>
          <p:cNvPr id="17" name="Text 14"/>
          <p:cNvSpPr/>
          <p:nvPr/>
        </p:nvSpPr>
        <p:spPr>
          <a:xfrm>
            <a:off x="3421800" y="1871663"/>
            <a:ext cx="371587" cy="207169"/>
          </a:xfrm>
          <a:prstGeom prst="rect">
            <a:avLst/>
          </a:prstGeom>
          <a:noFill/>
          <a:ln/>
        </p:spPr>
        <p:txBody>
          <a:bodyPr wrap="none" lIns="102108" tIns="34036" rIns="102108" bIns="34036" rtlCol="0" anchor="ctr">
            <a:spAutoFit/>
          </a:bodyPr>
          <a:lstStyle/>
          <a:p>
            <a:pPr marL="0" indent="0" algn="ctr">
              <a:buNone/>
            </a:pPr>
            <a:r>
              <a:rPr lang="en-US" sz="732" b="1" dirty="0">
                <a:solidFill>
                  <a:srgbClr val="FFFFFF"/>
                </a:solidFill>
                <a:latin typeface="Noto Sans" pitchFamily="34" charset="0"/>
                <a:ea typeface="Noto Sans" pitchFamily="34" charset="-122"/>
                <a:cs typeface="Noto Sans" pitchFamily="34" charset="-120"/>
              </a:rPr>
              <a:t>4.59</a:t>
            </a:r>
            <a:endParaRPr lang="en-US" sz="732" dirty="0"/>
          </a:p>
        </p:txBody>
      </p:sp>
      <p:sp>
        <p:nvSpPr>
          <p:cNvPr id="18" name="Shape 15"/>
          <p:cNvSpPr/>
          <p:nvPr/>
        </p:nvSpPr>
        <p:spPr>
          <a:xfrm>
            <a:off x="4636238" y="1871663"/>
            <a:ext cx="371587" cy="207169"/>
          </a:xfrm>
          <a:prstGeom prst="rect">
            <a:avLst/>
          </a:prstGeom>
          <a:solidFill>
            <a:srgbClr val="E0E0E0"/>
          </a:solidFill>
          <a:ln/>
        </p:spPr>
        <p:txBody>
          <a:bodyPr/>
          <a:lstStyle/>
          <a:p>
            <a:endParaRPr lang="en-US"/>
          </a:p>
        </p:txBody>
      </p:sp>
      <p:sp>
        <p:nvSpPr>
          <p:cNvPr id="19" name="Text 16"/>
          <p:cNvSpPr/>
          <p:nvPr/>
        </p:nvSpPr>
        <p:spPr>
          <a:xfrm>
            <a:off x="4636238" y="1871663"/>
            <a:ext cx="371587" cy="207169"/>
          </a:xfrm>
          <a:prstGeom prst="rect">
            <a:avLst/>
          </a:prstGeom>
          <a:noFill/>
          <a:ln/>
        </p:spPr>
        <p:txBody>
          <a:bodyPr wrap="none" lIns="102108" tIns="34036" rIns="102108" bIns="34036" rtlCol="0" anchor="ctr">
            <a:spAutoFit/>
          </a:bodyPr>
          <a:lstStyle/>
          <a:p>
            <a:pPr marL="0" indent="0" algn="ctr">
              <a:buNone/>
            </a:pPr>
            <a:r>
              <a:rPr lang="en-US" sz="732" b="1" dirty="0">
                <a:solidFill>
                  <a:srgbClr val="333333"/>
                </a:solidFill>
                <a:latin typeface="Noto Sans" pitchFamily="34" charset="0"/>
                <a:ea typeface="Noto Sans" pitchFamily="34" charset="-122"/>
                <a:cs typeface="Noto Sans" pitchFamily="34" charset="-120"/>
              </a:rPr>
              <a:t>4.48</a:t>
            </a:r>
            <a:endParaRPr lang="en-US" sz="732" dirty="0"/>
          </a:p>
        </p:txBody>
      </p:sp>
      <p:sp>
        <p:nvSpPr>
          <p:cNvPr id="20" name="Text 17"/>
          <p:cNvSpPr/>
          <p:nvPr/>
        </p:nvSpPr>
        <p:spPr>
          <a:xfrm>
            <a:off x="571500" y="2168128"/>
            <a:ext cx="2428875" cy="521494"/>
          </a:xfrm>
          <a:prstGeom prst="rect">
            <a:avLst/>
          </a:prstGeom>
          <a:noFill/>
          <a:ln/>
        </p:spPr>
        <p:txBody>
          <a:bodyPr wrap="square" lIns="102108" tIns="102108" rIns="102108" bIns="102108"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Sunset Blvd. (a.k.a. Sunset Boulevard) (1950)</a:t>
            </a:r>
            <a:endParaRPr lang="en-US" sz="837" dirty="0"/>
          </a:p>
        </p:txBody>
      </p:sp>
      <p:sp>
        <p:nvSpPr>
          <p:cNvPr id="21" name="Shape 18"/>
          <p:cNvSpPr/>
          <p:nvPr/>
        </p:nvSpPr>
        <p:spPr>
          <a:xfrm>
            <a:off x="3421800" y="2325291"/>
            <a:ext cx="371587" cy="207169"/>
          </a:xfrm>
          <a:prstGeom prst="rect">
            <a:avLst/>
          </a:prstGeom>
          <a:solidFill>
            <a:srgbClr val="F39C12"/>
          </a:solidFill>
          <a:ln/>
        </p:spPr>
        <p:txBody>
          <a:bodyPr/>
          <a:lstStyle/>
          <a:p>
            <a:endParaRPr lang="en-US"/>
          </a:p>
        </p:txBody>
      </p:sp>
      <p:sp>
        <p:nvSpPr>
          <p:cNvPr id="22" name="Text 19"/>
          <p:cNvSpPr/>
          <p:nvPr/>
        </p:nvSpPr>
        <p:spPr>
          <a:xfrm>
            <a:off x="3421800" y="2325291"/>
            <a:ext cx="371587" cy="207169"/>
          </a:xfrm>
          <a:prstGeom prst="rect">
            <a:avLst/>
          </a:prstGeom>
          <a:noFill/>
          <a:ln/>
        </p:spPr>
        <p:txBody>
          <a:bodyPr wrap="none" lIns="102108" tIns="34036" rIns="102108" bIns="34036" rtlCol="0" anchor="ctr">
            <a:spAutoFit/>
          </a:bodyPr>
          <a:lstStyle/>
          <a:p>
            <a:pPr marL="0" indent="0" algn="ctr">
              <a:buNone/>
            </a:pPr>
            <a:r>
              <a:rPr lang="en-US" sz="732" b="1" dirty="0">
                <a:solidFill>
                  <a:srgbClr val="FFFFFF"/>
                </a:solidFill>
                <a:latin typeface="Noto Sans" pitchFamily="34" charset="0"/>
                <a:ea typeface="Noto Sans" pitchFamily="34" charset="-122"/>
                <a:cs typeface="Noto Sans" pitchFamily="34" charset="-120"/>
              </a:rPr>
              <a:t>4.57</a:t>
            </a:r>
            <a:endParaRPr lang="en-US" sz="732" dirty="0"/>
          </a:p>
        </p:txBody>
      </p:sp>
      <p:sp>
        <p:nvSpPr>
          <p:cNvPr id="23" name="Shape 20"/>
          <p:cNvSpPr/>
          <p:nvPr/>
        </p:nvSpPr>
        <p:spPr>
          <a:xfrm>
            <a:off x="4636238" y="2325291"/>
            <a:ext cx="371587" cy="207169"/>
          </a:xfrm>
          <a:prstGeom prst="rect">
            <a:avLst/>
          </a:prstGeom>
          <a:solidFill>
            <a:srgbClr val="E0E0E0"/>
          </a:solidFill>
          <a:ln/>
        </p:spPr>
        <p:txBody>
          <a:bodyPr/>
          <a:lstStyle/>
          <a:p>
            <a:endParaRPr lang="en-US"/>
          </a:p>
        </p:txBody>
      </p:sp>
      <p:sp>
        <p:nvSpPr>
          <p:cNvPr id="24" name="Text 21"/>
          <p:cNvSpPr/>
          <p:nvPr/>
        </p:nvSpPr>
        <p:spPr>
          <a:xfrm>
            <a:off x="4636238" y="2325291"/>
            <a:ext cx="371587" cy="207169"/>
          </a:xfrm>
          <a:prstGeom prst="rect">
            <a:avLst/>
          </a:prstGeom>
          <a:noFill/>
          <a:ln/>
        </p:spPr>
        <p:txBody>
          <a:bodyPr wrap="none" lIns="102108" tIns="34036" rIns="102108" bIns="34036" rtlCol="0" anchor="ctr">
            <a:spAutoFit/>
          </a:bodyPr>
          <a:lstStyle/>
          <a:p>
            <a:pPr marL="0" indent="0" algn="ctr">
              <a:buNone/>
            </a:pPr>
            <a:r>
              <a:rPr lang="en-US" sz="732" b="1" dirty="0">
                <a:solidFill>
                  <a:srgbClr val="333333"/>
                </a:solidFill>
                <a:latin typeface="Noto Sans" pitchFamily="34" charset="0"/>
                <a:ea typeface="Noto Sans" pitchFamily="34" charset="-122"/>
                <a:cs typeface="Noto Sans" pitchFamily="34" charset="-120"/>
              </a:rPr>
              <a:t>4.46</a:t>
            </a:r>
            <a:endParaRPr lang="en-US" sz="732" dirty="0"/>
          </a:p>
        </p:txBody>
      </p:sp>
      <p:sp>
        <p:nvSpPr>
          <p:cNvPr id="25" name="Text 22"/>
          <p:cNvSpPr/>
          <p:nvPr/>
        </p:nvSpPr>
        <p:spPr>
          <a:xfrm>
            <a:off x="571500" y="2689622"/>
            <a:ext cx="2428875" cy="521494"/>
          </a:xfrm>
          <a:prstGeom prst="rect">
            <a:avLst/>
          </a:prstGeom>
          <a:noFill/>
          <a:ln/>
        </p:spPr>
        <p:txBody>
          <a:bodyPr wrap="square" lIns="102108" tIns="102108" rIns="102108" bIns="102108"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Wallace &amp; Gromit: The Best of Aardman Animation (1996)</a:t>
            </a:r>
            <a:endParaRPr lang="en-US" sz="837" dirty="0"/>
          </a:p>
        </p:txBody>
      </p:sp>
      <p:sp>
        <p:nvSpPr>
          <p:cNvPr id="26" name="Shape 23"/>
          <p:cNvSpPr/>
          <p:nvPr/>
        </p:nvSpPr>
        <p:spPr>
          <a:xfrm>
            <a:off x="3421800" y="2846784"/>
            <a:ext cx="371587" cy="207169"/>
          </a:xfrm>
          <a:prstGeom prst="rect">
            <a:avLst/>
          </a:prstGeom>
          <a:solidFill>
            <a:srgbClr val="F39C12"/>
          </a:solidFill>
          <a:ln/>
        </p:spPr>
        <p:txBody>
          <a:bodyPr/>
          <a:lstStyle/>
          <a:p>
            <a:endParaRPr lang="en-US"/>
          </a:p>
        </p:txBody>
      </p:sp>
      <p:sp>
        <p:nvSpPr>
          <p:cNvPr id="27" name="Text 24"/>
          <p:cNvSpPr/>
          <p:nvPr/>
        </p:nvSpPr>
        <p:spPr>
          <a:xfrm>
            <a:off x="3421800" y="2846784"/>
            <a:ext cx="371587" cy="207169"/>
          </a:xfrm>
          <a:prstGeom prst="rect">
            <a:avLst/>
          </a:prstGeom>
          <a:noFill/>
          <a:ln/>
        </p:spPr>
        <p:txBody>
          <a:bodyPr wrap="none" lIns="102108" tIns="34036" rIns="102108" bIns="34036" rtlCol="0" anchor="ctr">
            <a:spAutoFit/>
          </a:bodyPr>
          <a:lstStyle/>
          <a:p>
            <a:pPr marL="0" indent="0" algn="ctr">
              <a:buNone/>
            </a:pPr>
            <a:r>
              <a:rPr lang="en-US" sz="732" b="1" dirty="0">
                <a:solidFill>
                  <a:srgbClr val="FFFFFF"/>
                </a:solidFill>
                <a:latin typeface="Noto Sans" pitchFamily="34" charset="0"/>
                <a:ea typeface="Noto Sans" pitchFamily="34" charset="-122"/>
                <a:cs typeface="Noto Sans" pitchFamily="34" charset="-120"/>
              </a:rPr>
              <a:t>4.56</a:t>
            </a:r>
            <a:endParaRPr lang="en-US" sz="732" dirty="0"/>
          </a:p>
        </p:txBody>
      </p:sp>
      <p:sp>
        <p:nvSpPr>
          <p:cNvPr id="28" name="Shape 25"/>
          <p:cNvSpPr/>
          <p:nvPr/>
        </p:nvSpPr>
        <p:spPr>
          <a:xfrm>
            <a:off x="4636238" y="2846784"/>
            <a:ext cx="371587" cy="207169"/>
          </a:xfrm>
          <a:prstGeom prst="rect">
            <a:avLst/>
          </a:prstGeom>
          <a:solidFill>
            <a:srgbClr val="E0E0E0"/>
          </a:solidFill>
          <a:ln/>
        </p:spPr>
        <p:txBody>
          <a:bodyPr/>
          <a:lstStyle/>
          <a:p>
            <a:endParaRPr lang="en-US"/>
          </a:p>
        </p:txBody>
      </p:sp>
      <p:sp>
        <p:nvSpPr>
          <p:cNvPr id="29" name="Text 26"/>
          <p:cNvSpPr/>
          <p:nvPr/>
        </p:nvSpPr>
        <p:spPr>
          <a:xfrm>
            <a:off x="4636238" y="2846784"/>
            <a:ext cx="371587" cy="207169"/>
          </a:xfrm>
          <a:prstGeom prst="rect">
            <a:avLst/>
          </a:prstGeom>
          <a:noFill/>
          <a:ln/>
        </p:spPr>
        <p:txBody>
          <a:bodyPr wrap="none" lIns="102108" tIns="34036" rIns="102108" bIns="34036" rtlCol="0" anchor="ctr">
            <a:spAutoFit/>
          </a:bodyPr>
          <a:lstStyle/>
          <a:p>
            <a:pPr marL="0" indent="0" algn="ctr">
              <a:buNone/>
            </a:pPr>
            <a:r>
              <a:rPr lang="en-US" sz="732" b="1" dirty="0">
                <a:solidFill>
                  <a:srgbClr val="333333"/>
                </a:solidFill>
                <a:latin typeface="Noto Sans" pitchFamily="34" charset="0"/>
                <a:ea typeface="Noto Sans" pitchFamily="34" charset="-122"/>
                <a:cs typeface="Noto Sans" pitchFamily="34" charset="-120"/>
              </a:rPr>
              <a:t>4.39</a:t>
            </a:r>
            <a:endParaRPr lang="en-US" sz="732" dirty="0"/>
          </a:p>
        </p:txBody>
      </p:sp>
      <p:sp>
        <p:nvSpPr>
          <p:cNvPr id="30" name="Text 27"/>
          <p:cNvSpPr/>
          <p:nvPr/>
        </p:nvSpPr>
        <p:spPr>
          <a:xfrm>
            <a:off x="571500" y="3211116"/>
            <a:ext cx="2428875" cy="385763"/>
          </a:xfrm>
          <a:prstGeom prst="rect">
            <a:avLst/>
          </a:prstGeom>
          <a:noFill/>
          <a:ln/>
        </p:spPr>
        <p:txBody>
          <a:bodyPr wrap="square" lIns="102108" tIns="102108" rIns="102108" bIns="102108"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Schindler's List (1993)</a:t>
            </a:r>
            <a:endParaRPr lang="en-US" sz="837" dirty="0"/>
          </a:p>
        </p:txBody>
      </p:sp>
      <p:sp>
        <p:nvSpPr>
          <p:cNvPr id="31" name="Shape 28"/>
          <p:cNvSpPr/>
          <p:nvPr/>
        </p:nvSpPr>
        <p:spPr>
          <a:xfrm>
            <a:off x="3421800" y="3300413"/>
            <a:ext cx="371587" cy="207169"/>
          </a:xfrm>
          <a:prstGeom prst="rect">
            <a:avLst/>
          </a:prstGeom>
          <a:solidFill>
            <a:srgbClr val="F39C12"/>
          </a:solidFill>
          <a:ln/>
        </p:spPr>
        <p:txBody>
          <a:bodyPr/>
          <a:lstStyle/>
          <a:p>
            <a:endParaRPr lang="en-US"/>
          </a:p>
        </p:txBody>
      </p:sp>
      <p:sp>
        <p:nvSpPr>
          <p:cNvPr id="32" name="Text 29"/>
          <p:cNvSpPr/>
          <p:nvPr/>
        </p:nvSpPr>
        <p:spPr>
          <a:xfrm>
            <a:off x="3421800" y="3300413"/>
            <a:ext cx="371587" cy="207169"/>
          </a:xfrm>
          <a:prstGeom prst="rect">
            <a:avLst/>
          </a:prstGeom>
          <a:noFill/>
          <a:ln/>
        </p:spPr>
        <p:txBody>
          <a:bodyPr wrap="none" lIns="102108" tIns="34036" rIns="102108" bIns="34036" rtlCol="0" anchor="ctr">
            <a:spAutoFit/>
          </a:bodyPr>
          <a:lstStyle/>
          <a:p>
            <a:pPr marL="0" indent="0" algn="ctr">
              <a:buNone/>
            </a:pPr>
            <a:r>
              <a:rPr lang="en-US" sz="732" b="1" dirty="0">
                <a:solidFill>
                  <a:srgbClr val="FFFFFF"/>
                </a:solidFill>
                <a:latin typeface="Noto Sans" pitchFamily="34" charset="0"/>
                <a:ea typeface="Noto Sans" pitchFamily="34" charset="-122"/>
                <a:cs typeface="Noto Sans" pitchFamily="34" charset="-120"/>
              </a:rPr>
              <a:t>4.56</a:t>
            </a:r>
            <a:endParaRPr lang="en-US" sz="732" dirty="0"/>
          </a:p>
        </p:txBody>
      </p:sp>
      <p:sp>
        <p:nvSpPr>
          <p:cNvPr id="33" name="Shape 30"/>
          <p:cNvSpPr/>
          <p:nvPr/>
        </p:nvSpPr>
        <p:spPr>
          <a:xfrm>
            <a:off x="4636238" y="3300413"/>
            <a:ext cx="371587" cy="207169"/>
          </a:xfrm>
          <a:prstGeom prst="rect">
            <a:avLst/>
          </a:prstGeom>
          <a:solidFill>
            <a:srgbClr val="E0E0E0"/>
          </a:solidFill>
          <a:ln/>
        </p:spPr>
        <p:txBody>
          <a:bodyPr/>
          <a:lstStyle/>
          <a:p>
            <a:endParaRPr lang="en-US"/>
          </a:p>
        </p:txBody>
      </p:sp>
      <p:sp>
        <p:nvSpPr>
          <p:cNvPr id="34" name="Text 31"/>
          <p:cNvSpPr/>
          <p:nvPr/>
        </p:nvSpPr>
        <p:spPr>
          <a:xfrm>
            <a:off x="4636238" y="3300413"/>
            <a:ext cx="371587" cy="207169"/>
          </a:xfrm>
          <a:prstGeom prst="rect">
            <a:avLst/>
          </a:prstGeom>
          <a:noFill/>
          <a:ln/>
        </p:spPr>
        <p:txBody>
          <a:bodyPr wrap="none" lIns="102108" tIns="34036" rIns="102108" bIns="34036" rtlCol="0" anchor="ctr">
            <a:spAutoFit/>
          </a:bodyPr>
          <a:lstStyle/>
          <a:p>
            <a:pPr marL="0" indent="0" algn="ctr">
              <a:buNone/>
            </a:pPr>
            <a:r>
              <a:rPr lang="en-US" sz="732" b="1" dirty="0">
                <a:solidFill>
                  <a:srgbClr val="333333"/>
                </a:solidFill>
                <a:latin typeface="Noto Sans" pitchFamily="34" charset="0"/>
                <a:ea typeface="Noto Sans" pitchFamily="34" charset="-122"/>
                <a:cs typeface="Noto Sans" pitchFamily="34" charset="-120"/>
              </a:rPr>
              <a:t>4.49</a:t>
            </a:r>
            <a:endParaRPr lang="en-US" sz="732" dirty="0"/>
          </a:p>
        </p:txBody>
      </p:sp>
      <p:sp>
        <p:nvSpPr>
          <p:cNvPr id="35" name="Text 32"/>
          <p:cNvSpPr/>
          <p:nvPr/>
        </p:nvSpPr>
        <p:spPr>
          <a:xfrm>
            <a:off x="5857875" y="1057275"/>
            <a:ext cx="2714625" cy="214313"/>
          </a:xfrm>
          <a:prstGeom prst="rect">
            <a:avLst/>
          </a:prstGeom>
          <a:noFill/>
          <a:ln/>
        </p:spPr>
        <p:txBody>
          <a:bodyPr wrap="none" lIns="0" tIns="0" rIns="0" bIns="0" rtlCol="0" anchor="ctr">
            <a:spAutoFit/>
          </a:bodyPr>
          <a:lstStyle/>
          <a:p>
            <a:pPr marL="0" indent="0">
              <a:buNone/>
            </a:pPr>
            <a:r>
              <a:rPr lang="en-US" sz="1046" b="1" dirty="0">
                <a:solidFill>
                  <a:srgbClr val="1F4788"/>
                </a:solidFill>
                <a:latin typeface="Noto Sans" pitchFamily="34" charset="0"/>
                <a:ea typeface="Noto Sans" pitchFamily="34" charset="-122"/>
                <a:cs typeface="Noto Sans" pitchFamily="34" charset="-120"/>
              </a:rPr>
              <a:t>Nhận xét</a:t>
            </a:r>
            <a:endParaRPr lang="en-US" sz="1046" dirty="0"/>
          </a:p>
        </p:txBody>
      </p:sp>
      <p:sp>
        <p:nvSpPr>
          <p:cNvPr id="36" name="Text 33"/>
          <p:cNvSpPr/>
          <p:nvPr/>
        </p:nvSpPr>
        <p:spPr>
          <a:xfrm>
            <a:off x="5857875" y="1414463"/>
            <a:ext cx="2714625" cy="822871"/>
          </a:xfrm>
          <a:prstGeom prst="rect">
            <a:avLst/>
          </a:prstGeom>
          <a:noFill/>
          <a:ln/>
        </p:spPr>
        <p:txBody>
          <a:bodyPr wrap="squar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 Các bộ phim được nữ giới đánh giá cao nhất thường là những tác phẩm kinh điển hoặc được đánh giá cao nói chung, cho thấy sự đồng thuận về chất lượng phim giữa hai giới. </a:t>
            </a:r>
            <a:endParaRPr lang="en-US" sz="837" dirty="0"/>
          </a:p>
        </p:txBody>
      </p:sp>
      <p:sp>
        <p:nvSpPr>
          <p:cNvPr id="37" name="Text 34"/>
          <p:cNvSpPr/>
          <p:nvPr/>
        </p:nvSpPr>
        <p:spPr>
          <a:xfrm>
            <a:off x="5857875" y="2344489"/>
            <a:ext cx="2714625" cy="822871"/>
          </a:xfrm>
          <a:prstGeom prst="rect">
            <a:avLst/>
          </a:prstGeom>
          <a:noFill/>
          <a:ln/>
        </p:spPr>
        <p:txBody>
          <a:bodyPr wrap="squar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 Phim hoạt hình như "Wrong Trousers, The" và "Wallace &amp; Gromit" cũng xuất hiện trong danh sách, phản ánh sự yêu thích của nữ giới đối với thể loại này. </a:t>
            </a:r>
            <a:endParaRPr lang="en-US" sz="837" dirty="0"/>
          </a:p>
        </p:txBody>
      </p:sp>
      <p:sp>
        <p:nvSpPr>
          <p:cNvPr id="38" name="Shape 35"/>
          <p:cNvSpPr/>
          <p:nvPr/>
        </p:nvSpPr>
        <p:spPr>
          <a:xfrm>
            <a:off x="5857875" y="3310235"/>
            <a:ext cx="2714625" cy="972945"/>
          </a:xfrm>
          <a:prstGeom prst="rect">
            <a:avLst/>
          </a:prstGeom>
          <a:solidFill>
            <a:srgbClr val="F0F7FF"/>
          </a:solidFill>
          <a:ln/>
        </p:spPr>
        <p:txBody>
          <a:bodyPr/>
          <a:lstStyle/>
          <a:p>
            <a:endParaRPr lang="en-US"/>
          </a:p>
        </p:txBody>
      </p:sp>
      <p:sp>
        <p:nvSpPr>
          <p:cNvPr id="39" name="Shape 36"/>
          <p:cNvSpPr/>
          <p:nvPr/>
        </p:nvSpPr>
        <p:spPr>
          <a:xfrm>
            <a:off x="5857875" y="3310235"/>
            <a:ext cx="28575" cy="972945"/>
          </a:xfrm>
          <a:prstGeom prst="rect">
            <a:avLst/>
          </a:prstGeom>
          <a:solidFill>
            <a:srgbClr val="4A90E2"/>
          </a:solidFill>
          <a:ln/>
        </p:spPr>
        <p:txBody>
          <a:bodyPr/>
          <a:lstStyle/>
          <a:p>
            <a:endParaRPr lang="en-US"/>
          </a:p>
        </p:txBody>
      </p:sp>
      <p:sp>
        <p:nvSpPr>
          <p:cNvPr id="40" name="Text 37"/>
          <p:cNvSpPr/>
          <p:nvPr/>
        </p:nvSpPr>
        <p:spPr>
          <a:xfrm>
            <a:off x="6000750" y="3453110"/>
            <a:ext cx="2428875" cy="150019"/>
          </a:xfrm>
          <a:prstGeom prst="rect">
            <a:avLst/>
          </a:prstGeom>
          <a:noFill/>
          <a:ln/>
        </p:spPr>
        <p:txBody>
          <a:bodyPr wrap="none" lIns="0" tIns="0" rIns="0" bIns="0" rtlCol="0" anchor="ctr">
            <a:spAutoFit/>
          </a:bodyPr>
          <a:lstStyle/>
          <a:p>
            <a:pPr marL="0" indent="0">
              <a:buNone/>
            </a:pPr>
            <a:r>
              <a:rPr lang="en-US" sz="732" b="1" dirty="0">
                <a:solidFill>
                  <a:srgbClr val="4A90E2"/>
                </a:solidFill>
                <a:latin typeface="Noto Sans" pitchFamily="34" charset="0"/>
                <a:ea typeface="Noto Sans" pitchFamily="34" charset="-122"/>
                <a:cs typeface="Noto Sans" pitchFamily="34" charset="-120"/>
              </a:rPr>
              <a:t> Điểm nổi bật </a:t>
            </a:r>
            <a:endParaRPr lang="en-US" sz="732" dirty="0"/>
          </a:p>
        </p:txBody>
      </p:sp>
      <p:sp>
        <p:nvSpPr>
          <p:cNvPr id="41" name="Text 38"/>
          <p:cNvSpPr/>
          <p:nvPr/>
        </p:nvSpPr>
        <p:spPr>
          <a:xfrm>
            <a:off x="6000750" y="3660279"/>
            <a:ext cx="2428875" cy="480027"/>
          </a:xfrm>
          <a:prstGeom prst="rect">
            <a:avLst/>
          </a:prstGeom>
          <a:noFill/>
          <a:ln/>
        </p:spPr>
        <p:txBody>
          <a:bodyPr wrap="square" lIns="0" tIns="0" rIns="0" bIns="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 Nữ giới có xu hướng đánh giá cao hơn một chút so với nam giới đối với các bộ phim chất lượng cao, đặc biệt là phim hoạt hình và phim kinh điển. </a:t>
            </a:r>
            <a:endParaRPr lang="en-US" sz="732"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71920"/>
          </a:xfrm>
          <a:prstGeom prst="rect">
            <a:avLst/>
          </a:prstGeom>
        </p:spPr>
      </p:pic>
      <p:sp>
        <p:nvSpPr>
          <p:cNvPr id="3" name="Text 0"/>
          <p:cNvSpPr/>
          <p:nvPr/>
        </p:nvSpPr>
        <p:spPr>
          <a:xfrm>
            <a:off x="571500" y="428625"/>
            <a:ext cx="8001000" cy="342900"/>
          </a:xfrm>
          <a:prstGeom prst="rect">
            <a:avLst/>
          </a:prstGeom>
          <a:noFill/>
          <a:ln/>
        </p:spPr>
        <p:txBody>
          <a:bodyPr wrap="none" lIns="0" tIns="0" rIns="0" bIns="0" rtlCol="0" anchor="ctr">
            <a:spAutoFit/>
          </a:bodyPr>
          <a:lstStyle/>
          <a:p>
            <a:pPr marL="0" indent="0">
              <a:buNone/>
            </a:pPr>
            <a:r>
              <a:rPr lang="en-US" sz="1800" b="1" dirty="0">
                <a:solidFill>
                  <a:srgbClr val="1F4788"/>
                </a:solidFill>
                <a:latin typeface="Noto Sans" pitchFamily="34" charset="0"/>
                <a:ea typeface="Noto Sans" pitchFamily="34" charset="-122"/>
                <a:cs typeface="Noto Sans" pitchFamily="34" charset="-120"/>
              </a:rPr>
              <a:t>Phim nữ giới thích hơn nam giới - MovieLens</a:t>
            </a:r>
            <a:endParaRPr lang="en-US" sz="1800" dirty="0"/>
          </a:p>
        </p:txBody>
      </p:sp>
      <p:sp>
        <p:nvSpPr>
          <p:cNvPr id="4" name="Shape 1"/>
          <p:cNvSpPr/>
          <p:nvPr/>
        </p:nvSpPr>
        <p:spPr>
          <a:xfrm>
            <a:off x="571500" y="1057275"/>
            <a:ext cx="3821906" cy="321469"/>
          </a:xfrm>
          <a:prstGeom prst="rect">
            <a:avLst/>
          </a:prstGeom>
          <a:solidFill>
            <a:srgbClr val="1F4788"/>
          </a:solidFill>
          <a:ln/>
        </p:spPr>
        <p:txBody>
          <a:bodyPr/>
          <a:lstStyle/>
          <a:p>
            <a:endParaRPr lang="en-US"/>
          </a:p>
        </p:txBody>
      </p:sp>
      <p:sp>
        <p:nvSpPr>
          <p:cNvPr id="5" name="Text 2"/>
          <p:cNvSpPr/>
          <p:nvPr/>
        </p:nvSpPr>
        <p:spPr>
          <a:xfrm>
            <a:off x="571500" y="1057275"/>
            <a:ext cx="1420351" cy="321469"/>
          </a:xfrm>
          <a:prstGeom prst="rect">
            <a:avLst/>
          </a:prstGeom>
          <a:noFill/>
          <a:ln/>
        </p:spPr>
        <p:txBody>
          <a:bodyPr wrap="square" lIns="127508" tIns="102108" rIns="127508" bIns="102108" rtlCol="0" anchor="ctr">
            <a:spAutoFit/>
          </a:bodyPr>
          <a:lstStyle/>
          <a:p>
            <a:pPr marL="0" indent="0" algn="l">
              <a:buNone/>
            </a:pPr>
            <a:r>
              <a:rPr lang="en-US" sz="732" b="1" dirty="0">
                <a:solidFill>
                  <a:srgbClr val="FFFFFF"/>
                </a:solidFill>
                <a:latin typeface="Noto Sans" pitchFamily="34" charset="0"/>
                <a:ea typeface="Noto Sans" pitchFamily="34" charset="-122"/>
                <a:cs typeface="Noto Sans" pitchFamily="34" charset="-120"/>
              </a:rPr>
              <a:t>Tiêu đề phim</a:t>
            </a:r>
            <a:endParaRPr lang="en-US" sz="732" dirty="0"/>
          </a:p>
        </p:txBody>
      </p:sp>
      <p:sp>
        <p:nvSpPr>
          <p:cNvPr id="6" name="Text 3"/>
          <p:cNvSpPr/>
          <p:nvPr/>
        </p:nvSpPr>
        <p:spPr>
          <a:xfrm>
            <a:off x="1991851" y="1057275"/>
            <a:ext cx="758019" cy="321469"/>
          </a:xfrm>
          <a:prstGeom prst="rect">
            <a:avLst/>
          </a:prstGeom>
          <a:noFill/>
          <a:ln/>
        </p:spPr>
        <p:txBody>
          <a:bodyPr wrap="square" lIns="127508" tIns="102108" rIns="127508" bIns="102108" rtlCol="0" anchor="ctr">
            <a:spAutoFit/>
          </a:bodyPr>
          <a:lstStyle/>
          <a:p>
            <a:pPr marL="0" indent="0" algn="l">
              <a:buNone/>
            </a:pPr>
            <a:r>
              <a:rPr lang="en-US" sz="732" b="1" dirty="0">
                <a:solidFill>
                  <a:srgbClr val="FFFFFF"/>
                </a:solidFill>
                <a:latin typeface="Noto Sans" pitchFamily="34" charset="0"/>
                <a:ea typeface="Noto Sans" pitchFamily="34" charset="-122"/>
                <a:cs typeface="Noto Sans" pitchFamily="34" charset="-120"/>
              </a:rPr>
              <a:t>Điểm (Nữ)</a:t>
            </a:r>
            <a:endParaRPr lang="en-US" sz="732" dirty="0"/>
          </a:p>
        </p:txBody>
      </p:sp>
      <p:sp>
        <p:nvSpPr>
          <p:cNvPr id="7" name="Text 4"/>
          <p:cNvSpPr/>
          <p:nvPr/>
        </p:nvSpPr>
        <p:spPr>
          <a:xfrm>
            <a:off x="2749869" y="1057275"/>
            <a:ext cx="844107" cy="321469"/>
          </a:xfrm>
          <a:prstGeom prst="rect">
            <a:avLst/>
          </a:prstGeom>
          <a:noFill/>
          <a:ln/>
        </p:spPr>
        <p:txBody>
          <a:bodyPr wrap="square" lIns="127508" tIns="102108" rIns="127508" bIns="102108" rtlCol="0" anchor="ctr">
            <a:spAutoFit/>
          </a:bodyPr>
          <a:lstStyle/>
          <a:p>
            <a:pPr marL="0" indent="0" algn="l">
              <a:buNone/>
            </a:pPr>
            <a:r>
              <a:rPr lang="en-US" sz="732" b="1" dirty="0">
                <a:solidFill>
                  <a:srgbClr val="FFFFFF"/>
                </a:solidFill>
                <a:latin typeface="Noto Sans" pitchFamily="34" charset="0"/>
                <a:ea typeface="Noto Sans" pitchFamily="34" charset="-122"/>
                <a:cs typeface="Noto Sans" pitchFamily="34" charset="-120"/>
              </a:rPr>
              <a:t>Điểm (Nam)</a:t>
            </a:r>
            <a:endParaRPr lang="en-US" sz="732" dirty="0"/>
          </a:p>
        </p:txBody>
      </p:sp>
      <p:sp>
        <p:nvSpPr>
          <p:cNvPr id="8" name="Text 5"/>
          <p:cNvSpPr/>
          <p:nvPr/>
        </p:nvSpPr>
        <p:spPr>
          <a:xfrm>
            <a:off x="3593976" y="1057275"/>
            <a:ext cx="799430" cy="321469"/>
          </a:xfrm>
          <a:prstGeom prst="rect">
            <a:avLst/>
          </a:prstGeom>
          <a:noFill/>
          <a:ln/>
        </p:spPr>
        <p:txBody>
          <a:bodyPr wrap="square" lIns="127508" tIns="102108" rIns="127508" bIns="102108" rtlCol="0" anchor="ctr">
            <a:spAutoFit/>
          </a:bodyPr>
          <a:lstStyle/>
          <a:p>
            <a:pPr marL="0" indent="0" algn="l">
              <a:buNone/>
            </a:pPr>
            <a:r>
              <a:rPr lang="en-US" sz="732" b="1" dirty="0">
                <a:solidFill>
                  <a:srgbClr val="FFFFFF"/>
                </a:solidFill>
                <a:latin typeface="Noto Sans" pitchFamily="34" charset="0"/>
                <a:ea typeface="Noto Sans" pitchFamily="34" charset="-122"/>
                <a:cs typeface="Noto Sans" pitchFamily="34" charset="-120"/>
              </a:rPr>
              <a:t>Chênh lệch</a:t>
            </a:r>
            <a:endParaRPr lang="en-US" sz="732" dirty="0"/>
          </a:p>
        </p:txBody>
      </p:sp>
      <p:sp>
        <p:nvSpPr>
          <p:cNvPr id="9" name="Text 6"/>
          <p:cNvSpPr/>
          <p:nvPr/>
        </p:nvSpPr>
        <p:spPr>
          <a:xfrm>
            <a:off x="571500" y="1378744"/>
            <a:ext cx="1420351" cy="325041"/>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Dirty Dancing (1987)</a:t>
            </a:r>
            <a:endParaRPr lang="en-US" sz="732" dirty="0"/>
          </a:p>
        </p:txBody>
      </p:sp>
      <p:sp>
        <p:nvSpPr>
          <p:cNvPr id="10" name="Text 7"/>
          <p:cNvSpPr/>
          <p:nvPr/>
        </p:nvSpPr>
        <p:spPr>
          <a:xfrm>
            <a:off x="1991851" y="1378744"/>
            <a:ext cx="758019" cy="325041"/>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3.79</a:t>
            </a:r>
            <a:endParaRPr lang="en-US" sz="732" dirty="0"/>
          </a:p>
        </p:txBody>
      </p:sp>
      <p:sp>
        <p:nvSpPr>
          <p:cNvPr id="11" name="Text 8"/>
          <p:cNvSpPr/>
          <p:nvPr/>
        </p:nvSpPr>
        <p:spPr>
          <a:xfrm>
            <a:off x="2749869" y="1378744"/>
            <a:ext cx="844107" cy="325041"/>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2.96</a:t>
            </a:r>
            <a:endParaRPr lang="en-US" sz="732" dirty="0"/>
          </a:p>
        </p:txBody>
      </p:sp>
      <p:sp>
        <p:nvSpPr>
          <p:cNvPr id="12" name="Text 9"/>
          <p:cNvSpPr/>
          <p:nvPr/>
        </p:nvSpPr>
        <p:spPr>
          <a:xfrm>
            <a:off x="3593976" y="1378744"/>
            <a:ext cx="799430" cy="325041"/>
          </a:xfrm>
          <a:prstGeom prst="rect">
            <a:avLst/>
          </a:prstGeom>
          <a:noFill/>
          <a:ln/>
        </p:spPr>
        <p:txBody>
          <a:bodyPr wrap="square" lIns="127508" tIns="102108" rIns="127508" bIns="102108" rtlCol="0" anchor="ctr">
            <a:spAutoFit/>
          </a:bodyPr>
          <a:lstStyle/>
          <a:p>
            <a:pPr marL="0" indent="0">
              <a:buNone/>
            </a:pPr>
            <a:r>
              <a:rPr lang="en-US" sz="732" b="1" dirty="0">
                <a:solidFill>
                  <a:srgbClr val="333333"/>
                </a:solidFill>
                <a:latin typeface="Noto Sans" pitchFamily="34" charset="0"/>
                <a:ea typeface="Noto Sans" pitchFamily="34" charset="-122"/>
                <a:cs typeface="Noto Sans" pitchFamily="34" charset="-120"/>
              </a:rPr>
              <a:t>-0.83</a:t>
            </a:r>
            <a:endParaRPr lang="en-US" sz="732" dirty="0"/>
          </a:p>
        </p:txBody>
      </p:sp>
      <p:sp>
        <p:nvSpPr>
          <p:cNvPr id="13" name="Text 10"/>
          <p:cNvSpPr/>
          <p:nvPr/>
        </p:nvSpPr>
        <p:spPr>
          <a:xfrm>
            <a:off x="571500" y="1703784"/>
            <a:ext cx="1420351" cy="328613"/>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Jumpin' Jack Flash (1986)</a:t>
            </a:r>
            <a:endParaRPr lang="en-US" sz="732" dirty="0"/>
          </a:p>
        </p:txBody>
      </p:sp>
      <p:sp>
        <p:nvSpPr>
          <p:cNvPr id="14" name="Text 11"/>
          <p:cNvSpPr/>
          <p:nvPr/>
        </p:nvSpPr>
        <p:spPr>
          <a:xfrm>
            <a:off x="1991851" y="1703784"/>
            <a:ext cx="758019" cy="328613"/>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3.25</a:t>
            </a:r>
            <a:endParaRPr lang="en-US" sz="732" dirty="0"/>
          </a:p>
        </p:txBody>
      </p:sp>
      <p:sp>
        <p:nvSpPr>
          <p:cNvPr id="15" name="Text 12"/>
          <p:cNvSpPr/>
          <p:nvPr/>
        </p:nvSpPr>
        <p:spPr>
          <a:xfrm>
            <a:off x="2749869" y="1703784"/>
            <a:ext cx="844107" cy="328613"/>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2.58</a:t>
            </a:r>
            <a:endParaRPr lang="en-US" sz="732" dirty="0"/>
          </a:p>
        </p:txBody>
      </p:sp>
      <p:sp>
        <p:nvSpPr>
          <p:cNvPr id="16" name="Text 13"/>
          <p:cNvSpPr/>
          <p:nvPr/>
        </p:nvSpPr>
        <p:spPr>
          <a:xfrm>
            <a:off x="3593976" y="1703784"/>
            <a:ext cx="799430" cy="328613"/>
          </a:xfrm>
          <a:prstGeom prst="rect">
            <a:avLst/>
          </a:prstGeom>
          <a:noFill/>
          <a:ln/>
        </p:spPr>
        <p:txBody>
          <a:bodyPr wrap="square" lIns="127508" tIns="102108" rIns="127508" bIns="102108" rtlCol="0" anchor="ctr">
            <a:spAutoFit/>
          </a:bodyPr>
          <a:lstStyle/>
          <a:p>
            <a:pPr marL="0" indent="0">
              <a:buNone/>
            </a:pPr>
            <a:r>
              <a:rPr lang="en-US" sz="732" b="1" dirty="0">
                <a:solidFill>
                  <a:srgbClr val="333333"/>
                </a:solidFill>
                <a:latin typeface="Noto Sans" pitchFamily="34" charset="0"/>
                <a:ea typeface="Noto Sans" pitchFamily="34" charset="-122"/>
                <a:cs typeface="Noto Sans" pitchFamily="34" charset="-120"/>
              </a:rPr>
              <a:t>-0.68</a:t>
            </a:r>
            <a:endParaRPr lang="en-US" sz="732" dirty="0"/>
          </a:p>
        </p:txBody>
      </p:sp>
      <p:sp>
        <p:nvSpPr>
          <p:cNvPr id="17" name="Text 14"/>
          <p:cNvSpPr/>
          <p:nvPr/>
        </p:nvSpPr>
        <p:spPr>
          <a:xfrm>
            <a:off x="571500" y="2032397"/>
            <a:ext cx="1420351" cy="328613"/>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Grease (1978)</a:t>
            </a:r>
            <a:endParaRPr lang="en-US" sz="732" dirty="0"/>
          </a:p>
        </p:txBody>
      </p:sp>
      <p:sp>
        <p:nvSpPr>
          <p:cNvPr id="18" name="Text 15"/>
          <p:cNvSpPr/>
          <p:nvPr/>
        </p:nvSpPr>
        <p:spPr>
          <a:xfrm>
            <a:off x="1991851" y="2032397"/>
            <a:ext cx="758019" cy="328613"/>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3.98</a:t>
            </a:r>
            <a:endParaRPr lang="en-US" sz="732" dirty="0"/>
          </a:p>
        </p:txBody>
      </p:sp>
      <p:sp>
        <p:nvSpPr>
          <p:cNvPr id="19" name="Text 16"/>
          <p:cNvSpPr/>
          <p:nvPr/>
        </p:nvSpPr>
        <p:spPr>
          <a:xfrm>
            <a:off x="2749869" y="2032397"/>
            <a:ext cx="844107" cy="328613"/>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3.37</a:t>
            </a:r>
            <a:endParaRPr lang="en-US" sz="732" dirty="0"/>
          </a:p>
        </p:txBody>
      </p:sp>
      <p:sp>
        <p:nvSpPr>
          <p:cNvPr id="20" name="Text 17"/>
          <p:cNvSpPr/>
          <p:nvPr/>
        </p:nvSpPr>
        <p:spPr>
          <a:xfrm>
            <a:off x="3593976" y="2032397"/>
            <a:ext cx="799430" cy="328613"/>
          </a:xfrm>
          <a:prstGeom prst="rect">
            <a:avLst/>
          </a:prstGeom>
          <a:noFill/>
          <a:ln/>
        </p:spPr>
        <p:txBody>
          <a:bodyPr wrap="square" lIns="127508" tIns="102108" rIns="127508" bIns="102108" rtlCol="0" anchor="ctr">
            <a:spAutoFit/>
          </a:bodyPr>
          <a:lstStyle/>
          <a:p>
            <a:pPr marL="0" indent="0">
              <a:buNone/>
            </a:pPr>
            <a:r>
              <a:rPr lang="en-US" sz="732" b="1" dirty="0">
                <a:solidFill>
                  <a:srgbClr val="333333"/>
                </a:solidFill>
                <a:latin typeface="Noto Sans" pitchFamily="34" charset="0"/>
                <a:ea typeface="Noto Sans" pitchFamily="34" charset="-122"/>
                <a:cs typeface="Noto Sans" pitchFamily="34" charset="-120"/>
              </a:rPr>
              <a:t>-0.61</a:t>
            </a:r>
            <a:endParaRPr lang="en-US" sz="732" dirty="0"/>
          </a:p>
        </p:txBody>
      </p:sp>
      <p:sp>
        <p:nvSpPr>
          <p:cNvPr id="21" name="Text 18"/>
          <p:cNvSpPr/>
          <p:nvPr/>
        </p:nvSpPr>
        <p:spPr>
          <a:xfrm>
            <a:off x="571500" y="2361009"/>
            <a:ext cx="1420351" cy="328613"/>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Little Women (1994)</a:t>
            </a:r>
            <a:endParaRPr lang="en-US" sz="732" dirty="0"/>
          </a:p>
        </p:txBody>
      </p:sp>
      <p:sp>
        <p:nvSpPr>
          <p:cNvPr id="22" name="Text 19"/>
          <p:cNvSpPr/>
          <p:nvPr/>
        </p:nvSpPr>
        <p:spPr>
          <a:xfrm>
            <a:off x="1991851" y="2361009"/>
            <a:ext cx="758019" cy="328613"/>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3.87</a:t>
            </a:r>
            <a:endParaRPr lang="en-US" sz="732" dirty="0"/>
          </a:p>
        </p:txBody>
      </p:sp>
      <p:sp>
        <p:nvSpPr>
          <p:cNvPr id="23" name="Text 20"/>
          <p:cNvSpPr/>
          <p:nvPr/>
        </p:nvSpPr>
        <p:spPr>
          <a:xfrm>
            <a:off x="2749869" y="2361009"/>
            <a:ext cx="844107" cy="328613"/>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3.32</a:t>
            </a:r>
            <a:endParaRPr lang="en-US" sz="732" dirty="0"/>
          </a:p>
        </p:txBody>
      </p:sp>
      <p:sp>
        <p:nvSpPr>
          <p:cNvPr id="24" name="Text 21"/>
          <p:cNvSpPr/>
          <p:nvPr/>
        </p:nvSpPr>
        <p:spPr>
          <a:xfrm>
            <a:off x="3593976" y="2361009"/>
            <a:ext cx="799430" cy="328613"/>
          </a:xfrm>
          <a:prstGeom prst="rect">
            <a:avLst/>
          </a:prstGeom>
          <a:noFill/>
          <a:ln/>
        </p:spPr>
        <p:txBody>
          <a:bodyPr wrap="square" lIns="127508" tIns="102108" rIns="127508" bIns="102108" rtlCol="0" anchor="ctr">
            <a:spAutoFit/>
          </a:bodyPr>
          <a:lstStyle/>
          <a:p>
            <a:pPr marL="0" indent="0">
              <a:buNone/>
            </a:pPr>
            <a:r>
              <a:rPr lang="en-US" sz="732" b="1" dirty="0">
                <a:solidFill>
                  <a:srgbClr val="333333"/>
                </a:solidFill>
                <a:latin typeface="Noto Sans" pitchFamily="34" charset="0"/>
                <a:ea typeface="Noto Sans" pitchFamily="34" charset="-122"/>
                <a:cs typeface="Noto Sans" pitchFamily="34" charset="-120"/>
              </a:rPr>
              <a:t>-0.55</a:t>
            </a:r>
            <a:endParaRPr lang="en-US" sz="732" dirty="0"/>
          </a:p>
        </p:txBody>
      </p:sp>
      <p:sp>
        <p:nvSpPr>
          <p:cNvPr id="25" name="Text 22"/>
          <p:cNvSpPr/>
          <p:nvPr/>
        </p:nvSpPr>
        <p:spPr>
          <a:xfrm>
            <a:off x="571500" y="2689622"/>
            <a:ext cx="1420351" cy="328613"/>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Steel Magnolias (1989)</a:t>
            </a:r>
            <a:endParaRPr lang="en-US" sz="732" dirty="0"/>
          </a:p>
        </p:txBody>
      </p:sp>
      <p:sp>
        <p:nvSpPr>
          <p:cNvPr id="26" name="Text 23"/>
          <p:cNvSpPr/>
          <p:nvPr/>
        </p:nvSpPr>
        <p:spPr>
          <a:xfrm>
            <a:off x="1991851" y="2689622"/>
            <a:ext cx="758019" cy="328613"/>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3.90</a:t>
            </a:r>
            <a:endParaRPr lang="en-US" sz="732" dirty="0"/>
          </a:p>
        </p:txBody>
      </p:sp>
      <p:sp>
        <p:nvSpPr>
          <p:cNvPr id="27" name="Text 24"/>
          <p:cNvSpPr/>
          <p:nvPr/>
        </p:nvSpPr>
        <p:spPr>
          <a:xfrm>
            <a:off x="2749869" y="2689622"/>
            <a:ext cx="844107" cy="328613"/>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3.37</a:t>
            </a:r>
            <a:endParaRPr lang="en-US" sz="732" dirty="0"/>
          </a:p>
        </p:txBody>
      </p:sp>
      <p:sp>
        <p:nvSpPr>
          <p:cNvPr id="28" name="Text 25"/>
          <p:cNvSpPr/>
          <p:nvPr/>
        </p:nvSpPr>
        <p:spPr>
          <a:xfrm>
            <a:off x="3593976" y="2689622"/>
            <a:ext cx="799430" cy="328613"/>
          </a:xfrm>
          <a:prstGeom prst="rect">
            <a:avLst/>
          </a:prstGeom>
          <a:noFill/>
          <a:ln/>
        </p:spPr>
        <p:txBody>
          <a:bodyPr wrap="square" lIns="127508" tIns="102108" rIns="127508" bIns="102108" rtlCol="0" anchor="ctr">
            <a:spAutoFit/>
          </a:bodyPr>
          <a:lstStyle/>
          <a:p>
            <a:pPr marL="0" indent="0">
              <a:buNone/>
            </a:pPr>
            <a:r>
              <a:rPr lang="en-US" sz="732" b="1" dirty="0">
                <a:solidFill>
                  <a:srgbClr val="333333"/>
                </a:solidFill>
                <a:latin typeface="Noto Sans" pitchFamily="34" charset="0"/>
                <a:ea typeface="Noto Sans" pitchFamily="34" charset="-122"/>
                <a:cs typeface="Noto Sans" pitchFamily="34" charset="-120"/>
              </a:rPr>
              <a:t>-0.54</a:t>
            </a:r>
            <a:endParaRPr lang="en-US" sz="732" dirty="0"/>
          </a:p>
        </p:txBody>
      </p:sp>
      <p:pic>
        <p:nvPicPr>
          <p:cNvPr id="29" name="Image 1" descr="preencoded.png"/>
          <p:cNvPicPr>
            <a:picLocks noChangeAspect="1"/>
          </p:cNvPicPr>
          <p:nvPr/>
        </p:nvPicPr>
        <p:blipFill>
          <a:blip r:embed="rId4"/>
          <a:stretch>
            <a:fillRect/>
          </a:stretch>
        </p:blipFill>
        <p:spPr>
          <a:xfrm>
            <a:off x="571500" y="3148608"/>
            <a:ext cx="85725" cy="85725"/>
          </a:xfrm>
          <a:prstGeom prst="rect">
            <a:avLst/>
          </a:prstGeom>
        </p:spPr>
      </p:pic>
      <p:sp>
        <p:nvSpPr>
          <p:cNvPr id="30" name="Text 26"/>
          <p:cNvSpPr/>
          <p:nvPr/>
        </p:nvSpPr>
        <p:spPr>
          <a:xfrm>
            <a:off x="657225" y="3134320"/>
            <a:ext cx="3271977" cy="116086"/>
          </a:xfrm>
          <a:prstGeom prst="rect">
            <a:avLst/>
          </a:prstGeom>
          <a:noFill/>
          <a:ln/>
        </p:spPr>
        <p:txBody>
          <a:bodyPr wrap="none" lIns="0" tIns="0" rIns="0" bIns="0" rtlCol="0" anchor="ctr">
            <a:spAutoFit/>
          </a:bodyPr>
          <a:lstStyle/>
          <a:p>
            <a:pPr marL="0" indent="0">
              <a:buNone/>
            </a:pPr>
            <a:r>
              <a:rPr lang="en-US" sz="628" dirty="0">
                <a:solidFill>
                  <a:srgbClr val="666666"/>
                </a:solidFill>
                <a:latin typeface="Noto Sans" pitchFamily="34" charset="0"/>
                <a:ea typeface="Noto Sans" pitchFamily="34" charset="-122"/>
                <a:cs typeface="Noto Sans" pitchFamily="34" charset="-120"/>
              </a:rPr>
              <a:t> Chênh lệch = Điểm Nam - Điểm Nữ (giá trị âm cho thấy nữ giới đánh giá cao hơn) </a:t>
            </a:r>
            <a:endParaRPr lang="en-US" sz="628" dirty="0"/>
          </a:p>
        </p:txBody>
      </p:sp>
      <p:pic>
        <p:nvPicPr>
          <p:cNvPr id="31" name="Image 2" descr="preencoded.png"/>
          <p:cNvPicPr>
            <a:picLocks noChangeAspect="1"/>
          </p:cNvPicPr>
          <p:nvPr/>
        </p:nvPicPr>
        <p:blipFill>
          <a:blip r:embed="rId5"/>
          <a:stretch>
            <a:fillRect/>
          </a:stretch>
        </p:blipFill>
        <p:spPr>
          <a:xfrm>
            <a:off x="4750594" y="1078706"/>
            <a:ext cx="171450" cy="171450"/>
          </a:xfrm>
          <a:prstGeom prst="rect">
            <a:avLst/>
          </a:prstGeom>
        </p:spPr>
      </p:pic>
      <p:sp>
        <p:nvSpPr>
          <p:cNvPr id="32" name="Text 27"/>
          <p:cNvSpPr/>
          <p:nvPr/>
        </p:nvSpPr>
        <p:spPr>
          <a:xfrm>
            <a:off x="4993481" y="1057275"/>
            <a:ext cx="1089282" cy="214313"/>
          </a:xfrm>
          <a:prstGeom prst="rect">
            <a:avLst/>
          </a:prstGeom>
          <a:noFill/>
          <a:ln/>
        </p:spPr>
        <p:txBody>
          <a:bodyPr wrap="none" lIns="0" tIns="0" rIns="0" bIns="0" rtlCol="0" anchor="ctr">
            <a:spAutoFit/>
          </a:bodyPr>
          <a:lstStyle/>
          <a:p>
            <a:pPr marL="0" indent="0">
              <a:buNone/>
            </a:pPr>
            <a:r>
              <a:rPr lang="en-US" sz="1046" b="1" dirty="0">
                <a:solidFill>
                  <a:srgbClr val="4A90E2"/>
                </a:solidFill>
                <a:latin typeface="Noto Sans" pitchFamily="34" charset="0"/>
                <a:ea typeface="Noto Sans" pitchFamily="34" charset="-122"/>
                <a:cs typeface="Noto Sans" pitchFamily="34" charset="-120"/>
              </a:rPr>
              <a:t> Nhận xét chính </a:t>
            </a:r>
            <a:endParaRPr lang="en-US" sz="1046" dirty="0"/>
          </a:p>
        </p:txBody>
      </p:sp>
      <p:sp>
        <p:nvSpPr>
          <p:cNvPr id="33" name="Text 28"/>
          <p:cNvSpPr/>
          <p:nvPr/>
        </p:nvSpPr>
        <p:spPr>
          <a:xfrm>
            <a:off x="4750594" y="1414463"/>
            <a:ext cx="3821906" cy="617153"/>
          </a:xfrm>
          <a:prstGeom prst="rect">
            <a:avLst/>
          </a:prstGeom>
          <a:noFill/>
          <a:ln/>
        </p:spPr>
        <p:txBody>
          <a:bodyPr wrap="squar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 Các bộ phim trong danh sách này được nữ giới đánh giá cao hơn đáng kể so với nam giới, với mức chênh lệch từ 0.54 đến 0.83 điểm. Điều này phản ánh sự khác biệt rõ rệt trong sở thích điện ảnh giữa hai giới. </a:t>
            </a:r>
            <a:endParaRPr lang="en-US" sz="837" dirty="0"/>
          </a:p>
        </p:txBody>
      </p:sp>
      <p:pic>
        <p:nvPicPr>
          <p:cNvPr id="34" name="Image 3" descr="preencoded.png"/>
          <p:cNvPicPr>
            <a:picLocks noChangeAspect="1"/>
          </p:cNvPicPr>
          <p:nvPr/>
        </p:nvPicPr>
        <p:blipFill>
          <a:blip r:embed="rId6"/>
          <a:stretch>
            <a:fillRect/>
          </a:stretch>
        </p:blipFill>
        <p:spPr>
          <a:xfrm>
            <a:off x="4750594" y="2267359"/>
            <a:ext cx="171450" cy="171450"/>
          </a:xfrm>
          <a:prstGeom prst="rect">
            <a:avLst/>
          </a:prstGeom>
        </p:spPr>
      </p:pic>
      <p:sp>
        <p:nvSpPr>
          <p:cNvPr id="35" name="Text 29"/>
          <p:cNvSpPr/>
          <p:nvPr/>
        </p:nvSpPr>
        <p:spPr>
          <a:xfrm>
            <a:off x="4993481" y="2245928"/>
            <a:ext cx="1219460" cy="214313"/>
          </a:xfrm>
          <a:prstGeom prst="rect">
            <a:avLst/>
          </a:prstGeom>
          <a:noFill/>
          <a:ln/>
        </p:spPr>
        <p:txBody>
          <a:bodyPr wrap="none" lIns="0" tIns="0" rIns="0" bIns="0" rtlCol="0" anchor="ctr">
            <a:spAutoFit/>
          </a:bodyPr>
          <a:lstStyle/>
          <a:p>
            <a:pPr marL="0" indent="0">
              <a:buNone/>
            </a:pPr>
            <a:r>
              <a:rPr lang="en-US" sz="1046" b="1" dirty="0">
                <a:solidFill>
                  <a:srgbClr val="4A90E2"/>
                </a:solidFill>
                <a:latin typeface="Noto Sans" pitchFamily="34" charset="0"/>
                <a:ea typeface="Noto Sans" pitchFamily="34" charset="-122"/>
                <a:cs typeface="Noto Sans" pitchFamily="34" charset="-120"/>
              </a:rPr>
              <a:t> Thể loại phổ biến </a:t>
            </a:r>
            <a:endParaRPr lang="en-US" sz="1046" dirty="0"/>
          </a:p>
        </p:txBody>
      </p:sp>
      <p:sp>
        <p:nvSpPr>
          <p:cNvPr id="36" name="Shape 30"/>
          <p:cNvSpPr/>
          <p:nvPr/>
        </p:nvSpPr>
        <p:spPr>
          <a:xfrm>
            <a:off x="4750594" y="2603116"/>
            <a:ext cx="640733" cy="235744"/>
          </a:xfrm>
          <a:prstGeom prst="rect">
            <a:avLst/>
          </a:prstGeom>
          <a:solidFill>
            <a:srgbClr val="4A90E2"/>
          </a:solidFill>
          <a:ln/>
        </p:spPr>
        <p:txBody>
          <a:bodyPr/>
          <a:lstStyle/>
          <a:p>
            <a:endParaRPr lang="en-US"/>
          </a:p>
        </p:txBody>
      </p:sp>
      <p:sp>
        <p:nvSpPr>
          <p:cNvPr id="37" name="Text 31"/>
          <p:cNvSpPr/>
          <p:nvPr/>
        </p:nvSpPr>
        <p:spPr>
          <a:xfrm>
            <a:off x="4750594" y="2603116"/>
            <a:ext cx="640733" cy="235744"/>
          </a:xfrm>
          <a:prstGeom prst="rect">
            <a:avLst/>
          </a:prstGeom>
          <a:noFill/>
          <a:ln/>
        </p:spPr>
        <p:txBody>
          <a:bodyPr wrap="square" lIns="102108" tIns="51054" rIns="102108" bIns="51054" rtlCol="0" anchor="ctr">
            <a:spAutoFit/>
          </a:bodyPr>
          <a:lstStyle/>
          <a:p>
            <a:pPr marL="0" indent="0">
              <a:buNone/>
            </a:pPr>
            <a:r>
              <a:rPr lang="en-US" sz="732" dirty="0">
                <a:solidFill>
                  <a:srgbClr val="FFFFFF"/>
                </a:solidFill>
                <a:latin typeface="Noto Sans" pitchFamily="34" charset="0"/>
                <a:ea typeface="Noto Sans" pitchFamily="34" charset="-122"/>
                <a:cs typeface="Noto Sans" pitchFamily="34" charset="-120"/>
              </a:rPr>
              <a:t>Lãng mạn</a:t>
            </a:r>
            <a:endParaRPr lang="en-US" sz="732" dirty="0"/>
          </a:p>
        </p:txBody>
      </p:sp>
      <p:sp>
        <p:nvSpPr>
          <p:cNvPr id="38" name="Shape 32"/>
          <p:cNvSpPr/>
          <p:nvPr/>
        </p:nvSpPr>
        <p:spPr>
          <a:xfrm>
            <a:off x="5478196" y="2603116"/>
            <a:ext cx="628427" cy="235744"/>
          </a:xfrm>
          <a:prstGeom prst="rect">
            <a:avLst/>
          </a:prstGeom>
          <a:solidFill>
            <a:srgbClr val="4A90E2"/>
          </a:solidFill>
          <a:ln/>
        </p:spPr>
        <p:txBody>
          <a:bodyPr/>
          <a:lstStyle/>
          <a:p>
            <a:endParaRPr lang="en-US"/>
          </a:p>
        </p:txBody>
      </p:sp>
      <p:sp>
        <p:nvSpPr>
          <p:cNvPr id="39" name="Text 33"/>
          <p:cNvSpPr/>
          <p:nvPr/>
        </p:nvSpPr>
        <p:spPr>
          <a:xfrm>
            <a:off x="5478196" y="2603116"/>
            <a:ext cx="628427" cy="235744"/>
          </a:xfrm>
          <a:prstGeom prst="rect">
            <a:avLst/>
          </a:prstGeom>
          <a:noFill/>
          <a:ln/>
        </p:spPr>
        <p:txBody>
          <a:bodyPr wrap="square" lIns="102108" tIns="51054" rIns="102108" bIns="51054" rtlCol="0" anchor="ctr">
            <a:spAutoFit/>
          </a:bodyPr>
          <a:lstStyle/>
          <a:p>
            <a:pPr marL="0" indent="0">
              <a:buNone/>
            </a:pPr>
            <a:r>
              <a:rPr lang="en-US" sz="732" dirty="0">
                <a:solidFill>
                  <a:srgbClr val="FFFFFF"/>
                </a:solidFill>
                <a:latin typeface="Noto Sans" pitchFamily="34" charset="0"/>
                <a:ea typeface="Noto Sans" pitchFamily="34" charset="-122"/>
                <a:cs typeface="Noto Sans" pitchFamily="34" charset="-120"/>
              </a:rPr>
              <a:t>Nhạc kịch</a:t>
            </a:r>
            <a:endParaRPr lang="en-US" sz="732" dirty="0"/>
          </a:p>
        </p:txBody>
      </p:sp>
      <p:sp>
        <p:nvSpPr>
          <p:cNvPr id="40" name="Shape 34"/>
          <p:cNvSpPr/>
          <p:nvPr/>
        </p:nvSpPr>
        <p:spPr>
          <a:xfrm>
            <a:off x="6193492" y="2603116"/>
            <a:ext cx="660936" cy="235744"/>
          </a:xfrm>
          <a:prstGeom prst="rect">
            <a:avLst/>
          </a:prstGeom>
          <a:solidFill>
            <a:srgbClr val="4A90E2"/>
          </a:solidFill>
          <a:ln/>
        </p:spPr>
        <p:txBody>
          <a:bodyPr/>
          <a:lstStyle/>
          <a:p>
            <a:endParaRPr lang="en-US"/>
          </a:p>
        </p:txBody>
      </p:sp>
      <p:sp>
        <p:nvSpPr>
          <p:cNvPr id="41" name="Text 35"/>
          <p:cNvSpPr/>
          <p:nvPr/>
        </p:nvSpPr>
        <p:spPr>
          <a:xfrm>
            <a:off x="6193492" y="2603116"/>
            <a:ext cx="660936" cy="235744"/>
          </a:xfrm>
          <a:prstGeom prst="rect">
            <a:avLst/>
          </a:prstGeom>
          <a:noFill/>
          <a:ln/>
        </p:spPr>
        <p:txBody>
          <a:bodyPr wrap="square" lIns="102108" tIns="51054" rIns="102108" bIns="51054" rtlCol="0" anchor="ctr">
            <a:spAutoFit/>
          </a:bodyPr>
          <a:lstStyle/>
          <a:p>
            <a:pPr marL="0" indent="0">
              <a:buNone/>
            </a:pPr>
            <a:r>
              <a:rPr lang="en-US" sz="732" dirty="0">
                <a:solidFill>
                  <a:srgbClr val="FFFFFF"/>
                </a:solidFill>
                <a:latin typeface="Noto Sans" pitchFamily="34" charset="0"/>
                <a:ea typeface="Noto Sans" pitchFamily="34" charset="-122"/>
                <a:cs typeface="Noto Sans" pitchFamily="34" charset="-120"/>
              </a:rPr>
              <a:t>Chính kịch</a:t>
            </a:r>
            <a:endParaRPr lang="en-US" sz="732" dirty="0"/>
          </a:p>
        </p:txBody>
      </p:sp>
      <p:sp>
        <p:nvSpPr>
          <p:cNvPr id="42" name="Text 36"/>
          <p:cNvSpPr/>
          <p:nvPr/>
        </p:nvSpPr>
        <p:spPr>
          <a:xfrm>
            <a:off x="4750594" y="3003166"/>
            <a:ext cx="3821906" cy="617153"/>
          </a:xfrm>
          <a:prstGeom prst="rect">
            <a:avLst/>
          </a:prstGeom>
          <a:noFill/>
          <a:ln/>
        </p:spPr>
        <p:txBody>
          <a:bodyPr wrap="squar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 Các bộ phim này thường thuộc thể loại lãng mạn, nhạc kịch hoặc chính kịch tập trung vào các mối quan hệ và cảm xúc. Đây là những thể loại truyền thống được nữ giới ưa chuộng hơn nam giới. </a:t>
            </a:r>
            <a:endParaRPr lang="en-US" sz="837" dirty="0"/>
          </a:p>
        </p:txBody>
      </p:sp>
      <p:sp>
        <p:nvSpPr>
          <p:cNvPr id="43" name="Shape 37"/>
          <p:cNvSpPr/>
          <p:nvPr/>
        </p:nvSpPr>
        <p:spPr>
          <a:xfrm>
            <a:off x="4750594" y="3834631"/>
            <a:ext cx="3821906" cy="1008664"/>
          </a:xfrm>
          <a:prstGeom prst="rect">
            <a:avLst/>
          </a:prstGeom>
          <a:solidFill>
            <a:srgbClr val="F5F9FC"/>
          </a:solidFill>
          <a:ln/>
        </p:spPr>
        <p:txBody>
          <a:bodyPr/>
          <a:lstStyle/>
          <a:p>
            <a:endParaRPr lang="en-US"/>
          </a:p>
        </p:txBody>
      </p:sp>
      <p:sp>
        <p:nvSpPr>
          <p:cNvPr id="44" name="Shape 38"/>
          <p:cNvSpPr/>
          <p:nvPr/>
        </p:nvSpPr>
        <p:spPr>
          <a:xfrm>
            <a:off x="4750594" y="3834631"/>
            <a:ext cx="28575" cy="1008664"/>
          </a:xfrm>
          <a:prstGeom prst="rect">
            <a:avLst/>
          </a:prstGeom>
          <a:solidFill>
            <a:srgbClr val="4A90E2"/>
          </a:solidFill>
          <a:ln/>
        </p:spPr>
        <p:txBody>
          <a:bodyPr/>
          <a:lstStyle/>
          <a:p>
            <a:endParaRPr lang="en-US"/>
          </a:p>
        </p:txBody>
      </p:sp>
      <p:pic>
        <p:nvPicPr>
          <p:cNvPr id="45" name="Image 4" descr="preencoded.png"/>
          <p:cNvPicPr>
            <a:picLocks noChangeAspect="1"/>
          </p:cNvPicPr>
          <p:nvPr/>
        </p:nvPicPr>
        <p:blipFill>
          <a:blip r:embed="rId7"/>
          <a:stretch>
            <a:fillRect/>
          </a:stretch>
        </p:blipFill>
        <p:spPr>
          <a:xfrm>
            <a:off x="4893469" y="4006081"/>
            <a:ext cx="128588" cy="114300"/>
          </a:xfrm>
          <a:prstGeom prst="rect">
            <a:avLst/>
          </a:prstGeom>
        </p:spPr>
      </p:pic>
      <p:sp>
        <p:nvSpPr>
          <p:cNvPr id="46" name="Text 39"/>
          <p:cNvSpPr/>
          <p:nvPr/>
        </p:nvSpPr>
        <p:spPr>
          <a:xfrm>
            <a:off x="5022056" y="3984650"/>
            <a:ext cx="754838" cy="155377"/>
          </a:xfrm>
          <a:prstGeom prst="rect">
            <a:avLst/>
          </a:prstGeom>
          <a:noFill/>
          <a:ln/>
        </p:spPr>
        <p:txBody>
          <a:bodyPr wrap="none" lIns="0" tIns="0" rIns="0" bIns="0" rtlCol="0" anchor="ctr">
            <a:spAutoFit/>
          </a:bodyPr>
          <a:lstStyle/>
          <a:p>
            <a:pPr marL="0" indent="0">
              <a:buNone/>
            </a:pPr>
            <a:r>
              <a:rPr lang="en-US" sz="837" b="1" dirty="0">
                <a:solidFill>
                  <a:srgbClr val="1F4788"/>
                </a:solidFill>
                <a:latin typeface="Noto Sans" pitchFamily="34" charset="0"/>
                <a:ea typeface="Noto Sans" pitchFamily="34" charset="-122"/>
                <a:cs typeface="Noto Sans" pitchFamily="34" charset="-120"/>
              </a:rPr>
              <a:t> Phim nổi bật </a:t>
            </a:r>
            <a:endParaRPr lang="en-US" sz="837" dirty="0"/>
          </a:p>
        </p:txBody>
      </p:sp>
      <p:sp>
        <p:nvSpPr>
          <p:cNvPr id="47" name="Text 40"/>
          <p:cNvSpPr/>
          <p:nvPr/>
        </p:nvSpPr>
        <p:spPr>
          <a:xfrm>
            <a:off x="4893469" y="4231109"/>
            <a:ext cx="1009948" cy="135731"/>
          </a:xfrm>
          <a:prstGeom prst="rect">
            <a:avLst/>
          </a:prstGeom>
          <a:noFill/>
          <a:ln/>
        </p:spPr>
        <p:txBody>
          <a:bodyPr wrap="none" lIns="0" tIns="0" rIns="0" bIns="0" rtlCol="0" anchor="ctr">
            <a:spAutoFit/>
          </a:bodyPr>
          <a:lstStyle/>
          <a:p>
            <a:pPr marL="0" indent="0">
              <a:buNone/>
            </a:pPr>
            <a:r>
              <a:rPr lang="en-US" sz="732" b="1" dirty="0">
                <a:solidFill>
                  <a:srgbClr val="333333"/>
                </a:solidFill>
                <a:latin typeface="Noto Sans" pitchFamily="34" charset="0"/>
                <a:ea typeface="Noto Sans" pitchFamily="34" charset="-122"/>
                <a:cs typeface="Noto Sans" pitchFamily="34" charset="-120"/>
              </a:rPr>
              <a:t>Dirty Dancing (1987)</a:t>
            </a:r>
            <a:endParaRPr lang="en-US" sz="732" dirty="0"/>
          </a:p>
        </p:txBody>
      </p:sp>
      <p:sp>
        <p:nvSpPr>
          <p:cNvPr id="48" name="Text 41"/>
          <p:cNvSpPr/>
          <p:nvPr/>
        </p:nvSpPr>
        <p:spPr>
          <a:xfrm>
            <a:off x="5903416" y="4231109"/>
            <a:ext cx="2409313" cy="135731"/>
          </a:xfrm>
          <a:prstGeom prst="rect">
            <a:avLst/>
          </a:prstGeom>
          <a:noFill/>
          <a:ln/>
        </p:spPr>
        <p:txBody>
          <a:bodyPr wrap="none" lIns="0" tIns="0" rIns="0" bIns="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 có mức chênh lệch cao nhất (-0.83), cho thấy đây là </a:t>
            </a:r>
            <a:endParaRPr lang="en-US" sz="732" dirty="0"/>
          </a:p>
        </p:txBody>
      </p:sp>
      <p:sp>
        <p:nvSpPr>
          <p:cNvPr id="49" name="Text 42"/>
          <p:cNvSpPr/>
          <p:nvPr/>
        </p:nvSpPr>
        <p:spPr>
          <a:xfrm>
            <a:off x="4893469" y="4391118"/>
            <a:ext cx="3388342" cy="135731"/>
          </a:xfrm>
          <a:prstGeom prst="rect">
            <a:avLst/>
          </a:prstGeom>
          <a:noFill/>
          <a:ln/>
        </p:spPr>
        <p:txBody>
          <a:bodyPr wrap="none" lIns="0" tIns="0" rIns="0" bIns="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bộ phim được nữ giới yêu thích đặc biệt trong khi nam giới đánh giá khá </a:t>
            </a:r>
            <a:endParaRPr lang="en-US" sz="732" dirty="0"/>
          </a:p>
        </p:txBody>
      </p:sp>
      <p:sp>
        <p:nvSpPr>
          <p:cNvPr id="50" name="Text 43"/>
          <p:cNvSpPr/>
          <p:nvPr/>
        </p:nvSpPr>
        <p:spPr>
          <a:xfrm>
            <a:off x="4893469" y="4551127"/>
            <a:ext cx="242357" cy="135731"/>
          </a:xfrm>
          <a:prstGeom prst="rect">
            <a:avLst/>
          </a:prstGeom>
          <a:noFill/>
          <a:ln/>
        </p:spPr>
        <p:txBody>
          <a:bodyPr wrap="none" lIns="0" tIns="0" rIns="0" bIns="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thấp. </a:t>
            </a:r>
            <a:endParaRPr lang="en-US" sz="732"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71920"/>
          </a:xfrm>
          <a:prstGeom prst="rect">
            <a:avLst/>
          </a:prstGeom>
        </p:spPr>
      </p:pic>
      <p:sp>
        <p:nvSpPr>
          <p:cNvPr id="3" name="Text 0"/>
          <p:cNvSpPr/>
          <p:nvPr/>
        </p:nvSpPr>
        <p:spPr>
          <a:xfrm>
            <a:off x="571500" y="428625"/>
            <a:ext cx="8001000" cy="342900"/>
          </a:xfrm>
          <a:prstGeom prst="rect">
            <a:avLst/>
          </a:prstGeom>
          <a:noFill/>
          <a:ln/>
        </p:spPr>
        <p:txBody>
          <a:bodyPr wrap="none" lIns="0" tIns="0" rIns="0" bIns="0" rtlCol="0" anchor="ctr">
            <a:spAutoFit/>
          </a:bodyPr>
          <a:lstStyle/>
          <a:p>
            <a:pPr marL="0" indent="0">
              <a:buNone/>
            </a:pPr>
            <a:r>
              <a:rPr lang="en-US" sz="1800" b="1" dirty="0">
                <a:solidFill>
                  <a:srgbClr val="1F4788"/>
                </a:solidFill>
                <a:latin typeface="Noto Sans" pitchFamily="34" charset="0"/>
                <a:ea typeface="Noto Sans" pitchFamily="34" charset="-122"/>
                <a:cs typeface="Noto Sans" pitchFamily="34" charset="-120"/>
              </a:rPr>
              <a:t>Phim nữ giới thích hơn nam giới - MovieLens</a:t>
            </a:r>
            <a:endParaRPr lang="en-US" sz="1800" dirty="0"/>
          </a:p>
        </p:txBody>
      </p:sp>
      <p:sp>
        <p:nvSpPr>
          <p:cNvPr id="4" name="Shape 1"/>
          <p:cNvSpPr/>
          <p:nvPr/>
        </p:nvSpPr>
        <p:spPr>
          <a:xfrm>
            <a:off x="571500" y="1057275"/>
            <a:ext cx="3821906" cy="321469"/>
          </a:xfrm>
          <a:prstGeom prst="rect">
            <a:avLst/>
          </a:prstGeom>
          <a:solidFill>
            <a:srgbClr val="1F4788"/>
          </a:solidFill>
          <a:ln/>
        </p:spPr>
        <p:txBody>
          <a:bodyPr/>
          <a:lstStyle/>
          <a:p>
            <a:endParaRPr lang="en-US"/>
          </a:p>
        </p:txBody>
      </p:sp>
      <p:sp>
        <p:nvSpPr>
          <p:cNvPr id="5" name="Text 2"/>
          <p:cNvSpPr/>
          <p:nvPr/>
        </p:nvSpPr>
        <p:spPr>
          <a:xfrm>
            <a:off x="571500" y="1057275"/>
            <a:ext cx="1420351" cy="321469"/>
          </a:xfrm>
          <a:prstGeom prst="rect">
            <a:avLst/>
          </a:prstGeom>
          <a:noFill/>
          <a:ln/>
        </p:spPr>
        <p:txBody>
          <a:bodyPr wrap="square" lIns="127508" tIns="102108" rIns="127508" bIns="102108" rtlCol="0" anchor="ctr">
            <a:spAutoFit/>
          </a:bodyPr>
          <a:lstStyle/>
          <a:p>
            <a:pPr marL="0" indent="0" algn="l">
              <a:buNone/>
            </a:pPr>
            <a:r>
              <a:rPr lang="en-US" sz="732" b="1" dirty="0">
                <a:solidFill>
                  <a:srgbClr val="FFFFFF"/>
                </a:solidFill>
                <a:latin typeface="Noto Sans" pitchFamily="34" charset="0"/>
                <a:ea typeface="Noto Sans" pitchFamily="34" charset="-122"/>
                <a:cs typeface="Noto Sans" pitchFamily="34" charset="-120"/>
              </a:rPr>
              <a:t>Tiêu đề phim</a:t>
            </a:r>
            <a:endParaRPr lang="en-US" sz="732" dirty="0"/>
          </a:p>
        </p:txBody>
      </p:sp>
      <p:sp>
        <p:nvSpPr>
          <p:cNvPr id="6" name="Text 3"/>
          <p:cNvSpPr/>
          <p:nvPr/>
        </p:nvSpPr>
        <p:spPr>
          <a:xfrm>
            <a:off x="1991851" y="1057275"/>
            <a:ext cx="758019" cy="321469"/>
          </a:xfrm>
          <a:prstGeom prst="rect">
            <a:avLst/>
          </a:prstGeom>
          <a:noFill/>
          <a:ln/>
        </p:spPr>
        <p:txBody>
          <a:bodyPr wrap="square" lIns="127508" tIns="102108" rIns="127508" bIns="102108" rtlCol="0" anchor="ctr">
            <a:spAutoFit/>
          </a:bodyPr>
          <a:lstStyle/>
          <a:p>
            <a:pPr marL="0" indent="0" algn="l">
              <a:buNone/>
            </a:pPr>
            <a:r>
              <a:rPr lang="en-US" sz="732" b="1" dirty="0">
                <a:solidFill>
                  <a:srgbClr val="FFFFFF"/>
                </a:solidFill>
                <a:latin typeface="Noto Sans" pitchFamily="34" charset="0"/>
                <a:ea typeface="Noto Sans" pitchFamily="34" charset="-122"/>
                <a:cs typeface="Noto Sans" pitchFamily="34" charset="-120"/>
              </a:rPr>
              <a:t>Điểm (Nữ)</a:t>
            </a:r>
            <a:endParaRPr lang="en-US" sz="732" dirty="0"/>
          </a:p>
        </p:txBody>
      </p:sp>
      <p:sp>
        <p:nvSpPr>
          <p:cNvPr id="7" name="Text 4"/>
          <p:cNvSpPr/>
          <p:nvPr/>
        </p:nvSpPr>
        <p:spPr>
          <a:xfrm>
            <a:off x="2749869" y="1057275"/>
            <a:ext cx="844107" cy="321469"/>
          </a:xfrm>
          <a:prstGeom prst="rect">
            <a:avLst/>
          </a:prstGeom>
          <a:noFill/>
          <a:ln/>
        </p:spPr>
        <p:txBody>
          <a:bodyPr wrap="square" lIns="127508" tIns="102108" rIns="127508" bIns="102108" rtlCol="0" anchor="ctr">
            <a:spAutoFit/>
          </a:bodyPr>
          <a:lstStyle/>
          <a:p>
            <a:pPr marL="0" indent="0" algn="l">
              <a:buNone/>
            </a:pPr>
            <a:r>
              <a:rPr lang="en-US" sz="732" b="1" dirty="0">
                <a:solidFill>
                  <a:srgbClr val="FFFFFF"/>
                </a:solidFill>
                <a:latin typeface="Noto Sans" pitchFamily="34" charset="0"/>
                <a:ea typeface="Noto Sans" pitchFamily="34" charset="-122"/>
                <a:cs typeface="Noto Sans" pitchFamily="34" charset="-120"/>
              </a:rPr>
              <a:t>Điểm (Nam)</a:t>
            </a:r>
            <a:endParaRPr lang="en-US" sz="732" dirty="0"/>
          </a:p>
        </p:txBody>
      </p:sp>
      <p:sp>
        <p:nvSpPr>
          <p:cNvPr id="8" name="Text 5"/>
          <p:cNvSpPr/>
          <p:nvPr/>
        </p:nvSpPr>
        <p:spPr>
          <a:xfrm>
            <a:off x="3593976" y="1057275"/>
            <a:ext cx="799430" cy="321469"/>
          </a:xfrm>
          <a:prstGeom prst="rect">
            <a:avLst/>
          </a:prstGeom>
          <a:noFill/>
          <a:ln/>
        </p:spPr>
        <p:txBody>
          <a:bodyPr wrap="square" lIns="127508" tIns="102108" rIns="127508" bIns="102108" rtlCol="0" anchor="ctr">
            <a:spAutoFit/>
          </a:bodyPr>
          <a:lstStyle/>
          <a:p>
            <a:pPr marL="0" indent="0" algn="l">
              <a:buNone/>
            </a:pPr>
            <a:r>
              <a:rPr lang="en-US" sz="732" b="1" dirty="0">
                <a:solidFill>
                  <a:srgbClr val="FFFFFF"/>
                </a:solidFill>
                <a:latin typeface="Noto Sans" pitchFamily="34" charset="0"/>
                <a:ea typeface="Noto Sans" pitchFamily="34" charset="-122"/>
                <a:cs typeface="Noto Sans" pitchFamily="34" charset="-120"/>
              </a:rPr>
              <a:t>Chênh lệch</a:t>
            </a:r>
            <a:endParaRPr lang="en-US" sz="732" dirty="0"/>
          </a:p>
        </p:txBody>
      </p:sp>
      <p:sp>
        <p:nvSpPr>
          <p:cNvPr id="9" name="Text 6"/>
          <p:cNvSpPr/>
          <p:nvPr/>
        </p:nvSpPr>
        <p:spPr>
          <a:xfrm>
            <a:off x="571500" y="1378744"/>
            <a:ext cx="1420351" cy="325041"/>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Dirty Dancing (1987)</a:t>
            </a:r>
            <a:endParaRPr lang="en-US" sz="732" dirty="0"/>
          </a:p>
        </p:txBody>
      </p:sp>
      <p:sp>
        <p:nvSpPr>
          <p:cNvPr id="10" name="Text 7"/>
          <p:cNvSpPr/>
          <p:nvPr/>
        </p:nvSpPr>
        <p:spPr>
          <a:xfrm>
            <a:off x="1991851" y="1378744"/>
            <a:ext cx="758019" cy="325041"/>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3.79</a:t>
            </a:r>
            <a:endParaRPr lang="en-US" sz="732" dirty="0"/>
          </a:p>
        </p:txBody>
      </p:sp>
      <p:sp>
        <p:nvSpPr>
          <p:cNvPr id="11" name="Text 8"/>
          <p:cNvSpPr/>
          <p:nvPr/>
        </p:nvSpPr>
        <p:spPr>
          <a:xfrm>
            <a:off x="2749869" y="1378744"/>
            <a:ext cx="844107" cy="325041"/>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2.96</a:t>
            </a:r>
            <a:endParaRPr lang="en-US" sz="732" dirty="0"/>
          </a:p>
        </p:txBody>
      </p:sp>
      <p:sp>
        <p:nvSpPr>
          <p:cNvPr id="12" name="Text 9"/>
          <p:cNvSpPr/>
          <p:nvPr/>
        </p:nvSpPr>
        <p:spPr>
          <a:xfrm>
            <a:off x="3593976" y="1378744"/>
            <a:ext cx="799430" cy="325041"/>
          </a:xfrm>
          <a:prstGeom prst="rect">
            <a:avLst/>
          </a:prstGeom>
          <a:noFill/>
          <a:ln/>
        </p:spPr>
        <p:txBody>
          <a:bodyPr wrap="square" lIns="127508" tIns="102108" rIns="127508" bIns="102108" rtlCol="0" anchor="ctr">
            <a:spAutoFit/>
          </a:bodyPr>
          <a:lstStyle/>
          <a:p>
            <a:pPr marL="0" indent="0">
              <a:buNone/>
            </a:pPr>
            <a:r>
              <a:rPr lang="en-US" sz="732" b="1" dirty="0">
                <a:solidFill>
                  <a:srgbClr val="333333"/>
                </a:solidFill>
                <a:latin typeface="Noto Sans" pitchFamily="34" charset="0"/>
                <a:ea typeface="Noto Sans" pitchFamily="34" charset="-122"/>
                <a:cs typeface="Noto Sans" pitchFamily="34" charset="-120"/>
              </a:rPr>
              <a:t>-0.83</a:t>
            </a:r>
            <a:endParaRPr lang="en-US" sz="732" dirty="0"/>
          </a:p>
        </p:txBody>
      </p:sp>
      <p:sp>
        <p:nvSpPr>
          <p:cNvPr id="13" name="Text 10"/>
          <p:cNvSpPr/>
          <p:nvPr/>
        </p:nvSpPr>
        <p:spPr>
          <a:xfrm>
            <a:off x="571500" y="1703784"/>
            <a:ext cx="1420351" cy="328613"/>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Jumpin' Jack Flash (1986)</a:t>
            </a:r>
            <a:endParaRPr lang="en-US" sz="732" dirty="0"/>
          </a:p>
        </p:txBody>
      </p:sp>
      <p:sp>
        <p:nvSpPr>
          <p:cNvPr id="14" name="Text 11"/>
          <p:cNvSpPr/>
          <p:nvPr/>
        </p:nvSpPr>
        <p:spPr>
          <a:xfrm>
            <a:off x="1991851" y="1703784"/>
            <a:ext cx="758019" cy="328613"/>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3.25</a:t>
            </a:r>
            <a:endParaRPr lang="en-US" sz="732" dirty="0"/>
          </a:p>
        </p:txBody>
      </p:sp>
      <p:sp>
        <p:nvSpPr>
          <p:cNvPr id="15" name="Text 12"/>
          <p:cNvSpPr/>
          <p:nvPr/>
        </p:nvSpPr>
        <p:spPr>
          <a:xfrm>
            <a:off x="2749869" y="1703784"/>
            <a:ext cx="844107" cy="328613"/>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2.58</a:t>
            </a:r>
            <a:endParaRPr lang="en-US" sz="732" dirty="0"/>
          </a:p>
        </p:txBody>
      </p:sp>
      <p:sp>
        <p:nvSpPr>
          <p:cNvPr id="16" name="Text 13"/>
          <p:cNvSpPr/>
          <p:nvPr/>
        </p:nvSpPr>
        <p:spPr>
          <a:xfrm>
            <a:off x="3593976" y="1703784"/>
            <a:ext cx="799430" cy="328613"/>
          </a:xfrm>
          <a:prstGeom prst="rect">
            <a:avLst/>
          </a:prstGeom>
          <a:noFill/>
          <a:ln/>
        </p:spPr>
        <p:txBody>
          <a:bodyPr wrap="square" lIns="127508" tIns="102108" rIns="127508" bIns="102108" rtlCol="0" anchor="ctr">
            <a:spAutoFit/>
          </a:bodyPr>
          <a:lstStyle/>
          <a:p>
            <a:pPr marL="0" indent="0">
              <a:buNone/>
            </a:pPr>
            <a:r>
              <a:rPr lang="en-US" sz="732" b="1" dirty="0">
                <a:solidFill>
                  <a:srgbClr val="333333"/>
                </a:solidFill>
                <a:latin typeface="Noto Sans" pitchFamily="34" charset="0"/>
                <a:ea typeface="Noto Sans" pitchFamily="34" charset="-122"/>
                <a:cs typeface="Noto Sans" pitchFamily="34" charset="-120"/>
              </a:rPr>
              <a:t>-0.68</a:t>
            </a:r>
            <a:endParaRPr lang="en-US" sz="732" dirty="0"/>
          </a:p>
        </p:txBody>
      </p:sp>
      <p:sp>
        <p:nvSpPr>
          <p:cNvPr id="17" name="Text 14"/>
          <p:cNvSpPr/>
          <p:nvPr/>
        </p:nvSpPr>
        <p:spPr>
          <a:xfrm>
            <a:off x="571500" y="2032397"/>
            <a:ext cx="1420351" cy="328613"/>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Grease (1978)</a:t>
            </a:r>
            <a:endParaRPr lang="en-US" sz="732" dirty="0"/>
          </a:p>
        </p:txBody>
      </p:sp>
      <p:sp>
        <p:nvSpPr>
          <p:cNvPr id="18" name="Text 15"/>
          <p:cNvSpPr/>
          <p:nvPr/>
        </p:nvSpPr>
        <p:spPr>
          <a:xfrm>
            <a:off x="1991851" y="2032397"/>
            <a:ext cx="758019" cy="328613"/>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3.98</a:t>
            </a:r>
            <a:endParaRPr lang="en-US" sz="732" dirty="0"/>
          </a:p>
        </p:txBody>
      </p:sp>
      <p:sp>
        <p:nvSpPr>
          <p:cNvPr id="19" name="Text 16"/>
          <p:cNvSpPr/>
          <p:nvPr/>
        </p:nvSpPr>
        <p:spPr>
          <a:xfrm>
            <a:off x="2749869" y="2032397"/>
            <a:ext cx="844107" cy="328613"/>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3.37</a:t>
            </a:r>
            <a:endParaRPr lang="en-US" sz="732" dirty="0"/>
          </a:p>
        </p:txBody>
      </p:sp>
      <p:sp>
        <p:nvSpPr>
          <p:cNvPr id="20" name="Text 17"/>
          <p:cNvSpPr/>
          <p:nvPr/>
        </p:nvSpPr>
        <p:spPr>
          <a:xfrm>
            <a:off x="3593976" y="2032397"/>
            <a:ext cx="799430" cy="328613"/>
          </a:xfrm>
          <a:prstGeom prst="rect">
            <a:avLst/>
          </a:prstGeom>
          <a:noFill/>
          <a:ln/>
        </p:spPr>
        <p:txBody>
          <a:bodyPr wrap="square" lIns="127508" tIns="102108" rIns="127508" bIns="102108" rtlCol="0" anchor="ctr">
            <a:spAutoFit/>
          </a:bodyPr>
          <a:lstStyle/>
          <a:p>
            <a:pPr marL="0" indent="0">
              <a:buNone/>
            </a:pPr>
            <a:r>
              <a:rPr lang="en-US" sz="732" b="1" dirty="0">
                <a:solidFill>
                  <a:srgbClr val="333333"/>
                </a:solidFill>
                <a:latin typeface="Noto Sans" pitchFamily="34" charset="0"/>
                <a:ea typeface="Noto Sans" pitchFamily="34" charset="-122"/>
                <a:cs typeface="Noto Sans" pitchFamily="34" charset="-120"/>
              </a:rPr>
              <a:t>-0.61</a:t>
            </a:r>
            <a:endParaRPr lang="en-US" sz="732" dirty="0"/>
          </a:p>
        </p:txBody>
      </p:sp>
      <p:sp>
        <p:nvSpPr>
          <p:cNvPr id="21" name="Text 18"/>
          <p:cNvSpPr/>
          <p:nvPr/>
        </p:nvSpPr>
        <p:spPr>
          <a:xfrm>
            <a:off x="571500" y="2361009"/>
            <a:ext cx="1420351" cy="328613"/>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Little Women (1994)</a:t>
            </a:r>
            <a:endParaRPr lang="en-US" sz="732" dirty="0"/>
          </a:p>
        </p:txBody>
      </p:sp>
      <p:sp>
        <p:nvSpPr>
          <p:cNvPr id="22" name="Text 19"/>
          <p:cNvSpPr/>
          <p:nvPr/>
        </p:nvSpPr>
        <p:spPr>
          <a:xfrm>
            <a:off x="1991851" y="2361009"/>
            <a:ext cx="758019" cy="328613"/>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3.87</a:t>
            </a:r>
            <a:endParaRPr lang="en-US" sz="732" dirty="0"/>
          </a:p>
        </p:txBody>
      </p:sp>
      <p:sp>
        <p:nvSpPr>
          <p:cNvPr id="23" name="Text 20"/>
          <p:cNvSpPr/>
          <p:nvPr/>
        </p:nvSpPr>
        <p:spPr>
          <a:xfrm>
            <a:off x="2749869" y="2361009"/>
            <a:ext cx="844107" cy="328613"/>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3.32</a:t>
            </a:r>
            <a:endParaRPr lang="en-US" sz="732" dirty="0"/>
          </a:p>
        </p:txBody>
      </p:sp>
      <p:sp>
        <p:nvSpPr>
          <p:cNvPr id="24" name="Text 21"/>
          <p:cNvSpPr/>
          <p:nvPr/>
        </p:nvSpPr>
        <p:spPr>
          <a:xfrm>
            <a:off x="3593976" y="2361009"/>
            <a:ext cx="799430" cy="328613"/>
          </a:xfrm>
          <a:prstGeom prst="rect">
            <a:avLst/>
          </a:prstGeom>
          <a:noFill/>
          <a:ln/>
        </p:spPr>
        <p:txBody>
          <a:bodyPr wrap="square" lIns="127508" tIns="102108" rIns="127508" bIns="102108" rtlCol="0" anchor="ctr">
            <a:spAutoFit/>
          </a:bodyPr>
          <a:lstStyle/>
          <a:p>
            <a:pPr marL="0" indent="0">
              <a:buNone/>
            </a:pPr>
            <a:r>
              <a:rPr lang="en-US" sz="732" b="1" dirty="0">
                <a:solidFill>
                  <a:srgbClr val="333333"/>
                </a:solidFill>
                <a:latin typeface="Noto Sans" pitchFamily="34" charset="0"/>
                <a:ea typeface="Noto Sans" pitchFamily="34" charset="-122"/>
                <a:cs typeface="Noto Sans" pitchFamily="34" charset="-120"/>
              </a:rPr>
              <a:t>-0.55</a:t>
            </a:r>
            <a:endParaRPr lang="en-US" sz="732" dirty="0"/>
          </a:p>
        </p:txBody>
      </p:sp>
      <p:sp>
        <p:nvSpPr>
          <p:cNvPr id="25" name="Text 22"/>
          <p:cNvSpPr/>
          <p:nvPr/>
        </p:nvSpPr>
        <p:spPr>
          <a:xfrm>
            <a:off x="571500" y="2689622"/>
            <a:ext cx="1420351" cy="328613"/>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Steel Magnolias (1989)</a:t>
            </a:r>
            <a:endParaRPr lang="en-US" sz="732" dirty="0"/>
          </a:p>
        </p:txBody>
      </p:sp>
      <p:sp>
        <p:nvSpPr>
          <p:cNvPr id="26" name="Text 23"/>
          <p:cNvSpPr/>
          <p:nvPr/>
        </p:nvSpPr>
        <p:spPr>
          <a:xfrm>
            <a:off x="1991851" y="2689622"/>
            <a:ext cx="758019" cy="328613"/>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3.90</a:t>
            </a:r>
            <a:endParaRPr lang="en-US" sz="732" dirty="0"/>
          </a:p>
        </p:txBody>
      </p:sp>
      <p:sp>
        <p:nvSpPr>
          <p:cNvPr id="27" name="Text 24"/>
          <p:cNvSpPr/>
          <p:nvPr/>
        </p:nvSpPr>
        <p:spPr>
          <a:xfrm>
            <a:off x="2749869" y="2689622"/>
            <a:ext cx="844107" cy="328613"/>
          </a:xfrm>
          <a:prstGeom prst="rect">
            <a:avLst/>
          </a:prstGeom>
          <a:noFill/>
          <a:ln/>
        </p:spPr>
        <p:txBody>
          <a:bodyPr wrap="square" lIns="127508" tIns="102108" rIns="127508" bIns="102108"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3.37</a:t>
            </a:r>
            <a:endParaRPr lang="en-US" sz="732" dirty="0"/>
          </a:p>
        </p:txBody>
      </p:sp>
      <p:sp>
        <p:nvSpPr>
          <p:cNvPr id="28" name="Text 25"/>
          <p:cNvSpPr/>
          <p:nvPr/>
        </p:nvSpPr>
        <p:spPr>
          <a:xfrm>
            <a:off x="3593976" y="2689622"/>
            <a:ext cx="799430" cy="328613"/>
          </a:xfrm>
          <a:prstGeom prst="rect">
            <a:avLst/>
          </a:prstGeom>
          <a:noFill/>
          <a:ln/>
        </p:spPr>
        <p:txBody>
          <a:bodyPr wrap="square" lIns="127508" tIns="102108" rIns="127508" bIns="102108" rtlCol="0" anchor="ctr">
            <a:spAutoFit/>
          </a:bodyPr>
          <a:lstStyle/>
          <a:p>
            <a:pPr marL="0" indent="0">
              <a:buNone/>
            </a:pPr>
            <a:r>
              <a:rPr lang="en-US" sz="732" b="1" dirty="0">
                <a:solidFill>
                  <a:srgbClr val="333333"/>
                </a:solidFill>
                <a:latin typeface="Noto Sans" pitchFamily="34" charset="0"/>
                <a:ea typeface="Noto Sans" pitchFamily="34" charset="-122"/>
                <a:cs typeface="Noto Sans" pitchFamily="34" charset="-120"/>
              </a:rPr>
              <a:t>-0.54</a:t>
            </a:r>
            <a:endParaRPr lang="en-US" sz="732" dirty="0"/>
          </a:p>
        </p:txBody>
      </p:sp>
      <p:pic>
        <p:nvPicPr>
          <p:cNvPr id="29" name="Image 1" descr="preencoded.png"/>
          <p:cNvPicPr>
            <a:picLocks noChangeAspect="1"/>
          </p:cNvPicPr>
          <p:nvPr/>
        </p:nvPicPr>
        <p:blipFill>
          <a:blip r:embed="rId4"/>
          <a:stretch>
            <a:fillRect/>
          </a:stretch>
        </p:blipFill>
        <p:spPr>
          <a:xfrm>
            <a:off x="571500" y="3148608"/>
            <a:ext cx="85725" cy="85725"/>
          </a:xfrm>
          <a:prstGeom prst="rect">
            <a:avLst/>
          </a:prstGeom>
        </p:spPr>
      </p:pic>
      <p:sp>
        <p:nvSpPr>
          <p:cNvPr id="30" name="Text 26"/>
          <p:cNvSpPr/>
          <p:nvPr/>
        </p:nvSpPr>
        <p:spPr>
          <a:xfrm>
            <a:off x="657225" y="3134320"/>
            <a:ext cx="3271977" cy="116086"/>
          </a:xfrm>
          <a:prstGeom prst="rect">
            <a:avLst/>
          </a:prstGeom>
          <a:noFill/>
          <a:ln/>
        </p:spPr>
        <p:txBody>
          <a:bodyPr wrap="none" lIns="0" tIns="0" rIns="0" bIns="0" rtlCol="0" anchor="ctr">
            <a:spAutoFit/>
          </a:bodyPr>
          <a:lstStyle/>
          <a:p>
            <a:pPr marL="0" indent="0">
              <a:buNone/>
            </a:pPr>
            <a:r>
              <a:rPr lang="en-US" sz="628" dirty="0">
                <a:solidFill>
                  <a:srgbClr val="666666"/>
                </a:solidFill>
                <a:latin typeface="Noto Sans" pitchFamily="34" charset="0"/>
                <a:ea typeface="Noto Sans" pitchFamily="34" charset="-122"/>
                <a:cs typeface="Noto Sans" pitchFamily="34" charset="-120"/>
              </a:rPr>
              <a:t> Chênh lệch = Điểm Nam - Điểm Nữ (giá trị âm cho thấy nữ giới đánh giá cao hơn) </a:t>
            </a:r>
            <a:endParaRPr lang="en-US" sz="628" dirty="0"/>
          </a:p>
        </p:txBody>
      </p:sp>
      <p:pic>
        <p:nvPicPr>
          <p:cNvPr id="31" name="Image 2" descr="preencoded.png"/>
          <p:cNvPicPr>
            <a:picLocks noChangeAspect="1"/>
          </p:cNvPicPr>
          <p:nvPr/>
        </p:nvPicPr>
        <p:blipFill>
          <a:blip r:embed="rId5"/>
          <a:stretch>
            <a:fillRect/>
          </a:stretch>
        </p:blipFill>
        <p:spPr>
          <a:xfrm>
            <a:off x="4750594" y="1078706"/>
            <a:ext cx="171450" cy="171450"/>
          </a:xfrm>
          <a:prstGeom prst="rect">
            <a:avLst/>
          </a:prstGeom>
        </p:spPr>
      </p:pic>
      <p:sp>
        <p:nvSpPr>
          <p:cNvPr id="32" name="Text 27"/>
          <p:cNvSpPr/>
          <p:nvPr/>
        </p:nvSpPr>
        <p:spPr>
          <a:xfrm>
            <a:off x="4993481" y="1057275"/>
            <a:ext cx="1089282" cy="214313"/>
          </a:xfrm>
          <a:prstGeom prst="rect">
            <a:avLst/>
          </a:prstGeom>
          <a:noFill/>
          <a:ln/>
        </p:spPr>
        <p:txBody>
          <a:bodyPr wrap="none" lIns="0" tIns="0" rIns="0" bIns="0" rtlCol="0" anchor="ctr">
            <a:spAutoFit/>
          </a:bodyPr>
          <a:lstStyle/>
          <a:p>
            <a:pPr marL="0" indent="0">
              <a:buNone/>
            </a:pPr>
            <a:r>
              <a:rPr lang="en-US" sz="1046" b="1" dirty="0">
                <a:solidFill>
                  <a:srgbClr val="4A90E2"/>
                </a:solidFill>
                <a:latin typeface="Noto Sans" pitchFamily="34" charset="0"/>
                <a:ea typeface="Noto Sans" pitchFamily="34" charset="-122"/>
                <a:cs typeface="Noto Sans" pitchFamily="34" charset="-120"/>
              </a:rPr>
              <a:t> Nhận xét chính </a:t>
            </a:r>
            <a:endParaRPr lang="en-US" sz="1046" dirty="0"/>
          </a:p>
        </p:txBody>
      </p:sp>
      <p:sp>
        <p:nvSpPr>
          <p:cNvPr id="33" name="Text 28"/>
          <p:cNvSpPr/>
          <p:nvPr/>
        </p:nvSpPr>
        <p:spPr>
          <a:xfrm>
            <a:off x="4750594" y="1414463"/>
            <a:ext cx="3821906" cy="617153"/>
          </a:xfrm>
          <a:prstGeom prst="rect">
            <a:avLst/>
          </a:prstGeom>
          <a:noFill/>
          <a:ln/>
        </p:spPr>
        <p:txBody>
          <a:bodyPr wrap="squar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 Các bộ phim trong danh sách này được nữ giới đánh giá cao hơn đáng kể so với nam giới, với mức chênh lệch từ 0.54 đến 0.83 điểm. Điều này phản ánh sự khác biệt rõ rệt trong sở thích điện ảnh giữa hai giới. </a:t>
            </a:r>
            <a:endParaRPr lang="en-US" sz="837" dirty="0"/>
          </a:p>
        </p:txBody>
      </p:sp>
      <p:pic>
        <p:nvPicPr>
          <p:cNvPr id="34" name="Image 3" descr="preencoded.png"/>
          <p:cNvPicPr>
            <a:picLocks noChangeAspect="1"/>
          </p:cNvPicPr>
          <p:nvPr/>
        </p:nvPicPr>
        <p:blipFill>
          <a:blip r:embed="rId6"/>
          <a:stretch>
            <a:fillRect/>
          </a:stretch>
        </p:blipFill>
        <p:spPr>
          <a:xfrm>
            <a:off x="4750594" y="2267359"/>
            <a:ext cx="171450" cy="171450"/>
          </a:xfrm>
          <a:prstGeom prst="rect">
            <a:avLst/>
          </a:prstGeom>
        </p:spPr>
      </p:pic>
      <p:sp>
        <p:nvSpPr>
          <p:cNvPr id="35" name="Text 29"/>
          <p:cNvSpPr/>
          <p:nvPr/>
        </p:nvSpPr>
        <p:spPr>
          <a:xfrm>
            <a:off x="4993481" y="2245928"/>
            <a:ext cx="1219460" cy="214313"/>
          </a:xfrm>
          <a:prstGeom prst="rect">
            <a:avLst/>
          </a:prstGeom>
          <a:noFill/>
          <a:ln/>
        </p:spPr>
        <p:txBody>
          <a:bodyPr wrap="none" lIns="0" tIns="0" rIns="0" bIns="0" rtlCol="0" anchor="ctr">
            <a:spAutoFit/>
          </a:bodyPr>
          <a:lstStyle/>
          <a:p>
            <a:pPr marL="0" indent="0">
              <a:buNone/>
            </a:pPr>
            <a:r>
              <a:rPr lang="en-US" sz="1046" b="1" dirty="0">
                <a:solidFill>
                  <a:srgbClr val="4A90E2"/>
                </a:solidFill>
                <a:latin typeface="Noto Sans" pitchFamily="34" charset="0"/>
                <a:ea typeface="Noto Sans" pitchFamily="34" charset="-122"/>
                <a:cs typeface="Noto Sans" pitchFamily="34" charset="-120"/>
              </a:rPr>
              <a:t> Thể loại phổ biến </a:t>
            </a:r>
            <a:endParaRPr lang="en-US" sz="1046" dirty="0"/>
          </a:p>
        </p:txBody>
      </p:sp>
      <p:sp>
        <p:nvSpPr>
          <p:cNvPr id="36" name="Shape 30"/>
          <p:cNvSpPr/>
          <p:nvPr/>
        </p:nvSpPr>
        <p:spPr>
          <a:xfrm>
            <a:off x="4750594" y="2603116"/>
            <a:ext cx="640733" cy="235744"/>
          </a:xfrm>
          <a:prstGeom prst="rect">
            <a:avLst/>
          </a:prstGeom>
          <a:solidFill>
            <a:srgbClr val="4A90E2"/>
          </a:solidFill>
          <a:ln/>
        </p:spPr>
        <p:txBody>
          <a:bodyPr/>
          <a:lstStyle/>
          <a:p>
            <a:endParaRPr lang="en-US"/>
          </a:p>
        </p:txBody>
      </p:sp>
      <p:sp>
        <p:nvSpPr>
          <p:cNvPr id="37" name="Text 31"/>
          <p:cNvSpPr/>
          <p:nvPr/>
        </p:nvSpPr>
        <p:spPr>
          <a:xfrm>
            <a:off x="4750594" y="2603116"/>
            <a:ext cx="640733" cy="235744"/>
          </a:xfrm>
          <a:prstGeom prst="rect">
            <a:avLst/>
          </a:prstGeom>
          <a:noFill/>
          <a:ln/>
        </p:spPr>
        <p:txBody>
          <a:bodyPr wrap="square" lIns="102108" tIns="51054" rIns="102108" bIns="51054" rtlCol="0" anchor="ctr">
            <a:spAutoFit/>
          </a:bodyPr>
          <a:lstStyle/>
          <a:p>
            <a:pPr marL="0" indent="0">
              <a:buNone/>
            </a:pPr>
            <a:r>
              <a:rPr lang="en-US" sz="732" dirty="0">
                <a:solidFill>
                  <a:srgbClr val="FFFFFF"/>
                </a:solidFill>
                <a:latin typeface="Noto Sans" pitchFamily="34" charset="0"/>
                <a:ea typeface="Noto Sans" pitchFamily="34" charset="-122"/>
                <a:cs typeface="Noto Sans" pitchFamily="34" charset="-120"/>
              </a:rPr>
              <a:t>Lãng mạn</a:t>
            </a:r>
            <a:endParaRPr lang="en-US" sz="732" dirty="0"/>
          </a:p>
        </p:txBody>
      </p:sp>
      <p:sp>
        <p:nvSpPr>
          <p:cNvPr id="38" name="Shape 32"/>
          <p:cNvSpPr/>
          <p:nvPr/>
        </p:nvSpPr>
        <p:spPr>
          <a:xfrm>
            <a:off x="5478196" y="2603116"/>
            <a:ext cx="628427" cy="235744"/>
          </a:xfrm>
          <a:prstGeom prst="rect">
            <a:avLst/>
          </a:prstGeom>
          <a:solidFill>
            <a:srgbClr val="4A90E2"/>
          </a:solidFill>
          <a:ln/>
        </p:spPr>
        <p:txBody>
          <a:bodyPr/>
          <a:lstStyle/>
          <a:p>
            <a:endParaRPr lang="en-US"/>
          </a:p>
        </p:txBody>
      </p:sp>
      <p:sp>
        <p:nvSpPr>
          <p:cNvPr id="39" name="Text 33"/>
          <p:cNvSpPr/>
          <p:nvPr/>
        </p:nvSpPr>
        <p:spPr>
          <a:xfrm>
            <a:off x="5478196" y="2603116"/>
            <a:ext cx="628427" cy="235744"/>
          </a:xfrm>
          <a:prstGeom prst="rect">
            <a:avLst/>
          </a:prstGeom>
          <a:noFill/>
          <a:ln/>
        </p:spPr>
        <p:txBody>
          <a:bodyPr wrap="square" lIns="102108" tIns="51054" rIns="102108" bIns="51054" rtlCol="0" anchor="ctr">
            <a:spAutoFit/>
          </a:bodyPr>
          <a:lstStyle/>
          <a:p>
            <a:pPr marL="0" indent="0">
              <a:buNone/>
            </a:pPr>
            <a:r>
              <a:rPr lang="en-US" sz="732" dirty="0">
                <a:solidFill>
                  <a:srgbClr val="FFFFFF"/>
                </a:solidFill>
                <a:latin typeface="Noto Sans" pitchFamily="34" charset="0"/>
                <a:ea typeface="Noto Sans" pitchFamily="34" charset="-122"/>
                <a:cs typeface="Noto Sans" pitchFamily="34" charset="-120"/>
              </a:rPr>
              <a:t>Nhạc kịch</a:t>
            </a:r>
            <a:endParaRPr lang="en-US" sz="732" dirty="0"/>
          </a:p>
        </p:txBody>
      </p:sp>
      <p:sp>
        <p:nvSpPr>
          <p:cNvPr id="40" name="Shape 34"/>
          <p:cNvSpPr/>
          <p:nvPr/>
        </p:nvSpPr>
        <p:spPr>
          <a:xfrm>
            <a:off x="6193492" y="2603116"/>
            <a:ext cx="660936" cy="235744"/>
          </a:xfrm>
          <a:prstGeom prst="rect">
            <a:avLst/>
          </a:prstGeom>
          <a:solidFill>
            <a:srgbClr val="4A90E2"/>
          </a:solidFill>
          <a:ln/>
        </p:spPr>
        <p:txBody>
          <a:bodyPr/>
          <a:lstStyle/>
          <a:p>
            <a:endParaRPr lang="en-US"/>
          </a:p>
        </p:txBody>
      </p:sp>
      <p:sp>
        <p:nvSpPr>
          <p:cNvPr id="41" name="Text 35"/>
          <p:cNvSpPr/>
          <p:nvPr/>
        </p:nvSpPr>
        <p:spPr>
          <a:xfrm>
            <a:off x="6193492" y="2603116"/>
            <a:ext cx="660936" cy="235744"/>
          </a:xfrm>
          <a:prstGeom prst="rect">
            <a:avLst/>
          </a:prstGeom>
          <a:noFill/>
          <a:ln/>
        </p:spPr>
        <p:txBody>
          <a:bodyPr wrap="square" lIns="102108" tIns="51054" rIns="102108" bIns="51054" rtlCol="0" anchor="ctr">
            <a:spAutoFit/>
          </a:bodyPr>
          <a:lstStyle/>
          <a:p>
            <a:pPr marL="0" indent="0">
              <a:buNone/>
            </a:pPr>
            <a:r>
              <a:rPr lang="en-US" sz="732" dirty="0">
                <a:solidFill>
                  <a:srgbClr val="FFFFFF"/>
                </a:solidFill>
                <a:latin typeface="Noto Sans" pitchFamily="34" charset="0"/>
                <a:ea typeface="Noto Sans" pitchFamily="34" charset="-122"/>
                <a:cs typeface="Noto Sans" pitchFamily="34" charset="-120"/>
              </a:rPr>
              <a:t>Chính kịch</a:t>
            </a:r>
            <a:endParaRPr lang="en-US" sz="732" dirty="0"/>
          </a:p>
        </p:txBody>
      </p:sp>
      <p:sp>
        <p:nvSpPr>
          <p:cNvPr id="42" name="Text 36"/>
          <p:cNvSpPr/>
          <p:nvPr/>
        </p:nvSpPr>
        <p:spPr>
          <a:xfrm>
            <a:off x="4750594" y="3003166"/>
            <a:ext cx="3821906" cy="617153"/>
          </a:xfrm>
          <a:prstGeom prst="rect">
            <a:avLst/>
          </a:prstGeom>
          <a:noFill/>
          <a:ln/>
        </p:spPr>
        <p:txBody>
          <a:bodyPr wrap="squar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 Các bộ phim này thường thuộc thể loại lãng mạn, nhạc kịch hoặc chính kịch tập trung vào các mối quan hệ và cảm xúc. Đây là những thể loại truyền thống được nữ giới ưa chuộng hơn nam giới. </a:t>
            </a:r>
            <a:endParaRPr lang="en-US" sz="837" dirty="0"/>
          </a:p>
        </p:txBody>
      </p:sp>
      <p:sp>
        <p:nvSpPr>
          <p:cNvPr id="43" name="Shape 37"/>
          <p:cNvSpPr/>
          <p:nvPr/>
        </p:nvSpPr>
        <p:spPr>
          <a:xfrm>
            <a:off x="4750594" y="3834631"/>
            <a:ext cx="3821906" cy="1008664"/>
          </a:xfrm>
          <a:prstGeom prst="rect">
            <a:avLst/>
          </a:prstGeom>
          <a:solidFill>
            <a:srgbClr val="F5F9FC"/>
          </a:solidFill>
          <a:ln/>
        </p:spPr>
        <p:txBody>
          <a:bodyPr/>
          <a:lstStyle/>
          <a:p>
            <a:endParaRPr lang="en-US"/>
          </a:p>
        </p:txBody>
      </p:sp>
      <p:sp>
        <p:nvSpPr>
          <p:cNvPr id="44" name="Shape 38"/>
          <p:cNvSpPr/>
          <p:nvPr/>
        </p:nvSpPr>
        <p:spPr>
          <a:xfrm>
            <a:off x="4750594" y="3834631"/>
            <a:ext cx="28575" cy="1008664"/>
          </a:xfrm>
          <a:prstGeom prst="rect">
            <a:avLst/>
          </a:prstGeom>
          <a:solidFill>
            <a:srgbClr val="4A90E2"/>
          </a:solidFill>
          <a:ln/>
        </p:spPr>
        <p:txBody>
          <a:bodyPr/>
          <a:lstStyle/>
          <a:p>
            <a:endParaRPr lang="en-US"/>
          </a:p>
        </p:txBody>
      </p:sp>
      <p:pic>
        <p:nvPicPr>
          <p:cNvPr id="45" name="Image 4" descr="preencoded.png"/>
          <p:cNvPicPr>
            <a:picLocks noChangeAspect="1"/>
          </p:cNvPicPr>
          <p:nvPr/>
        </p:nvPicPr>
        <p:blipFill>
          <a:blip r:embed="rId7"/>
          <a:stretch>
            <a:fillRect/>
          </a:stretch>
        </p:blipFill>
        <p:spPr>
          <a:xfrm>
            <a:off x="4893469" y="4006081"/>
            <a:ext cx="128588" cy="114300"/>
          </a:xfrm>
          <a:prstGeom prst="rect">
            <a:avLst/>
          </a:prstGeom>
        </p:spPr>
      </p:pic>
      <p:sp>
        <p:nvSpPr>
          <p:cNvPr id="46" name="Text 39"/>
          <p:cNvSpPr/>
          <p:nvPr/>
        </p:nvSpPr>
        <p:spPr>
          <a:xfrm>
            <a:off x="5022056" y="3984650"/>
            <a:ext cx="754838" cy="155377"/>
          </a:xfrm>
          <a:prstGeom prst="rect">
            <a:avLst/>
          </a:prstGeom>
          <a:noFill/>
          <a:ln/>
        </p:spPr>
        <p:txBody>
          <a:bodyPr wrap="none" lIns="0" tIns="0" rIns="0" bIns="0" rtlCol="0" anchor="ctr">
            <a:spAutoFit/>
          </a:bodyPr>
          <a:lstStyle/>
          <a:p>
            <a:pPr marL="0" indent="0">
              <a:buNone/>
            </a:pPr>
            <a:r>
              <a:rPr lang="en-US" sz="837" b="1" dirty="0">
                <a:solidFill>
                  <a:srgbClr val="1F4788"/>
                </a:solidFill>
                <a:latin typeface="Noto Sans" pitchFamily="34" charset="0"/>
                <a:ea typeface="Noto Sans" pitchFamily="34" charset="-122"/>
                <a:cs typeface="Noto Sans" pitchFamily="34" charset="-120"/>
              </a:rPr>
              <a:t> Phim nổi bật </a:t>
            </a:r>
            <a:endParaRPr lang="en-US" sz="837" dirty="0"/>
          </a:p>
        </p:txBody>
      </p:sp>
      <p:sp>
        <p:nvSpPr>
          <p:cNvPr id="47" name="Text 40"/>
          <p:cNvSpPr/>
          <p:nvPr/>
        </p:nvSpPr>
        <p:spPr>
          <a:xfrm>
            <a:off x="4893469" y="4231109"/>
            <a:ext cx="1009948" cy="135731"/>
          </a:xfrm>
          <a:prstGeom prst="rect">
            <a:avLst/>
          </a:prstGeom>
          <a:noFill/>
          <a:ln/>
        </p:spPr>
        <p:txBody>
          <a:bodyPr wrap="none" lIns="0" tIns="0" rIns="0" bIns="0" rtlCol="0" anchor="ctr">
            <a:spAutoFit/>
          </a:bodyPr>
          <a:lstStyle/>
          <a:p>
            <a:pPr marL="0" indent="0">
              <a:buNone/>
            </a:pPr>
            <a:r>
              <a:rPr lang="en-US" sz="732" b="1" dirty="0">
                <a:solidFill>
                  <a:srgbClr val="333333"/>
                </a:solidFill>
                <a:latin typeface="Noto Sans" pitchFamily="34" charset="0"/>
                <a:ea typeface="Noto Sans" pitchFamily="34" charset="-122"/>
                <a:cs typeface="Noto Sans" pitchFamily="34" charset="-120"/>
              </a:rPr>
              <a:t>Dirty Dancing (1987)</a:t>
            </a:r>
            <a:endParaRPr lang="en-US" sz="732" dirty="0"/>
          </a:p>
        </p:txBody>
      </p:sp>
      <p:sp>
        <p:nvSpPr>
          <p:cNvPr id="48" name="Text 41"/>
          <p:cNvSpPr/>
          <p:nvPr/>
        </p:nvSpPr>
        <p:spPr>
          <a:xfrm>
            <a:off x="5903416" y="4231109"/>
            <a:ext cx="2409313" cy="135731"/>
          </a:xfrm>
          <a:prstGeom prst="rect">
            <a:avLst/>
          </a:prstGeom>
          <a:noFill/>
          <a:ln/>
        </p:spPr>
        <p:txBody>
          <a:bodyPr wrap="none" lIns="0" tIns="0" rIns="0" bIns="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 có mức chênh lệch cao nhất (-0.83), cho thấy đây là </a:t>
            </a:r>
            <a:endParaRPr lang="en-US" sz="732" dirty="0"/>
          </a:p>
        </p:txBody>
      </p:sp>
      <p:sp>
        <p:nvSpPr>
          <p:cNvPr id="49" name="Text 42"/>
          <p:cNvSpPr/>
          <p:nvPr/>
        </p:nvSpPr>
        <p:spPr>
          <a:xfrm>
            <a:off x="4893469" y="4391118"/>
            <a:ext cx="3388342" cy="135731"/>
          </a:xfrm>
          <a:prstGeom prst="rect">
            <a:avLst/>
          </a:prstGeom>
          <a:noFill/>
          <a:ln/>
        </p:spPr>
        <p:txBody>
          <a:bodyPr wrap="none" lIns="0" tIns="0" rIns="0" bIns="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bộ phim được nữ giới yêu thích đặc biệt trong khi nam giới đánh giá khá </a:t>
            </a:r>
            <a:endParaRPr lang="en-US" sz="732" dirty="0"/>
          </a:p>
        </p:txBody>
      </p:sp>
      <p:sp>
        <p:nvSpPr>
          <p:cNvPr id="50" name="Text 43"/>
          <p:cNvSpPr/>
          <p:nvPr/>
        </p:nvSpPr>
        <p:spPr>
          <a:xfrm>
            <a:off x="4893469" y="4551127"/>
            <a:ext cx="242357" cy="135731"/>
          </a:xfrm>
          <a:prstGeom prst="rect">
            <a:avLst/>
          </a:prstGeom>
          <a:noFill/>
          <a:ln/>
        </p:spPr>
        <p:txBody>
          <a:bodyPr wrap="none" lIns="0" tIns="0" rIns="0" bIns="0" rtlCol="0" anchor="ctr">
            <a:spAutoFit/>
          </a:bodyPr>
          <a:lstStyle/>
          <a:p>
            <a:pPr marL="0" indent="0">
              <a:buNone/>
            </a:pPr>
            <a:r>
              <a:rPr lang="en-US" sz="732" dirty="0">
                <a:solidFill>
                  <a:srgbClr val="333333"/>
                </a:solidFill>
                <a:latin typeface="Noto Sans" pitchFamily="34" charset="0"/>
                <a:ea typeface="Noto Sans" pitchFamily="34" charset="-122"/>
                <a:cs typeface="Noto Sans" pitchFamily="34" charset="-120"/>
              </a:rPr>
              <a:t>thấp. </a:t>
            </a:r>
            <a:endParaRPr lang="en-US" sz="732"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710424"/>
          </a:xfrm>
          <a:prstGeom prst="rect">
            <a:avLst/>
          </a:prstGeom>
        </p:spPr>
      </p:pic>
      <p:sp>
        <p:nvSpPr>
          <p:cNvPr id="3" name="Text 0"/>
          <p:cNvSpPr/>
          <p:nvPr/>
        </p:nvSpPr>
        <p:spPr>
          <a:xfrm>
            <a:off x="571500" y="428625"/>
            <a:ext cx="8001000" cy="342900"/>
          </a:xfrm>
          <a:prstGeom prst="rect">
            <a:avLst/>
          </a:prstGeom>
          <a:noFill/>
          <a:ln/>
        </p:spPr>
        <p:txBody>
          <a:bodyPr wrap="none" lIns="0" tIns="0" rIns="0" bIns="0" rtlCol="0" anchor="ctr">
            <a:spAutoFit/>
          </a:bodyPr>
          <a:lstStyle/>
          <a:p>
            <a:pPr marL="0" indent="0">
              <a:buNone/>
            </a:pPr>
            <a:r>
              <a:rPr lang="en-US" sz="1800" b="1" dirty="0">
                <a:solidFill>
                  <a:srgbClr val="1F4788"/>
                </a:solidFill>
                <a:latin typeface="Noto Sans" pitchFamily="34" charset="0"/>
                <a:ea typeface="Noto Sans" pitchFamily="34" charset="-122"/>
                <a:cs typeface="Noto Sans" pitchFamily="34" charset="-120"/>
              </a:rPr>
              <a:t>Phân bố thể loại phim - MovieLens</a:t>
            </a:r>
            <a:endParaRPr lang="en-US" sz="1800" dirty="0"/>
          </a:p>
        </p:txBody>
      </p:sp>
      <p:pic>
        <p:nvPicPr>
          <p:cNvPr id="4" name="Image 1" descr="preencoded.png"/>
          <p:cNvPicPr>
            <a:picLocks noChangeAspect="1"/>
          </p:cNvPicPr>
          <p:nvPr/>
        </p:nvPicPr>
        <p:blipFill>
          <a:blip r:embed="rId4"/>
          <a:stretch>
            <a:fillRect/>
          </a:stretch>
        </p:blipFill>
        <p:spPr>
          <a:xfrm>
            <a:off x="571500" y="985838"/>
            <a:ext cx="4586288" cy="3571875"/>
          </a:xfrm>
          <a:prstGeom prst="rect">
            <a:avLst/>
          </a:prstGeom>
        </p:spPr>
      </p:pic>
      <p:sp>
        <p:nvSpPr>
          <p:cNvPr id="5" name="Text 1"/>
          <p:cNvSpPr/>
          <p:nvPr/>
        </p:nvSpPr>
        <p:spPr>
          <a:xfrm>
            <a:off x="5514975" y="985838"/>
            <a:ext cx="3057525" cy="214313"/>
          </a:xfrm>
          <a:prstGeom prst="rect">
            <a:avLst/>
          </a:prstGeom>
          <a:noFill/>
          <a:ln/>
        </p:spPr>
        <p:txBody>
          <a:bodyPr wrap="none" lIns="0" tIns="0" rIns="0" bIns="0" rtlCol="0" anchor="ctr">
            <a:spAutoFit/>
          </a:bodyPr>
          <a:lstStyle/>
          <a:p>
            <a:pPr marL="0" indent="0">
              <a:buNone/>
            </a:pPr>
            <a:r>
              <a:rPr lang="en-US" sz="1046" b="1" dirty="0">
                <a:solidFill>
                  <a:srgbClr val="4A90E2"/>
                </a:solidFill>
                <a:latin typeface="Noto Sans" pitchFamily="34" charset="0"/>
                <a:ea typeface="Noto Sans" pitchFamily="34" charset="-122"/>
                <a:cs typeface="Noto Sans" pitchFamily="34" charset="-120"/>
              </a:rPr>
              <a:t>Nhận xét chính</a:t>
            </a:r>
            <a:endParaRPr lang="en-US" sz="1046" dirty="0"/>
          </a:p>
        </p:txBody>
      </p:sp>
      <p:sp>
        <p:nvSpPr>
          <p:cNvPr id="6" name="Text 2"/>
          <p:cNvSpPr/>
          <p:nvPr/>
        </p:nvSpPr>
        <p:spPr>
          <a:xfrm>
            <a:off x="5693569" y="1368028"/>
            <a:ext cx="450363" cy="155377"/>
          </a:xfrm>
          <a:prstGeom prst="rect">
            <a:avLst/>
          </a:prstGeom>
          <a:noFill/>
          <a:ln/>
        </p:spPr>
        <p:txBody>
          <a:bodyPr wrap="non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 Thể loại </a:t>
            </a:r>
            <a:endParaRPr lang="en-US" sz="837" dirty="0"/>
          </a:p>
        </p:txBody>
      </p:sp>
      <p:sp>
        <p:nvSpPr>
          <p:cNvPr id="7" name="Text 3"/>
          <p:cNvSpPr/>
          <p:nvPr/>
        </p:nvSpPr>
        <p:spPr>
          <a:xfrm>
            <a:off x="6143932" y="1368028"/>
            <a:ext cx="384507" cy="155377"/>
          </a:xfrm>
          <a:prstGeom prst="rect">
            <a:avLst/>
          </a:prstGeom>
          <a:noFill/>
          <a:ln/>
        </p:spPr>
        <p:txBody>
          <a:bodyPr wrap="none" lIns="0" tIns="0" rIns="0" bIns="0" rtlCol="0" anchor="ctr">
            <a:spAutoFit/>
          </a:bodyPr>
          <a:lstStyle/>
          <a:p>
            <a:pPr marL="0" indent="0">
              <a:buNone/>
            </a:pPr>
            <a:r>
              <a:rPr lang="en-US" sz="837" b="1" dirty="0">
                <a:solidFill>
                  <a:srgbClr val="333333"/>
                </a:solidFill>
                <a:latin typeface="Noto Sans" pitchFamily="34" charset="0"/>
                <a:ea typeface="Noto Sans" pitchFamily="34" charset="-122"/>
                <a:cs typeface="Noto Sans" pitchFamily="34" charset="-120"/>
              </a:rPr>
              <a:t>Drama</a:t>
            </a:r>
            <a:endParaRPr lang="en-US" sz="837" dirty="0"/>
          </a:p>
        </p:txBody>
      </p:sp>
      <p:sp>
        <p:nvSpPr>
          <p:cNvPr id="8" name="Text 4"/>
          <p:cNvSpPr/>
          <p:nvPr/>
        </p:nvSpPr>
        <p:spPr>
          <a:xfrm>
            <a:off x="6528439" y="1368028"/>
            <a:ext cx="1887792" cy="155377"/>
          </a:xfrm>
          <a:prstGeom prst="rect">
            <a:avLst/>
          </a:prstGeom>
          <a:noFill/>
          <a:ln/>
        </p:spPr>
        <p:txBody>
          <a:bodyPr wrap="non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 (Chính kịch) là phổ biến nhất trong </a:t>
            </a:r>
            <a:endParaRPr lang="en-US" sz="837" dirty="0"/>
          </a:p>
        </p:txBody>
      </p:sp>
      <p:sp>
        <p:nvSpPr>
          <p:cNvPr id="9" name="Text 5"/>
          <p:cNvSpPr/>
          <p:nvPr/>
        </p:nvSpPr>
        <p:spPr>
          <a:xfrm>
            <a:off x="5693569" y="1573746"/>
            <a:ext cx="2664675" cy="155377"/>
          </a:xfrm>
          <a:prstGeom prst="rect">
            <a:avLst/>
          </a:prstGeom>
          <a:noFill/>
          <a:ln/>
        </p:spPr>
        <p:txBody>
          <a:bodyPr wrap="non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tập dữ liệu MovieLens 1M, cho thấy sự ưa chuộng </a:t>
            </a:r>
            <a:endParaRPr lang="en-US" sz="837" dirty="0"/>
          </a:p>
        </p:txBody>
      </p:sp>
      <p:sp>
        <p:nvSpPr>
          <p:cNvPr id="10" name="Text 6"/>
          <p:cNvSpPr/>
          <p:nvPr/>
        </p:nvSpPr>
        <p:spPr>
          <a:xfrm>
            <a:off x="5693569" y="1779463"/>
            <a:ext cx="2749507" cy="155377"/>
          </a:xfrm>
          <a:prstGeom prst="rect">
            <a:avLst/>
          </a:prstGeom>
          <a:noFill/>
          <a:ln/>
        </p:spPr>
        <p:txBody>
          <a:bodyPr wrap="non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của khán giả đối với các tác phẩm có chiều sâu cảm </a:t>
            </a:r>
            <a:endParaRPr lang="en-US" sz="837" dirty="0"/>
          </a:p>
        </p:txBody>
      </p:sp>
      <p:sp>
        <p:nvSpPr>
          <p:cNvPr id="11" name="Text 7"/>
          <p:cNvSpPr/>
          <p:nvPr/>
        </p:nvSpPr>
        <p:spPr>
          <a:xfrm>
            <a:off x="5693569" y="1985181"/>
            <a:ext cx="216601" cy="155377"/>
          </a:xfrm>
          <a:prstGeom prst="rect">
            <a:avLst/>
          </a:prstGeom>
          <a:noFill/>
          <a:ln/>
        </p:spPr>
        <p:txBody>
          <a:bodyPr wrap="non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xúc. </a:t>
            </a:r>
            <a:endParaRPr lang="en-US" sz="837" dirty="0"/>
          </a:p>
        </p:txBody>
      </p:sp>
      <p:sp>
        <p:nvSpPr>
          <p:cNvPr id="12" name="Text 8"/>
          <p:cNvSpPr/>
          <p:nvPr/>
        </p:nvSpPr>
        <p:spPr>
          <a:xfrm>
            <a:off x="5693569" y="2319486"/>
            <a:ext cx="460744" cy="155377"/>
          </a:xfrm>
          <a:prstGeom prst="rect">
            <a:avLst/>
          </a:prstGeom>
          <a:noFill/>
          <a:ln/>
        </p:spPr>
        <p:txBody>
          <a:bodyPr wrap="none" lIns="0" tIns="0" rIns="0" bIns="0" rtlCol="0" anchor="ctr">
            <a:spAutoFit/>
          </a:bodyPr>
          <a:lstStyle/>
          <a:p>
            <a:pPr marL="0" indent="0">
              <a:buNone/>
            </a:pPr>
            <a:r>
              <a:rPr lang="en-US" sz="837" b="1" dirty="0">
                <a:solidFill>
                  <a:srgbClr val="333333"/>
                </a:solidFill>
                <a:latin typeface="Noto Sans" pitchFamily="34" charset="0"/>
                <a:ea typeface="Noto Sans" pitchFamily="34" charset="-122"/>
                <a:cs typeface="Noto Sans" pitchFamily="34" charset="-120"/>
              </a:rPr>
              <a:t>Comedy</a:t>
            </a:r>
            <a:endParaRPr lang="en-US" sz="837" dirty="0"/>
          </a:p>
        </p:txBody>
      </p:sp>
      <p:sp>
        <p:nvSpPr>
          <p:cNvPr id="13" name="Text 9"/>
          <p:cNvSpPr/>
          <p:nvPr/>
        </p:nvSpPr>
        <p:spPr>
          <a:xfrm>
            <a:off x="6154313" y="2319486"/>
            <a:ext cx="458232" cy="155377"/>
          </a:xfrm>
          <a:prstGeom prst="rect">
            <a:avLst/>
          </a:prstGeom>
          <a:noFill/>
          <a:ln/>
        </p:spPr>
        <p:txBody>
          <a:bodyPr wrap="non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 (Hài) và </a:t>
            </a:r>
            <a:endParaRPr lang="en-US" sz="837" dirty="0"/>
          </a:p>
        </p:txBody>
      </p:sp>
      <p:sp>
        <p:nvSpPr>
          <p:cNvPr id="14" name="Text 10"/>
          <p:cNvSpPr/>
          <p:nvPr/>
        </p:nvSpPr>
        <p:spPr>
          <a:xfrm>
            <a:off x="6612545" y="2319486"/>
            <a:ext cx="367959" cy="155377"/>
          </a:xfrm>
          <a:prstGeom prst="rect">
            <a:avLst/>
          </a:prstGeom>
          <a:noFill/>
          <a:ln/>
        </p:spPr>
        <p:txBody>
          <a:bodyPr wrap="none" lIns="0" tIns="0" rIns="0" bIns="0" rtlCol="0" anchor="ctr">
            <a:spAutoFit/>
          </a:bodyPr>
          <a:lstStyle/>
          <a:p>
            <a:pPr marL="0" indent="0">
              <a:buNone/>
            </a:pPr>
            <a:r>
              <a:rPr lang="en-US" sz="837" b="1" dirty="0">
                <a:solidFill>
                  <a:srgbClr val="333333"/>
                </a:solidFill>
                <a:latin typeface="Noto Sans" pitchFamily="34" charset="0"/>
                <a:ea typeface="Noto Sans" pitchFamily="34" charset="-122"/>
                <a:cs typeface="Noto Sans" pitchFamily="34" charset="-120"/>
              </a:rPr>
              <a:t>Action</a:t>
            </a:r>
            <a:endParaRPr lang="en-US" sz="837" dirty="0"/>
          </a:p>
        </p:txBody>
      </p:sp>
      <p:sp>
        <p:nvSpPr>
          <p:cNvPr id="15" name="Text 11"/>
          <p:cNvSpPr/>
          <p:nvPr/>
        </p:nvSpPr>
        <p:spPr>
          <a:xfrm>
            <a:off x="6980504" y="2319486"/>
            <a:ext cx="1382009" cy="155377"/>
          </a:xfrm>
          <a:prstGeom prst="rect">
            <a:avLst/>
          </a:prstGeom>
          <a:noFill/>
          <a:ln/>
        </p:spPr>
        <p:txBody>
          <a:bodyPr wrap="non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 (Hành động) đứng ở vị trí </a:t>
            </a:r>
            <a:endParaRPr lang="en-US" sz="837" dirty="0"/>
          </a:p>
        </p:txBody>
      </p:sp>
      <p:sp>
        <p:nvSpPr>
          <p:cNvPr id="16" name="Text 12"/>
          <p:cNvSpPr/>
          <p:nvPr/>
        </p:nvSpPr>
        <p:spPr>
          <a:xfrm>
            <a:off x="5693569" y="2525204"/>
            <a:ext cx="2789969" cy="155377"/>
          </a:xfrm>
          <a:prstGeom prst="rect">
            <a:avLst/>
          </a:prstGeom>
          <a:noFill/>
          <a:ln/>
        </p:spPr>
        <p:txBody>
          <a:bodyPr wrap="non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thứ hai và thứ ba, phản ánh nhu cầu giải trí đa dạng </a:t>
            </a:r>
            <a:endParaRPr lang="en-US" sz="837" dirty="0"/>
          </a:p>
        </p:txBody>
      </p:sp>
      <p:sp>
        <p:nvSpPr>
          <p:cNvPr id="17" name="Text 13"/>
          <p:cNvSpPr/>
          <p:nvPr/>
        </p:nvSpPr>
        <p:spPr>
          <a:xfrm>
            <a:off x="5693569" y="2730922"/>
            <a:ext cx="827084" cy="155377"/>
          </a:xfrm>
          <a:prstGeom prst="rect">
            <a:avLst/>
          </a:prstGeom>
          <a:noFill/>
          <a:ln/>
        </p:spPr>
        <p:txBody>
          <a:bodyPr wrap="non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của người xem. </a:t>
            </a:r>
            <a:endParaRPr lang="en-US" sz="837" dirty="0"/>
          </a:p>
        </p:txBody>
      </p:sp>
      <p:sp>
        <p:nvSpPr>
          <p:cNvPr id="18" name="Text 14"/>
          <p:cNvSpPr/>
          <p:nvPr/>
        </p:nvSpPr>
        <p:spPr>
          <a:xfrm>
            <a:off x="5693569" y="3065227"/>
            <a:ext cx="897043" cy="155377"/>
          </a:xfrm>
          <a:prstGeom prst="rect">
            <a:avLst/>
          </a:prstGeom>
          <a:noFill/>
          <a:ln/>
        </p:spPr>
        <p:txBody>
          <a:bodyPr wrap="non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 Các thể loại như </a:t>
            </a:r>
            <a:endParaRPr lang="en-US" sz="837" dirty="0"/>
          </a:p>
        </p:txBody>
      </p:sp>
      <p:sp>
        <p:nvSpPr>
          <p:cNvPr id="19" name="Text 15"/>
          <p:cNvSpPr/>
          <p:nvPr/>
        </p:nvSpPr>
        <p:spPr>
          <a:xfrm>
            <a:off x="6590612" y="3065227"/>
            <a:ext cx="417212" cy="155377"/>
          </a:xfrm>
          <a:prstGeom prst="rect">
            <a:avLst/>
          </a:prstGeom>
          <a:noFill/>
          <a:ln/>
        </p:spPr>
        <p:txBody>
          <a:bodyPr wrap="none" lIns="0" tIns="0" rIns="0" bIns="0" rtlCol="0" anchor="ctr">
            <a:spAutoFit/>
          </a:bodyPr>
          <a:lstStyle/>
          <a:p>
            <a:pPr marL="0" indent="0">
              <a:buNone/>
            </a:pPr>
            <a:r>
              <a:rPr lang="en-US" sz="837" b="1" dirty="0">
                <a:solidFill>
                  <a:srgbClr val="333333"/>
                </a:solidFill>
                <a:latin typeface="Noto Sans" pitchFamily="34" charset="0"/>
                <a:ea typeface="Noto Sans" pitchFamily="34" charset="-122"/>
                <a:cs typeface="Noto Sans" pitchFamily="34" charset="-120"/>
              </a:rPr>
              <a:t>Thriller</a:t>
            </a:r>
            <a:endParaRPr lang="en-US" sz="837" dirty="0"/>
          </a:p>
        </p:txBody>
      </p:sp>
      <p:sp>
        <p:nvSpPr>
          <p:cNvPr id="20" name="Text 16"/>
          <p:cNvSpPr/>
          <p:nvPr/>
        </p:nvSpPr>
        <p:spPr>
          <a:xfrm>
            <a:off x="7007823" y="3065227"/>
            <a:ext cx="60359" cy="155377"/>
          </a:xfrm>
          <a:prstGeom prst="rect">
            <a:avLst/>
          </a:prstGeom>
          <a:noFill/>
          <a:ln/>
        </p:spPr>
        <p:txBody>
          <a:bodyPr wrap="non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 </a:t>
            </a:r>
            <a:endParaRPr lang="en-US" sz="837" dirty="0"/>
          </a:p>
        </p:txBody>
      </p:sp>
      <p:sp>
        <p:nvSpPr>
          <p:cNvPr id="21" name="Text 17"/>
          <p:cNvSpPr/>
          <p:nvPr/>
        </p:nvSpPr>
        <p:spPr>
          <a:xfrm>
            <a:off x="7068183" y="3065227"/>
            <a:ext cx="291024" cy="155377"/>
          </a:xfrm>
          <a:prstGeom prst="rect">
            <a:avLst/>
          </a:prstGeom>
          <a:noFill/>
          <a:ln/>
        </p:spPr>
        <p:txBody>
          <a:bodyPr wrap="none" lIns="0" tIns="0" rIns="0" bIns="0" rtlCol="0" anchor="ctr">
            <a:spAutoFit/>
          </a:bodyPr>
          <a:lstStyle/>
          <a:p>
            <a:pPr marL="0" indent="0">
              <a:buNone/>
            </a:pPr>
            <a:r>
              <a:rPr lang="en-US" sz="837" b="1" dirty="0">
                <a:solidFill>
                  <a:srgbClr val="333333"/>
                </a:solidFill>
                <a:latin typeface="Noto Sans" pitchFamily="34" charset="0"/>
                <a:ea typeface="Noto Sans" pitchFamily="34" charset="-122"/>
                <a:cs typeface="Noto Sans" pitchFamily="34" charset="-120"/>
              </a:rPr>
              <a:t>Sci-Fi</a:t>
            </a:r>
            <a:endParaRPr lang="en-US" sz="837" dirty="0"/>
          </a:p>
        </p:txBody>
      </p:sp>
      <p:sp>
        <p:nvSpPr>
          <p:cNvPr id="22" name="Text 18"/>
          <p:cNvSpPr/>
          <p:nvPr/>
        </p:nvSpPr>
        <p:spPr>
          <a:xfrm>
            <a:off x="7359207" y="3065227"/>
            <a:ext cx="212275" cy="155377"/>
          </a:xfrm>
          <a:prstGeom prst="rect">
            <a:avLst/>
          </a:prstGeom>
          <a:noFill/>
          <a:ln/>
        </p:spPr>
        <p:txBody>
          <a:bodyPr wrap="non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 và </a:t>
            </a:r>
            <a:endParaRPr lang="en-US" sz="837" dirty="0"/>
          </a:p>
        </p:txBody>
      </p:sp>
      <p:sp>
        <p:nvSpPr>
          <p:cNvPr id="23" name="Text 19"/>
          <p:cNvSpPr/>
          <p:nvPr/>
        </p:nvSpPr>
        <p:spPr>
          <a:xfrm>
            <a:off x="7571482" y="3065227"/>
            <a:ext cx="528889" cy="155377"/>
          </a:xfrm>
          <a:prstGeom prst="rect">
            <a:avLst/>
          </a:prstGeom>
          <a:noFill/>
          <a:ln/>
        </p:spPr>
        <p:txBody>
          <a:bodyPr wrap="none" lIns="0" tIns="0" rIns="0" bIns="0" rtlCol="0" anchor="ctr">
            <a:spAutoFit/>
          </a:bodyPr>
          <a:lstStyle/>
          <a:p>
            <a:pPr marL="0" indent="0">
              <a:buNone/>
            </a:pPr>
            <a:r>
              <a:rPr lang="en-US" sz="837" b="1" dirty="0">
                <a:solidFill>
                  <a:srgbClr val="333333"/>
                </a:solidFill>
                <a:latin typeface="Noto Sans" pitchFamily="34" charset="0"/>
                <a:ea typeface="Noto Sans" pitchFamily="34" charset="-122"/>
                <a:cs typeface="Noto Sans" pitchFamily="34" charset="-120"/>
              </a:rPr>
              <a:t>Romance</a:t>
            </a:r>
            <a:endParaRPr lang="en-US" sz="837" dirty="0"/>
          </a:p>
        </p:txBody>
      </p:sp>
      <p:sp>
        <p:nvSpPr>
          <p:cNvPr id="24" name="Text 20"/>
          <p:cNvSpPr/>
          <p:nvPr/>
        </p:nvSpPr>
        <p:spPr>
          <a:xfrm>
            <a:off x="8100371" y="3065227"/>
            <a:ext cx="449889" cy="155377"/>
          </a:xfrm>
          <a:prstGeom prst="rect">
            <a:avLst/>
          </a:prstGeom>
          <a:noFill/>
          <a:ln/>
        </p:spPr>
        <p:txBody>
          <a:bodyPr wrap="non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 cũng có </a:t>
            </a:r>
            <a:endParaRPr lang="en-US" sz="837" dirty="0"/>
          </a:p>
        </p:txBody>
      </p:sp>
      <p:sp>
        <p:nvSpPr>
          <p:cNvPr id="25" name="Text 21"/>
          <p:cNvSpPr/>
          <p:nvPr/>
        </p:nvSpPr>
        <p:spPr>
          <a:xfrm>
            <a:off x="5693569" y="3270945"/>
            <a:ext cx="2869053" cy="155377"/>
          </a:xfrm>
          <a:prstGeom prst="rect">
            <a:avLst/>
          </a:prstGeom>
          <a:noFill/>
          <a:ln/>
        </p:spPr>
        <p:txBody>
          <a:bodyPr wrap="non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số lượng đáng kể, cho thấy sự quan tâm của khán giả </a:t>
            </a:r>
            <a:endParaRPr lang="en-US" sz="837" dirty="0"/>
          </a:p>
        </p:txBody>
      </p:sp>
      <p:sp>
        <p:nvSpPr>
          <p:cNvPr id="26" name="Text 22"/>
          <p:cNvSpPr/>
          <p:nvPr/>
        </p:nvSpPr>
        <p:spPr>
          <a:xfrm>
            <a:off x="5693569" y="3476662"/>
            <a:ext cx="2302241" cy="155377"/>
          </a:xfrm>
          <a:prstGeom prst="rect">
            <a:avLst/>
          </a:prstGeom>
          <a:noFill/>
          <a:ln/>
        </p:spPr>
        <p:txBody>
          <a:bodyPr wrap="non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đối với nhiều loại hình điện ảnh khác nhau. </a:t>
            </a:r>
            <a:endParaRPr lang="en-US" sz="837" dirty="0"/>
          </a:p>
        </p:txBody>
      </p:sp>
      <p:sp>
        <p:nvSpPr>
          <p:cNvPr id="27" name="Text 23"/>
          <p:cNvSpPr/>
          <p:nvPr/>
        </p:nvSpPr>
        <p:spPr>
          <a:xfrm>
            <a:off x="5514975" y="3785964"/>
            <a:ext cx="3057525" cy="617153"/>
          </a:xfrm>
          <a:prstGeom prst="rect">
            <a:avLst/>
          </a:prstGeom>
          <a:noFill/>
          <a:ln/>
        </p:spPr>
        <p:txBody>
          <a:bodyPr wrap="square" lIns="212598"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 Sự đa dạng trong phân bố thể loại cho thấy tập dữ liệu MovieLens 1M bao quát rộng các sở thích xem phim của người dùng. </a:t>
            </a:r>
            <a:endParaRPr lang="en-US" sz="837" dirty="0"/>
          </a:p>
        </p:txBody>
      </p:sp>
      <p:sp>
        <p:nvSpPr>
          <p:cNvPr id="28" name="Shape 24"/>
          <p:cNvSpPr/>
          <p:nvPr/>
        </p:nvSpPr>
        <p:spPr>
          <a:xfrm>
            <a:off x="5514975" y="4581711"/>
            <a:ext cx="1475184" cy="700088"/>
          </a:xfrm>
          <a:prstGeom prst="rect">
            <a:avLst/>
          </a:prstGeom>
          <a:solidFill>
            <a:srgbClr val="F5F9FC"/>
          </a:solidFill>
          <a:ln/>
        </p:spPr>
        <p:txBody>
          <a:bodyPr/>
          <a:lstStyle/>
          <a:p>
            <a:endParaRPr lang="en-US"/>
          </a:p>
        </p:txBody>
      </p:sp>
      <p:sp>
        <p:nvSpPr>
          <p:cNvPr id="29" name="Text 25"/>
          <p:cNvSpPr/>
          <p:nvPr/>
        </p:nvSpPr>
        <p:spPr>
          <a:xfrm>
            <a:off x="5622131" y="4688867"/>
            <a:ext cx="1260872" cy="300038"/>
          </a:xfrm>
          <a:prstGeom prst="rect">
            <a:avLst/>
          </a:prstGeom>
          <a:noFill/>
          <a:ln/>
        </p:spPr>
        <p:txBody>
          <a:bodyPr wrap="none" lIns="0" tIns="0" rIns="0" bIns="0" rtlCol="0" anchor="ctr">
            <a:spAutoFit/>
          </a:bodyPr>
          <a:lstStyle/>
          <a:p>
            <a:pPr marL="0" indent="0" algn="ctr">
              <a:buNone/>
            </a:pPr>
            <a:r>
              <a:rPr lang="en-US" sz="1575" b="1" dirty="0">
                <a:solidFill>
                  <a:srgbClr val="1F4788"/>
                </a:solidFill>
                <a:latin typeface="Noto Sans" pitchFamily="34" charset="0"/>
                <a:ea typeface="Noto Sans" pitchFamily="34" charset="-122"/>
                <a:cs typeface="Noto Sans" pitchFamily="34" charset="-120"/>
              </a:rPr>
              <a:t>3,706</a:t>
            </a:r>
            <a:endParaRPr lang="en-US" sz="1575" dirty="0"/>
          </a:p>
        </p:txBody>
      </p:sp>
      <p:sp>
        <p:nvSpPr>
          <p:cNvPr id="30" name="Text 26"/>
          <p:cNvSpPr/>
          <p:nvPr/>
        </p:nvSpPr>
        <p:spPr>
          <a:xfrm>
            <a:off x="5622131" y="5024624"/>
            <a:ext cx="1260872" cy="150019"/>
          </a:xfrm>
          <a:prstGeom prst="rect">
            <a:avLst/>
          </a:prstGeom>
          <a:noFill/>
          <a:ln/>
        </p:spPr>
        <p:txBody>
          <a:bodyPr wrap="none" lIns="0" tIns="0" rIns="0" bIns="0" rtlCol="0" anchor="ctr">
            <a:spAutoFit/>
          </a:bodyPr>
          <a:lstStyle/>
          <a:p>
            <a:pPr marL="0" indent="0" algn="ctr">
              <a:buNone/>
            </a:pPr>
            <a:r>
              <a:rPr lang="en-US" sz="732" dirty="0">
                <a:solidFill>
                  <a:srgbClr val="666666"/>
                </a:solidFill>
                <a:latin typeface="Noto Sans" pitchFamily="34" charset="0"/>
                <a:ea typeface="Noto Sans" pitchFamily="34" charset="-122"/>
                <a:cs typeface="Noto Sans" pitchFamily="34" charset="-120"/>
              </a:rPr>
              <a:t>Tổng số phim</a:t>
            </a:r>
            <a:endParaRPr lang="en-US" sz="732" dirty="0"/>
          </a:p>
        </p:txBody>
      </p:sp>
      <p:sp>
        <p:nvSpPr>
          <p:cNvPr id="31" name="Shape 27"/>
          <p:cNvSpPr/>
          <p:nvPr/>
        </p:nvSpPr>
        <p:spPr>
          <a:xfrm>
            <a:off x="7097316" y="4581711"/>
            <a:ext cx="1475184" cy="700088"/>
          </a:xfrm>
          <a:prstGeom prst="rect">
            <a:avLst/>
          </a:prstGeom>
          <a:solidFill>
            <a:srgbClr val="F5F9FC"/>
          </a:solidFill>
          <a:ln/>
        </p:spPr>
        <p:txBody>
          <a:bodyPr/>
          <a:lstStyle/>
          <a:p>
            <a:endParaRPr lang="en-US"/>
          </a:p>
        </p:txBody>
      </p:sp>
      <p:sp>
        <p:nvSpPr>
          <p:cNvPr id="32" name="Text 28"/>
          <p:cNvSpPr/>
          <p:nvPr/>
        </p:nvSpPr>
        <p:spPr>
          <a:xfrm>
            <a:off x="7204472" y="4688867"/>
            <a:ext cx="1260872" cy="300038"/>
          </a:xfrm>
          <a:prstGeom prst="rect">
            <a:avLst/>
          </a:prstGeom>
          <a:noFill/>
          <a:ln/>
        </p:spPr>
        <p:txBody>
          <a:bodyPr wrap="none" lIns="0" tIns="0" rIns="0" bIns="0" rtlCol="0" anchor="ctr">
            <a:spAutoFit/>
          </a:bodyPr>
          <a:lstStyle/>
          <a:p>
            <a:pPr marL="0" indent="0" algn="ctr">
              <a:buNone/>
            </a:pPr>
            <a:r>
              <a:rPr lang="en-US" sz="1575" b="1" dirty="0">
                <a:solidFill>
                  <a:srgbClr val="1F4788"/>
                </a:solidFill>
                <a:latin typeface="Noto Sans" pitchFamily="34" charset="0"/>
                <a:ea typeface="Noto Sans" pitchFamily="34" charset="-122"/>
                <a:cs typeface="Noto Sans" pitchFamily="34" charset="-120"/>
              </a:rPr>
              <a:t>18</a:t>
            </a:r>
            <a:endParaRPr lang="en-US" sz="1575" dirty="0"/>
          </a:p>
        </p:txBody>
      </p:sp>
      <p:sp>
        <p:nvSpPr>
          <p:cNvPr id="33" name="Text 29"/>
          <p:cNvSpPr/>
          <p:nvPr/>
        </p:nvSpPr>
        <p:spPr>
          <a:xfrm>
            <a:off x="7204472" y="5024624"/>
            <a:ext cx="1260872" cy="150019"/>
          </a:xfrm>
          <a:prstGeom prst="rect">
            <a:avLst/>
          </a:prstGeom>
          <a:noFill/>
          <a:ln/>
        </p:spPr>
        <p:txBody>
          <a:bodyPr wrap="none" lIns="0" tIns="0" rIns="0" bIns="0" rtlCol="0" anchor="ctr">
            <a:spAutoFit/>
          </a:bodyPr>
          <a:lstStyle/>
          <a:p>
            <a:pPr marL="0" indent="0" algn="ctr">
              <a:buNone/>
            </a:pPr>
            <a:r>
              <a:rPr lang="en-US" sz="732" dirty="0">
                <a:solidFill>
                  <a:srgbClr val="666666"/>
                </a:solidFill>
                <a:latin typeface="Noto Sans" pitchFamily="34" charset="0"/>
                <a:ea typeface="Noto Sans" pitchFamily="34" charset="-122"/>
                <a:cs typeface="Noto Sans" pitchFamily="34" charset="-120"/>
              </a:rPr>
              <a:t>Thể loại khác nhau</a:t>
            </a:r>
            <a:endParaRPr lang="en-US" sz="732"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8001000" cy="342900"/>
          </a:xfrm>
          <a:prstGeom prst="rect">
            <a:avLst/>
          </a:prstGeom>
          <a:noFill/>
          <a:ln/>
        </p:spPr>
        <p:txBody>
          <a:bodyPr wrap="none" lIns="0" tIns="0" rIns="0" bIns="0" rtlCol="0" anchor="ctr">
            <a:spAutoFit/>
          </a:bodyPr>
          <a:lstStyle/>
          <a:p>
            <a:pPr marL="0" indent="0">
              <a:buNone/>
            </a:pPr>
            <a:r>
              <a:rPr lang="en-US" sz="1800" b="1" dirty="0">
                <a:solidFill>
                  <a:srgbClr val="1E3A8A"/>
                </a:solidFill>
                <a:latin typeface="Inter" pitchFamily="34" charset="0"/>
                <a:ea typeface="Inter" pitchFamily="34" charset="-122"/>
                <a:cs typeface="Inter" pitchFamily="34" charset="-120"/>
              </a:rPr>
              <a:t>Phân tích Tên Trẻ em: Tổng số ca sinh</a:t>
            </a:r>
            <a:endParaRPr lang="en-US" sz="1800" dirty="0"/>
          </a:p>
        </p:txBody>
      </p:sp>
      <p:sp>
        <p:nvSpPr>
          <p:cNvPr id="4" name="Text 1"/>
          <p:cNvSpPr/>
          <p:nvPr/>
        </p:nvSpPr>
        <p:spPr>
          <a:xfrm>
            <a:off x="571500" y="2106709"/>
            <a:ext cx="3086100" cy="214313"/>
          </a:xfrm>
          <a:prstGeom prst="rect">
            <a:avLst/>
          </a:prstGeom>
          <a:noFill/>
          <a:ln/>
        </p:spPr>
        <p:txBody>
          <a:bodyPr wrap="none" lIns="0" tIns="0" rIns="0" bIns="0" rtlCol="0" anchor="ctr">
            <a:spAutoFit/>
          </a:bodyPr>
          <a:lstStyle/>
          <a:p>
            <a:pPr marL="0" indent="0">
              <a:buNone/>
            </a:pPr>
            <a:r>
              <a:rPr lang="en-US" sz="1046" b="1" dirty="0">
                <a:solidFill>
                  <a:srgbClr val="3B82F6"/>
                </a:solidFill>
                <a:latin typeface="Inter" pitchFamily="34" charset="0"/>
                <a:ea typeface="Inter" pitchFamily="34" charset="-122"/>
                <a:cs typeface="Inter" pitchFamily="34" charset="-120"/>
              </a:rPr>
              <a:t>Nhận xét</a:t>
            </a:r>
            <a:endParaRPr lang="en-US" sz="1046" dirty="0"/>
          </a:p>
        </p:txBody>
      </p:sp>
      <p:sp>
        <p:nvSpPr>
          <p:cNvPr id="5" name="Text 2"/>
          <p:cNvSpPr/>
          <p:nvPr/>
        </p:nvSpPr>
        <p:spPr>
          <a:xfrm>
            <a:off x="571500" y="2428177"/>
            <a:ext cx="3086100" cy="1165827"/>
          </a:xfrm>
          <a:prstGeom prst="rect">
            <a:avLst/>
          </a:prstGeom>
          <a:noFill/>
          <a:ln/>
        </p:spPr>
        <p:txBody>
          <a:bodyPr wrap="squar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 Tổng số ca sinh tăng đều đặn theo thời gian từ năm 1880 đến 2010, với một số biến động nhỏ. Số lượng bé trai sinh ra luôn cao hơn một chút so với bé gái trong suốt giai đoạn này, một xu hướng sinh học phổ biến trên toàn cầu. Biểu đồ cho thấy sự tăng trưởng dân số ổn định và xu hướng sinh nở qua các thế hệ. </a:t>
            </a:r>
            <a:endParaRPr lang="en-US" sz="837" dirty="0"/>
          </a:p>
        </p:txBody>
      </p:sp>
      <p:pic>
        <p:nvPicPr>
          <p:cNvPr id="6" name="Image 1" descr="preencoded.png"/>
          <p:cNvPicPr>
            <a:picLocks noChangeAspect="1"/>
          </p:cNvPicPr>
          <p:nvPr/>
        </p:nvPicPr>
        <p:blipFill>
          <a:blip r:embed="rId4"/>
          <a:stretch>
            <a:fillRect/>
          </a:stretch>
        </p:blipFill>
        <p:spPr>
          <a:xfrm>
            <a:off x="3943350" y="985838"/>
            <a:ext cx="4629150" cy="3429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8001000" cy="342900"/>
          </a:xfrm>
          <a:prstGeom prst="rect">
            <a:avLst/>
          </a:prstGeom>
          <a:noFill/>
          <a:ln/>
        </p:spPr>
        <p:txBody>
          <a:bodyPr wrap="none" lIns="0" tIns="0" rIns="0" bIns="0" rtlCol="0" anchor="ctr">
            <a:spAutoFit/>
          </a:bodyPr>
          <a:lstStyle/>
          <a:p>
            <a:pPr marL="0" indent="0">
              <a:buNone/>
            </a:pPr>
            <a:r>
              <a:rPr lang="en-US" sz="1800" b="1" dirty="0">
                <a:solidFill>
                  <a:srgbClr val="1E3A8A"/>
                </a:solidFill>
                <a:latin typeface="Inter" pitchFamily="34" charset="0"/>
                <a:ea typeface="Inter" pitchFamily="34" charset="-122"/>
                <a:cs typeface="Inter" pitchFamily="34" charset="-120"/>
              </a:rPr>
              <a:t>Phân tích Tên Trẻ em: Xu hướng Tên cụ thể</a:t>
            </a:r>
            <a:endParaRPr lang="en-US" sz="1800" dirty="0"/>
          </a:p>
        </p:txBody>
      </p:sp>
      <p:pic>
        <p:nvPicPr>
          <p:cNvPr id="4" name="Image 1" descr="preencoded.png"/>
          <p:cNvPicPr>
            <a:picLocks noChangeAspect="1"/>
          </p:cNvPicPr>
          <p:nvPr/>
        </p:nvPicPr>
        <p:blipFill>
          <a:blip r:embed="rId4"/>
          <a:stretch>
            <a:fillRect/>
          </a:stretch>
        </p:blipFill>
        <p:spPr>
          <a:xfrm>
            <a:off x="571500" y="985838"/>
            <a:ext cx="4629150" cy="3429000"/>
          </a:xfrm>
          <a:prstGeom prst="rect">
            <a:avLst/>
          </a:prstGeom>
        </p:spPr>
      </p:pic>
      <p:sp>
        <p:nvSpPr>
          <p:cNvPr id="5" name="Text 1"/>
          <p:cNvSpPr/>
          <p:nvPr/>
        </p:nvSpPr>
        <p:spPr>
          <a:xfrm>
            <a:off x="5486400" y="2009542"/>
            <a:ext cx="3086100" cy="214313"/>
          </a:xfrm>
          <a:prstGeom prst="rect">
            <a:avLst/>
          </a:prstGeom>
          <a:noFill/>
          <a:ln/>
        </p:spPr>
        <p:txBody>
          <a:bodyPr wrap="none" lIns="0" tIns="0" rIns="0" bIns="0" rtlCol="0" anchor="ctr">
            <a:spAutoFit/>
          </a:bodyPr>
          <a:lstStyle/>
          <a:p>
            <a:pPr marL="0" indent="0">
              <a:buNone/>
            </a:pPr>
            <a:r>
              <a:rPr lang="en-US" sz="1046" b="1" dirty="0">
                <a:solidFill>
                  <a:srgbClr val="3B82F6"/>
                </a:solidFill>
                <a:latin typeface="Inter" pitchFamily="34" charset="0"/>
                <a:ea typeface="Inter" pitchFamily="34" charset="-122"/>
                <a:cs typeface="Inter" pitchFamily="34" charset="-120"/>
              </a:rPr>
              <a:t>Nhận xét</a:t>
            </a:r>
            <a:endParaRPr lang="en-US" sz="1046" dirty="0"/>
          </a:p>
        </p:txBody>
      </p:sp>
      <p:sp>
        <p:nvSpPr>
          <p:cNvPr id="6" name="Text 2"/>
          <p:cNvSpPr/>
          <p:nvPr/>
        </p:nvSpPr>
        <p:spPr>
          <a:xfrm>
            <a:off x="5486400" y="2357800"/>
            <a:ext cx="230386"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 Tên </a:t>
            </a:r>
            <a:endParaRPr lang="en-US" sz="837" dirty="0"/>
          </a:p>
        </p:txBody>
      </p:sp>
      <p:sp>
        <p:nvSpPr>
          <p:cNvPr id="7" name="Text 3"/>
          <p:cNvSpPr/>
          <p:nvPr/>
        </p:nvSpPr>
        <p:spPr>
          <a:xfrm>
            <a:off x="5716786" y="2357800"/>
            <a:ext cx="278606" cy="137517"/>
          </a:xfrm>
          <a:prstGeom prst="rect">
            <a:avLst/>
          </a:prstGeom>
          <a:noFill/>
          <a:ln/>
        </p:spPr>
        <p:txBody>
          <a:bodyPr wrap="none" lIns="0" tIns="0" rIns="0" bIns="0" rtlCol="0" anchor="ctr">
            <a:spAutoFit/>
          </a:bodyPr>
          <a:lstStyle/>
          <a:p>
            <a:pPr marL="0" indent="0">
              <a:buNone/>
            </a:pPr>
            <a:r>
              <a:rPr lang="en-US" sz="837" b="1" dirty="0">
                <a:solidFill>
                  <a:srgbClr val="374151"/>
                </a:solidFill>
                <a:latin typeface="Inter" pitchFamily="34" charset="0"/>
                <a:ea typeface="Inter" pitchFamily="34" charset="-122"/>
                <a:cs typeface="Inter" pitchFamily="34" charset="-120"/>
              </a:rPr>
              <a:t>John</a:t>
            </a:r>
            <a:endParaRPr lang="en-US" sz="837" dirty="0"/>
          </a:p>
        </p:txBody>
      </p:sp>
      <p:sp>
        <p:nvSpPr>
          <p:cNvPr id="8" name="Text 4"/>
          <p:cNvSpPr/>
          <p:nvPr/>
        </p:nvSpPr>
        <p:spPr>
          <a:xfrm>
            <a:off x="5995392" y="2357800"/>
            <a:ext cx="192881"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 và </a:t>
            </a:r>
            <a:endParaRPr lang="en-US" sz="837" dirty="0"/>
          </a:p>
        </p:txBody>
      </p:sp>
      <p:sp>
        <p:nvSpPr>
          <p:cNvPr id="9" name="Text 5"/>
          <p:cNvSpPr/>
          <p:nvPr/>
        </p:nvSpPr>
        <p:spPr>
          <a:xfrm>
            <a:off x="6188273" y="2357800"/>
            <a:ext cx="291108" cy="137517"/>
          </a:xfrm>
          <a:prstGeom prst="rect">
            <a:avLst/>
          </a:prstGeom>
          <a:noFill/>
          <a:ln/>
        </p:spPr>
        <p:txBody>
          <a:bodyPr wrap="none" lIns="0" tIns="0" rIns="0" bIns="0" rtlCol="0" anchor="ctr">
            <a:spAutoFit/>
          </a:bodyPr>
          <a:lstStyle/>
          <a:p>
            <a:pPr marL="0" indent="0">
              <a:buNone/>
            </a:pPr>
            <a:r>
              <a:rPr lang="en-US" sz="837" b="1" dirty="0">
                <a:solidFill>
                  <a:srgbClr val="374151"/>
                </a:solidFill>
                <a:latin typeface="Inter" pitchFamily="34" charset="0"/>
                <a:ea typeface="Inter" pitchFamily="34" charset="-122"/>
                <a:cs typeface="Inter" pitchFamily="34" charset="-120"/>
              </a:rPr>
              <a:t>Mary</a:t>
            </a:r>
            <a:endParaRPr lang="en-US" sz="837" dirty="0"/>
          </a:p>
        </p:txBody>
      </p:sp>
      <p:sp>
        <p:nvSpPr>
          <p:cNvPr id="10" name="Text 6"/>
          <p:cNvSpPr/>
          <p:nvPr/>
        </p:nvSpPr>
        <p:spPr>
          <a:xfrm>
            <a:off x="6479381" y="2357800"/>
            <a:ext cx="2091333"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 cho thấy sự phổ biến cao trong những </a:t>
            </a:r>
            <a:endParaRPr lang="en-US" sz="837" dirty="0"/>
          </a:p>
        </p:txBody>
      </p:sp>
      <p:sp>
        <p:nvSpPr>
          <p:cNvPr id="11" name="Text 7"/>
          <p:cNvSpPr/>
          <p:nvPr/>
        </p:nvSpPr>
        <p:spPr>
          <a:xfrm>
            <a:off x="5486400" y="2552105"/>
            <a:ext cx="2346722"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năm đầu của thế kỷ 20 và dần giảm đi. Tên </a:t>
            </a:r>
            <a:endParaRPr lang="en-US" sz="837" dirty="0"/>
          </a:p>
        </p:txBody>
      </p:sp>
      <p:sp>
        <p:nvSpPr>
          <p:cNvPr id="12" name="Text 8"/>
          <p:cNvSpPr/>
          <p:nvPr/>
        </p:nvSpPr>
        <p:spPr>
          <a:xfrm>
            <a:off x="7833122" y="2552105"/>
            <a:ext cx="316111" cy="137517"/>
          </a:xfrm>
          <a:prstGeom prst="rect">
            <a:avLst/>
          </a:prstGeom>
          <a:noFill/>
          <a:ln/>
        </p:spPr>
        <p:txBody>
          <a:bodyPr wrap="none" lIns="0" tIns="0" rIns="0" bIns="0" rtlCol="0" anchor="ctr">
            <a:spAutoFit/>
          </a:bodyPr>
          <a:lstStyle/>
          <a:p>
            <a:pPr marL="0" indent="0">
              <a:buNone/>
            </a:pPr>
            <a:r>
              <a:rPr lang="en-US" sz="837" b="1" dirty="0">
                <a:solidFill>
                  <a:srgbClr val="374151"/>
                </a:solidFill>
                <a:latin typeface="Inter" pitchFamily="34" charset="0"/>
                <a:ea typeface="Inter" pitchFamily="34" charset="-122"/>
                <a:cs typeface="Inter" pitchFamily="34" charset="-120"/>
              </a:rPr>
              <a:t>Harry</a:t>
            </a:r>
            <a:endParaRPr lang="en-US" sz="837" dirty="0"/>
          </a:p>
        </p:txBody>
      </p:sp>
      <p:sp>
        <p:nvSpPr>
          <p:cNvPr id="13" name="Text 9"/>
          <p:cNvSpPr/>
          <p:nvPr/>
        </p:nvSpPr>
        <p:spPr>
          <a:xfrm>
            <a:off x="8149233" y="2552105"/>
            <a:ext cx="330398"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 có sự </a:t>
            </a:r>
            <a:endParaRPr lang="en-US" sz="837" dirty="0"/>
          </a:p>
        </p:txBody>
      </p:sp>
      <p:sp>
        <p:nvSpPr>
          <p:cNvPr id="14" name="Text 10"/>
          <p:cNvSpPr/>
          <p:nvPr/>
        </p:nvSpPr>
        <p:spPr>
          <a:xfrm>
            <a:off x="5486400" y="2746409"/>
            <a:ext cx="2900363"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biến động nhưng duy trì ở mức tương đối ổn định. Tên </a:t>
            </a:r>
            <a:endParaRPr lang="en-US" sz="837" dirty="0"/>
          </a:p>
        </p:txBody>
      </p:sp>
      <p:sp>
        <p:nvSpPr>
          <p:cNvPr id="15" name="Text 11"/>
          <p:cNvSpPr/>
          <p:nvPr/>
        </p:nvSpPr>
        <p:spPr>
          <a:xfrm>
            <a:off x="5486400" y="2940714"/>
            <a:ext cx="423267" cy="137517"/>
          </a:xfrm>
          <a:prstGeom prst="rect">
            <a:avLst/>
          </a:prstGeom>
          <a:noFill/>
          <a:ln/>
        </p:spPr>
        <p:txBody>
          <a:bodyPr wrap="none" lIns="0" tIns="0" rIns="0" bIns="0" rtlCol="0" anchor="ctr">
            <a:spAutoFit/>
          </a:bodyPr>
          <a:lstStyle/>
          <a:p>
            <a:pPr marL="0" indent="0">
              <a:buNone/>
            </a:pPr>
            <a:r>
              <a:rPr lang="en-US" sz="837" b="1" dirty="0">
                <a:solidFill>
                  <a:srgbClr val="374151"/>
                </a:solidFill>
                <a:latin typeface="Inter" pitchFamily="34" charset="0"/>
                <a:ea typeface="Inter" pitchFamily="34" charset="-122"/>
                <a:cs typeface="Inter" pitchFamily="34" charset="-120"/>
              </a:rPr>
              <a:t>Marilyn</a:t>
            </a:r>
            <a:endParaRPr lang="en-US" sz="837" dirty="0"/>
          </a:p>
        </p:txBody>
      </p:sp>
      <p:sp>
        <p:nvSpPr>
          <p:cNvPr id="16" name="Text 12"/>
          <p:cNvSpPr/>
          <p:nvPr/>
        </p:nvSpPr>
        <p:spPr>
          <a:xfrm>
            <a:off x="5909667" y="2940714"/>
            <a:ext cx="2455664"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 có sự tăng vọt vào giữa thế kỷ 20, có thể liên </a:t>
            </a:r>
            <a:endParaRPr lang="en-US" sz="837" dirty="0"/>
          </a:p>
        </p:txBody>
      </p:sp>
      <p:sp>
        <p:nvSpPr>
          <p:cNvPr id="17" name="Text 13"/>
          <p:cNvSpPr/>
          <p:nvPr/>
        </p:nvSpPr>
        <p:spPr>
          <a:xfrm>
            <a:off x="5486400" y="3135018"/>
            <a:ext cx="2957513"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quan đến các yếu tố văn hóa hoặc người nổi tiếng, sau </a:t>
            </a:r>
            <a:endParaRPr lang="en-US" sz="837" dirty="0"/>
          </a:p>
        </p:txBody>
      </p:sp>
      <p:sp>
        <p:nvSpPr>
          <p:cNvPr id="18" name="Text 14"/>
          <p:cNvSpPr/>
          <p:nvPr/>
        </p:nvSpPr>
        <p:spPr>
          <a:xfrm>
            <a:off x="5486400" y="3329322"/>
            <a:ext cx="2968228"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đó giảm dần. Biểu đồ này cho thấy sự thay đổi trong sở </a:t>
            </a:r>
            <a:endParaRPr lang="en-US" sz="837" dirty="0"/>
          </a:p>
        </p:txBody>
      </p:sp>
      <p:sp>
        <p:nvSpPr>
          <p:cNvPr id="19" name="Text 15"/>
          <p:cNvSpPr/>
          <p:nvPr/>
        </p:nvSpPr>
        <p:spPr>
          <a:xfrm>
            <a:off x="5486400" y="3523627"/>
            <a:ext cx="1473398"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thích đặt tên theo thời gian. </a:t>
            </a:r>
            <a:endParaRPr lang="en-US" sz="837"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8001000" cy="342900"/>
          </a:xfrm>
          <a:prstGeom prst="rect">
            <a:avLst/>
          </a:prstGeom>
          <a:noFill/>
          <a:ln/>
        </p:spPr>
        <p:txBody>
          <a:bodyPr wrap="none" lIns="0" tIns="0" rIns="0" bIns="0" rtlCol="0" anchor="ctr">
            <a:spAutoFit/>
          </a:bodyPr>
          <a:lstStyle/>
          <a:p>
            <a:pPr marL="0" indent="0">
              <a:buNone/>
            </a:pPr>
            <a:r>
              <a:rPr lang="en-US" sz="1800" b="1" dirty="0">
                <a:solidFill>
                  <a:srgbClr val="1E3A8A"/>
                </a:solidFill>
                <a:latin typeface="Inter" pitchFamily="34" charset="0"/>
                <a:ea typeface="Inter" pitchFamily="34" charset="-122"/>
                <a:cs typeface="Inter" pitchFamily="34" charset="-120"/>
              </a:rPr>
              <a:t>Phân tích Tên Trẻ em: Sự đa dạng Tên</a:t>
            </a:r>
            <a:endParaRPr lang="en-US" sz="1800" dirty="0"/>
          </a:p>
        </p:txBody>
      </p:sp>
      <p:pic>
        <p:nvPicPr>
          <p:cNvPr id="4" name="Image 1" descr="preencoded.png"/>
          <p:cNvPicPr>
            <a:picLocks noChangeAspect="1"/>
          </p:cNvPicPr>
          <p:nvPr/>
        </p:nvPicPr>
        <p:blipFill>
          <a:blip r:embed="rId4"/>
          <a:stretch>
            <a:fillRect/>
          </a:stretch>
        </p:blipFill>
        <p:spPr>
          <a:xfrm>
            <a:off x="571500" y="985838"/>
            <a:ext cx="4629150" cy="3429000"/>
          </a:xfrm>
          <a:prstGeom prst="rect">
            <a:avLst/>
          </a:prstGeom>
        </p:spPr>
      </p:pic>
      <p:sp>
        <p:nvSpPr>
          <p:cNvPr id="5" name="Text 1"/>
          <p:cNvSpPr/>
          <p:nvPr/>
        </p:nvSpPr>
        <p:spPr>
          <a:xfrm>
            <a:off x="5486400" y="1912404"/>
            <a:ext cx="3086100" cy="214313"/>
          </a:xfrm>
          <a:prstGeom prst="rect">
            <a:avLst/>
          </a:prstGeom>
          <a:noFill/>
          <a:ln/>
        </p:spPr>
        <p:txBody>
          <a:bodyPr wrap="none" lIns="0" tIns="0" rIns="0" bIns="0" rtlCol="0" anchor="ctr">
            <a:spAutoFit/>
          </a:bodyPr>
          <a:lstStyle/>
          <a:p>
            <a:pPr marL="0" indent="0">
              <a:buNone/>
            </a:pPr>
            <a:r>
              <a:rPr lang="en-US" sz="1046" b="1" dirty="0">
                <a:solidFill>
                  <a:srgbClr val="3B82F6"/>
                </a:solidFill>
                <a:latin typeface="Inter" pitchFamily="34" charset="0"/>
                <a:ea typeface="Inter" pitchFamily="34" charset="-122"/>
                <a:cs typeface="Inter" pitchFamily="34" charset="-120"/>
              </a:rPr>
              <a:t>Nhận xét</a:t>
            </a:r>
            <a:endParaRPr lang="en-US" sz="1046" dirty="0"/>
          </a:p>
        </p:txBody>
      </p:sp>
      <p:sp>
        <p:nvSpPr>
          <p:cNvPr id="6" name="Text 2"/>
          <p:cNvSpPr/>
          <p:nvPr/>
        </p:nvSpPr>
        <p:spPr>
          <a:xfrm>
            <a:off x="5486400" y="2260662"/>
            <a:ext cx="2905720"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 Biểu đồ thể hiện tổng tỷ lệ của 1000 tên phổ biến nhất </a:t>
            </a:r>
            <a:endParaRPr lang="en-US" sz="837" dirty="0"/>
          </a:p>
        </p:txBody>
      </p:sp>
      <p:sp>
        <p:nvSpPr>
          <p:cNvPr id="7" name="Text 3"/>
          <p:cNvSpPr/>
          <p:nvPr/>
        </p:nvSpPr>
        <p:spPr>
          <a:xfrm>
            <a:off x="5486400" y="2454966"/>
            <a:ext cx="3041452"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theo giới tính và năm. Một giá trị gần 1 cho thấy 1000 tên </a:t>
            </a:r>
            <a:endParaRPr lang="en-US" sz="837" dirty="0"/>
          </a:p>
        </p:txBody>
      </p:sp>
      <p:sp>
        <p:nvSpPr>
          <p:cNvPr id="8" name="Text 4"/>
          <p:cNvSpPr/>
          <p:nvPr/>
        </p:nvSpPr>
        <p:spPr>
          <a:xfrm>
            <a:off x="5486400" y="2649271"/>
            <a:ext cx="2953941"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hàng đầu chiếm phần lớn tổng số ca sinh, trong khi giá </a:t>
            </a:r>
            <a:endParaRPr lang="en-US" sz="837" dirty="0"/>
          </a:p>
        </p:txBody>
      </p:sp>
      <p:sp>
        <p:nvSpPr>
          <p:cNvPr id="9" name="Text 5"/>
          <p:cNvSpPr/>
          <p:nvPr/>
        </p:nvSpPr>
        <p:spPr>
          <a:xfrm>
            <a:off x="5486400" y="2843575"/>
            <a:ext cx="3062883"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trị thấp hơn cho thấy sự đa dạng tên lớn hơn. Sự đa dạng </a:t>
            </a:r>
            <a:endParaRPr lang="en-US" sz="837" dirty="0"/>
          </a:p>
        </p:txBody>
      </p:sp>
      <p:sp>
        <p:nvSpPr>
          <p:cNvPr id="10" name="Text 6"/>
          <p:cNvSpPr/>
          <p:nvPr/>
        </p:nvSpPr>
        <p:spPr>
          <a:xfrm>
            <a:off x="5486400" y="3037880"/>
            <a:ext cx="598289"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của tên đã </a:t>
            </a:r>
            <a:endParaRPr lang="en-US" sz="837" dirty="0"/>
          </a:p>
        </p:txBody>
      </p:sp>
      <p:sp>
        <p:nvSpPr>
          <p:cNvPr id="11" name="Text 7"/>
          <p:cNvSpPr/>
          <p:nvPr/>
        </p:nvSpPr>
        <p:spPr>
          <a:xfrm>
            <a:off x="6084689" y="3037880"/>
            <a:ext cx="914400" cy="137517"/>
          </a:xfrm>
          <a:prstGeom prst="rect">
            <a:avLst/>
          </a:prstGeom>
          <a:noFill/>
          <a:ln/>
        </p:spPr>
        <p:txBody>
          <a:bodyPr wrap="none" lIns="0" tIns="0" rIns="0" bIns="0" rtlCol="0" anchor="ctr">
            <a:spAutoFit/>
          </a:bodyPr>
          <a:lstStyle/>
          <a:p>
            <a:pPr marL="0" indent="0">
              <a:buNone/>
            </a:pPr>
            <a:r>
              <a:rPr lang="en-US" sz="837" b="1" dirty="0">
                <a:solidFill>
                  <a:srgbClr val="374151"/>
                </a:solidFill>
                <a:latin typeface="Inter" pitchFamily="34" charset="0"/>
                <a:ea typeface="Inter" pitchFamily="34" charset="-122"/>
                <a:cs typeface="Inter" pitchFamily="34" charset="-120"/>
              </a:rPr>
              <a:t>tăng lên đáng kể</a:t>
            </a:r>
            <a:endParaRPr lang="en-US" sz="837" dirty="0"/>
          </a:p>
        </p:txBody>
      </p:sp>
      <p:sp>
        <p:nvSpPr>
          <p:cNvPr id="12" name="Text 8"/>
          <p:cNvSpPr/>
          <p:nvPr/>
        </p:nvSpPr>
        <p:spPr>
          <a:xfrm>
            <a:off x="6999089" y="3037880"/>
            <a:ext cx="1391245"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 theo thời gian, đặc biệt là </a:t>
            </a:r>
            <a:endParaRPr lang="en-US" sz="837" dirty="0"/>
          </a:p>
        </p:txBody>
      </p:sp>
      <p:sp>
        <p:nvSpPr>
          <p:cNvPr id="13" name="Text 9"/>
          <p:cNvSpPr/>
          <p:nvPr/>
        </p:nvSpPr>
        <p:spPr>
          <a:xfrm>
            <a:off x="5486400" y="3232184"/>
            <a:ext cx="2914650"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sau giữa thế kỷ 20. Điều này có nghĩa là ngày càng có </a:t>
            </a:r>
            <a:endParaRPr lang="en-US" sz="837" dirty="0"/>
          </a:p>
        </p:txBody>
      </p:sp>
      <p:sp>
        <p:nvSpPr>
          <p:cNvPr id="14" name="Text 10"/>
          <p:cNvSpPr/>
          <p:nvPr/>
        </p:nvSpPr>
        <p:spPr>
          <a:xfrm>
            <a:off x="5486400" y="3426489"/>
            <a:ext cx="2861072"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nhiều tên khác nhau được sử dụng, và 1000 tên hàng </a:t>
            </a:r>
            <a:endParaRPr lang="en-US" sz="837" dirty="0"/>
          </a:p>
        </p:txBody>
      </p:sp>
      <p:sp>
        <p:nvSpPr>
          <p:cNvPr id="15" name="Text 11"/>
          <p:cNvSpPr/>
          <p:nvPr/>
        </p:nvSpPr>
        <p:spPr>
          <a:xfrm>
            <a:off x="5486400" y="3620793"/>
            <a:ext cx="2737842"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đầu chiếm một tỷ lệ nhỏ hơn trong tổng số ca sinh. </a:t>
            </a:r>
            <a:endParaRPr lang="en-US" sz="837"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8001000" cy="342900"/>
          </a:xfrm>
          <a:prstGeom prst="rect">
            <a:avLst/>
          </a:prstGeom>
          <a:noFill/>
          <a:ln/>
        </p:spPr>
        <p:txBody>
          <a:bodyPr wrap="none" lIns="0" tIns="0" rIns="0" bIns="0" rtlCol="0" anchor="ctr">
            <a:spAutoFit/>
          </a:bodyPr>
          <a:lstStyle/>
          <a:p>
            <a:pPr marL="0" indent="0">
              <a:buNone/>
            </a:pPr>
            <a:r>
              <a:rPr lang="en-US" sz="1800" b="1" dirty="0">
                <a:solidFill>
                  <a:srgbClr val="1E3A8A"/>
                </a:solidFill>
                <a:latin typeface="Inter" pitchFamily="34" charset="0"/>
                <a:ea typeface="Inter" pitchFamily="34" charset="-122"/>
                <a:cs typeface="Inter" pitchFamily="34" charset="-120"/>
              </a:rPr>
              <a:t>Phân tích Tên Trẻ em: Hậu tố Tên</a:t>
            </a:r>
            <a:endParaRPr lang="en-US" sz="1800" dirty="0"/>
          </a:p>
        </p:txBody>
      </p:sp>
      <p:pic>
        <p:nvPicPr>
          <p:cNvPr id="4" name="Image 1" descr="preencoded.png"/>
          <p:cNvPicPr>
            <a:picLocks noChangeAspect="1"/>
          </p:cNvPicPr>
          <p:nvPr/>
        </p:nvPicPr>
        <p:blipFill>
          <a:blip r:embed="rId4"/>
          <a:stretch>
            <a:fillRect/>
          </a:stretch>
        </p:blipFill>
        <p:spPr>
          <a:xfrm>
            <a:off x="571500" y="985838"/>
            <a:ext cx="4629150" cy="3429000"/>
          </a:xfrm>
          <a:prstGeom prst="rect">
            <a:avLst/>
          </a:prstGeom>
        </p:spPr>
      </p:pic>
      <p:sp>
        <p:nvSpPr>
          <p:cNvPr id="5" name="Text 1"/>
          <p:cNvSpPr/>
          <p:nvPr/>
        </p:nvSpPr>
        <p:spPr>
          <a:xfrm>
            <a:off x="5486400" y="2009542"/>
            <a:ext cx="3086100" cy="214313"/>
          </a:xfrm>
          <a:prstGeom prst="rect">
            <a:avLst/>
          </a:prstGeom>
          <a:noFill/>
          <a:ln/>
        </p:spPr>
        <p:txBody>
          <a:bodyPr wrap="none" lIns="0" tIns="0" rIns="0" bIns="0" rtlCol="0" anchor="ctr">
            <a:spAutoFit/>
          </a:bodyPr>
          <a:lstStyle/>
          <a:p>
            <a:pPr marL="0" indent="0">
              <a:buNone/>
            </a:pPr>
            <a:r>
              <a:rPr lang="en-US" sz="1046" b="1" dirty="0">
                <a:solidFill>
                  <a:srgbClr val="3B82F6"/>
                </a:solidFill>
                <a:latin typeface="Inter" pitchFamily="34" charset="0"/>
                <a:ea typeface="Inter" pitchFamily="34" charset="-122"/>
                <a:cs typeface="Inter" pitchFamily="34" charset="-120"/>
              </a:rPr>
              <a:t>Nhận xét</a:t>
            </a:r>
            <a:endParaRPr lang="en-US" sz="1046" dirty="0"/>
          </a:p>
        </p:txBody>
      </p:sp>
      <p:sp>
        <p:nvSpPr>
          <p:cNvPr id="6" name="Text 2"/>
          <p:cNvSpPr/>
          <p:nvPr/>
        </p:nvSpPr>
        <p:spPr>
          <a:xfrm>
            <a:off x="5486400" y="2357800"/>
            <a:ext cx="1271588"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 Tỷ lệ tên kết thúc bằng </a:t>
            </a:r>
            <a:endParaRPr lang="en-US" sz="837" dirty="0"/>
          </a:p>
        </p:txBody>
      </p:sp>
      <p:sp>
        <p:nvSpPr>
          <p:cNvPr id="7" name="Text 3"/>
          <p:cNvSpPr/>
          <p:nvPr/>
        </p:nvSpPr>
        <p:spPr>
          <a:xfrm>
            <a:off x="6757988" y="2357800"/>
            <a:ext cx="148233" cy="137517"/>
          </a:xfrm>
          <a:prstGeom prst="rect">
            <a:avLst/>
          </a:prstGeom>
          <a:noFill/>
          <a:ln/>
        </p:spPr>
        <p:txBody>
          <a:bodyPr wrap="none" lIns="0" tIns="0" rIns="0" bIns="0" rtlCol="0" anchor="ctr">
            <a:spAutoFit/>
          </a:bodyPr>
          <a:lstStyle/>
          <a:p>
            <a:pPr marL="0" indent="0">
              <a:buNone/>
            </a:pPr>
            <a:r>
              <a:rPr lang="en-US" sz="837" b="1" dirty="0">
                <a:solidFill>
                  <a:srgbClr val="374151"/>
                </a:solidFill>
                <a:latin typeface="Inter" pitchFamily="34" charset="0"/>
                <a:ea typeface="Inter" pitchFamily="34" charset="-122"/>
                <a:cs typeface="Inter" pitchFamily="34" charset="-120"/>
              </a:rPr>
              <a:t>'n'</a:t>
            </a:r>
            <a:endParaRPr lang="en-US" sz="837" dirty="0"/>
          </a:p>
        </p:txBody>
      </p:sp>
      <p:sp>
        <p:nvSpPr>
          <p:cNvPr id="8" name="Text 4"/>
          <p:cNvSpPr/>
          <p:nvPr/>
        </p:nvSpPr>
        <p:spPr>
          <a:xfrm>
            <a:off x="6906220" y="2357800"/>
            <a:ext cx="1601986"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 đã tăng lên đáng kể theo thời </a:t>
            </a:r>
            <a:endParaRPr lang="en-US" sz="837" dirty="0"/>
          </a:p>
        </p:txBody>
      </p:sp>
      <p:sp>
        <p:nvSpPr>
          <p:cNvPr id="9" name="Text 5"/>
          <p:cNvSpPr/>
          <p:nvPr/>
        </p:nvSpPr>
        <p:spPr>
          <a:xfrm>
            <a:off x="5486400" y="2552105"/>
            <a:ext cx="2884289"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gian, trở thành một trong những hậu tố phổ biến nhất. </a:t>
            </a:r>
            <a:endParaRPr lang="en-US" sz="837" dirty="0"/>
          </a:p>
        </p:txBody>
      </p:sp>
      <p:sp>
        <p:nvSpPr>
          <p:cNvPr id="10" name="Text 6"/>
          <p:cNvSpPr/>
          <p:nvPr/>
        </p:nvSpPr>
        <p:spPr>
          <a:xfrm>
            <a:off x="5486400" y="2746409"/>
            <a:ext cx="1814513"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Ngược lại, tỷ lệ tên kết thúc bằng </a:t>
            </a:r>
            <a:endParaRPr lang="en-US" sz="837" dirty="0"/>
          </a:p>
        </p:txBody>
      </p:sp>
      <p:sp>
        <p:nvSpPr>
          <p:cNvPr id="11" name="Text 7"/>
          <p:cNvSpPr/>
          <p:nvPr/>
        </p:nvSpPr>
        <p:spPr>
          <a:xfrm>
            <a:off x="7300913" y="2746409"/>
            <a:ext cx="148233" cy="137517"/>
          </a:xfrm>
          <a:prstGeom prst="rect">
            <a:avLst/>
          </a:prstGeom>
          <a:noFill/>
          <a:ln/>
        </p:spPr>
        <p:txBody>
          <a:bodyPr wrap="none" lIns="0" tIns="0" rIns="0" bIns="0" rtlCol="0" anchor="ctr">
            <a:spAutoFit/>
          </a:bodyPr>
          <a:lstStyle/>
          <a:p>
            <a:pPr marL="0" indent="0">
              <a:buNone/>
            </a:pPr>
            <a:r>
              <a:rPr lang="en-US" sz="837" b="1" dirty="0">
                <a:solidFill>
                  <a:srgbClr val="374151"/>
                </a:solidFill>
                <a:latin typeface="Inter" pitchFamily="34" charset="0"/>
                <a:ea typeface="Inter" pitchFamily="34" charset="-122"/>
                <a:cs typeface="Inter" pitchFamily="34" charset="-120"/>
              </a:rPr>
              <a:t>'d'</a:t>
            </a:r>
            <a:endParaRPr lang="en-US" sz="837" dirty="0"/>
          </a:p>
        </p:txBody>
      </p:sp>
      <p:sp>
        <p:nvSpPr>
          <p:cNvPr id="12" name="Text 8"/>
          <p:cNvSpPr/>
          <p:nvPr/>
        </p:nvSpPr>
        <p:spPr>
          <a:xfrm>
            <a:off x="7449145" y="2746409"/>
            <a:ext cx="192881"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 và </a:t>
            </a:r>
            <a:endParaRPr lang="en-US" sz="837" dirty="0"/>
          </a:p>
        </p:txBody>
      </p:sp>
      <p:sp>
        <p:nvSpPr>
          <p:cNvPr id="13" name="Text 9"/>
          <p:cNvSpPr/>
          <p:nvPr/>
        </p:nvSpPr>
        <p:spPr>
          <a:xfrm>
            <a:off x="7642027" y="2746409"/>
            <a:ext cx="148233" cy="137517"/>
          </a:xfrm>
          <a:prstGeom prst="rect">
            <a:avLst/>
          </a:prstGeom>
          <a:noFill/>
          <a:ln/>
        </p:spPr>
        <p:txBody>
          <a:bodyPr wrap="none" lIns="0" tIns="0" rIns="0" bIns="0" rtlCol="0" anchor="ctr">
            <a:spAutoFit/>
          </a:bodyPr>
          <a:lstStyle/>
          <a:p>
            <a:pPr marL="0" indent="0">
              <a:buNone/>
            </a:pPr>
            <a:r>
              <a:rPr lang="en-US" sz="837" b="1" dirty="0">
                <a:solidFill>
                  <a:srgbClr val="374151"/>
                </a:solidFill>
                <a:latin typeface="Inter" pitchFamily="34" charset="0"/>
                <a:ea typeface="Inter" pitchFamily="34" charset="-122"/>
                <a:cs typeface="Inter" pitchFamily="34" charset="-120"/>
              </a:rPr>
              <a:t>'y'</a:t>
            </a:r>
            <a:endParaRPr lang="en-US" sz="837" dirty="0"/>
          </a:p>
        </p:txBody>
      </p:sp>
      <p:sp>
        <p:nvSpPr>
          <p:cNvPr id="14" name="Text 10"/>
          <p:cNvSpPr/>
          <p:nvPr/>
        </p:nvSpPr>
        <p:spPr>
          <a:xfrm>
            <a:off x="7790259" y="2746409"/>
            <a:ext cx="705445"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 có xu hướng </a:t>
            </a:r>
            <a:endParaRPr lang="en-US" sz="837" dirty="0"/>
          </a:p>
        </p:txBody>
      </p:sp>
      <p:sp>
        <p:nvSpPr>
          <p:cNvPr id="15" name="Text 11"/>
          <p:cNvSpPr/>
          <p:nvPr/>
        </p:nvSpPr>
        <p:spPr>
          <a:xfrm>
            <a:off x="5486400" y="2940714"/>
            <a:ext cx="3050381"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giảm hoặc duy trì ở mức thấp hơn. Điều này phản ánh sự </a:t>
            </a:r>
            <a:endParaRPr lang="en-US" sz="837" dirty="0"/>
          </a:p>
        </p:txBody>
      </p:sp>
      <p:sp>
        <p:nvSpPr>
          <p:cNvPr id="16" name="Text 12"/>
          <p:cNvSpPr/>
          <p:nvPr/>
        </p:nvSpPr>
        <p:spPr>
          <a:xfrm>
            <a:off x="5486400" y="3135018"/>
            <a:ext cx="2921794"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thay đổi trong các mẫu âm thanh và cấu trúc tên được </a:t>
            </a:r>
            <a:endParaRPr lang="en-US" sz="837" dirty="0"/>
          </a:p>
        </p:txBody>
      </p:sp>
      <p:sp>
        <p:nvSpPr>
          <p:cNvPr id="17" name="Text 13"/>
          <p:cNvSpPr/>
          <p:nvPr/>
        </p:nvSpPr>
        <p:spPr>
          <a:xfrm>
            <a:off x="5486400" y="3329322"/>
            <a:ext cx="2737842"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ưa chuộng cho bé trai, cho thấy sự tiến hóa của xu </a:t>
            </a:r>
            <a:endParaRPr lang="en-US" sz="837" dirty="0"/>
          </a:p>
        </p:txBody>
      </p:sp>
      <p:sp>
        <p:nvSpPr>
          <p:cNvPr id="18" name="Text 14"/>
          <p:cNvSpPr/>
          <p:nvPr/>
        </p:nvSpPr>
        <p:spPr>
          <a:xfrm>
            <a:off x="5486400" y="3523627"/>
            <a:ext cx="1644848" cy="137517"/>
          </a:xfrm>
          <a:prstGeom prst="rect">
            <a:avLst/>
          </a:prstGeom>
          <a:noFill/>
          <a:ln/>
        </p:spPr>
        <p:txBody>
          <a:bodyPr wrap="none" lIns="0" tIns="0" rIns="0" bIns="0" rtlCol="0" anchor="ctr">
            <a:spAutoFit/>
          </a:bodyPr>
          <a:lstStyle/>
          <a:p>
            <a:pPr marL="0" indent="0">
              <a:buNone/>
            </a:pPr>
            <a:r>
              <a:rPr lang="en-US" sz="837" dirty="0">
                <a:solidFill>
                  <a:srgbClr val="374151"/>
                </a:solidFill>
                <a:latin typeface="Inter" pitchFamily="34" charset="0"/>
                <a:ea typeface="Inter" pitchFamily="34" charset="-122"/>
                <a:cs typeface="Inter" pitchFamily="34" charset="-120"/>
              </a:rPr>
              <a:t>hướng ngôn ngữ trong đặt tên. </a:t>
            </a:r>
            <a:endParaRPr lang="en-US" sz="837"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Shape 0"/>
          <p:cNvSpPr/>
          <p:nvPr/>
        </p:nvSpPr>
        <p:spPr>
          <a:xfrm>
            <a:off x="7500938" y="-857250"/>
            <a:ext cx="2500313" cy="2500313"/>
          </a:xfrm>
          <a:prstGeom prst="ellipse">
            <a:avLst/>
          </a:prstGeom>
          <a:solidFill>
            <a:srgbClr val="FFFFFF">
              <a:alpha val="8000"/>
            </a:srgbClr>
          </a:solidFill>
          <a:ln/>
        </p:spPr>
        <p:txBody>
          <a:bodyPr/>
          <a:lstStyle/>
          <a:p>
            <a:endParaRPr lang="en-US"/>
          </a:p>
        </p:txBody>
      </p:sp>
      <p:sp>
        <p:nvSpPr>
          <p:cNvPr id="4" name="Shape 1"/>
          <p:cNvSpPr/>
          <p:nvPr/>
        </p:nvSpPr>
        <p:spPr>
          <a:xfrm>
            <a:off x="-571500" y="3929063"/>
            <a:ext cx="1785938" cy="1785938"/>
          </a:xfrm>
          <a:prstGeom prst="ellipse">
            <a:avLst/>
          </a:prstGeom>
          <a:solidFill>
            <a:srgbClr val="10B981">
              <a:alpha val="8000"/>
            </a:srgbClr>
          </a:solidFill>
          <a:ln/>
        </p:spPr>
        <p:txBody>
          <a:bodyPr/>
          <a:lstStyle/>
          <a:p>
            <a:endParaRPr lang="en-US"/>
          </a:p>
        </p:txBody>
      </p:sp>
      <p:sp>
        <p:nvSpPr>
          <p:cNvPr id="5" name="Text 2"/>
          <p:cNvSpPr/>
          <p:nvPr/>
        </p:nvSpPr>
        <p:spPr>
          <a:xfrm>
            <a:off x="571500" y="796528"/>
            <a:ext cx="8001000" cy="342900"/>
          </a:xfrm>
          <a:prstGeom prst="rect">
            <a:avLst/>
          </a:prstGeom>
          <a:noFill/>
          <a:ln/>
        </p:spPr>
        <p:txBody>
          <a:bodyPr wrap="none" lIns="0" tIns="0" rIns="0" bIns="0" rtlCol="0" anchor="ctr">
            <a:spAutoFit/>
          </a:bodyPr>
          <a:lstStyle/>
          <a:p>
            <a:pPr marL="0" indent="0">
              <a:buNone/>
            </a:pPr>
            <a:r>
              <a:rPr lang="en-US" sz="1800" b="1" dirty="0">
                <a:solidFill>
                  <a:srgbClr val="FFFFFF"/>
                </a:solidFill>
                <a:latin typeface="Inter" pitchFamily="34" charset="0"/>
                <a:ea typeface="Inter" pitchFamily="34" charset="-122"/>
                <a:cs typeface="Inter" pitchFamily="34" charset="-120"/>
              </a:rPr>
              <a:t>Kết luận</a:t>
            </a:r>
            <a:endParaRPr lang="en-US" sz="1800" dirty="0"/>
          </a:p>
        </p:txBody>
      </p:sp>
      <p:pic>
        <p:nvPicPr>
          <p:cNvPr id="6" name="Image 1" descr="preencoded.png"/>
          <p:cNvPicPr>
            <a:picLocks noChangeAspect="1"/>
          </p:cNvPicPr>
          <p:nvPr/>
        </p:nvPicPr>
        <p:blipFill>
          <a:blip r:embed="rId3"/>
          <a:stretch>
            <a:fillRect/>
          </a:stretch>
        </p:blipFill>
        <p:spPr>
          <a:xfrm>
            <a:off x="571500" y="1446609"/>
            <a:ext cx="171450" cy="171450"/>
          </a:xfrm>
          <a:prstGeom prst="rect">
            <a:avLst/>
          </a:prstGeom>
        </p:spPr>
      </p:pic>
      <p:sp>
        <p:nvSpPr>
          <p:cNvPr id="7" name="Text 3"/>
          <p:cNvSpPr/>
          <p:nvPr/>
        </p:nvSpPr>
        <p:spPr>
          <a:xfrm>
            <a:off x="828675" y="1425178"/>
            <a:ext cx="2098477" cy="214313"/>
          </a:xfrm>
          <a:prstGeom prst="rect">
            <a:avLst/>
          </a:prstGeom>
          <a:noFill/>
          <a:ln/>
        </p:spPr>
        <p:txBody>
          <a:bodyPr wrap="none" lIns="0" tIns="0" rIns="0" bIns="0" rtlCol="0" anchor="ctr">
            <a:spAutoFit/>
          </a:bodyPr>
          <a:lstStyle/>
          <a:p>
            <a:pPr marL="0" indent="0">
              <a:buNone/>
            </a:pPr>
            <a:r>
              <a:rPr lang="en-US" sz="1046" b="1" dirty="0">
                <a:solidFill>
                  <a:srgbClr val="10B981"/>
                </a:solidFill>
                <a:latin typeface="Inter" pitchFamily="34" charset="0"/>
                <a:ea typeface="Inter" pitchFamily="34" charset="-122"/>
                <a:cs typeface="Inter" pitchFamily="34" charset="-120"/>
              </a:rPr>
              <a:t> Phát hiện chính từ Dữ liệu Bitly </a:t>
            </a:r>
            <a:endParaRPr lang="en-US" sz="1046" dirty="0"/>
          </a:p>
        </p:txBody>
      </p:sp>
      <p:sp>
        <p:nvSpPr>
          <p:cNvPr id="8" name="Text 4"/>
          <p:cNvSpPr/>
          <p:nvPr/>
        </p:nvSpPr>
        <p:spPr>
          <a:xfrm>
            <a:off x="571500" y="1757959"/>
            <a:ext cx="6076792" cy="128818"/>
          </a:xfrm>
          <a:prstGeom prst="rect">
            <a:avLst/>
          </a:prstGeom>
          <a:noFill/>
          <a:ln/>
        </p:spPr>
        <p:txBody>
          <a:bodyPr wrap="none" lIns="306197" tIns="0" rIns="0" bIns="0" rtlCol="0" anchor="ctr">
            <a:spAutoFit/>
          </a:bodyPr>
          <a:lstStyle/>
          <a:p>
            <a:pPr marL="0" indent="0">
              <a:buNone/>
            </a:pPr>
            <a:r>
              <a:rPr lang="en-US" sz="837" dirty="0">
                <a:latin typeface="Inter" pitchFamily="34" charset="0"/>
                <a:ea typeface="Inter" pitchFamily="34" charset="-122"/>
                <a:cs typeface="Inter" pitchFamily="34" charset="-120"/>
              </a:rPr>
              <a:t> Sự tập trung hoạt động trực tuyến ở múi giờ America/New_York và sự thống trị của hệ điều hành Windows trong cơ sở người dùng. </a:t>
            </a:r>
            <a:endParaRPr lang="en-US" sz="837" dirty="0"/>
          </a:p>
        </p:txBody>
      </p:sp>
      <p:pic>
        <p:nvPicPr>
          <p:cNvPr id="9" name="Image 2" descr="preencoded.png"/>
          <p:cNvPicPr>
            <a:picLocks noChangeAspect="1"/>
          </p:cNvPicPr>
          <p:nvPr/>
        </p:nvPicPr>
        <p:blipFill>
          <a:blip r:embed="rId4"/>
          <a:stretch>
            <a:fillRect/>
          </a:stretch>
        </p:blipFill>
        <p:spPr>
          <a:xfrm>
            <a:off x="571500" y="2155264"/>
            <a:ext cx="171450" cy="171450"/>
          </a:xfrm>
          <a:prstGeom prst="rect">
            <a:avLst/>
          </a:prstGeom>
        </p:spPr>
      </p:pic>
      <p:sp>
        <p:nvSpPr>
          <p:cNvPr id="10" name="Text 5"/>
          <p:cNvSpPr/>
          <p:nvPr/>
        </p:nvSpPr>
        <p:spPr>
          <a:xfrm>
            <a:off x="828675" y="2133833"/>
            <a:ext cx="2559248" cy="214313"/>
          </a:xfrm>
          <a:prstGeom prst="rect">
            <a:avLst/>
          </a:prstGeom>
          <a:noFill/>
          <a:ln/>
        </p:spPr>
        <p:txBody>
          <a:bodyPr wrap="none" lIns="0" tIns="0" rIns="0" bIns="0" rtlCol="0" anchor="ctr">
            <a:spAutoFit/>
          </a:bodyPr>
          <a:lstStyle/>
          <a:p>
            <a:pPr marL="0" indent="0">
              <a:buNone/>
            </a:pPr>
            <a:r>
              <a:rPr lang="en-US" sz="1046" b="1" dirty="0">
                <a:solidFill>
                  <a:srgbClr val="10B981"/>
                </a:solidFill>
                <a:latin typeface="Inter" pitchFamily="34" charset="0"/>
                <a:ea typeface="Inter" pitchFamily="34" charset="-122"/>
                <a:cs typeface="Inter" pitchFamily="34" charset="-120"/>
              </a:rPr>
              <a:t> Phát hiện chính từ Dữ liệu Tên Trẻ em </a:t>
            </a:r>
            <a:endParaRPr lang="en-US" sz="1046" dirty="0"/>
          </a:p>
        </p:txBody>
      </p:sp>
      <p:sp>
        <p:nvSpPr>
          <p:cNvPr id="11" name="Text 6"/>
          <p:cNvSpPr/>
          <p:nvPr/>
        </p:nvSpPr>
        <p:spPr>
          <a:xfrm>
            <a:off x="571500" y="2563765"/>
            <a:ext cx="8001000" cy="128818"/>
          </a:xfrm>
          <a:prstGeom prst="rect">
            <a:avLst/>
          </a:prstGeom>
          <a:noFill/>
          <a:ln/>
        </p:spPr>
        <p:txBody>
          <a:bodyPr wrap="square" lIns="306197" tIns="0" rIns="0" bIns="0" rtlCol="0" anchor="ctr">
            <a:spAutoFit/>
          </a:bodyPr>
          <a:lstStyle/>
          <a:p>
            <a:pPr marL="0" indent="0">
              <a:buNone/>
            </a:pPr>
            <a:r>
              <a:rPr lang="en-US" sz="837" dirty="0">
                <a:latin typeface="Inter" pitchFamily="34" charset="0"/>
                <a:ea typeface="Inter" pitchFamily="34" charset="-122"/>
                <a:cs typeface="Inter" pitchFamily="34" charset="-120"/>
              </a:rPr>
              <a:t> Sự tăng trưởng dân số ổn định, thay đổi trong phổ biến của các tên cụ thể và xu hướng tăng đa dạng tên theo thời gian, phản ánh sự tiến hóa văn hóa và ngôn ngữ. </a:t>
            </a:r>
            <a:endParaRPr lang="en-US" sz="837" dirty="0"/>
          </a:p>
        </p:txBody>
      </p:sp>
      <p:sp>
        <p:nvSpPr>
          <p:cNvPr id="15" name="Text 9"/>
          <p:cNvSpPr/>
          <p:nvPr/>
        </p:nvSpPr>
        <p:spPr>
          <a:xfrm>
            <a:off x="5956299" y="4559156"/>
            <a:ext cx="1900467" cy="144976"/>
          </a:xfrm>
          <a:prstGeom prst="rect">
            <a:avLst/>
          </a:prstGeom>
          <a:noFill/>
          <a:ln/>
        </p:spPr>
        <p:txBody>
          <a:bodyPr wrap="square" lIns="0" tIns="0" rIns="0" bIns="0" rtlCol="0" anchor="ctr">
            <a:spAutoFit/>
          </a:bodyPr>
          <a:lstStyle/>
          <a:p>
            <a:pPr marL="0" indent="0" algn="ctr">
              <a:buNone/>
            </a:pPr>
            <a:r>
              <a:rPr lang="en-US" sz="942" b="1" dirty="0">
                <a:latin typeface="Inter" pitchFamily="34" charset="0"/>
                <a:ea typeface="Inter" pitchFamily="34" charset="-122"/>
                <a:cs typeface="Inter" pitchFamily="34" charset="-120"/>
              </a:rPr>
              <a:t>Cảm ơn đã theo dõi!</a:t>
            </a:r>
            <a:endParaRPr lang="en-US" sz="942" dirty="0"/>
          </a:p>
        </p:txBody>
      </p:sp>
      <p:sp>
        <p:nvSpPr>
          <p:cNvPr id="29" name="Shape 14">
            <a:extLst>
              <a:ext uri="{FF2B5EF4-FFF2-40B4-BE49-F238E27FC236}">
                <a16:creationId xmlns:a16="http://schemas.microsoft.com/office/drawing/2014/main" id="{5F65ABB2-0426-FF8F-D184-A14D1B8B1FD9}"/>
              </a:ext>
            </a:extLst>
          </p:cNvPr>
          <p:cNvSpPr/>
          <p:nvPr/>
        </p:nvSpPr>
        <p:spPr>
          <a:xfrm>
            <a:off x="533341" y="2849846"/>
            <a:ext cx="357188" cy="357188"/>
          </a:xfrm>
          <a:prstGeom prst="ellipse">
            <a:avLst/>
          </a:prstGeom>
          <a:solidFill>
            <a:srgbClr val="4A90E2"/>
          </a:solidFill>
          <a:ln/>
        </p:spPr>
        <p:txBody>
          <a:bodyPr/>
          <a:lstStyle/>
          <a:p>
            <a:endParaRPr lang="en-US" dirty="0"/>
          </a:p>
        </p:txBody>
      </p:sp>
      <p:pic>
        <p:nvPicPr>
          <p:cNvPr id="30" name="Image 2" descr="preencoded.png">
            <a:extLst>
              <a:ext uri="{FF2B5EF4-FFF2-40B4-BE49-F238E27FC236}">
                <a16:creationId xmlns:a16="http://schemas.microsoft.com/office/drawing/2014/main" id="{510CEA0D-C950-88E0-5F95-EFCE77E677A3}"/>
              </a:ext>
            </a:extLst>
          </p:cNvPr>
          <p:cNvPicPr>
            <a:picLocks noChangeAspect="1"/>
          </p:cNvPicPr>
          <p:nvPr/>
        </p:nvPicPr>
        <p:blipFill>
          <a:blip r:embed="rId5"/>
          <a:stretch>
            <a:fillRect/>
          </a:stretch>
        </p:blipFill>
        <p:spPr>
          <a:xfrm>
            <a:off x="626209" y="2942715"/>
            <a:ext cx="171450" cy="171450"/>
          </a:xfrm>
          <a:prstGeom prst="rect">
            <a:avLst/>
          </a:prstGeom>
        </p:spPr>
      </p:pic>
      <p:sp>
        <p:nvSpPr>
          <p:cNvPr id="31" name="Text 15">
            <a:extLst>
              <a:ext uri="{FF2B5EF4-FFF2-40B4-BE49-F238E27FC236}">
                <a16:creationId xmlns:a16="http://schemas.microsoft.com/office/drawing/2014/main" id="{66767D31-8212-CD30-C7D3-1EFECE3B8C68}"/>
              </a:ext>
            </a:extLst>
          </p:cNvPr>
          <p:cNvSpPr/>
          <p:nvPr/>
        </p:nvSpPr>
        <p:spPr>
          <a:xfrm>
            <a:off x="997684" y="2899852"/>
            <a:ext cx="1576508" cy="257175"/>
          </a:xfrm>
          <a:prstGeom prst="rect">
            <a:avLst/>
          </a:prstGeom>
          <a:noFill/>
          <a:ln/>
        </p:spPr>
        <p:txBody>
          <a:bodyPr wrap="none" lIns="0" tIns="0" rIns="0" bIns="0" rtlCol="0" anchor="ctr">
            <a:spAutoFit/>
          </a:bodyPr>
          <a:lstStyle/>
          <a:p>
            <a:pPr marL="0" indent="0">
              <a:buNone/>
            </a:pPr>
            <a:r>
              <a:rPr lang="en-US" sz="1350" b="1" dirty="0">
                <a:solidFill>
                  <a:srgbClr val="1F4788"/>
                </a:solidFill>
                <a:latin typeface="Noto Sans" pitchFamily="34" charset="0"/>
                <a:ea typeface="Noto Sans" pitchFamily="34" charset="-122"/>
                <a:cs typeface="Noto Sans" pitchFamily="34" charset="-120"/>
              </a:rPr>
              <a:t> Dữ liệu MovieLens </a:t>
            </a:r>
            <a:endParaRPr lang="en-US" sz="1350" dirty="0"/>
          </a:p>
        </p:txBody>
      </p:sp>
      <p:sp>
        <p:nvSpPr>
          <p:cNvPr id="32" name="Text 16">
            <a:extLst>
              <a:ext uri="{FF2B5EF4-FFF2-40B4-BE49-F238E27FC236}">
                <a16:creationId xmlns:a16="http://schemas.microsoft.com/office/drawing/2014/main" id="{7A922B0D-CC20-8894-A4CE-D1F2F6495DDC}"/>
              </a:ext>
            </a:extLst>
          </p:cNvPr>
          <p:cNvSpPr/>
          <p:nvPr/>
        </p:nvSpPr>
        <p:spPr>
          <a:xfrm>
            <a:off x="533341" y="3374912"/>
            <a:ext cx="3329099" cy="155377"/>
          </a:xfrm>
          <a:prstGeom prst="rect">
            <a:avLst/>
          </a:prstGeom>
          <a:noFill/>
          <a:ln/>
        </p:spPr>
        <p:txBody>
          <a:bodyPr wrap="non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 Sự khác biệt rõ rệt trong sở thích phim giữa nam và nữ giới đã </a:t>
            </a:r>
            <a:endParaRPr lang="en-US" sz="837" dirty="0"/>
          </a:p>
        </p:txBody>
      </p:sp>
      <p:sp>
        <p:nvSpPr>
          <p:cNvPr id="33" name="Text 17">
            <a:extLst>
              <a:ext uri="{FF2B5EF4-FFF2-40B4-BE49-F238E27FC236}">
                <a16:creationId xmlns:a16="http://schemas.microsoft.com/office/drawing/2014/main" id="{7F954456-42C0-78CD-43FD-87DB3F6AEB88}"/>
              </a:ext>
            </a:extLst>
          </p:cNvPr>
          <p:cNvSpPr/>
          <p:nvPr/>
        </p:nvSpPr>
        <p:spPr>
          <a:xfrm>
            <a:off x="533341" y="3580629"/>
            <a:ext cx="1843199" cy="155377"/>
          </a:xfrm>
          <a:prstGeom prst="rect">
            <a:avLst/>
          </a:prstGeom>
          <a:noFill/>
          <a:ln/>
        </p:spPr>
        <p:txBody>
          <a:bodyPr wrap="non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được xác định. Nữ giới ưa chuộng </a:t>
            </a:r>
            <a:endParaRPr lang="en-US" sz="837" dirty="0"/>
          </a:p>
        </p:txBody>
      </p:sp>
      <p:sp>
        <p:nvSpPr>
          <p:cNvPr id="34" name="Text 18">
            <a:extLst>
              <a:ext uri="{FF2B5EF4-FFF2-40B4-BE49-F238E27FC236}">
                <a16:creationId xmlns:a16="http://schemas.microsoft.com/office/drawing/2014/main" id="{0BEE0ADB-C0A0-C417-72D5-6DFD6B067FD4}"/>
              </a:ext>
            </a:extLst>
          </p:cNvPr>
          <p:cNvSpPr/>
          <p:nvPr/>
        </p:nvSpPr>
        <p:spPr>
          <a:xfrm>
            <a:off x="2376540" y="3580629"/>
            <a:ext cx="1471278" cy="155377"/>
          </a:xfrm>
          <a:prstGeom prst="rect">
            <a:avLst/>
          </a:prstGeom>
          <a:noFill/>
          <a:ln/>
        </p:spPr>
        <p:txBody>
          <a:bodyPr wrap="none" lIns="0" tIns="0" rIns="0" bIns="0" rtlCol="0" anchor="ctr">
            <a:spAutoFit/>
          </a:bodyPr>
          <a:lstStyle/>
          <a:p>
            <a:pPr marL="0" indent="0">
              <a:buNone/>
            </a:pPr>
            <a:r>
              <a:rPr lang="en-US" sz="837" b="1" dirty="0">
                <a:solidFill>
                  <a:srgbClr val="4A90E2"/>
                </a:solidFill>
                <a:latin typeface="Noto Sans" pitchFamily="34" charset="0"/>
                <a:ea typeface="Noto Sans" pitchFamily="34" charset="-122"/>
                <a:cs typeface="Noto Sans" pitchFamily="34" charset="-120"/>
              </a:rPr>
              <a:t>phim lãng mạn, nhạc kịch</a:t>
            </a:r>
            <a:endParaRPr lang="en-US" sz="837" dirty="0"/>
          </a:p>
        </p:txBody>
      </p:sp>
      <p:sp>
        <p:nvSpPr>
          <p:cNvPr id="35" name="Text 19">
            <a:extLst>
              <a:ext uri="{FF2B5EF4-FFF2-40B4-BE49-F238E27FC236}">
                <a16:creationId xmlns:a16="http://schemas.microsoft.com/office/drawing/2014/main" id="{54F5C1C4-DC57-1CB6-97C6-A36CDD58AF0A}"/>
              </a:ext>
            </a:extLst>
          </p:cNvPr>
          <p:cNvSpPr/>
          <p:nvPr/>
        </p:nvSpPr>
        <p:spPr>
          <a:xfrm>
            <a:off x="533341" y="3786347"/>
            <a:ext cx="3047591" cy="155377"/>
          </a:xfrm>
          <a:prstGeom prst="rect">
            <a:avLst/>
          </a:prstGeom>
          <a:noFill/>
          <a:ln/>
        </p:spPr>
        <p:txBody>
          <a:bodyPr wrap="non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 (chênh lệch lên đến -0.83 điểm), trong khi nam giới thích </a:t>
            </a:r>
            <a:endParaRPr lang="en-US" sz="837" dirty="0"/>
          </a:p>
        </p:txBody>
      </p:sp>
      <p:sp>
        <p:nvSpPr>
          <p:cNvPr id="36" name="Text 20">
            <a:extLst>
              <a:ext uri="{FF2B5EF4-FFF2-40B4-BE49-F238E27FC236}">
                <a16:creationId xmlns:a16="http://schemas.microsoft.com/office/drawing/2014/main" id="{A84B48E4-6FD6-54E2-1FB0-FD72B9713D61}"/>
              </a:ext>
            </a:extLst>
          </p:cNvPr>
          <p:cNvSpPr/>
          <p:nvPr/>
        </p:nvSpPr>
        <p:spPr>
          <a:xfrm>
            <a:off x="3580931" y="3786347"/>
            <a:ext cx="294568" cy="155377"/>
          </a:xfrm>
          <a:prstGeom prst="rect">
            <a:avLst/>
          </a:prstGeom>
          <a:noFill/>
          <a:ln/>
        </p:spPr>
        <p:txBody>
          <a:bodyPr wrap="none" lIns="0" tIns="0" rIns="0" bIns="0" rtlCol="0" anchor="ctr">
            <a:spAutoFit/>
          </a:bodyPr>
          <a:lstStyle/>
          <a:p>
            <a:pPr marL="0" indent="0">
              <a:buNone/>
            </a:pPr>
            <a:r>
              <a:rPr lang="en-US" sz="837" b="1" dirty="0">
                <a:solidFill>
                  <a:srgbClr val="4A90E2"/>
                </a:solidFill>
                <a:latin typeface="Noto Sans" pitchFamily="34" charset="0"/>
                <a:ea typeface="Noto Sans" pitchFamily="34" charset="-122"/>
                <a:cs typeface="Noto Sans" pitchFamily="34" charset="-120"/>
              </a:rPr>
              <a:t>phim </a:t>
            </a:r>
            <a:endParaRPr lang="en-US" sz="837" dirty="0"/>
          </a:p>
        </p:txBody>
      </p:sp>
      <p:sp>
        <p:nvSpPr>
          <p:cNvPr id="37" name="Text 21">
            <a:extLst>
              <a:ext uri="{FF2B5EF4-FFF2-40B4-BE49-F238E27FC236}">
                <a16:creationId xmlns:a16="http://schemas.microsoft.com/office/drawing/2014/main" id="{2342A7A4-539B-F186-5DC2-4F3B2634D091}"/>
              </a:ext>
            </a:extLst>
          </p:cNvPr>
          <p:cNvSpPr/>
          <p:nvPr/>
        </p:nvSpPr>
        <p:spPr>
          <a:xfrm>
            <a:off x="533341" y="3992065"/>
            <a:ext cx="1624087" cy="155377"/>
          </a:xfrm>
          <a:prstGeom prst="rect">
            <a:avLst/>
          </a:prstGeom>
          <a:noFill/>
          <a:ln/>
        </p:spPr>
        <p:txBody>
          <a:bodyPr wrap="none" lIns="0" tIns="0" rIns="0" bIns="0" rtlCol="0" anchor="ctr">
            <a:spAutoFit/>
          </a:bodyPr>
          <a:lstStyle/>
          <a:p>
            <a:pPr marL="0" indent="0">
              <a:buNone/>
            </a:pPr>
            <a:r>
              <a:rPr lang="en-US" sz="837" b="1" dirty="0">
                <a:solidFill>
                  <a:srgbClr val="4A90E2"/>
                </a:solidFill>
                <a:latin typeface="Noto Sans" pitchFamily="34" charset="0"/>
                <a:ea typeface="Noto Sans" pitchFamily="34" charset="-122"/>
                <a:cs typeface="Noto Sans" pitchFamily="34" charset="-120"/>
              </a:rPr>
              <a:t>hành động, hài hước thô tục</a:t>
            </a:r>
            <a:endParaRPr lang="en-US" sz="837" dirty="0"/>
          </a:p>
        </p:txBody>
      </p:sp>
      <p:sp>
        <p:nvSpPr>
          <p:cNvPr id="38" name="Text 22">
            <a:extLst>
              <a:ext uri="{FF2B5EF4-FFF2-40B4-BE49-F238E27FC236}">
                <a16:creationId xmlns:a16="http://schemas.microsoft.com/office/drawing/2014/main" id="{EFC8C063-019B-9FFC-2D12-F8BF28F176F7}"/>
              </a:ext>
            </a:extLst>
          </p:cNvPr>
          <p:cNvSpPr/>
          <p:nvPr/>
        </p:nvSpPr>
        <p:spPr>
          <a:xfrm>
            <a:off x="2157427" y="3992065"/>
            <a:ext cx="1782645" cy="155377"/>
          </a:xfrm>
          <a:prstGeom prst="rect">
            <a:avLst/>
          </a:prstGeom>
          <a:noFill/>
          <a:ln/>
        </p:spPr>
        <p:txBody>
          <a:bodyPr wrap="non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 (chênh lệch +0.73 điểm). Thể loại </a:t>
            </a:r>
            <a:endParaRPr lang="en-US" sz="837" dirty="0"/>
          </a:p>
        </p:txBody>
      </p:sp>
      <p:sp>
        <p:nvSpPr>
          <p:cNvPr id="39" name="Text 23">
            <a:extLst>
              <a:ext uri="{FF2B5EF4-FFF2-40B4-BE49-F238E27FC236}">
                <a16:creationId xmlns:a16="http://schemas.microsoft.com/office/drawing/2014/main" id="{A4CDFAB9-4DCE-73D2-9F7A-3377EB7A339D}"/>
              </a:ext>
            </a:extLst>
          </p:cNvPr>
          <p:cNvSpPr/>
          <p:nvPr/>
        </p:nvSpPr>
        <p:spPr>
          <a:xfrm>
            <a:off x="533341" y="4197782"/>
            <a:ext cx="2007924" cy="155377"/>
          </a:xfrm>
          <a:prstGeom prst="rect">
            <a:avLst/>
          </a:prstGeom>
          <a:noFill/>
          <a:ln/>
        </p:spPr>
        <p:txBody>
          <a:bodyPr wrap="none" lIns="0" tIns="0" rIns="0" bIns="0" rtlCol="0" anchor="ctr">
            <a:spAutoFit/>
          </a:bodyPr>
          <a:lstStyle/>
          <a:p>
            <a:pPr marL="0" indent="0">
              <a:buNone/>
            </a:pPr>
            <a:r>
              <a:rPr lang="en-US" sz="837" dirty="0">
                <a:solidFill>
                  <a:srgbClr val="333333"/>
                </a:solidFill>
                <a:latin typeface="Noto Sans" pitchFamily="34" charset="0"/>
                <a:ea typeface="Noto Sans" pitchFamily="34" charset="-122"/>
                <a:cs typeface="Noto Sans" pitchFamily="34" charset="-120"/>
              </a:rPr>
              <a:t>Drama vẫn là phổ biến nhất tổng thể. </a:t>
            </a:r>
            <a:endParaRPr lang="en-US" sz="83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1915</Words>
  <Application>Microsoft Office PowerPoint</Application>
  <PresentationFormat>On-screen Show (16:9)</PresentationFormat>
  <Paragraphs>257</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Inter</vt:lpstr>
      <vt:lpstr>Noto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Vandor Street</cp:lastModifiedBy>
  <cp:revision>3</cp:revision>
  <dcterms:created xsi:type="dcterms:W3CDTF">2025-10-16T01:23:17Z</dcterms:created>
  <dcterms:modified xsi:type="dcterms:W3CDTF">2025-10-16T01:35:36Z</dcterms:modified>
</cp:coreProperties>
</file>